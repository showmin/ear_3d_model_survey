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400" b="0" u="none" strike="noStrike">
                <a:solidFill>
                  <a:srgbClr val="000000"/>
                </a:solidFill>
                <a:effectLst/>
                <a:uFillTx/>
                <a:latin typeface="Arial"/>
              </a:rPr>
              <a:t>Click to move the slide</a:t>
            </a:r>
            <a:endParaRPr lang="en-US" sz="1400" b="0" u="none" strike="noStrike">
              <a:solidFill>
                <a:srgbClr val="000000"/>
              </a:solidFill>
              <a:effectLst/>
              <a:uFillTx/>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9872D89-8177-4BDE-AB08-90387ADD1F4E}"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1143000" y="685800"/>
            <a:ext cx="4570560" cy="3427560"/>
          </a:xfrm>
          <a:prstGeom prst="rect">
            <a:avLst/>
          </a:prstGeom>
          <a:ln w="0">
            <a:noFill/>
          </a:ln>
        </p:spPr>
      </p:sp>
      <p:sp>
        <p:nvSpPr>
          <p:cNvPr id="539"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We use a product design case to study how AI takes part in design tasks, and what reusable method each revision left behind. The case covers the earliest trial through the current candidate, organized in five stages. Knowledge retrieval supplies references, generation tools help compare concepts, execution tools perform the operations, and people together with check tools review the results. Design review and lesson write-back run through all of these steps. The report focuses on how AI participates, how the process changed, and what was verified.</a:t>
            </a:r>
            <a:endParaRPr lang="en-US"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1143000" y="685800"/>
            <a:ext cx="4570920" cy="3427920"/>
          </a:xfrm>
          <a:prstGeom prst="rect">
            <a:avLst/>
          </a:prstGeom>
          <a:ln w="0">
            <a:noFill/>
          </a:ln>
        </p:spPr>
      </p:sp>
      <p:sp>
        <p:nvSpPr>
          <p:cNvPr id="541"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This slide takes the user's needs as the example and expands product form, use scenario, and aesthetic preference into execution inputs. The archived real-keyword retrieval for the same needs returned four candidates: the Huawei ear-clip case provides the vendor's description of the hard/soft split, and the QuietOn sleep plugs provide the vendor's description of low protrusion and the trade-off between features and volume; both are kept separate from in-ear performance validation. The Fin Wing plan in the figure is reconstructed from the original generation Prompt and specifies the oval body, the short wide rounded soft fin, the blue-gray hard shell, the teal matte soft gel, the same left ear, shared components, and the required views. The item-by-item binding of data to each drawing parameter was not saved, so the continuous decision log of that time cannot be recreated. The existing results cover six directions. The image tool and RAG are separate steps; after rendering, the ear side, joints, materials, and views still need checking before a person selects. The original retrieval and the full English Prompt are archived; comfort, stability, and engineering dimensions remain to be validated.QuietOnPromptRAGPrompt</a:t>
            </a:r>
            <a:endParaRPr lang="en-US"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1143000" y="685800"/>
            <a:ext cx="4570560" cy="3427560"/>
          </a:xfrm>
          <a:prstGeom prst="rect">
            <a:avLst/>
          </a:prstGeom>
          <a:ln w="0">
            <a:noFill/>
          </a:ln>
        </p:spPr>
      </p:sp>
      <p:sp>
        <p:nvSpPr>
          <p:cNvPr id="543"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The same needs can generate several concept strategies for people to compare outlines, support methods, and hard/soft splits. The six left-ear concepts are Seed Pod with a shallow saddle soft support, Pebble with a rounded low profile, Fin Wing with a short wide soft fin, Spiral with a shallow curled surface, Bloom with a soft-gel petal wrap, and Twin Petal with overlapping twin shells. They demonstrate this round's generation flow and have not yet been selected. Volume, comfort, and stability have not been tested, and later selection must keep checking these requirements. Other input features can produce other concept directions.</a:t>
            </a:r>
            <a:endParaRPr lang="en-US"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1143000" y="685800"/>
            <a:ext cx="4570560" cy="3427560"/>
          </a:xfrm>
          <a:prstGeom prst="rect">
            <a:avLst/>
          </a:prstGeom>
          <a:ln w="0">
            <a:noFill/>
          </a:ln>
        </p:spPr>
      </p:sp>
      <p:sp>
        <p:nvSpPr>
          <p:cNvPr id="545"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Side, layout, and shared part relations are written into the concept-image generation spec, which is read by the template, the current reference list, RAG prompts, and tests. The current case uses the left ear only and keeps the original orientation, with a six-panel layout: worn view on the left, four views in the center, and the hero image on the right. The four views are side, front, rear, and an angled top view, and only these panels are shown. All views share proportion, joints, and material split, and the review checks each item for consistency. New tasks reuse the consistency check method; form, color, and material are decided by the task, and if the user chooses another side, the new choice applies.</a:t>
            </a:r>
            <a:endParaRPr lang="en-US"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1143000" y="685800"/>
            <a:ext cx="4570560" cy="3427560"/>
          </a:xfrm>
          <a:prstGeom prst="rect">
            <a:avLst/>
          </a:prstGeom>
          <a:ln w="0">
            <a:noFill/>
          </a:ln>
        </p:spPr>
      </p:sp>
      <p:sp>
        <p:nvSpPr>
          <p:cNvPr id="547"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This study is organized around four questions: can design evidence be traced, can AI operate real tools, can it locate and fix errors, and can existing lessons be read by the next round. We use feedback, changes, and reviews as the unit of observation, and compare them against the history images, operation logs, rules, and code left by knowledge retrieval, concept-first work, and tool connections. Result checks include reopening after save, shape checks, and user review. Lesson reuse requires updating the workflow and the run entry points, then running regression tests. So far we have process records from a single case. Control groups, efficiency metrics, and wear tests are still pending, and any gains need later controlled validation.</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1143000" y="685800"/>
            <a:ext cx="4570560" cy="3427560"/>
          </a:xfrm>
          <a:prstGeom prst="rect">
            <a:avLst/>
          </a:prstGeom>
          <a:ln w="0">
            <a:noFill/>
          </a:ln>
        </p:spPr>
      </p:sp>
      <p:sp>
        <p:nvSpPr>
          <p:cNvPr id="549"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A design task starts from the user description, confirmed constraints, and the existing project state. AI organizes features, conflicts, and unknowns into a needs table, then retrieves references that carry their source and applicable limits, and generates several comparable concept directions. After a person confirms the concept, side, and views, AI analyzes parts, proportions, and attachment, then performs modeling, saving, and an independent reopen. Geometry and visual review produce an issue list and a receipt, and a person accepts the results within that scope. Failed items are traced to a specific step, fixed, and rechecked; release happens only after acceptance. Each round first verifies the current tool connection, and general lessons are updated when the task closes.</a:t>
            </a:r>
            <a:endParaRPr lang="en-US"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1143000" y="685800"/>
            <a:ext cx="4570560" cy="3427560"/>
          </a:xfrm>
          <a:prstGeom prst="rect">
            <a:avLst/>
          </a:prstGeom>
          <a:ln w="0">
            <a:noFill/>
          </a:ln>
        </p:spPr>
      </p:sp>
      <p:sp>
        <p:nvSpPr>
          <p:cNvPr id="551"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Feature extraction works from the user description, and the input can be swapped for other needs or product tasks. In-ear, stable in sport, stays in during sleep, and youthful colors is a demo input, where in-ear describes form and sleep describes a scene. AI splits the needs by form, scene, function, and appearance preference, marks hard constraints, soft preferences, conflicts, and items to clarify, and asks for confirmation when sizes or priorities are missing. Retrieval queries by dimension, combines complementary references, deduplicates products, and records uncovered items. Both lexical and semantic retrieval keep their sources. An independent trial used deduplication to choose two different products that cover more needs. Dimension splitting and coverage selection are not yet automatically integrated into the main project. Wear performance is untested, and constraint strength and priorities are still confirmed by the user.</a:t>
            </a: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1143000" y="685800"/>
            <a:ext cx="4570560" cy="3427560"/>
          </a:xfrm>
          <a:prstGeom prst="rect">
            <a:avLst/>
          </a:prstGeom>
          <a:ln w="0">
            <a:noFill/>
          </a:ln>
        </p:spPr>
      </p:sp>
      <p:sp>
        <p:nvSpPr>
          <p:cNvPr id="553"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RAG stands for retrieval-augmented generation. It brings retrieved material into the current task so that AI can make design suggestions with sources. Here we use three separate knowledge bases: product design, ear anatomy, and tools. Product cases, image observations, and user feedback provide references for structural trade-offs, support methods, and material expression. Ear data provides position, size meaning, and contact constraints. FreeCAD documentation helps choose modeling and check operations. In this case, small-volume products supported function and structure trade-offs, soft-support cases helped separate the hard shell from contact parts, and user feedback added charging, control, and long-term use issues. References include QuietOn, Kokoon, Ozlo, and Nothing Ear, and each suggestion keeps its source type, applicable limits, and open items. Retrieval relevance and source credibility are judged separately, and real comfort still needs wear trials.</a:t>
            </a: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1143000" y="685800"/>
            <a:ext cx="4570560" cy="3427560"/>
          </a:xfrm>
          <a:prstGeom prst="rect">
            <a:avLst/>
          </a:prstGeom>
          <a:ln w="0">
            <a:noFill/>
          </a:ln>
        </p:spPr>
      </p:sp>
      <p:sp>
        <p:nvSpPr>
          <p:cNvPr id="555"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Evidence review records sources, image observations, and AI inferences separately. Vendor notes, independent reviews, and user feedback keep the author and source category. Images can support observations of outline, material zones, and accessory relations, while sizes and use effects need matching evidence. Before data enters the design, we verify the original text and image source and record the applicable conditions, then separate shape references from support data by purpose, and sizes must map to a specific part. Inferences are filed apart from the source text, and conclusions without evidence are marked as open and not yet used for modeling. An independent trial reviewed 166 images one by one: 119 were classed as shape references and 47 as support data. Comfort, sport stability, and retrieval quality gains still need separate validation.</a:t>
            </a: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1143000" y="685800"/>
            <a:ext cx="4570560" cy="3427560"/>
          </a:xfrm>
          <a:prstGeom prst="rect">
            <a:avLst/>
          </a:prstGeom>
          <a:ln w="0">
            <a:noFill/>
          </a:ln>
        </p:spPr>
      </p:sp>
      <p:sp>
        <p:nvSpPr>
          <p:cNvPr id="557"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MCP connects the tools, RAG provides design evidence, and people review the execution scope and results. AI combines the confirmed project state to organize tasks, choose tools, and check receipts. Tool paths include headless document, script, and export operations, plus the existing CAD GUI bridge; the GUI prototype supports only its verified operations, and the current task still confirms the actual window and document. Scripts are checked before execution, run in an isolated process, and their results are verified afterwards; if the connection fails, it is restored first. After a file is saved it is reopened independently, geometry and visuals are checked, and a comparison receipt is produced for human review. Failed checks return to execution, major design trade-offs return to design review, and a person accepts the final result. Different interfaces divide the work by their own verified capabilities.</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1143000" y="685800"/>
            <a:ext cx="4570560" cy="3427560"/>
          </a:xfrm>
          <a:prstGeom prst="rect">
            <a:avLst/>
          </a:prstGeom>
          <a:ln w="0">
            <a:noFill/>
          </a:ln>
        </p:spPr>
      </p:sp>
      <p:sp>
        <p:nvSpPr>
          <p:cNvPr id="559"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Early on, AI could turn need words into rough geometry, and direct modeling exposed the lack of form evidence. Concept-first put ideation, 2D expression, and human selection before modeling, locking the design intent first. The gap at the second node was an editable 3D model, so the next stage had to turn the chosen concept into editable CAD geometry. Once the model existed, the concept and the saved model could be checked item by item, while occlusion ambiguity in circled feedback still needed later spatial diagnosis. The early 2D outlines come from the real archive; the later joint-review image is an example of a newer method, and the candidate still awaits review.</a:t>
            </a:r>
            <a:endParaRPr lang="en-US" sz="20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1143000" y="685800"/>
            <a:ext cx="4570560" cy="3427560"/>
          </a:xfrm>
          <a:prstGeom prst="rect">
            <a:avLst/>
          </a:prstGeom>
          <a:ln w="0">
            <a:noFill/>
          </a:ln>
        </p:spPr>
      </p:sp>
      <p:sp>
        <p:nvSpPr>
          <p:cNvPr id="561"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Real sections help verify part layers and distances; the two images excerpt 635 independent section lines, each shown at equal scale. Once the ear-region names in Chinese and English, the map, and the real source faces are bound together, feedback can be placed on the model. When the overall pose is wrong, the whole unit and its parts move together, so local deformation stops compensating for layout errors. The saved-state A/B in the image keeps the same camera; the partial confirmation of the unit direction covers only that judgment, and joint, support, and real wear still need validation. Methods that pass review, failure causes, and applicable limits are written back to the workflow and the execution entry points, and cross-task effects keep being checked.</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1143000" y="685800"/>
            <a:ext cx="4570920" cy="3427920"/>
          </a:xfrm>
          <a:prstGeom prst="rect">
            <a:avLst/>
          </a:prstGeom>
          <a:ln w="0">
            <a:noFill/>
          </a:ln>
        </p:spPr>
      </p:sp>
      <p:sp>
        <p:nvSpPr>
          <p:cNvPr id="563"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Each change starts with human feedback. AI restates the goal, the plan, and the protected items, and implements only after confirmation or under explicit prior authorization. The file is saved and reopened independently, and a same-condition A/B PDF is provided for human review; the accepted scope and unresolved items are recorded separately, and anything that fails is reworked. The right side keeps the actual receipt of one soft-leaf nudge, used only to show the review scope of that change. Effective methods and failure boundaries go into the workflow, project memory, generation prompts, templates, and tool entry points, and known positive and negative cases plus the next task are used to check that they are actually read. Specifications, tool implementation, tests, and migration are tracked separately; write-back does not mean model parameter training or overall product acceptance.AIA/B PDF</a:t>
            </a:r>
            <a:endParaRPr lang="en-US" sz="20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1143000" y="685800"/>
            <a:ext cx="4570560" cy="3427560"/>
          </a:xfrm>
          <a:prstGeom prst="rect">
            <a:avLst/>
          </a:prstGeom>
          <a:ln w="0">
            <a:noFill/>
          </a:ln>
        </p:spPr>
      </p:sp>
      <p:sp>
        <p:nvSpPr>
          <p:cNvPr id="565" name="PlaceHolder 2"/>
          <p:cNvSpPr>
            <a:spLocks noGrp="1"/>
          </p:cNvSpPr>
          <p:nvPr>
            <p:ph type="body"/>
          </p:nvPr>
        </p:nvSpPr>
        <p:spPr>
          <a:xfrm>
            <a:off x="685800" y="4343400"/>
            <a:ext cx="5484960" cy="411336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The main project already uses RAG retrieval, concept-first work, tool execution, save-and-reopen, review receipts, and lesson write-back, and the process records can be checked. Form and scene splitting, need-coverage selection, and the review of image purpose and size attribution have independent trial results but are not yet fully on the main project's automatic path. Causal gains in efficiency and design quality, plus real comfort, stability, material, and manufacturing performance, still need validation. The next round can switch the needs and product task, check feature extraction and rule reuse, log errors, rework, and data gaps, track rule reads and failures, run controls with one standard, and then run wear and engineering tests separately. Pose refinement is paused for now, the joint candidate awaits review, later multi-view and form regression are pending, and earlier gaps are kept. Method use, content acceptance, product performance, and cross-task validation each record their own results.</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32A939D6-859F-45C4-9E62-49B86937BC63}" type="slidenum">
              <a:t>&lt;#&gt;</a:t>
            </a:fld>
          </a:p>
        </p:txBody>
      </p:sp>
      <p:sp>
        <p:nvSpPr>
          <p:cNvPr id="4" name="PlaceHolder 3"/>
          <p:cNvSpPr>
            <a:spLocks noGrp="1"/>
          </p:cNvSpPr>
          <p:nvPr>
            <p:ph type="dt" idx="3"/>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ftr" idx="1"/>
          </p:nvPr>
        </p:nvSpPr>
        <p:spPr>
          <a:xfrm>
            <a:off x="3124080" y="6356520"/>
            <a:ext cx="289404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 name="PlaceHolder 2"/>
          <p:cNvSpPr>
            <a:spLocks noGrp="1"/>
          </p:cNvSpPr>
          <p:nvPr>
            <p:ph type="sldNum" idx="2"/>
          </p:nvPr>
        </p:nvSpPr>
        <p:spPr>
          <a:xfrm>
            <a:off x="6553080" y="6356520"/>
            <a:ext cx="2132280" cy="3636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ea typeface="Times New Roman"/>
              </a:defRPr>
            </a:lvl1pPr>
          </a:lstStyle>
          <a:p>
            <a:pPr indent="0" algn="l">
              <a:lnSpc>
                <a:spcPct val="100000"/>
              </a:lnSpc>
              <a:buNone/>
              <a:tabLst>
                <a:tab pos="0" algn="l"/>
              </a:tabLst>
            </a:pPr>
            <a:fld id="{CB567B4A-9C3D-40FE-B99D-06915AA875E2}" type="slidenum">
              <a:rPr lang="en-US" sz="1400" b="0" u="none" strike="noStrike">
                <a:solidFill>
                  <a:srgbClr val="000000"/>
                </a:solidFill>
                <a:effectLst/>
                <a:uFillTx/>
                <a:latin typeface="Times New Roman"/>
                <a:ea typeface="Times New Roman"/>
              </a:rPr>
              <a:t>&lt;number&gt;</a:t>
            </a:fld>
            <a:endParaRPr lang="en-US" sz="1400" b="0" u="none" strike="noStrike">
              <a:solidFill>
                <a:srgbClr val="000000"/>
              </a:solidFill>
              <a:effectLst/>
              <a:uFillTx/>
              <a:latin typeface="Times New Roman"/>
            </a:endParaRPr>
          </a:p>
        </p:txBody>
      </p:sp>
      <p:sp>
        <p:nvSpPr>
          <p:cNvPr id="4" name="PlaceHolder 3"/>
          <p:cNvSpPr>
            <a:spLocks noGrp="1"/>
          </p:cNvSpPr>
          <p:nvPr>
            <p:ph type="dt" idx="3"/>
          </p:nvPr>
        </p:nvSpPr>
        <p:spPr>
          <a:xfrm>
            <a:off x="457200" y="6356520"/>
            <a:ext cx="213228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 name="Google Shape;23;p1"/>
          <p:cNvGrpSpPr/>
          <p:nvPr/>
        </p:nvGrpSpPr>
        <p:grpSpPr>
          <a:xfrm>
            <a:off x="590400" y="996840"/>
            <a:ext cx="6765120" cy="3908160"/>
            <a:chOff x="590400" y="996840"/>
            <a:chExt cx="6765120" cy="3908160"/>
          </a:xfrm>
        </p:grpSpPr>
        <p:sp>
          <p:nvSpPr>
            <p:cNvPr id="14" name="Google Shape;25;p1"/>
            <p:cNvSpPr/>
            <p:nvPr/>
          </p:nvSpPr>
          <p:spPr>
            <a:xfrm>
              <a:off x="601200" y="996840"/>
              <a:ext cx="2447640" cy="321120"/>
            </a:xfrm>
            <a:prstGeom prst="rect">
              <a:avLst/>
            </a:prstGeom>
            <a:noFill/>
            <a:ln w="0">
              <a:noFill/>
            </a:ln>
          </p:spPr>
          <p:style>
            <a:lnRef idx="0"/>
            <a:fillRef idx="0"/>
            <a:effectRef idx="0"/>
            <a:fontRef idx="minor"/>
          </p:style>
          <p:txBody>
            <a:bodyPr lIns="0" tIns="0" rIns="0" bIns="0" anchor="t">
              <a:spAutoFit/>
            </a:bodyPr>
            <a:p>
              <a:pPr/>
              <a:endParaRPr lang="en-US" sz="1400" b="0" u="none" strike="noStrike">
                <a:solidFill>
                  <a:srgbClr val="000000"/>
                </a:solidFill>
                <a:effectLst/>
                <a:uFillTx/>
                <a:latin typeface="Arial"/>
              </a:endParaRPr>
            </a:p>
          </p:txBody>
        </p:sp>
        <p:sp>
          <p:nvSpPr>
            <p:cNvPr id="15" name="Google Shape;26;p1"/>
            <p:cNvSpPr/>
            <p:nvPr/>
          </p:nvSpPr>
          <p:spPr>
            <a:xfrm>
              <a:off x="590400" y="1692360"/>
              <a:ext cx="6765120" cy="1340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4400" b="1" u="none" strike="noStrike">
                  <a:solidFill>
                    <a:srgbClr val="13243A"/>
                  </a:solidFill>
                  <a:effectLst/>
                  <a:uFillTx/>
                  <a:latin typeface="Arial"/>
                  <a:ea typeface="Arial"/>
                </a:rPr>
                <a:t>AI for Earphone Shape Design</a:t>
              </a:r>
              <a:endParaRPr lang="en-US" sz="4400" b="0" u="none" strike="noStrike">
                <a:solidFill>
                  <a:srgbClr val="000000"/>
                </a:solidFill>
                <a:effectLst/>
                <a:uFillTx/>
                <a:latin typeface="Arial"/>
              </a:endParaRPr>
            </a:p>
          </p:txBody>
        </p:sp>
        <p:sp>
          <p:nvSpPr>
            <p:cNvPr id="16" name="Google Shape;27;p1"/>
            <p:cNvSpPr/>
            <p:nvPr/>
          </p:nvSpPr>
          <p:spPr>
            <a:xfrm>
              <a:off x="597240" y="3022560"/>
              <a:ext cx="4950720" cy="1096920"/>
            </a:xfrm>
            <a:prstGeom prst="rect">
              <a:avLst/>
            </a:prstGeom>
            <a:noFill/>
            <a:ln w="0">
              <a:noFill/>
            </a:ln>
          </p:spPr>
          <p:style>
            <a:lnRef idx="0"/>
            <a:fillRef idx="0"/>
            <a:effectRef idx="0"/>
            <a:fontRef idx="minor"/>
          </p:style>
          <p:txBody>
            <a:bodyPr lIns="0" tIns="0" rIns="0" bIns="0" anchor="t">
              <a:spAutoFit/>
            </a:bodyPr>
            <a:p>
              <a:pPr>
                <a:lnSpc>
                  <a:spcPct val="150000"/>
                </a:lnSpc>
                <a:tabLst>
                  <a:tab pos="0" algn="l"/>
                </a:tabLst>
              </a:pPr>
              <a:r>
                <a:rPr lang="en-US" sz="2400" b="0" u="none" strike="noStrike">
                  <a:solidFill>
                    <a:srgbClr val="24364C"/>
                  </a:solidFill>
                  <a:effectLst/>
                  <a:uFillTx/>
                  <a:latin typeface="Arial"/>
                  <a:ea typeface="Arial"/>
                </a:rPr>
                <a:t>Knowledge, tools, and human reviews in the earphone design</a:t>
              </a:r>
              <a:r>
                <a:rPr lang="en-US" sz="2400" b="0" u="none" strike="noStrike">
                  <a:solidFill>
                    <a:srgbClr val="24364C"/>
                  </a:solidFill>
                  <a:effectLst/>
                  <a:uFillTx/>
                  <a:latin typeface="Arial"/>
                  <a:ea typeface="Arial"/>
                </a:rPr>
                <a:t> loop</a:t>
              </a:r>
              <a:endParaRPr lang="en-US" sz="2400" b="0" u="none" strike="noStrike">
                <a:solidFill>
                  <a:srgbClr val="000000"/>
                </a:solidFill>
                <a:effectLst/>
                <a:uFillTx/>
                <a:latin typeface="Arial"/>
              </a:endParaRPr>
            </a:p>
          </p:txBody>
        </p:sp>
        <p:sp>
          <p:nvSpPr>
            <p:cNvPr id="17" name="Google Shape;28;p1"/>
            <p:cNvSpPr/>
            <p:nvPr/>
          </p:nvSpPr>
          <p:spPr>
            <a:xfrm>
              <a:off x="599760" y="4168800"/>
              <a:ext cx="5384880" cy="379800"/>
            </a:xfrm>
            <a:prstGeom prst="rect">
              <a:avLst/>
            </a:prstGeom>
            <a:noFill/>
            <a:ln w="0">
              <a:noFill/>
            </a:ln>
          </p:spPr>
          <p:style>
            <a:lnRef idx="0"/>
            <a:fillRef idx="0"/>
            <a:effectRef idx="0"/>
            <a:fontRef idx="minor"/>
          </p:style>
          <p:txBody>
            <a:bodyPr lIns="0" tIns="0" rIns="0" bIns="0" anchor="t">
              <a:spAutoFit/>
            </a:bodyPr>
            <a:p>
              <a:pPr/>
              <a:endParaRPr lang="en-US" sz="1400" b="0" u="none" strike="noStrike">
                <a:solidFill>
                  <a:srgbClr val="000000"/>
                </a:solidFill>
                <a:effectLst/>
                <a:uFillTx/>
                <a:latin typeface="Arial"/>
              </a:endParaRPr>
            </a:p>
          </p:txBody>
        </p:sp>
        <p:sp>
          <p:nvSpPr>
            <p:cNvPr id="18" name="Google Shape;29;p1"/>
            <p:cNvSpPr/>
            <p:nvPr/>
          </p:nvSpPr>
          <p:spPr>
            <a:xfrm>
              <a:off x="601200" y="4654440"/>
              <a:ext cx="5871960" cy="250560"/>
            </a:xfrm>
            <a:prstGeom prst="rect">
              <a:avLst/>
            </a:prstGeom>
            <a:noFill/>
            <a:ln w="0">
              <a:noFill/>
            </a:ln>
          </p:spPr>
          <p:style>
            <a:lnRef idx="0"/>
            <a:fillRef idx="0"/>
            <a:effectRef idx="0"/>
            <a:fontRef idx="minor"/>
          </p:style>
          <p:txBody>
            <a:bodyPr lIns="0" tIns="0" rIns="0" bIns="0" anchor="t">
              <a:spAutoFit/>
            </a:bodyPr>
            <a:p>
              <a:pPr/>
              <a:endParaRPr lang="en-US" sz="1400" b="0" u="none" strike="noStrike">
                <a:solidFill>
                  <a:srgbClr val="000000"/>
                </a:solidFill>
                <a:effectLst/>
                <a:uFillTx/>
                <a:latin typeface="Arial"/>
              </a:endParaRPr>
            </a:p>
          </p:txBody>
        </p:sp>
      </p:grpSp>
      <p:grpSp>
        <p:nvGrpSpPr>
          <p:cNvPr id="19" name="Google Shape;30;p1"/>
          <p:cNvGrpSpPr/>
          <p:nvPr/>
        </p:nvGrpSpPr>
        <p:grpSpPr>
          <a:xfrm>
            <a:off x="7915320" y="1324080"/>
            <a:ext cx="3579840" cy="3960720"/>
            <a:chOff x="7915320" y="1324080"/>
            <a:chExt cx="3579840" cy="3960720"/>
          </a:xfrm>
        </p:grpSpPr>
        <p:cxnSp>
          <p:nvCxnSpPr>
            <p:cNvPr id="20" name="Google Shape;31;p1"/>
            <p:cNvCxnSpPr/>
            <p:nvPr/>
          </p:nvCxnSpPr>
          <p:spPr>
            <a:xfrm>
              <a:off x="9524880" y="2295360"/>
              <a:ext cx="1276560" cy="810000"/>
            </a:xfrm>
            <a:prstGeom prst="straightConnector1">
              <a:avLst/>
            </a:prstGeom>
            <a:ln w="19050">
              <a:solidFill>
                <a:srgbClr val="C5CEDB"/>
              </a:solidFill>
              <a:round/>
              <a:tailEnd len="lg" type="triangle" w="lg"/>
            </a:ln>
          </p:spPr>
        </p:cxnSp>
        <p:cxnSp>
          <p:nvCxnSpPr>
            <p:cNvPr id="21" name="Google Shape;32;p1"/>
            <p:cNvCxnSpPr/>
            <p:nvPr/>
          </p:nvCxnSpPr>
          <p:spPr>
            <a:xfrm flipH="1">
              <a:off x="9524880" y="3504960"/>
              <a:ext cx="1276560" cy="810000"/>
            </a:xfrm>
            <a:prstGeom prst="straightConnector1">
              <a:avLst/>
            </a:prstGeom>
            <a:ln w="19050">
              <a:solidFill>
                <a:srgbClr val="C5CEDB"/>
              </a:solidFill>
              <a:round/>
              <a:tailEnd len="lg" type="triangle" w="lg"/>
            </a:ln>
          </p:spPr>
        </p:cxnSp>
        <p:cxnSp>
          <p:nvCxnSpPr>
            <p:cNvPr id="22" name="Google Shape;33;p1"/>
            <p:cNvCxnSpPr/>
            <p:nvPr/>
          </p:nvCxnSpPr>
          <p:spPr>
            <a:xfrm flipH="1" flipV="1">
              <a:off x="8258040" y="3504960"/>
              <a:ext cx="867240" cy="810000"/>
            </a:xfrm>
            <a:prstGeom prst="straightConnector1">
              <a:avLst/>
            </a:prstGeom>
            <a:ln w="19050">
              <a:solidFill>
                <a:srgbClr val="C5CEDB"/>
              </a:solidFill>
              <a:round/>
              <a:tailEnd len="lg" type="triangle" w="lg"/>
            </a:ln>
          </p:spPr>
        </p:cxnSp>
        <p:cxnSp>
          <p:nvCxnSpPr>
            <p:cNvPr id="23" name="Google Shape;34;p1"/>
            <p:cNvCxnSpPr/>
            <p:nvPr/>
          </p:nvCxnSpPr>
          <p:spPr>
            <a:xfrm flipV="1">
              <a:off x="8258040" y="2295360"/>
              <a:ext cx="867240" cy="810000"/>
            </a:xfrm>
            <a:prstGeom prst="straightConnector1">
              <a:avLst/>
            </a:prstGeom>
            <a:ln w="19050">
              <a:solidFill>
                <a:srgbClr val="C5CEDB"/>
              </a:solidFill>
              <a:round/>
              <a:tailEnd len="lg" type="triangle" w="lg"/>
            </a:ln>
          </p:spPr>
        </p:cxnSp>
        <p:sp>
          <p:nvSpPr>
            <p:cNvPr id="24" name="Google Shape;35;p1"/>
            <p:cNvSpPr/>
            <p:nvPr/>
          </p:nvSpPr>
          <p:spPr>
            <a:xfrm>
              <a:off x="8744040" y="1324080"/>
              <a:ext cx="1160640" cy="116064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5" name="Google Shape;36;p1"/>
            <p:cNvSpPr/>
            <p:nvPr/>
          </p:nvSpPr>
          <p:spPr>
            <a:xfrm>
              <a:off x="8780400" y="1616040"/>
              <a:ext cx="1087920" cy="3798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Knowledge</a:t>
              </a:r>
              <a:endParaRPr lang="en-US" sz="1500" b="0" u="none" strike="noStrike">
                <a:solidFill>
                  <a:srgbClr val="000000"/>
                </a:solidFill>
                <a:effectLst/>
                <a:uFillTx/>
                <a:latin typeface="Arial"/>
              </a:endParaRPr>
            </a:p>
          </p:txBody>
        </p:sp>
        <p:sp>
          <p:nvSpPr>
            <p:cNvPr id="26" name="Google Shape;37;p1"/>
            <p:cNvSpPr/>
            <p:nvPr/>
          </p:nvSpPr>
          <p:spPr>
            <a:xfrm>
              <a:off x="8839080" y="1978200"/>
              <a:ext cx="970200" cy="26244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find evidence</a:t>
              </a:r>
              <a:endParaRPr lang="en-US" sz="1200" b="0" u="none" strike="noStrike">
                <a:solidFill>
                  <a:srgbClr val="000000"/>
                </a:solidFill>
                <a:effectLst/>
                <a:uFillTx/>
                <a:latin typeface="Arial"/>
              </a:endParaRPr>
            </a:p>
          </p:txBody>
        </p:sp>
        <p:sp>
          <p:nvSpPr>
            <p:cNvPr id="27" name="Google Shape;38;p1"/>
            <p:cNvSpPr/>
            <p:nvPr/>
          </p:nvSpPr>
          <p:spPr>
            <a:xfrm>
              <a:off x="10334520" y="2724120"/>
              <a:ext cx="1160640" cy="116064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8" name="Google Shape;39;p1"/>
            <p:cNvSpPr/>
            <p:nvPr/>
          </p:nvSpPr>
          <p:spPr>
            <a:xfrm>
              <a:off x="10465920" y="3016080"/>
              <a:ext cx="897840" cy="3798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Generate</a:t>
              </a:r>
              <a:endParaRPr lang="en-US" sz="1500" b="0" u="none" strike="noStrike">
                <a:solidFill>
                  <a:srgbClr val="000000"/>
                </a:solidFill>
                <a:effectLst/>
                <a:uFillTx/>
                <a:latin typeface="Arial"/>
              </a:endParaRPr>
            </a:p>
          </p:txBody>
        </p:sp>
        <p:sp>
          <p:nvSpPr>
            <p:cNvPr id="29" name="Google Shape;40;p1"/>
            <p:cNvSpPr/>
            <p:nvPr/>
          </p:nvSpPr>
          <p:spPr>
            <a:xfrm>
              <a:off x="10425600" y="3378240"/>
              <a:ext cx="978480" cy="26244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explore ideas</a:t>
              </a:r>
              <a:endParaRPr lang="en-US" sz="1200" b="0" u="none" strike="noStrike">
                <a:solidFill>
                  <a:srgbClr val="000000"/>
                </a:solidFill>
                <a:effectLst/>
                <a:uFillTx/>
                <a:latin typeface="Arial"/>
              </a:endParaRPr>
            </a:p>
          </p:txBody>
        </p:sp>
        <p:sp>
          <p:nvSpPr>
            <p:cNvPr id="30" name="Google Shape;41;p1"/>
            <p:cNvSpPr/>
            <p:nvPr/>
          </p:nvSpPr>
          <p:spPr>
            <a:xfrm>
              <a:off x="8744040" y="4124160"/>
              <a:ext cx="1160640" cy="1160640"/>
            </a:xfrm>
            <a:prstGeom prst="ellipse">
              <a:avLst/>
            </a:prstGeom>
            <a:solidFill>
              <a:srgbClr val="069B8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1" name="Google Shape;42;p1"/>
            <p:cNvSpPr/>
            <p:nvPr/>
          </p:nvSpPr>
          <p:spPr>
            <a:xfrm>
              <a:off x="8922960" y="4416480"/>
              <a:ext cx="802440" cy="3798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Execute</a:t>
              </a:r>
              <a:endParaRPr lang="en-US" sz="1500" b="0" u="none" strike="noStrike">
                <a:solidFill>
                  <a:srgbClr val="000000"/>
                </a:solidFill>
                <a:effectLst/>
                <a:uFillTx/>
                <a:latin typeface="Arial"/>
              </a:endParaRPr>
            </a:p>
          </p:txBody>
        </p:sp>
        <p:sp>
          <p:nvSpPr>
            <p:cNvPr id="32" name="Google Shape;43;p1"/>
            <p:cNvSpPr/>
            <p:nvPr/>
          </p:nvSpPr>
          <p:spPr>
            <a:xfrm>
              <a:off x="8847720" y="4778280"/>
              <a:ext cx="953280" cy="26244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operate tools</a:t>
              </a:r>
              <a:endParaRPr lang="en-US" sz="1200" b="0" u="none" strike="noStrike">
                <a:solidFill>
                  <a:srgbClr val="000000"/>
                </a:solidFill>
                <a:effectLst/>
                <a:uFillTx/>
                <a:latin typeface="Arial"/>
              </a:endParaRPr>
            </a:p>
          </p:txBody>
        </p:sp>
        <p:sp>
          <p:nvSpPr>
            <p:cNvPr id="33" name="Google Shape;44;p1"/>
            <p:cNvSpPr/>
            <p:nvPr/>
          </p:nvSpPr>
          <p:spPr>
            <a:xfrm>
              <a:off x="7915320" y="2724120"/>
              <a:ext cx="1160640" cy="116064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4" name="Google Shape;45;p1"/>
            <p:cNvSpPr/>
            <p:nvPr/>
          </p:nvSpPr>
          <p:spPr>
            <a:xfrm>
              <a:off x="8131320" y="3016080"/>
              <a:ext cx="728280" cy="3798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Review</a:t>
              </a:r>
              <a:endParaRPr lang="en-US" sz="1500" b="0" u="none" strike="noStrike">
                <a:solidFill>
                  <a:srgbClr val="000000"/>
                </a:solidFill>
                <a:effectLst/>
                <a:uFillTx/>
                <a:latin typeface="Arial"/>
              </a:endParaRPr>
            </a:p>
          </p:txBody>
        </p:sp>
        <p:sp>
          <p:nvSpPr>
            <p:cNvPr id="35" name="Google Shape;46;p1"/>
            <p:cNvSpPr/>
            <p:nvPr/>
          </p:nvSpPr>
          <p:spPr>
            <a:xfrm>
              <a:off x="7964280" y="3378240"/>
              <a:ext cx="1063080" cy="26244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record lessons</a:t>
              </a:r>
              <a:endParaRPr lang="en-US" sz="1200" b="0" u="none" strike="noStrike">
                <a:solidFill>
                  <a:srgbClr val="000000"/>
                </a:solidFill>
                <a:effectLst/>
                <a:uFillTx/>
                <a:latin typeface="Arial"/>
              </a:endParaRPr>
            </a:p>
          </p:txBody>
        </p:sp>
      </p:grpSp>
      <p:sp>
        <p:nvSpPr>
          <p:cNvPr id="36" name="Google Shape;47;p1"/>
          <p:cNvSpPr/>
          <p:nvPr/>
        </p:nvSpPr>
        <p:spPr>
          <a:xfrm>
            <a:off x="609480" y="6048360"/>
            <a:ext cx="10971360" cy="7920"/>
          </a:xfrm>
          <a:custGeom>
            <a:avLst/>
            <a:gdLst>
              <a:gd name="textAreaLeft" fmla="*/ 0 w 10971360"/>
              <a:gd name="textAreaRight" fmla="*/ 10971720 w 10971360"/>
              <a:gd name="textAreaTop" fmla="*/ 0 h 7920"/>
              <a:gd name="textAreaBottom" fmla="*/ 8280 h 7920"/>
            </a:gdLst>
            <a:ahLst/>
            <a:cxnLst/>
            <a:rect l="textAreaLeft" t="textAreaTop" r="textAreaRight" b="textAreaBottom"/>
            <a:pathLst>
              <a:path w="10972800" h="9525">
                <a:moveTo>
                  <a:pt x="0" y="0"/>
                </a:moveTo>
                <a:lnTo>
                  <a:pt x="10972800" y="0"/>
                </a:lnTo>
              </a:path>
            </a:pathLst>
          </a:custGeom>
          <a:noFill/>
          <a:ln w="9525">
            <a:solidFill>
              <a:srgbClr val="DCE3EF"/>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37" name="Google Shape;48;p1"/>
          <p:cNvSpPr/>
          <p:nvPr/>
        </p:nvSpPr>
        <p:spPr>
          <a:xfrm>
            <a:off x="602640" y="6388200"/>
            <a:ext cx="45126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Focus: AI participation, process iteration, and lesson reuse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8" name="Google Shape;296;p8"/>
          <p:cNvGrpSpPr/>
          <p:nvPr/>
        </p:nvGrpSpPr>
        <p:grpSpPr>
          <a:xfrm>
            <a:off x="478440" y="422280"/>
            <a:ext cx="11208960" cy="972360"/>
            <a:chOff x="478440" y="422280"/>
            <a:chExt cx="11208960" cy="972360"/>
          </a:xfrm>
        </p:grpSpPr>
        <p:sp>
          <p:nvSpPr>
            <p:cNvPr id="39" name="Google Shape;297;p8"/>
            <p:cNvSpPr/>
            <p:nvPr/>
          </p:nvSpPr>
          <p:spPr>
            <a:xfrm>
              <a:off x="478440" y="422280"/>
              <a:ext cx="11200320" cy="6444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Concept Image Inputs, Evidence, and Drawing Plan</a:t>
              </a:r>
              <a:endParaRPr lang="en-US" sz="3300" b="0" u="none" strike="noStrike">
                <a:solidFill>
                  <a:srgbClr val="000000"/>
                </a:solidFill>
                <a:effectLst/>
                <a:uFillTx/>
                <a:latin typeface="Arial"/>
              </a:endParaRPr>
            </a:p>
          </p:txBody>
        </p:sp>
        <p:sp>
          <p:nvSpPr>
            <p:cNvPr id="40" name="Google Shape;298;p8"/>
            <p:cNvSpPr/>
            <p:nvPr/>
          </p:nvSpPr>
          <p:spPr>
            <a:xfrm>
              <a:off x="487080" y="1073160"/>
              <a:ext cx="11200320" cy="3214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500" b="0" u="none" strike="noStrike">
                  <a:solidFill>
                    <a:srgbClr val="66758A"/>
                  </a:solidFill>
                  <a:effectLst/>
                  <a:uFillTx/>
                  <a:latin typeface="Arial"/>
                  <a:ea typeface="Arial"/>
                </a:rPr>
                <a:t>Using the Fin Wing direction as an example, this shows how user needs become an executable generation Prompt.</a:t>
              </a:r>
              <a:endParaRPr lang="en-US" sz="1500" b="0" u="none" strike="noStrike">
                <a:solidFill>
                  <a:srgbClr val="000000"/>
                </a:solidFill>
                <a:effectLst/>
                <a:uFillTx/>
                <a:latin typeface="Arial"/>
              </a:endParaRPr>
            </a:p>
          </p:txBody>
        </p:sp>
      </p:grpSp>
      <p:sp>
        <p:nvSpPr>
          <p:cNvPr id="41" name="Google Shape;299;p8"/>
          <p:cNvSpPr/>
          <p:nvPr/>
        </p:nvSpPr>
        <p:spPr>
          <a:xfrm>
            <a:off x="488520" y="6407280"/>
            <a:ext cx="10666800" cy="2628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50" b="0" u="none" strike="noStrike">
                <a:solidFill>
                  <a:srgbClr val="66758A"/>
                </a:solidFill>
                <a:effectLst/>
                <a:uFillTx/>
                <a:latin typeface="Arial"/>
                <a:ea typeface="Arial"/>
              </a:rPr>
              <a:t>Retrieval and Prompt are archived; data-to-parameter bindings were not saved, so the drawing plan is a review summary.</a:t>
            </a:r>
            <a:endParaRPr lang="en-US" sz="1350" b="0" u="none" strike="noStrike">
              <a:solidFill>
                <a:srgbClr val="000000"/>
              </a:solidFill>
              <a:effectLst/>
              <a:uFillTx/>
              <a:latin typeface="Arial"/>
            </a:endParaRPr>
          </a:p>
        </p:txBody>
      </p:sp>
      <p:grpSp>
        <p:nvGrpSpPr>
          <p:cNvPr id="42" name="Google Shape;300;p8"/>
          <p:cNvGrpSpPr/>
          <p:nvPr/>
        </p:nvGrpSpPr>
        <p:grpSpPr>
          <a:xfrm>
            <a:off x="495360" y="1581120"/>
            <a:ext cx="11200320" cy="761040"/>
            <a:chOff x="495360" y="1581120"/>
            <a:chExt cx="11200320" cy="761040"/>
          </a:xfrm>
        </p:grpSpPr>
        <p:sp>
          <p:nvSpPr>
            <p:cNvPr id="43" name="Google Shape;301;p8"/>
            <p:cNvSpPr/>
            <p:nvPr/>
          </p:nvSpPr>
          <p:spPr>
            <a:xfrm>
              <a:off x="495360" y="1581120"/>
              <a:ext cx="11200320" cy="761040"/>
            </a:xfrm>
            <a:prstGeom prst="roundRect">
              <a:avLst>
                <a:gd name="adj" fmla="val 10000"/>
              </a:avLst>
            </a:prstGeom>
            <a:solidFill>
              <a:srgbClr val="F7F8FC"/>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4" name="Google Shape;302;p8"/>
            <p:cNvSpPr/>
            <p:nvPr/>
          </p:nvSpPr>
          <p:spPr>
            <a:xfrm>
              <a:off x="658440" y="1673280"/>
              <a:ext cx="118800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A76813"/>
                  </a:solidFill>
                  <a:effectLst/>
                  <a:uFillTx/>
                  <a:latin typeface="Arial"/>
                  <a:ea typeface="Arial"/>
                </a:rPr>
                <a:t>User input</a:t>
              </a:r>
              <a:endParaRPr lang="en-US" sz="1500" b="0" u="none" strike="noStrike">
                <a:solidFill>
                  <a:srgbClr val="000000"/>
                </a:solidFill>
                <a:effectLst/>
                <a:uFillTx/>
                <a:latin typeface="Arial"/>
              </a:endParaRPr>
            </a:p>
          </p:txBody>
        </p:sp>
        <p:sp>
          <p:nvSpPr>
            <p:cNvPr id="45" name="Google Shape;303;p8"/>
            <p:cNvSpPr/>
            <p:nvPr/>
          </p:nvSpPr>
          <p:spPr>
            <a:xfrm>
              <a:off x="1925280" y="1673280"/>
              <a:ext cx="950904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In-ear, comfortable, biomimetic, moderate size; stable in sport, stays on in sleep, youthful colors.</a:t>
              </a:r>
              <a:endParaRPr lang="en-US" sz="1500" b="0" u="none" strike="noStrike">
                <a:solidFill>
                  <a:srgbClr val="000000"/>
                </a:solidFill>
                <a:effectLst/>
                <a:uFillTx/>
                <a:latin typeface="Arial"/>
              </a:endParaRPr>
            </a:p>
          </p:txBody>
        </p:sp>
        <p:sp>
          <p:nvSpPr>
            <p:cNvPr id="46" name="Google Shape;304;p8"/>
            <p:cNvSpPr/>
            <p:nvPr/>
          </p:nvSpPr>
          <p:spPr>
            <a:xfrm>
              <a:off x="1926720" y="2006640"/>
              <a:ext cx="950904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Split into product form, use scenarios, and look preferences; comfort and stability remain goals to verify.</a:t>
              </a:r>
              <a:endParaRPr lang="en-US" sz="1350" b="0" u="none" strike="noStrike">
                <a:solidFill>
                  <a:srgbClr val="000000"/>
                </a:solidFill>
                <a:effectLst/>
                <a:uFillTx/>
                <a:latin typeface="Arial"/>
              </a:endParaRPr>
            </a:p>
          </p:txBody>
        </p:sp>
      </p:grpSp>
      <p:grpSp>
        <p:nvGrpSpPr>
          <p:cNvPr id="47" name="Google Shape;305;p8"/>
          <p:cNvGrpSpPr/>
          <p:nvPr/>
        </p:nvGrpSpPr>
        <p:grpSpPr>
          <a:xfrm>
            <a:off x="637920" y="2540160"/>
            <a:ext cx="3248280" cy="2063160"/>
            <a:chOff x="637920" y="2540160"/>
            <a:chExt cx="3248280" cy="2063160"/>
          </a:xfrm>
        </p:grpSpPr>
        <p:sp>
          <p:nvSpPr>
            <p:cNvPr id="48" name="Google Shape;306;p8"/>
            <p:cNvSpPr/>
            <p:nvPr/>
          </p:nvSpPr>
          <p:spPr>
            <a:xfrm>
              <a:off x="637920" y="2540160"/>
              <a:ext cx="324540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1 RAG evidence</a:t>
              </a:r>
              <a:endParaRPr lang="en-US" sz="1950" b="0" u="none" strike="noStrike">
                <a:solidFill>
                  <a:srgbClr val="000000"/>
                </a:solidFill>
                <a:effectLst/>
                <a:uFillTx/>
                <a:latin typeface="Arial"/>
              </a:endParaRPr>
            </a:p>
          </p:txBody>
        </p:sp>
        <p:sp>
          <p:nvSpPr>
            <p:cNvPr id="49" name="Google Shape;307;p8"/>
            <p:cNvSpPr/>
            <p:nvPr/>
          </p:nvSpPr>
          <p:spPr>
            <a:xfrm>
              <a:off x="640800" y="2882880"/>
              <a:ext cx="32454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Real keyword search returned 4 cases</a:t>
              </a:r>
              <a:endParaRPr lang="en-US" sz="1350" b="0" u="none" strike="noStrike">
                <a:solidFill>
                  <a:srgbClr val="000000"/>
                </a:solidFill>
                <a:effectLst/>
                <a:uFillTx/>
                <a:latin typeface="Arial"/>
              </a:endParaRPr>
            </a:p>
          </p:txBody>
        </p:sp>
        <p:sp>
          <p:nvSpPr>
            <p:cNvPr id="50" name="Google Shape;308;p8"/>
            <p:cNvSpPr/>
            <p:nvPr/>
          </p:nvSpPr>
          <p:spPr>
            <a:xfrm>
              <a:off x="640080" y="3165480"/>
              <a:ext cx="32454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24364C"/>
                  </a:solidFill>
                  <a:effectLst/>
                  <a:uFillTx/>
                  <a:latin typeface="Arial"/>
                  <a:ea typeface="Arial"/>
                </a:rPr>
                <a:t>In-ear, comfort, low profile, soft hold</a:t>
              </a:r>
              <a:endParaRPr lang="en-US" sz="1350" b="0" u="none" strike="noStrike">
                <a:solidFill>
                  <a:srgbClr val="000000"/>
                </a:solidFill>
                <a:effectLst/>
                <a:uFillTx/>
                <a:latin typeface="Arial"/>
              </a:endParaRPr>
            </a:p>
          </p:txBody>
        </p:sp>
        <p:sp>
          <p:nvSpPr>
            <p:cNvPr id="51" name="Google Shape;309;p8"/>
            <p:cNvSpPr/>
            <p:nvPr/>
          </p:nvSpPr>
          <p:spPr>
            <a:xfrm>
              <a:off x="639360" y="3502080"/>
              <a:ext cx="324540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13243A"/>
                  </a:solidFill>
                  <a:effectLst/>
                  <a:uFillTx/>
                  <a:latin typeface="Arial"/>
                  <a:ea typeface="Arial"/>
                </a:rPr>
                <a:t>Huawei ear-clip: hard/soft split</a:t>
              </a:r>
              <a:endParaRPr lang="en-US" sz="1500" b="0" u="none" strike="noStrike">
                <a:solidFill>
                  <a:srgbClr val="000000"/>
                </a:solidFill>
                <a:effectLst/>
                <a:uFillTx/>
                <a:latin typeface="Arial"/>
              </a:endParaRPr>
            </a:p>
          </p:txBody>
        </p:sp>
        <p:sp>
          <p:nvSpPr>
            <p:cNvPr id="52" name="Google Shape;310;p8"/>
            <p:cNvSpPr/>
            <p:nvPr/>
          </p:nvSpPr>
          <p:spPr>
            <a:xfrm>
              <a:off x="640800" y="3787920"/>
              <a:ext cx="32454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Vendor data; cross-form materials</a:t>
              </a:r>
              <a:endParaRPr lang="en-US" sz="1350" b="0" u="none" strike="noStrike">
                <a:solidFill>
                  <a:srgbClr val="000000"/>
                </a:solidFill>
                <a:effectLst/>
                <a:uFillTx/>
                <a:latin typeface="Arial"/>
              </a:endParaRPr>
            </a:p>
          </p:txBody>
        </p:sp>
        <p:sp>
          <p:nvSpPr>
            <p:cNvPr id="53" name="Google Shape;311;p8"/>
            <p:cNvSpPr/>
            <p:nvPr/>
          </p:nvSpPr>
          <p:spPr>
            <a:xfrm>
              <a:off x="639360" y="4111560"/>
              <a:ext cx="324540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13243A"/>
                  </a:solidFill>
                  <a:effectLst/>
                  <a:uFillTx/>
                  <a:latin typeface="Arial"/>
                  <a:ea typeface="Arial"/>
                </a:rPr>
                <a:t>QuietOn sleep plugs: low profile</a:t>
              </a:r>
              <a:endParaRPr lang="en-US" sz="1500" b="0" u="none" strike="noStrike">
                <a:solidFill>
                  <a:srgbClr val="000000"/>
                </a:solidFill>
                <a:effectLst/>
                <a:uFillTx/>
                <a:latin typeface="Arial"/>
              </a:endParaRPr>
            </a:p>
          </p:txBody>
        </p:sp>
        <p:sp>
          <p:nvSpPr>
            <p:cNvPr id="54" name="Google Shape;312;p8"/>
            <p:cNvSpPr/>
            <p:nvPr/>
          </p:nvSpPr>
          <p:spPr>
            <a:xfrm>
              <a:off x="640800" y="4397400"/>
              <a:ext cx="32454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Vendor data; low volume limits features</a:t>
              </a:r>
              <a:endParaRPr lang="en-US" sz="1350" b="0" u="none" strike="noStrike">
                <a:solidFill>
                  <a:srgbClr val="000000"/>
                </a:solidFill>
                <a:effectLst/>
                <a:uFillTx/>
                <a:latin typeface="Arial"/>
              </a:endParaRPr>
            </a:p>
          </p:txBody>
        </p:sp>
      </p:grpSp>
      <p:cxnSp>
        <p:nvCxnSpPr>
          <p:cNvPr id="55" name="Google Shape;313;p8"/>
          <p:cNvCxnSpPr/>
          <p:nvPr/>
        </p:nvCxnSpPr>
        <p:spPr>
          <a:xfrm>
            <a:off x="3962160" y="3590640"/>
            <a:ext cx="314640" cy="720"/>
          </a:xfrm>
          <a:prstGeom prst="straightConnector1">
            <a:avLst/>
          </a:prstGeom>
          <a:ln w="19050">
            <a:solidFill>
              <a:srgbClr val="66758A"/>
            </a:solidFill>
            <a:round/>
            <a:tailEnd len="lg" type="triangle" w="lg"/>
          </a:ln>
        </p:spPr>
      </p:cxnSp>
      <p:grpSp>
        <p:nvGrpSpPr>
          <p:cNvPr id="56" name="Google Shape;314;p8"/>
          <p:cNvGrpSpPr/>
          <p:nvPr/>
        </p:nvGrpSpPr>
        <p:grpSpPr>
          <a:xfrm>
            <a:off x="4428720" y="2540160"/>
            <a:ext cx="3440520" cy="2063160"/>
            <a:chOff x="4428720" y="2540160"/>
            <a:chExt cx="3440520" cy="2063160"/>
          </a:xfrm>
        </p:grpSpPr>
        <p:sp>
          <p:nvSpPr>
            <p:cNvPr id="57" name="Google Shape;315;p8"/>
            <p:cNvSpPr/>
            <p:nvPr/>
          </p:nvSpPr>
          <p:spPr>
            <a:xfrm>
              <a:off x="4428720" y="2540160"/>
              <a:ext cx="343728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2 Drawing plan review</a:t>
              </a:r>
              <a:endParaRPr lang="en-US" sz="1950" b="0" u="none" strike="noStrike">
                <a:solidFill>
                  <a:srgbClr val="000000"/>
                </a:solidFill>
                <a:effectLst/>
                <a:uFillTx/>
                <a:latin typeface="Arial"/>
              </a:endParaRPr>
            </a:p>
          </p:txBody>
        </p:sp>
        <p:sp>
          <p:nvSpPr>
            <p:cNvPr id="58" name="Google Shape;316;p8"/>
            <p:cNvSpPr/>
            <p:nvPr/>
          </p:nvSpPr>
          <p:spPr>
            <a:xfrm>
              <a:off x="4431960" y="2882880"/>
              <a:ext cx="343728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Summarized from the archived Prompt</a:t>
              </a:r>
              <a:endParaRPr lang="en-US" sz="1350" b="0" u="none" strike="noStrike">
                <a:solidFill>
                  <a:srgbClr val="000000"/>
                </a:solidFill>
                <a:effectLst/>
                <a:uFillTx/>
                <a:latin typeface="Arial"/>
              </a:endParaRPr>
            </a:p>
          </p:txBody>
        </p:sp>
        <p:sp>
          <p:nvSpPr>
            <p:cNvPr id="59" name="Google Shape;317;p8"/>
            <p:cNvSpPr/>
            <p:nvPr/>
          </p:nvSpPr>
          <p:spPr>
            <a:xfrm>
              <a:off x="4430160" y="3178080"/>
              <a:ext cx="343728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Fin Wing: oval body + wide soft fin</a:t>
              </a:r>
              <a:endParaRPr lang="en-US" sz="1500" b="0" u="none" strike="noStrike">
                <a:solidFill>
                  <a:srgbClr val="000000"/>
                </a:solidFill>
                <a:effectLst/>
                <a:uFillTx/>
                <a:latin typeface="Arial"/>
              </a:endParaRPr>
            </a:p>
          </p:txBody>
        </p:sp>
        <p:sp>
          <p:nvSpPr>
            <p:cNvPr id="60" name="Google Shape;318;p8"/>
            <p:cNvSpPr/>
            <p:nvPr/>
          </p:nvSpPr>
          <p:spPr>
            <a:xfrm>
              <a:off x="4430160" y="3492360"/>
              <a:ext cx="343728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Blue-gray shell + teal matte soft gel</a:t>
              </a:r>
              <a:endParaRPr lang="en-US" sz="1500" b="0" u="none" strike="noStrike">
                <a:solidFill>
                  <a:srgbClr val="000000"/>
                </a:solidFill>
                <a:effectLst/>
                <a:uFillTx/>
                <a:latin typeface="Arial"/>
              </a:endParaRPr>
            </a:p>
          </p:txBody>
        </p:sp>
        <p:sp>
          <p:nvSpPr>
            <p:cNvPr id="61" name="Google Shape;319;p8"/>
            <p:cNvSpPr/>
            <p:nvPr/>
          </p:nvSpPr>
          <p:spPr>
            <a:xfrm>
              <a:off x="4430160" y="3807000"/>
              <a:ext cx="343728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Assumed: soft fin support limits bulge</a:t>
              </a:r>
              <a:endParaRPr lang="en-US" sz="1500" b="0" u="none" strike="noStrike">
                <a:solidFill>
                  <a:srgbClr val="000000"/>
                </a:solidFill>
                <a:effectLst/>
                <a:uFillTx/>
                <a:latin typeface="Arial"/>
              </a:endParaRPr>
            </a:p>
          </p:txBody>
        </p:sp>
        <p:sp>
          <p:nvSpPr>
            <p:cNvPr id="62" name="Google Shape;320;p8"/>
            <p:cNvSpPr/>
            <p:nvPr/>
          </p:nvSpPr>
          <p:spPr>
            <a:xfrm>
              <a:off x="4431960" y="4130640"/>
              <a:ext cx="343728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Left ear, short-neck tip, shared parts</a:t>
              </a:r>
              <a:endParaRPr lang="en-US" sz="1350" b="0" u="none" strike="noStrike">
                <a:solidFill>
                  <a:srgbClr val="000000"/>
                </a:solidFill>
                <a:effectLst/>
                <a:uFillTx/>
                <a:latin typeface="Arial"/>
              </a:endParaRPr>
            </a:p>
          </p:txBody>
        </p:sp>
        <p:sp>
          <p:nvSpPr>
            <p:cNvPr id="63" name="Google Shape;321;p8"/>
            <p:cNvSpPr/>
            <p:nvPr/>
          </p:nvSpPr>
          <p:spPr>
            <a:xfrm>
              <a:off x="4431960" y="4397400"/>
              <a:ext cx="343728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Left worn, center four views, right hero</a:t>
              </a:r>
              <a:endParaRPr lang="en-US" sz="1350" b="0" u="none" strike="noStrike">
                <a:solidFill>
                  <a:srgbClr val="000000"/>
                </a:solidFill>
                <a:effectLst/>
                <a:uFillTx/>
                <a:latin typeface="Arial"/>
              </a:endParaRPr>
            </a:p>
          </p:txBody>
        </p:sp>
      </p:grpSp>
      <p:cxnSp>
        <p:nvCxnSpPr>
          <p:cNvPr id="64" name="Google Shape;322;p8"/>
          <p:cNvCxnSpPr/>
          <p:nvPr/>
        </p:nvCxnSpPr>
        <p:spPr>
          <a:xfrm>
            <a:off x="7934040" y="3590640"/>
            <a:ext cx="219600" cy="720"/>
          </a:xfrm>
          <a:prstGeom prst="straightConnector1">
            <a:avLst/>
          </a:prstGeom>
          <a:ln w="19050">
            <a:solidFill>
              <a:srgbClr val="66758A"/>
            </a:solidFill>
            <a:round/>
            <a:tailEnd len="lg" type="triangle" w="lg"/>
          </a:ln>
        </p:spPr>
      </p:cxnSp>
      <p:grpSp>
        <p:nvGrpSpPr>
          <p:cNvPr id="65" name="Google Shape;323;p8"/>
          <p:cNvGrpSpPr/>
          <p:nvPr/>
        </p:nvGrpSpPr>
        <p:grpSpPr>
          <a:xfrm>
            <a:off x="8295840" y="2540160"/>
            <a:ext cx="3404160" cy="2338560"/>
            <a:chOff x="8295840" y="2540160"/>
            <a:chExt cx="3404160" cy="2338560"/>
          </a:xfrm>
        </p:grpSpPr>
        <p:sp>
          <p:nvSpPr>
            <p:cNvPr id="66" name="Google Shape;324;p8"/>
            <p:cNvSpPr/>
            <p:nvPr/>
          </p:nvSpPr>
          <p:spPr>
            <a:xfrm>
              <a:off x="8295840" y="2540160"/>
              <a:ext cx="340092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3 Assemble the Prompt</a:t>
              </a:r>
              <a:endParaRPr lang="en-US" sz="1950" b="0" u="none" strike="noStrike">
                <a:solidFill>
                  <a:srgbClr val="000000"/>
                </a:solidFill>
                <a:effectLst/>
                <a:uFillTx/>
                <a:latin typeface="Arial"/>
              </a:endParaRPr>
            </a:p>
          </p:txBody>
        </p:sp>
        <p:sp>
          <p:nvSpPr>
            <p:cNvPr id="67" name="Google Shape;325;p8"/>
            <p:cNvSpPr/>
            <p:nvPr/>
          </p:nvSpPr>
          <p:spPr>
            <a:xfrm>
              <a:off x="8299080" y="2882880"/>
              <a:ext cx="340092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Summary of the original English Prompt</a:t>
              </a:r>
              <a:endParaRPr lang="en-US" sz="1350" b="0" u="none" strike="noStrike">
                <a:solidFill>
                  <a:srgbClr val="000000"/>
                </a:solidFill>
                <a:effectLst/>
                <a:uFillTx/>
                <a:latin typeface="Arial"/>
              </a:endParaRPr>
            </a:p>
          </p:txBody>
        </p:sp>
        <p:sp>
          <p:nvSpPr>
            <p:cNvPr id="68" name="Google Shape;326;p8"/>
            <p:cNvSpPr/>
            <p:nvPr/>
          </p:nvSpPr>
          <p:spPr>
            <a:xfrm>
              <a:off x="8297280" y="3165480"/>
              <a:ext cx="3400920" cy="1713240"/>
            </a:xfrm>
            <a:prstGeom prst="rect">
              <a:avLst/>
            </a:prstGeom>
            <a:noFill/>
            <a:ln w="0">
              <a:noFill/>
            </a:ln>
          </p:spPr>
          <p:style>
            <a:lnRef idx="0"/>
            <a:fillRef idx="0"/>
            <a:effectRef idx="0"/>
            <a:fontRef idx="minor"/>
          </p:style>
          <p:txBody>
            <a:bodyPr lIns="0" tIns="0" rIns="0" bIns="0" anchor="t">
              <a:spAutoFit/>
            </a:bodyPr>
            <a:p>
              <a:pPr>
                <a:lnSpc>
                  <a:spcPct val="150000"/>
                </a:lnSpc>
                <a:tabLst>
                  <a:tab pos="0" algn="l"/>
                </a:tabLst>
              </a:pPr>
              <a:r>
                <a:rPr lang="en-US" sz="1500" b="0" u="none" strike="noStrike">
                  <a:solidFill>
                    <a:srgbClr val="24364C"/>
                  </a:solidFill>
                  <a:effectLst/>
                  <a:uFillTx/>
                  <a:latin typeface="Arial"/>
                  <a:ea typeface="Arial"/>
                </a:rPr>
                <a:t>One left earbud, 3:2 concept board</a:t>
              </a:r>
              <a:br>
                <a:rPr sz="1500"/>
              </a:br>
              <a:r>
                <a:rPr lang="en-US" sz="1500" b="0" u="none" strike="noStrike">
                  <a:solidFill>
                    <a:srgbClr val="24364C"/>
                  </a:solidFill>
                  <a:effectLst/>
                  <a:uFillTx/>
                  <a:latin typeface="Arial"/>
                  <a:ea typeface="Arial"/>
                </a:rPr>
                <a:t>Oval body + short wide rounded fin</a:t>
              </a:r>
              <a:br>
                <a:rPr sz="1500"/>
              </a:br>
              <a:r>
                <a:rPr lang="en-US" sz="1500" b="0" u="none" strike="noStrike">
                  <a:solidFill>
                    <a:srgbClr val="24364C"/>
                  </a:solidFill>
                  <a:effectLst/>
                  <a:uFillTx/>
                  <a:latin typeface="Arial"/>
                  <a:ea typeface="Arial"/>
                </a:rPr>
                <a:t>Blue-gray shell + teal matte soft gel</a:t>
              </a:r>
              <a:br>
                <a:rPr sz="1500"/>
              </a:br>
              <a:r>
                <a:rPr lang="en-US" sz="1500" b="0" u="none" strike="noStrike">
                  <a:solidFill>
                    <a:srgbClr val="24364C"/>
                  </a:solidFill>
                  <a:effectLst/>
                  <a:uFillTx/>
                  <a:latin typeface="Arial"/>
                  <a:ea typeface="Arial"/>
                </a:rPr>
                <a:t>Shared parts, joints, size, occlusion</a:t>
              </a:r>
              <a:br>
                <a:rPr sz="1500"/>
              </a:br>
              <a:r>
                <a:rPr lang="en-US" sz="1500" b="0" u="none" strike="noStrike">
                  <a:solidFill>
                    <a:srgbClr val="24364C"/>
                  </a:solidFill>
                  <a:effectLst/>
                  <a:uFillTx/>
                  <a:latin typeface="Arial"/>
                  <a:ea typeface="Arial"/>
                </a:rPr>
                <a:t>TOP oblique view, no tall hook or grid</a:t>
              </a:r>
              <a:endParaRPr lang="en-US" sz="1500" b="0" u="none" strike="noStrike">
                <a:solidFill>
                  <a:srgbClr val="000000"/>
                </a:solidFill>
                <a:effectLst/>
                <a:uFillTx/>
                <a:latin typeface="Arial"/>
              </a:endParaRPr>
            </a:p>
          </p:txBody>
        </p:sp>
      </p:grpSp>
      <p:pic>
        <p:nvPicPr>
          <p:cNvPr id="69" name="Google Shape;327;p8"/>
          <p:cNvPicPr/>
          <p:nvPr/>
        </p:nvPicPr>
        <p:blipFill>
          <a:blip r:embed="rId1"/>
          <a:stretch/>
        </p:blipFill>
        <p:spPr>
          <a:xfrm>
            <a:off x="495360" y="4886280"/>
            <a:ext cx="2142000" cy="1427760"/>
          </a:xfrm>
          <a:prstGeom prst="rect">
            <a:avLst/>
          </a:prstGeom>
          <a:noFill/>
          <a:ln w="0">
            <a:noFill/>
          </a:ln>
        </p:spPr>
      </p:pic>
      <p:grpSp>
        <p:nvGrpSpPr>
          <p:cNvPr id="70" name="Google Shape;328;p8"/>
          <p:cNvGrpSpPr/>
          <p:nvPr/>
        </p:nvGrpSpPr>
        <p:grpSpPr>
          <a:xfrm>
            <a:off x="2895480" y="4829040"/>
            <a:ext cx="8800200" cy="1560960"/>
            <a:chOff x="2895480" y="4829040"/>
            <a:chExt cx="8800200" cy="1560960"/>
          </a:xfrm>
        </p:grpSpPr>
        <p:sp>
          <p:nvSpPr>
            <p:cNvPr id="71" name="Google Shape;329;p8"/>
            <p:cNvSpPr/>
            <p:nvPr/>
          </p:nvSpPr>
          <p:spPr>
            <a:xfrm>
              <a:off x="2895480" y="4829040"/>
              <a:ext cx="8800200" cy="1560960"/>
            </a:xfrm>
            <a:prstGeom prst="roundRect">
              <a:avLst>
                <a:gd name="adj" fmla="val 4878"/>
              </a:avLst>
            </a:prstGeom>
            <a:solidFill>
              <a:srgbClr val="F7F8FC"/>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72" name="Google Shape;330;p8"/>
            <p:cNvSpPr/>
            <p:nvPr/>
          </p:nvSpPr>
          <p:spPr>
            <a:xfrm>
              <a:off x="3095280" y="4921200"/>
              <a:ext cx="841176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4 Image tool run and review</a:t>
              </a:r>
              <a:endParaRPr lang="en-US" sz="1950" b="0" u="none" strike="noStrike">
                <a:solidFill>
                  <a:srgbClr val="000000"/>
                </a:solidFill>
                <a:effectLst/>
                <a:uFillTx/>
                <a:latin typeface="Arial"/>
              </a:endParaRPr>
            </a:p>
          </p:txBody>
        </p:sp>
        <p:sp>
          <p:nvSpPr>
            <p:cNvPr id="73" name="Google Shape;331;p8"/>
            <p:cNvSpPr/>
            <p:nvPr/>
          </p:nvSpPr>
          <p:spPr>
            <a:xfrm>
              <a:off x="3096720" y="5302080"/>
              <a:ext cx="8411760" cy="228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Tool renders the Prompt; six candidates are checked for consistency, then a person selects.</a:t>
              </a:r>
              <a:endParaRPr lang="en-US" sz="1500" b="0" u="none" strike="noStrike">
                <a:solidFill>
                  <a:srgbClr val="000000"/>
                </a:solidFill>
                <a:effectLst/>
                <a:uFillTx/>
                <a:latin typeface="Arial"/>
              </a:endParaRPr>
            </a:p>
          </p:txBody>
        </p:sp>
        <p:sp>
          <p:nvSpPr>
            <p:cNvPr id="74" name="Google Shape;332;p8"/>
            <p:cNvSpPr/>
            <p:nvPr/>
          </p:nvSpPr>
          <p:spPr>
            <a:xfrm>
              <a:off x="3097440" y="5641920"/>
              <a:ext cx="841176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Candidates: Seed Pod, Pebble, Fin Wing, Spiral, Bloom, Twin Petal.</a:t>
              </a:r>
              <a:endParaRPr lang="en-US" sz="1350" b="0" u="none" strike="noStrike">
                <a:solidFill>
                  <a:srgbClr val="000000"/>
                </a:solidFill>
                <a:effectLst/>
                <a:uFillTx/>
                <a:latin typeface="Arial"/>
              </a:endParaRPr>
            </a:p>
          </p:txBody>
        </p:sp>
        <p:sp>
          <p:nvSpPr>
            <p:cNvPr id="75" name="Google Shape;333;p8"/>
            <p:cNvSpPr/>
            <p:nvPr/>
          </p:nvSpPr>
          <p:spPr>
            <a:xfrm>
              <a:off x="3097440" y="5956200"/>
              <a:ext cx="841176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Check: left-ear side, joints, materials, and views; deviations go back into the Prompt.</a:t>
              </a:r>
              <a:endParaRPr lang="en-US" sz="135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76" name="Google Shape;338;p9"/>
          <p:cNvGrpSpPr/>
          <p:nvPr/>
        </p:nvGrpSpPr>
        <p:grpSpPr>
          <a:xfrm>
            <a:off x="424080" y="204480"/>
            <a:ext cx="6964920" cy="503280"/>
            <a:chOff x="424080" y="204480"/>
            <a:chExt cx="6964920" cy="503280"/>
          </a:xfrm>
        </p:grpSpPr>
        <p:sp>
          <p:nvSpPr>
            <p:cNvPr id="77" name="Google Shape;339;p9"/>
            <p:cNvSpPr/>
            <p:nvPr/>
          </p:nvSpPr>
          <p:spPr>
            <a:xfrm>
              <a:off x="424080" y="204480"/>
              <a:ext cx="6964920" cy="503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Design Features and Six Concepts</a:t>
              </a:r>
              <a:endParaRPr lang="en-US" sz="3300" b="0" u="none" strike="noStrike">
                <a:solidFill>
                  <a:srgbClr val="000000"/>
                </a:solidFill>
                <a:effectLst/>
                <a:uFillTx/>
                <a:latin typeface="Arial"/>
              </a:endParaRPr>
            </a:p>
          </p:txBody>
        </p:sp>
      </p:grpSp>
      <p:grpSp>
        <p:nvGrpSpPr>
          <p:cNvPr id="78" name="Google Shape;341;p9"/>
          <p:cNvGrpSpPr/>
          <p:nvPr/>
        </p:nvGrpSpPr>
        <p:grpSpPr>
          <a:xfrm>
            <a:off x="495360" y="1251720"/>
            <a:ext cx="11199960" cy="4122720"/>
            <a:chOff x="495360" y="1251720"/>
            <a:chExt cx="11199960" cy="4122720"/>
          </a:xfrm>
        </p:grpSpPr>
        <p:sp>
          <p:nvSpPr>
            <p:cNvPr id="79" name="Google Shape;342;p9"/>
            <p:cNvSpPr/>
            <p:nvPr/>
          </p:nvSpPr>
          <p:spPr>
            <a:xfrm>
              <a:off x="495360" y="1251720"/>
              <a:ext cx="3494160" cy="197964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80" name="Google Shape;343;p9"/>
            <p:cNvPicPr/>
            <p:nvPr/>
          </p:nvPicPr>
          <p:blipFill>
            <a:blip r:embed="rId1"/>
            <a:srcRect l="68010" t="30002" r="0" b="6002"/>
            <a:stretch/>
          </p:blipFill>
          <p:spPr>
            <a:xfrm>
              <a:off x="669240" y="1356480"/>
              <a:ext cx="1298880" cy="1731960"/>
            </a:xfrm>
            <a:prstGeom prst="rect">
              <a:avLst/>
            </a:prstGeom>
            <a:noFill/>
            <a:ln w="0">
              <a:noFill/>
            </a:ln>
          </p:spPr>
        </p:pic>
        <p:sp>
          <p:nvSpPr>
            <p:cNvPr id="81" name="Google Shape;344;p9"/>
            <p:cNvSpPr/>
            <p:nvPr/>
          </p:nvSpPr>
          <p:spPr>
            <a:xfrm>
              <a:off x="2245320" y="1521720"/>
              <a:ext cx="1460520" cy="366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Seed Pod</a:t>
              </a:r>
              <a:endParaRPr lang="en-US" sz="2400" b="0" u="none" strike="noStrike">
                <a:solidFill>
                  <a:srgbClr val="000000"/>
                </a:solidFill>
                <a:effectLst/>
                <a:uFillTx/>
                <a:latin typeface="Arial"/>
              </a:endParaRPr>
            </a:p>
          </p:txBody>
        </p:sp>
        <p:sp>
          <p:nvSpPr>
            <p:cNvPr id="82" name="Google Shape;345;p9"/>
            <p:cNvSpPr/>
            <p:nvPr/>
          </p:nvSpPr>
          <p:spPr>
            <a:xfrm>
              <a:off x="2250720" y="1972440"/>
              <a:ext cx="8532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1</a:t>
              </a:r>
              <a:endParaRPr lang="en-US" sz="1350" b="0" u="none" strike="noStrike">
                <a:solidFill>
                  <a:srgbClr val="000000"/>
                </a:solidFill>
                <a:effectLst/>
                <a:uFillTx/>
                <a:latin typeface="Arial"/>
              </a:endParaRPr>
            </a:p>
          </p:txBody>
        </p:sp>
        <p:sp>
          <p:nvSpPr>
            <p:cNvPr id="83" name="Google Shape;346;p9"/>
            <p:cNvSpPr/>
            <p:nvPr/>
          </p:nvSpPr>
          <p:spPr>
            <a:xfrm>
              <a:off x="2248920" y="2448720"/>
              <a:ext cx="164916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Shallow saddle soft support</a:t>
              </a:r>
              <a:endParaRPr lang="en-US" sz="1650" b="0" u="none" strike="noStrike">
                <a:solidFill>
                  <a:srgbClr val="000000"/>
                </a:solidFill>
                <a:effectLst/>
                <a:uFillTx/>
                <a:latin typeface="Arial"/>
              </a:endParaRPr>
            </a:p>
          </p:txBody>
        </p:sp>
        <p:sp>
          <p:nvSpPr>
            <p:cNvPr id="84" name="Google Shape;347;p9"/>
            <p:cNvSpPr/>
            <p:nvPr/>
          </p:nvSpPr>
          <p:spPr>
            <a:xfrm>
              <a:off x="4343400" y="1251720"/>
              <a:ext cx="3494160" cy="197964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85" name="Google Shape;348;p9"/>
            <p:cNvPicPr/>
            <p:nvPr/>
          </p:nvPicPr>
          <p:blipFill>
            <a:blip r:embed="rId2"/>
            <a:srcRect l="68010" t="30002" r="0" b="6002"/>
            <a:stretch/>
          </p:blipFill>
          <p:spPr>
            <a:xfrm>
              <a:off x="4517280" y="1356480"/>
              <a:ext cx="1298880" cy="1731960"/>
            </a:xfrm>
            <a:prstGeom prst="rect">
              <a:avLst/>
            </a:prstGeom>
            <a:noFill/>
            <a:ln w="0">
              <a:noFill/>
            </a:ln>
          </p:spPr>
        </p:pic>
        <p:sp>
          <p:nvSpPr>
            <p:cNvPr id="86" name="Google Shape;349;p9"/>
            <p:cNvSpPr/>
            <p:nvPr/>
          </p:nvSpPr>
          <p:spPr>
            <a:xfrm>
              <a:off x="6093360" y="1521720"/>
              <a:ext cx="1071000" cy="366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Pebble</a:t>
              </a:r>
              <a:endParaRPr lang="en-US" sz="2400" b="0" u="none" strike="noStrike">
                <a:solidFill>
                  <a:srgbClr val="000000"/>
                </a:solidFill>
                <a:effectLst/>
                <a:uFillTx/>
                <a:latin typeface="Arial"/>
              </a:endParaRPr>
            </a:p>
          </p:txBody>
        </p:sp>
        <p:sp>
          <p:nvSpPr>
            <p:cNvPr id="87" name="Google Shape;350;p9"/>
            <p:cNvSpPr/>
            <p:nvPr/>
          </p:nvSpPr>
          <p:spPr>
            <a:xfrm>
              <a:off x="6098760" y="1972440"/>
              <a:ext cx="8532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2</a:t>
              </a:r>
              <a:endParaRPr lang="en-US" sz="1350" b="0" u="none" strike="noStrike">
                <a:solidFill>
                  <a:srgbClr val="000000"/>
                </a:solidFill>
                <a:effectLst/>
                <a:uFillTx/>
                <a:latin typeface="Arial"/>
              </a:endParaRPr>
            </a:p>
          </p:txBody>
        </p:sp>
        <p:sp>
          <p:nvSpPr>
            <p:cNvPr id="88" name="Google Shape;351;p9"/>
            <p:cNvSpPr/>
            <p:nvPr/>
          </p:nvSpPr>
          <p:spPr>
            <a:xfrm>
              <a:off x="6097320" y="2448720"/>
              <a:ext cx="164916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Rounded low profile</a:t>
              </a:r>
              <a:endParaRPr lang="en-US" sz="1650" b="0" u="none" strike="noStrike">
                <a:solidFill>
                  <a:srgbClr val="000000"/>
                </a:solidFill>
                <a:effectLst/>
                <a:uFillTx/>
                <a:latin typeface="Arial"/>
              </a:endParaRPr>
            </a:p>
          </p:txBody>
        </p:sp>
        <p:sp>
          <p:nvSpPr>
            <p:cNvPr id="89" name="Google Shape;352;p9"/>
            <p:cNvSpPr/>
            <p:nvPr/>
          </p:nvSpPr>
          <p:spPr>
            <a:xfrm>
              <a:off x="8191440" y="1251720"/>
              <a:ext cx="3503880" cy="197964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90" name="Google Shape;353;p9"/>
            <p:cNvPicPr/>
            <p:nvPr/>
          </p:nvPicPr>
          <p:blipFill>
            <a:blip r:embed="rId3"/>
            <a:srcRect l="68010" t="25501" r="0" b="10298"/>
            <a:stretch/>
          </p:blipFill>
          <p:spPr>
            <a:xfrm>
              <a:off x="8367480" y="1356480"/>
              <a:ext cx="1294560" cy="1731960"/>
            </a:xfrm>
            <a:prstGeom prst="rect">
              <a:avLst/>
            </a:prstGeom>
            <a:noFill/>
            <a:ln w="0">
              <a:noFill/>
            </a:ln>
          </p:spPr>
        </p:pic>
        <p:sp>
          <p:nvSpPr>
            <p:cNvPr id="91" name="Google Shape;354;p9"/>
            <p:cNvSpPr/>
            <p:nvPr/>
          </p:nvSpPr>
          <p:spPr>
            <a:xfrm>
              <a:off x="9941400" y="1521720"/>
              <a:ext cx="1355400" cy="366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Fin Wing</a:t>
              </a:r>
              <a:endParaRPr lang="en-US" sz="2400" b="0" u="none" strike="noStrike">
                <a:solidFill>
                  <a:srgbClr val="000000"/>
                </a:solidFill>
                <a:effectLst/>
                <a:uFillTx/>
                <a:latin typeface="Arial"/>
              </a:endParaRPr>
            </a:p>
          </p:txBody>
        </p:sp>
        <p:sp>
          <p:nvSpPr>
            <p:cNvPr id="92" name="Google Shape;355;p9"/>
            <p:cNvSpPr/>
            <p:nvPr/>
          </p:nvSpPr>
          <p:spPr>
            <a:xfrm>
              <a:off x="9946800" y="1972440"/>
              <a:ext cx="8532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3</a:t>
              </a:r>
              <a:endParaRPr lang="en-US" sz="1350" b="0" u="none" strike="noStrike">
                <a:solidFill>
                  <a:srgbClr val="000000"/>
                </a:solidFill>
                <a:effectLst/>
                <a:uFillTx/>
                <a:latin typeface="Arial"/>
              </a:endParaRPr>
            </a:p>
          </p:txBody>
        </p:sp>
        <p:sp>
          <p:nvSpPr>
            <p:cNvPr id="93" name="Google Shape;356;p9"/>
            <p:cNvSpPr/>
            <p:nvPr/>
          </p:nvSpPr>
          <p:spPr>
            <a:xfrm>
              <a:off x="9945360" y="2448720"/>
              <a:ext cx="165852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Short wide soft fin</a:t>
              </a:r>
              <a:endParaRPr lang="en-US" sz="1650" b="0" u="none" strike="noStrike">
                <a:solidFill>
                  <a:srgbClr val="000000"/>
                </a:solidFill>
                <a:effectLst/>
                <a:uFillTx/>
                <a:latin typeface="Arial"/>
              </a:endParaRPr>
            </a:p>
          </p:txBody>
        </p:sp>
        <p:sp>
          <p:nvSpPr>
            <p:cNvPr id="94" name="Google Shape;357;p9"/>
            <p:cNvSpPr/>
            <p:nvPr/>
          </p:nvSpPr>
          <p:spPr>
            <a:xfrm>
              <a:off x="495360" y="3394800"/>
              <a:ext cx="3494160" cy="197964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95" name="Google Shape;358;p9"/>
            <p:cNvPicPr/>
            <p:nvPr/>
          </p:nvPicPr>
          <p:blipFill>
            <a:blip r:embed="rId4"/>
            <a:srcRect l="68010" t="30002" r="0" b="6002"/>
            <a:stretch/>
          </p:blipFill>
          <p:spPr>
            <a:xfrm>
              <a:off x="669240" y="3499560"/>
              <a:ext cx="1298880" cy="1731960"/>
            </a:xfrm>
            <a:prstGeom prst="rect">
              <a:avLst/>
            </a:prstGeom>
            <a:noFill/>
            <a:ln w="0">
              <a:noFill/>
            </a:ln>
          </p:spPr>
        </p:pic>
        <p:sp>
          <p:nvSpPr>
            <p:cNvPr id="96" name="Google Shape;359;p9"/>
            <p:cNvSpPr/>
            <p:nvPr/>
          </p:nvSpPr>
          <p:spPr>
            <a:xfrm>
              <a:off x="2245320" y="3664800"/>
              <a:ext cx="918720" cy="366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Spiral</a:t>
              </a:r>
              <a:endParaRPr lang="en-US" sz="2400" b="0" u="none" strike="noStrike">
                <a:solidFill>
                  <a:srgbClr val="000000"/>
                </a:solidFill>
                <a:effectLst/>
                <a:uFillTx/>
                <a:latin typeface="Arial"/>
              </a:endParaRPr>
            </a:p>
          </p:txBody>
        </p:sp>
        <p:sp>
          <p:nvSpPr>
            <p:cNvPr id="97" name="Google Shape;360;p9"/>
            <p:cNvSpPr/>
            <p:nvPr/>
          </p:nvSpPr>
          <p:spPr>
            <a:xfrm>
              <a:off x="2250720" y="4115520"/>
              <a:ext cx="8532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4</a:t>
              </a:r>
              <a:endParaRPr lang="en-US" sz="1350" b="0" u="none" strike="noStrike">
                <a:solidFill>
                  <a:srgbClr val="000000"/>
                </a:solidFill>
                <a:effectLst/>
                <a:uFillTx/>
                <a:latin typeface="Arial"/>
              </a:endParaRPr>
            </a:p>
          </p:txBody>
        </p:sp>
        <p:sp>
          <p:nvSpPr>
            <p:cNvPr id="98" name="Google Shape;361;p9"/>
            <p:cNvSpPr/>
            <p:nvPr/>
          </p:nvSpPr>
          <p:spPr>
            <a:xfrm>
              <a:off x="2248920" y="4591800"/>
              <a:ext cx="164916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Shallow curled surface</a:t>
              </a:r>
              <a:endParaRPr lang="en-US" sz="1650" b="0" u="none" strike="noStrike">
                <a:solidFill>
                  <a:srgbClr val="000000"/>
                </a:solidFill>
                <a:effectLst/>
                <a:uFillTx/>
                <a:latin typeface="Arial"/>
              </a:endParaRPr>
            </a:p>
          </p:txBody>
        </p:sp>
        <p:sp>
          <p:nvSpPr>
            <p:cNvPr id="99" name="Google Shape;362;p9"/>
            <p:cNvSpPr/>
            <p:nvPr/>
          </p:nvSpPr>
          <p:spPr>
            <a:xfrm>
              <a:off x="4343400" y="3394800"/>
              <a:ext cx="3494160" cy="197964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100" name="Google Shape;363;p9"/>
            <p:cNvPicPr/>
            <p:nvPr/>
          </p:nvPicPr>
          <p:blipFill>
            <a:blip r:embed="rId5"/>
            <a:srcRect l="68010" t="27001" r="0" b="11200"/>
            <a:stretch/>
          </p:blipFill>
          <p:spPr>
            <a:xfrm>
              <a:off x="4494240" y="3499560"/>
              <a:ext cx="1344960" cy="1731960"/>
            </a:xfrm>
            <a:prstGeom prst="rect">
              <a:avLst/>
            </a:prstGeom>
            <a:noFill/>
            <a:ln w="0">
              <a:noFill/>
            </a:ln>
          </p:spPr>
        </p:pic>
        <p:sp>
          <p:nvSpPr>
            <p:cNvPr id="101" name="Google Shape;364;p9"/>
            <p:cNvSpPr/>
            <p:nvPr/>
          </p:nvSpPr>
          <p:spPr>
            <a:xfrm>
              <a:off x="6093360" y="3664800"/>
              <a:ext cx="1019880" cy="366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Bloom</a:t>
              </a:r>
              <a:endParaRPr lang="en-US" sz="2400" b="0" u="none" strike="noStrike">
                <a:solidFill>
                  <a:srgbClr val="000000"/>
                </a:solidFill>
                <a:effectLst/>
                <a:uFillTx/>
                <a:latin typeface="Arial"/>
              </a:endParaRPr>
            </a:p>
          </p:txBody>
        </p:sp>
        <p:sp>
          <p:nvSpPr>
            <p:cNvPr id="102" name="Google Shape;365;p9"/>
            <p:cNvSpPr/>
            <p:nvPr/>
          </p:nvSpPr>
          <p:spPr>
            <a:xfrm>
              <a:off x="6098760" y="4115520"/>
              <a:ext cx="85320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5</a:t>
              </a:r>
              <a:endParaRPr lang="en-US" sz="1350" b="0" u="none" strike="noStrike">
                <a:solidFill>
                  <a:srgbClr val="000000"/>
                </a:solidFill>
                <a:effectLst/>
                <a:uFillTx/>
                <a:latin typeface="Arial"/>
              </a:endParaRPr>
            </a:p>
          </p:txBody>
        </p:sp>
        <p:sp>
          <p:nvSpPr>
            <p:cNvPr id="103" name="Google Shape;366;p9"/>
            <p:cNvSpPr/>
            <p:nvPr/>
          </p:nvSpPr>
          <p:spPr>
            <a:xfrm>
              <a:off x="6097320" y="4591800"/>
              <a:ext cx="164916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Petal soft-gel wrap</a:t>
              </a:r>
              <a:endParaRPr lang="en-US" sz="1650" b="0" u="none" strike="noStrike">
                <a:solidFill>
                  <a:srgbClr val="000000"/>
                </a:solidFill>
                <a:effectLst/>
                <a:uFillTx/>
                <a:latin typeface="Arial"/>
              </a:endParaRPr>
            </a:p>
          </p:txBody>
        </p:sp>
        <p:sp>
          <p:nvSpPr>
            <p:cNvPr id="104" name="Google Shape;367;p9"/>
            <p:cNvSpPr/>
            <p:nvPr/>
          </p:nvSpPr>
          <p:spPr>
            <a:xfrm>
              <a:off x="8191440" y="3394800"/>
              <a:ext cx="3503880" cy="197964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105" name="Google Shape;368;p9"/>
            <p:cNvPicPr/>
            <p:nvPr/>
          </p:nvPicPr>
          <p:blipFill>
            <a:blip r:embed="rId6"/>
            <a:srcRect l="68508" t="25999" r="1499" b="22201"/>
            <a:stretch/>
          </p:blipFill>
          <p:spPr>
            <a:xfrm>
              <a:off x="8315280" y="3546360"/>
              <a:ext cx="1398600" cy="1610280"/>
            </a:xfrm>
            <a:prstGeom prst="rect">
              <a:avLst/>
            </a:prstGeom>
            <a:noFill/>
            <a:ln w="0">
              <a:noFill/>
            </a:ln>
          </p:spPr>
        </p:pic>
        <p:sp>
          <p:nvSpPr>
            <p:cNvPr id="106" name="Google Shape;369;p9"/>
            <p:cNvSpPr/>
            <p:nvPr/>
          </p:nvSpPr>
          <p:spPr>
            <a:xfrm>
              <a:off x="9941400" y="3664800"/>
              <a:ext cx="1556280" cy="366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Twin Petal</a:t>
              </a:r>
              <a:endParaRPr lang="en-US" sz="2400" b="0" u="none" strike="noStrike">
                <a:solidFill>
                  <a:srgbClr val="000000"/>
                </a:solidFill>
                <a:effectLst/>
                <a:uFillTx/>
                <a:latin typeface="Arial"/>
              </a:endParaRPr>
            </a:p>
          </p:txBody>
        </p:sp>
        <p:sp>
          <p:nvSpPr>
            <p:cNvPr id="107" name="Google Shape;370;p9"/>
            <p:cNvSpPr/>
            <p:nvPr/>
          </p:nvSpPr>
          <p:spPr>
            <a:xfrm>
              <a:off x="9946800" y="4115520"/>
              <a:ext cx="86796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6</a:t>
              </a:r>
              <a:endParaRPr lang="en-US" sz="1350" b="0" u="none" strike="noStrike">
                <a:solidFill>
                  <a:srgbClr val="000000"/>
                </a:solidFill>
                <a:effectLst/>
                <a:uFillTx/>
                <a:latin typeface="Arial"/>
              </a:endParaRPr>
            </a:p>
          </p:txBody>
        </p:sp>
        <p:sp>
          <p:nvSpPr>
            <p:cNvPr id="108" name="Google Shape;371;p9"/>
            <p:cNvSpPr/>
            <p:nvPr/>
          </p:nvSpPr>
          <p:spPr>
            <a:xfrm>
              <a:off x="9945360" y="4591800"/>
              <a:ext cx="165852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Overlapping twin shells</a:t>
              </a:r>
              <a:endParaRPr lang="en-US" sz="1650" b="0" u="none" strike="noStrike">
                <a:solidFill>
                  <a:srgbClr val="000000"/>
                </a:solidFill>
                <a:effectLst/>
                <a:uFillTx/>
                <a:latin typeface="Arial"/>
              </a:endParaRPr>
            </a:p>
          </p:txBody>
        </p:sp>
      </p:grpSp>
      <p:sp>
        <p:nvSpPr>
          <p:cNvPr id="109" name="Google Shape;372;p9"/>
          <p:cNvSpPr/>
          <p:nvPr/>
        </p:nvSpPr>
        <p:spPr>
          <a:xfrm>
            <a:off x="488520" y="5997600"/>
            <a:ext cx="479304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Six left-ear concepts demonstrate this round's generation flow.</a:t>
            </a:r>
            <a:endParaRPr lang="en-US" sz="1350" b="0" u="none" strike="noStrike">
              <a:solidFill>
                <a:srgbClr val="000000"/>
              </a:solidFill>
              <a:effectLst/>
              <a:uFillTx/>
              <a:latin typeface="Arial"/>
            </a:endParaRPr>
          </a:p>
        </p:txBody>
      </p:sp>
      <p:sp>
        <p:nvSpPr>
          <p:cNvPr id="110" name="Google Shape;373;p9"/>
          <p:cNvSpPr/>
          <p:nvPr/>
        </p:nvSpPr>
        <p:spPr>
          <a:xfrm>
            <a:off x="488520" y="6407280"/>
            <a:ext cx="545652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Input features set the generation direction. People compare and select.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11" name="Google Shape;378;p10"/>
          <p:cNvGrpSpPr/>
          <p:nvPr/>
        </p:nvGrpSpPr>
        <p:grpSpPr>
          <a:xfrm>
            <a:off x="478440" y="422280"/>
            <a:ext cx="10435680" cy="902520"/>
            <a:chOff x="478440" y="422280"/>
            <a:chExt cx="10435680" cy="902520"/>
          </a:xfrm>
        </p:grpSpPr>
        <p:sp>
          <p:nvSpPr>
            <p:cNvPr id="112" name="Google Shape;379;p10"/>
            <p:cNvSpPr/>
            <p:nvPr/>
          </p:nvSpPr>
          <p:spPr>
            <a:xfrm>
              <a:off x="478440" y="422280"/>
              <a:ext cx="7849800" cy="503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Consistency Rules for Concept Images</a:t>
              </a:r>
              <a:endParaRPr lang="en-US" sz="3300" b="0" u="none" strike="noStrike">
                <a:solidFill>
                  <a:srgbClr val="000000"/>
                </a:solidFill>
                <a:effectLst/>
                <a:uFillTx/>
                <a:latin typeface="Arial"/>
              </a:endParaRPr>
            </a:p>
          </p:txBody>
        </p:sp>
        <p:sp>
          <p:nvSpPr>
            <p:cNvPr id="113" name="Google Shape;380;p10"/>
            <p:cNvSpPr/>
            <p:nvPr/>
          </p:nvSpPr>
          <p:spPr>
            <a:xfrm>
              <a:off x="487080" y="1073160"/>
              <a:ext cx="10427040" cy="2516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Side, layout, and part relations are written into the generation spec, read by templates, RAG prompts, and tests.</a:t>
              </a:r>
              <a:endParaRPr lang="en-US" sz="1650" b="0" u="none" strike="noStrike">
                <a:solidFill>
                  <a:srgbClr val="000000"/>
                </a:solidFill>
                <a:effectLst/>
                <a:uFillTx/>
                <a:latin typeface="Arial"/>
              </a:endParaRPr>
            </a:p>
          </p:txBody>
        </p:sp>
      </p:grpSp>
      <p:pic>
        <p:nvPicPr>
          <p:cNvPr id="114" name="Google Shape;381;p10"/>
          <p:cNvPicPr/>
          <p:nvPr/>
        </p:nvPicPr>
        <p:blipFill>
          <a:blip r:embed="rId1"/>
          <a:stretch/>
        </p:blipFill>
        <p:spPr>
          <a:xfrm>
            <a:off x="495360" y="1762200"/>
            <a:ext cx="6437520" cy="4294440"/>
          </a:xfrm>
          <a:prstGeom prst="rect">
            <a:avLst/>
          </a:prstGeom>
          <a:noFill/>
          <a:ln w="0">
            <a:noFill/>
          </a:ln>
        </p:spPr>
      </p:pic>
      <p:grpSp>
        <p:nvGrpSpPr>
          <p:cNvPr id="115" name="Google Shape;382;p10"/>
          <p:cNvGrpSpPr/>
          <p:nvPr/>
        </p:nvGrpSpPr>
        <p:grpSpPr>
          <a:xfrm>
            <a:off x="7391520" y="1876320"/>
            <a:ext cx="4387680" cy="4227840"/>
            <a:chOff x="7391520" y="1876320"/>
            <a:chExt cx="4387680" cy="4227840"/>
          </a:xfrm>
        </p:grpSpPr>
        <p:sp>
          <p:nvSpPr>
            <p:cNvPr id="116" name="Google Shape;383;p10"/>
            <p:cNvSpPr/>
            <p:nvPr/>
          </p:nvSpPr>
          <p:spPr>
            <a:xfrm>
              <a:off x="7400880" y="1876320"/>
              <a:ext cx="341640" cy="34164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17" name="Google Shape;384;p10"/>
            <p:cNvSpPr/>
            <p:nvPr/>
          </p:nvSpPr>
          <p:spPr>
            <a:xfrm>
              <a:off x="7895880" y="1882800"/>
              <a:ext cx="154404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Left ear only</a:t>
              </a:r>
              <a:endParaRPr lang="en-US" sz="1950" b="0" u="none" strike="noStrike">
                <a:solidFill>
                  <a:srgbClr val="000000"/>
                </a:solidFill>
                <a:effectLst/>
                <a:uFillTx/>
                <a:latin typeface="Arial"/>
              </a:endParaRPr>
            </a:p>
          </p:txBody>
        </p:sp>
        <p:sp>
          <p:nvSpPr>
            <p:cNvPr id="118" name="Google Shape;385;p10"/>
            <p:cNvSpPr/>
            <p:nvPr/>
          </p:nvSpPr>
          <p:spPr>
            <a:xfrm>
              <a:off x="7897320" y="2311560"/>
              <a:ext cx="2284920" cy="2516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Original orientation kept</a:t>
              </a:r>
              <a:endParaRPr lang="en-US" sz="1650" b="0" u="none" strike="noStrike">
                <a:solidFill>
                  <a:srgbClr val="000000"/>
                </a:solidFill>
                <a:effectLst/>
                <a:uFillTx/>
                <a:latin typeface="Arial"/>
              </a:endParaRPr>
            </a:p>
          </p:txBody>
        </p:sp>
        <p:sp>
          <p:nvSpPr>
            <p:cNvPr id="119" name="Google Shape;386;p10"/>
            <p:cNvSpPr/>
            <p:nvPr/>
          </p:nvSpPr>
          <p:spPr>
            <a:xfrm>
              <a:off x="7400880" y="2933640"/>
              <a:ext cx="341640" cy="34164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20" name="Google Shape;387;p10"/>
            <p:cNvSpPr/>
            <p:nvPr/>
          </p:nvSpPr>
          <p:spPr>
            <a:xfrm>
              <a:off x="7895880" y="2940120"/>
              <a:ext cx="197064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Six-panel layout</a:t>
              </a:r>
              <a:endParaRPr lang="en-US" sz="1950" b="0" u="none" strike="noStrike">
                <a:solidFill>
                  <a:srgbClr val="000000"/>
                </a:solidFill>
                <a:effectLst/>
                <a:uFillTx/>
                <a:latin typeface="Arial"/>
              </a:endParaRPr>
            </a:p>
          </p:txBody>
        </p:sp>
        <p:sp>
          <p:nvSpPr>
            <p:cNvPr id="121" name="Google Shape;388;p10"/>
            <p:cNvSpPr/>
            <p:nvPr/>
          </p:nvSpPr>
          <p:spPr>
            <a:xfrm>
              <a:off x="7897320" y="3368520"/>
              <a:ext cx="2747520" cy="2516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Worn / four views / hero</a:t>
              </a:r>
              <a:endParaRPr lang="en-US" sz="1650" b="0" u="none" strike="noStrike">
                <a:solidFill>
                  <a:srgbClr val="000000"/>
                </a:solidFill>
                <a:effectLst/>
                <a:uFillTx/>
                <a:latin typeface="Arial"/>
              </a:endParaRPr>
            </a:p>
          </p:txBody>
        </p:sp>
        <p:sp>
          <p:nvSpPr>
            <p:cNvPr id="122" name="Google Shape;389;p10"/>
            <p:cNvSpPr/>
            <p:nvPr/>
          </p:nvSpPr>
          <p:spPr>
            <a:xfrm>
              <a:off x="7897320" y="3701880"/>
              <a:ext cx="2680920" cy="2516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No other panels are kept</a:t>
              </a:r>
              <a:endParaRPr lang="en-US" sz="1650" b="0" u="none" strike="noStrike">
                <a:solidFill>
                  <a:srgbClr val="000000"/>
                </a:solidFill>
                <a:effectLst/>
                <a:uFillTx/>
                <a:latin typeface="Arial"/>
              </a:endParaRPr>
            </a:p>
          </p:txBody>
        </p:sp>
        <p:sp>
          <p:nvSpPr>
            <p:cNvPr id="123" name="Google Shape;390;p10"/>
            <p:cNvSpPr/>
            <p:nvPr/>
          </p:nvSpPr>
          <p:spPr>
            <a:xfrm>
              <a:off x="7400880" y="4314960"/>
              <a:ext cx="341640" cy="34164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24" name="Google Shape;391;p10"/>
            <p:cNvSpPr/>
            <p:nvPr/>
          </p:nvSpPr>
          <p:spPr>
            <a:xfrm>
              <a:off x="7895880" y="4321080"/>
              <a:ext cx="2962080" cy="297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Consistent across views</a:t>
              </a:r>
              <a:endParaRPr lang="en-US" sz="1950" b="0" u="none" strike="noStrike">
                <a:solidFill>
                  <a:srgbClr val="000000"/>
                </a:solidFill>
                <a:effectLst/>
                <a:uFillTx/>
                <a:latin typeface="Arial"/>
              </a:endParaRPr>
            </a:p>
          </p:txBody>
        </p:sp>
        <p:sp>
          <p:nvSpPr>
            <p:cNvPr id="125" name="Google Shape;392;p10"/>
            <p:cNvSpPr/>
            <p:nvPr/>
          </p:nvSpPr>
          <p:spPr>
            <a:xfrm>
              <a:off x="7897320" y="4749840"/>
              <a:ext cx="3881880" cy="2138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00" b="0" u="none" strike="noStrike">
                  <a:solidFill>
                    <a:schemeClr val="dk1"/>
                  </a:solidFill>
                  <a:effectLst/>
                  <a:uFillTx/>
                  <a:latin typeface="Arial"/>
                  <a:ea typeface="Arial"/>
                </a:rPr>
                <a:t>Shared proportion, joints, materials</a:t>
              </a:r>
              <a:endParaRPr lang="en-US" sz="1400" b="0" u="none" strike="noStrike">
                <a:solidFill>
                  <a:srgbClr val="000000"/>
                </a:solidFill>
                <a:effectLst/>
                <a:uFillTx/>
                <a:latin typeface="Arial"/>
              </a:endParaRPr>
            </a:p>
          </p:txBody>
        </p:sp>
        <p:sp>
          <p:nvSpPr>
            <p:cNvPr id="126" name="Google Shape;393;p10"/>
            <p:cNvSpPr/>
            <p:nvPr/>
          </p:nvSpPr>
          <p:spPr>
            <a:xfrm>
              <a:off x="7391520" y="5305320"/>
              <a:ext cx="4303800" cy="798840"/>
            </a:xfrm>
            <a:prstGeom prst="roundRect">
              <a:avLst>
                <a:gd name="adj" fmla="val 10714"/>
              </a:avLst>
            </a:prstGeom>
            <a:solidFill>
              <a:srgbClr val="F3EE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27" name="Google Shape;394;p10"/>
            <p:cNvSpPr/>
            <p:nvPr/>
          </p:nvSpPr>
          <p:spPr>
            <a:xfrm>
              <a:off x="7583040" y="5425920"/>
              <a:ext cx="2446560" cy="2516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chemeClr val="accent6"/>
                  </a:solidFill>
                  <a:effectLst/>
                  <a:uFillTx/>
                  <a:latin typeface="Arial"/>
                  <a:ea typeface="Arial"/>
                </a:rPr>
                <a:t>Next-round entry points</a:t>
              </a:r>
              <a:endParaRPr lang="en-US" sz="1650" b="0" u="none" strike="noStrike">
                <a:solidFill>
                  <a:srgbClr val="000000"/>
                </a:solidFill>
                <a:effectLst/>
                <a:uFillTx/>
                <a:latin typeface="Arial"/>
              </a:endParaRPr>
            </a:p>
          </p:txBody>
        </p:sp>
        <p:sp>
          <p:nvSpPr>
            <p:cNvPr id="128" name="Google Shape;395;p10"/>
            <p:cNvSpPr/>
            <p:nvPr/>
          </p:nvSpPr>
          <p:spPr>
            <a:xfrm>
              <a:off x="7584480" y="5778360"/>
              <a:ext cx="305532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dk1"/>
                  </a:solidFill>
                  <a:effectLst/>
                  <a:uFillTx/>
                  <a:latin typeface="Arial"/>
                  <a:ea typeface="Arial"/>
                </a:rPr>
                <a:t>Spec, references, prompts, tests</a:t>
              </a:r>
              <a:endParaRPr lang="en-US" sz="1350" b="0" u="none" strike="noStrike">
                <a:solidFill>
                  <a:srgbClr val="000000"/>
                </a:solidFill>
                <a:effectLst/>
                <a:uFillTx/>
                <a:latin typeface="Arial"/>
              </a:endParaRPr>
            </a:p>
          </p:txBody>
        </p:sp>
      </p:grpSp>
      <p:sp>
        <p:nvSpPr>
          <p:cNvPr id="129" name="Google Shape;396;p10"/>
          <p:cNvSpPr/>
          <p:nvPr/>
        </p:nvSpPr>
        <p:spPr>
          <a:xfrm>
            <a:off x="488520" y="6407280"/>
            <a:ext cx="6341760" cy="205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Consistency rules apply to new concepts. Form, color, and material follow the task.</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0" name="Google Shape;53;p2"/>
          <p:cNvGrpSpPr/>
          <p:nvPr/>
        </p:nvGrpSpPr>
        <p:grpSpPr>
          <a:xfrm>
            <a:off x="478440" y="422280"/>
            <a:ext cx="8089920" cy="972000"/>
            <a:chOff x="478440" y="422280"/>
            <a:chExt cx="8089920" cy="972000"/>
          </a:xfrm>
        </p:grpSpPr>
        <p:sp>
          <p:nvSpPr>
            <p:cNvPr id="131" name="Google Shape;54;p2"/>
            <p:cNvSpPr/>
            <p:nvPr/>
          </p:nvSpPr>
          <p:spPr>
            <a:xfrm>
              <a:off x="478440" y="422280"/>
              <a:ext cx="808992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Questions on AI Collaboration</a:t>
              </a:r>
              <a:endParaRPr lang="en-US" sz="3300" b="0" u="none" strike="noStrike">
                <a:solidFill>
                  <a:srgbClr val="000000"/>
                </a:solidFill>
                <a:effectLst/>
                <a:uFillTx/>
                <a:latin typeface="Arial"/>
              </a:endParaRPr>
            </a:p>
          </p:txBody>
        </p:sp>
        <p:sp>
          <p:nvSpPr>
            <p:cNvPr id="132" name="Google Shape;55;p2"/>
            <p:cNvSpPr/>
            <p:nvPr/>
          </p:nvSpPr>
          <p:spPr>
            <a:xfrm>
              <a:off x="487080" y="1073160"/>
              <a:ext cx="74206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A continuous design task records AI participation, change feedback, and review results.</a:t>
              </a:r>
              <a:endParaRPr lang="en-US" sz="1500" b="0" u="none" strike="noStrike">
                <a:solidFill>
                  <a:srgbClr val="000000"/>
                </a:solidFill>
                <a:effectLst/>
                <a:uFillTx/>
                <a:latin typeface="Arial"/>
              </a:endParaRPr>
            </a:p>
          </p:txBody>
        </p:sp>
      </p:grpSp>
      <p:grpSp>
        <p:nvGrpSpPr>
          <p:cNvPr id="133" name="Google Shape;56;p2"/>
          <p:cNvGrpSpPr/>
          <p:nvPr/>
        </p:nvGrpSpPr>
        <p:grpSpPr>
          <a:xfrm>
            <a:off x="483120" y="1860480"/>
            <a:ext cx="3782160" cy="4005720"/>
            <a:chOff x="483120" y="1860480"/>
            <a:chExt cx="3782160" cy="4005720"/>
          </a:xfrm>
        </p:grpSpPr>
        <p:sp>
          <p:nvSpPr>
            <p:cNvPr id="134" name="Google Shape;57;p2"/>
            <p:cNvSpPr/>
            <p:nvPr/>
          </p:nvSpPr>
          <p:spPr>
            <a:xfrm>
              <a:off x="483120" y="1860480"/>
              <a:ext cx="3780360" cy="468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Four questions to answer</a:t>
              </a:r>
              <a:endParaRPr lang="en-US" sz="2400" b="0" u="none" strike="noStrike">
                <a:solidFill>
                  <a:srgbClr val="000000"/>
                </a:solidFill>
                <a:effectLst/>
                <a:uFillTx/>
                <a:latin typeface="Arial"/>
              </a:endParaRPr>
            </a:p>
          </p:txBody>
        </p:sp>
        <p:sp>
          <p:nvSpPr>
            <p:cNvPr id="135" name="Google Shape;58;p2"/>
            <p:cNvSpPr/>
            <p:nvPr/>
          </p:nvSpPr>
          <p:spPr>
            <a:xfrm>
              <a:off x="485280" y="2502000"/>
              <a:ext cx="27838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Is there traceable evidence?</a:t>
              </a:r>
              <a:endParaRPr lang="en-US" sz="1700" b="0" u="none" strike="noStrike">
                <a:solidFill>
                  <a:srgbClr val="000000"/>
                </a:solidFill>
                <a:effectLst/>
                <a:uFillTx/>
                <a:latin typeface="Arial"/>
              </a:endParaRPr>
            </a:p>
          </p:txBody>
        </p:sp>
        <p:sp>
          <p:nvSpPr>
            <p:cNvPr id="136" name="Google Shape;59;p2"/>
            <p:cNvSpPr/>
            <p:nvPr/>
          </p:nvSpPr>
          <p:spPr>
            <a:xfrm>
              <a:off x="485280" y="3044880"/>
              <a:ext cx="30240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Can it run real tool operations?</a:t>
              </a:r>
              <a:endParaRPr lang="en-US" sz="1700" b="0" u="none" strike="noStrike">
                <a:solidFill>
                  <a:srgbClr val="000000"/>
                </a:solidFill>
                <a:effectLst/>
                <a:uFillTx/>
                <a:latin typeface="Arial"/>
              </a:endParaRPr>
            </a:p>
          </p:txBody>
        </p:sp>
        <p:sp>
          <p:nvSpPr>
            <p:cNvPr id="137" name="Google Shape;60;p2"/>
            <p:cNvSpPr/>
            <p:nvPr/>
          </p:nvSpPr>
          <p:spPr>
            <a:xfrm>
              <a:off x="485280" y="3587760"/>
              <a:ext cx="32515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Can it locate errors and fix them?</a:t>
              </a:r>
              <a:endParaRPr lang="en-US" sz="1700" b="0" u="none" strike="noStrike">
                <a:solidFill>
                  <a:srgbClr val="000000"/>
                </a:solidFill>
                <a:effectLst/>
                <a:uFillTx/>
                <a:latin typeface="Arial"/>
              </a:endParaRPr>
            </a:p>
          </p:txBody>
        </p:sp>
        <p:sp>
          <p:nvSpPr>
            <p:cNvPr id="138" name="Google Shape;61;p2"/>
            <p:cNvSpPr/>
            <p:nvPr/>
          </p:nvSpPr>
          <p:spPr>
            <a:xfrm>
              <a:off x="485280" y="4130640"/>
              <a:ext cx="37800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Can the next round read past lessons?</a:t>
              </a:r>
              <a:endParaRPr lang="en-US" sz="1700" b="0" u="none" strike="noStrike">
                <a:solidFill>
                  <a:srgbClr val="000000"/>
                </a:solidFill>
                <a:effectLst/>
                <a:uFillTx/>
                <a:latin typeface="Arial"/>
              </a:endParaRPr>
            </a:p>
          </p:txBody>
        </p:sp>
        <p:sp>
          <p:nvSpPr>
            <p:cNvPr id="139" name="Google Shape;62;p2"/>
            <p:cNvSpPr/>
            <p:nvPr/>
          </p:nvSpPr>
          <p:spPr>
            <a:xfrm>
              <a:off x="495360" y="4981680"/>
              <a:ext cx="3713400" cy="884520"/>
            </a:xfrm>
            <a:prstGeom prst="roundRect">
              <a:avLst>
                <a:gd name="adj" fmla="val 10753"/>
              </a:avLst>
            </a:prstGeom>
            <a:solidFill>
              <a:schemeClr val="accent1"/>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40" name="Google Shape;63;p2"/>
            <p:cNvSpPr/>
            <p:nvPr/>
          </p:nvSpPr>
          <p:spPr>
            <a:xfrm>
              <a:off x="705960" y="5121360"/>
              <a:ext cx="16599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Unit of observation</a:t>
              </a:r>
              <a:endParaRPr lang="en-US" sz="1500" b="0" u="none" strike="noStrike">
                <a:solidFill>
                  <a:srgbClr val="000000"/>
                </a:solidFill>
                <a:effectLst/>
                <a:uFillTx/>
                <a:latin typeface="Arial"/>
              </a:endParaRPr>
            </a:p>
          </p:txBody>
        </p:sp>
        <p:sp>
          <p:nvSpPr>
            <p:cNvPr id="141" name="Google Shape;64;p2"/>
            <p:cNvSpPr/>
            <p:nvPr/>
          </p:nvSpPr>
          <p:spPr>
            <a:xfrm>
              <a:off x="704520" y="5416560"/>
              <a:ext cx="29757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rgbClr val="FFFFFF"/>
                  </a:solidFill>
                  <a:effectLst/>
                  <a:uFillTx/>
                  <a:latin typeface="Arial"/>
                  <a:ea typeface="Arial"/>
                </a:rPr>
                <a:t>Feedback, changes, reviews</a:t>
              </a:r>
              <a:endParaRPr lang="en-US" sz="1700" b="0" u="none" strike="noStrike">
                <a:solidFill>
                  <a:srgbClr val="000000"/>
                </a:solidFill>
                <a:effectLst/>
                <a:uFillTx/>
                <a:latin typeface="Arial"/>
              </a:endParaRPr>
            </a:p>
          </p:txBody>
        </p:sp>
      </p:grpSp>
      <p:sp>
        <p:nvSpPr>
          <p:cNvPr id="142" name="Google Shape;65;p2"/>
          <p:cNvSpPr/>
          <p:nvPr/>
        </p:nvSpPr>
        <p:spPr>
          <a:xfrm>
            <a:off x="4524480" y="1752480"/>
            <a:ext cx="7920" cy="4199040"/>
          </a:xfrm>
          <a:custGeom>
            <a:avLst/>
            <a:gdLst>
              <a:gd name="textAreaLeft" fmla="*/ 0 w 7920"/>
              <a:gd name="textAreaRight" fmla="*/ 8280 w 7920"/>
              <a:gd name="textAreaTop" fmla="*/ 0 h 4199040"/>
              <a:gd name="textAreaBottom" fmla="*/ 4199400 h 4199040"/>
            </a:gdLst>
            <a:ahLst/>
            <a:cxnLst/>
            <a:rect l="textAreaLeft" t="textAreaTop" r="textAreaRight" b="textAreaBottom"/>
            <a:pathLst>
              <a:path w="9525" h="4200525">
                <a:moveTo>
                  <a:pt x="0" y="0"/>
                </a:moveTo>
                <a:lnTo>
                  <a:pt x="0" y="4200525"/>
                </a:lnTo>
              </a:path>
            </a:pathLst>
          </a:custGeom>
          <a:noFill/>
          <a:ln w="952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grpSp>
        <p:nvGrpSpPr>
          <p:cNvPr id="143" name="Google Shape;66;p2"/>
          <p:cNvGrpSpPr/>
          <p:nvPr/>
        </p:nvGrpSpPr>
        <p:grpSpPr>
          <a:xfrm>
            <a:off x="4883760" y="1755720"/>
            <a:ext cx="6850080" cy="3412080"/>
            <a:chOff x="4883760" y="1755720"/>
            <a:chExt cx="6850080" cy="3412080"/>
          </a:xfrm>
        </p:grpSpPr>
        <p:sp>
          <p:nvSpPr>
            <p:cNvPr id="144" name="Google Shape;67;p2"/>
            <p:cNvSpPr/>
            <p:nvPr/>
          </p:nvSpPr>
          <p:spPr>
            <a:xfrm>
              <a:off x="4883760" y="1755720"/>
              <a:ext cx="4085640" cy="468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Methods and their evidence</a:t>
              </a:r>
              <a:endParaRPr lang="en-US" sz="2400" b="0" u="none" strike="noStrike">
                <a:solidFill>
                  <a:srgbClr val="000000"/>
                </a:solidFill>
                <a:effectLst/>
                <a:uFillTx/>
                <a:latin typeface="Arial"/>
              </a:endParaRPr>
            </a:p>
          </p:txBody>
        </p:sp>
        <p:sp>
          <p:nvSpPr>
            <p:cNvPr id="145" name="Google Shape;68;p2"/>
            <p:cNvSpPr/>
            <p:nvPr/>
          </p:nvSpPr>
          <p:spPr>
            <a:xfrm>
              <a:off x="4915080" y="243828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46" name="Google Shape;69;p2"/>
            <p:cNvSpPr/>
            <p:nvPr/>
          </p:nvSpPr>
          <p:spPr>
            <a:xfrm>
              <a:off x="5466960" y="2473200"/>
              <a:ext cx="16549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Methods added</a:t>
              </a:r>
              <a:endParaRPr lang="en-US" sz="1700" b="0" u="none" strike="noStrike">
                <a:solidFill>
                  <a:srgbClr val="000000"/>
                </a:solidFill>
                <a:effectLst/>
                <a:uFillTx/>
                <a:latin typeface="Arial"/>
              </a:endParaRPr>
            </a:p>
          </p:txBody>
        </p:sp>
        <p:sp>
          <p:nvSpPr>
            <p:cNvPr id="147" name="Google Shape;70;p2"/>
            <p:cNvSpPr/>
            <p:nvPr/>
          </p:nvSpPr>
          <p:spPr>
            <a:xfrm>
              <a:off x="7468920" y="2511360"/>
              <a:ext cx="37353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Knowledge retrieval, concept-first, tool links</a:t>
              </a:r>
              <a:endParaRPr lang="en-US" sz="1500" b="0" u="none" strike="noStrike">
                <a:solidFill>
                  <a:srgbClr val="000000"/>
                </a:solidFill>
                <a:effectLst/>
                <a:uFillTx/>
                <a:latin typeface="Arial"/>
              </a:endParaRPr>
            </a:p>
          </p:txBody>
        </p:sp>
        <p:sp>
          <p:nvSpPr>
            <p:cNvPr id="148" name="Google Shape;71;p2"/>
            <p:cNvSpPr/>
            <p:nvPr/>
          </p:nvSpPr>
          <p:spPr>
            <a:xfrm>
              <a:off x="5095800" y="2828880"/>
              <a:ext cx="7920" cy="351000"/>
            </a:xfrm>
            <a:custGeom>
              <a:avLst/>
              <a:gdLst>
                <a:gd name="textAreaLeft" fmla="*/ 0 w 7920"/>
                <a:gd name="textAreaRight" fmla="*/ 8280 w 7920"/>
                <a:gd name="textAreaTop" fmla="*/ 0 h 351000"/>
                <a:gd name="textAreaBottom" fmla="*/ 351360 h 35100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sp>
          <p:nvSpPr>
            <p:cNvPr id="149" name="Google Shape;72;p2"/>
            <p:cNvSpPr/>
            <p:nvPr/>
          </p:nvSpPr>
          <p:spPr>
            <a:xfrm>
              <a:off x="4915080" y="320976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50" name="Google Shape;73;p2"/>
            <p:cNvSpPr/>
            <p:nvPr/>
          </p:nvSpPr>
          <p:spPr>
            <a:xfrm>
              <a:off x="5466960" y="3244680"/>
              <a:ext cx="18957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Process evidence</a:t>
              </a:r>
              <a:endParaRPr lang="en-US" sz="1700" b="0" u="none" strike="noStrike">
                <a:solidFill>
                  <a:srgbClr val="000000"/>
                </a:solidFill>
                <a:effectLst/>
                <a:uFillTx/>
                <a:latin typeface="Arial"/>
              </a:endParaRPr>
            </a:p>
          </p:txBody>
        </p:sp>
        <p:sp>
          <p:nvSpPr>
            <p:cNvPr id="151" name="Google Shape;74;p2"/>
            <p:cNvSpPr/>
            <p:nvPr/>
          </p:nvSpPr>
          <p:spPr>
            <a:xfrm>
              <a:off x="7468920" y="3282840"/>
              <a:ext cx="36716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History images, operation logs, rules, code</a:t>
              </a:r>
              <a:endParaRPr lang="en-US" sz="1500" b="0" u="none" strike="noStrike">
                <a:solidFill>
                  <a:srgbClr val="000000"/>
                </a:solidFill>
                <a:effectLst/>
                <a:uFillTx/>
                <a:latin typeface="Arial"/>
              </a:endParaRPr>
            </a:p>
          </p:txBody>
        </p:sp>
        <p:sp>
          <p:nvSpPr>
            <p:cNvPr id="152" name="Google Shape;75;p2"/>
            <p:cNvSpPr/>
            <p:nvPr/>
          </p:nvSpPr>
          <p:spPr>
            <a:xfrm>
              <a:off x="5095800" y="3600360"/>
              <a:ext cx="7920" cy="351000"/>
            </a:xfrm>
            <a:custGeom>
              <a:avLst/>
              <a:gdLst>
                <a:gd name="textAreaLeft" fmla="*/ 0 w 7920"/>
                <a:gd name="textAreaRight" fmla="*/ 8280 w 7920"/>
                <a:gd name="textAreaTop" fmla="*/ 0 h 351000"/>
                <a:gd name="textAreaBottom" fmla="*/ 351360 h 35100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sp>
          <p:nvSpPr>
            <p:cNvPr id="153" name="Google Shape;76;p2"/>
            <p:cNvSpPr/>
            <p:nvPr/>
          </p:nvSpPr>
          <p:spPr>
            <a:xfrm>
              <a:off x="4915080" y="398160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54" name="Google Shape;77;p2"/>
            <p:cNvSpPr/>
            <p:nvPr/>
          </p:nvSpPr>
          <p:spPr>
            <a:xfrm>
              <a:off x="5466960" y="4016520"/>
              <a:ext cx="15235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Result checks</a:t>
              </a:r>
              <a:endParaRPr lang="en-US" sz="1700" b="0" u="none" strike="noStrike">
                <a:solidFill>
                  <a:srgbClr val="000000"/>
                </a:solidFill>
                <a:effectLst/>
                <a:uFillTx/>
                <a:latin typeface="Arial"/>
              </a:endParaRPr>
            </a:p>
          </p:txBody>
        </p:sp>
        <p:sp>
          <p:nvSpPr>
            <p:cNvPr id="155" name="Google Shape;78;p2"/>
            <p:cNvSpPr/>
            <p:nvPr/>
          </p:nvSpPr>
          <p:spPr>
            <a:xfrm>
              <a:off x="7468920" y="4054320"/>
              <a:ext cx="38732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Save and reopen, shape checks, user review</a:t>
              </a:r>
              <a:endParaRPr lang="en-US" sz="1500" b="0" u="none" strike="noStrike">
                <a:solidFill>
                  <a:srgbClr val="000000"/>
                </a:solidFill>
                <a:effectLst/>
                <a:uFillTx/>
                <a:latin typeface="Arial"/>
              </a:endParaRPr>
            </a:p>
          </p:txBody>
        </p:sp>
        <p:sp>
          <p:nvSpPr>
            <p:cNvPr id="156" name="Google Shape;79;p2"/>
            <p:cNvSpPr/>
            <p:nvPr/>
          </p:nvSpPr>
          <p:spPr>
            <a:xfrm>
              <a:off x="5095800" y="4371840"/>
              <a:ext cx="7920" cy="351000"/>
            </a:xfrm>
            <a:custGeom>
              <a:avLst/>
              <a:gdLst>
                <a:gd name="textAreaLeft" fmla="*/ 0 w 7920"/>
                <a:gd name="textAreaRight" fmla="*/ 8280 w 7920"/>
                <a:gd name="textAreaTop" fmla="*/ 0 h 351000"/>
                <a:gd name="textAreaBottom" fmla="*/ 351360 h 35100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sp>
          <p:nvSpPr>
            <p:cNvPr id="157" name="Google Shape;80;p2"/>
            <p:cNvSpPr/>
            <p:nvPr/>
          </p:nvSpPr>
          <p:spPr>
            <a:xfrm>
              <a:off x="4915080" y="475308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58" name="Google Shape;81;p2"/>
            <p:cNvSpPr/>
            <p:nvPr/>
          </p:nvSpPr>
          <p:spPr>
            <a:xfrm>
              <a:off x="5466960" y="4788000"/>
              <a:ext cx="14634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Lesson reuse</a:t>
              </a:r>
              <a:endParaRPr lang="en-US" sz="1700" b="0" u="none" strike="noStrike">
                <a:solidFill>
                  <a:srgbClr val="000000"/>
                </a:solidFill>
                <a:effectLst/>
                <a:uFillTx/>
                <a:latin typeface="Arial"/>
              </a:endParaRPr>
            </a:p>
          </p:txBody>
        </p:sp>
        <p:sp>
          <p:nvSpPr>
            <p:cNvPr id="159" name="Google Shape;82;p2"/>
            <p:cNvSpPr/>
            <p:nvPr/>
          </p:nvSpPr>
          <p:spPr>
            <a:xfrm>
              <a:off x="7468920" y="4826160"/>
              <a:ext cx="42649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Update workflow and entries, then regression-test</a:t>
              </a:r>
              <a:endParaRPr lang="en-US" sz="1500" b="0" u="none" strike="noStrike">
                <a:solidFill>
                  <a:srgbClr val="000000"/>
                </a:solidFill>
                <a:effectLst/>
                <a:uFillTx/>
                <a:latin typeface="Arial"/>
              </a:endParaRPr>
            </a:p>
          </p:txBody>
        </p:sp>
      </p:grpSp>
      <p:sp>
        <p:nvSpPr>
          <p:cNvPr id="160" name="Google Shape;83;p2"/>
          <p:cNvSpPr/>
          <p:nvPr/>
        </p:nvSpPr>
        <p:spPr>
          <a:xfrm>
            <a:off x="488520" y="6407280"/>
            <a:ext cx="57992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Case observation checks the process. Gains still need controlled validation.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61" name="Google Shape;88;p3"/>
          <p:cNvGrpSpPr/>
          <p:nvPr/>
        </p:nvGrpSpPr>
        <p:grpSpPr>
          <a:xfrm>
            <a:off x="478440" y="422280"/>
            <a:ext cx="8121600" cy="972000"/>
            <a:chOff x="478440" y="422280"/>
            <a:chExt cx="8121600" cy="972000"/>
          </a:xfrm>
        </p:grpSpPr>
        <p:sp>
          <p:nvSpPr>
            <p:cNvPr id="162" name="Google Shape;89;p3"/>
            <p:cNvSpPr/>
            <p:nvPr/>
          </p:nvSpPr>
          <p:spPr>
            <a:xfrm>
              <a:off x="478440" y="422280"/>
              <a:ext cx="812160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Design Task Execution and Review Flow</a:t>
              </a:r>
              <a:endParaRPr lang="en-US" sz="3300" b="0" u="none" strike="noStrike">
                <a:solidFill>
                  <a:srgbClr val="000000"/>
                </a:solidFill>
                <a:effectLst/>
                <a:uFillTx/>
                <a:latin typeface="Arial"/>
              </a:endParaRPr>
            </a:p>
          </p:txBody>
        </p:sp>
        <p:sp>
          <p:nvSpPr>
            <p:cNvPr id="163" name="Google Shape;90;p3"/>
            <p:cNvSpPr/>
            <p:nvPr/>
          </p:nvSpPr>
          <p:spPr>
            <a:xfrm>
              <a:off x="487080" y="1073160"/>
              <a:ext cx="78922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rgbClr val="66758A"/>
                  </a:solidFill>
                  <a:effectLst/>
                  <a:uFillTx/>
                  <a:latin typeface="Arial"/>
                  <a:ea typeface="Arial"/>
                </a:rPr>
                <a:t>AI analyzes needs and runs the task. People review concepts, major changes, and deliverables.</a:t>
              </a:r>
              <a:endParaRPr lang="en-US" sz="1450" b="0" u="none" strike="noStrike">
                <a:solidFill>
                  <a:srgbClr val="000000"/>
                </a:solidFill>
                <a:effectLst/>
                <a:uFillTx/>
                <a:latin typeface="Arial"/>
              </a:endParaRPr>
            </a:p>
          </p:txBody>
        </p:sp>
      </p:grpSp>
      <p:grpSp>
        <p:nvGrpSpPr>
          <p:cNvPr id="164" name="Google Shape;91;p3"/>
          <p:cNvGrpSpPr/>
          <p:nvPr/>
        </p:nvGrpSpPr>
        <p:grpSpPr>
          <a:xfrm>
            <a:off x="488520" y="1749600"/>
            <a:ext cx="11206800" cy="1786320"/>
            <a:chOff x="488520" y="1749600"/>
            <a:chExt cx="11206800" cy="1786320"/>
          </a:xfrm>
        </p:grpSpPr>
        <p:sp>
          <p:nvSpPr>
            <p:cNvPr id="165" name="Google Shape;92;p3"/>
            <p:cNvSpPr/>
            <p:nvPr/>
          </p:nvSpPr>
          <p:spPr>
            <a:xfrm>
              <a:off x="488520" y="1749600"/>
              <a:ext cx="45356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Input: user description, confirmed constraints, current project state</a:t>
              </a:r>
              <a:endParaRPr lang="en-US" sz="1200" b="0" u="none" strike="noStrike">
                <a:solidFill>
                  <a:srgbClr val="000000"/>
                </a:solidFill>
                <a:effectLst/>
                <a:uFillTx/>
                <a:latin typeface="Arial"/>
              </a:endParaRPr>
            </a:p>
          </p:txBody>
        </p:sp>
        <p:sp>
          <p:nvSpPr>
            <p:cNvPr id="166" name="Google Shape;93;p3"/>
            <p:cNvSpPr/>
            <p:nvPr/>
          </p:nvSpPr>
          <p:spPr>
            <a:xfrm>
              <a:off x="495360" y="2190600"/>
              <a:ext cx="2141640" cy="87480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67" name="Google Shape;94;p3"/>
            <p:cNvSpPr/>
            <p:nvPr/>
          </p:nvSpPr>
          <p:spPr>
            <a:xfrm>
              <a:off x="723600" y="2311560"/>
              <a:ext cx="176364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chemeClr val="accent2"/>
                  </a:solidFill>
                  <a:effectLst/>
                  <a:uFillTx/>
                  <a:latin typeface="Arial"/>
                  <a:ea typeface="Arial"/>
                </a:rPr>
                <a:t>Structure needs</a:t>
              </a:r>
              <a:endParaRPr lang="en-US" sz="1750" b="0" u="none" strike="noStrike">
                <a:solidFill>
                  <a:srgbClr val="000000"/>
                </a:solidFill>
                <a:effectLst/>
                <a:uFillTx/>
                <a:latin typeface="Arial"/>
              </a:endParaRPr>
            </a:p>
          </p:txBody>
        </p:sp>
        <p:sp>
          <p:nvSpPr>
            <p:cNvPr id="168" name="Google Shape;95;p3"/>
            <p:cNvSpPr/>
            <p:nvPr/>
          </p:nvSpPr>
          <p:spPr>
            <a:xfrm>
              <a:off x="725040" y="2664000"/>
              <a:ext cx="2081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Traits / conflicts / gaps</a:t>
              </a:r>
              <a:endParaRPr lang="en-US" sz="1450" b="0" u="none" strike="noStrike">
                <a:solidFill>
                  <a:srgbClr val="000000"/>
                </a:solidFill>
                <a:effectLst/>
                <a:uFillTx/>
                <a:latin typeface="Arial"/>
              </a:endParaRPr>
            </a:p>
          </p:txBody>
        </p:sp>
        <p:cxnSp>
          <p:nvCxnSpPr>
            <p:cNvPr id="169" name="Google Shape;96;p3"/>
            <p:cNvCxnSpPr/>
            <p:nvPr/>
          </p:nvCxnSpPr>
          <p:spPr>
            <a:xfrm>
              <a:off x="2695320" y="2628720"/>
              <a:ext cx="457560" cy="720"/>
            </a:xfrm>
            <a:prstGeom prst="straightConnector1">
              <a:avLst/>
            </a:prstGeom>
            <a:ln w="19050">
              <a:solidFill>
                <a:srgbClr val="66758A"/>
              </a:solidFill>
              <a:round/>
              <a:tailEnd len="lg" type="triangle" w="lg"/>
            </a:ln>
          </p:spPr>
        </p:cxnSp>
        <p:sp>
          <p:nvSpPr>
            <p:cNvPr id="170" name="Google Shape;97;p3"/>
            <p:cNvSpPr/>
            <p:nvPr/>
          </p:nvSpPr>
          <p:spPr>
            <a:xfrm>
              <a:off x="3219480" y="2190600"/>
              <a:ext cx="2141640" cy="87480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71" name="Google Shape;98;p3"/>
            <p:cNvSpPr/>
            <p:nvPr/>
          </p:nvSpPr>
          <p:spPr>
            <a:xfrm>
              <a:off x="3447720" y="2311560"/>
              <a:ext cx="1593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chemeClr val="accent2"/>
                  </a:solidFill>
                  <a:effectLst/>
                  <a:uFillTx/>
                  <a:latin typeface="Arial"/>
                  <a:ea typeface="Arial"/>
                </a:rPr>
                <a:t>Find evidence</a:t>
              </a:r>
              <a:endParaRPr lang="en-US" sz="1750" b="0" u="none" strike="noStrike">
                <a:solidFill>
                  <a:srgbClr val="000000"/>
                </a:solidFill>
                <a:effectLst/>
                <a:uFillTx/>
                <a:latin typeface="Arial"/>
              </a:endParaRPr>
            </a:p>
          </p:txBody>
        </p:sp>
        <p:sp>
          <p:nvSpPr>
            <p:cNvPr id="172" name="Google Shape;99;p3"/>
            <p:cNvSpPr/>
            <p:nvPr/>
          </p:nvSpPr>
          <p:spPr>
            <a:xfrm>
              <a:off x="3449160" y="2664000"/>
              <a:ext cx="17924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Sources and limits</a:t>
              </a:r>
              <a:endParaRPr lang="en-US" sz="1450" b="0" u="none" strike="noStrike">
                <a:solidFill>
                  <a:srgbClr val="000000"/>
                </a:solidFill>
                <a:effectLst/>
                <a:uFillTx/>
                <a:latin typeface="Arial"/>
              </a:endParaRPr>
            </a:p>
          </p:txBody>
        </p:sp>
        <p:cxnSp>
          <p:nvCxnSpPr>
            <p:cNvPr id="173" name="Google Shape;100;p3"/>
            <p:cNvCxnSpPr/>
            <p:nvPr/>
          </p:nvCxnSpPr>
          <p:spPr>
            <a:xfrm>
              <a:off x="5419440" y="2628720"/>
              <a:ext cx="457560" cy="720"/>
            </a:xfrm>
            <a:prstGeom prst="straightConnector1">
              <a:avLst/>
            </a:prstGeom>
            <a:ln w="19050">
              <a:solidFill>
                <a:srgbClr val="66758A"/>
              </a:solidFill>
              <a:round/>
              <a:tailEnd len="lg" type="triangle" w="lg"/>
            </a:ln>
          </p:spPr>
        </p:cxnSp>
        <p:sp>
          <p:nvSpPr>
            <p:cNvPr id="174" name="Google Shape;101;p3"/>
            <p:cNvSpPr/>
            <p:nvPr/>
          </p:nvSpPr>
          <p:spPr>
            <a:xfrm>
              <a:off x="5943600" y="2190600"/>
              <a:ext cx="2141640" cy="874800"/>
            </a:xfrm>
            <a:prstGeom prst="roundRect">
              <a:avLst>
                <a:gd name="adj" fmla="val 9783"/>
              </a:avLst>
            </a:prstGeom>
            <a:solidFill>
              <a:srgbClr val="F3EE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75" name="Google Shape;102;p3"/>
            <p:cNvSpPr/>
            <p:nvPr/>
          </p:nvSpPr>
          <p:spPr>
            <a:xfrm>
              <a:off x="6171840" y="2311560"/>
              <a:ext cx="444960" cy="266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chemeClr val="accent6"/>
                  </a:solidFill>
                  <a:effectLst/>
                  <a:uFillTx/>
                  <a:latin typeface="Arial"/>
                  <a:ea typeface="Arial"/>
                </a:rPr>
                <a:t>Idea</a:t>
              </a:r>
              <a:endParaRPr lang="en-US" sz="1750" b="0" u="none" strike="noStrike">
                <a:solidFill>
                  <a:srgbClr val="000000"/>
                </a:solidFill>
                <a:effectLst/>
                <a:uFillTx/>
                <a:latin typeface="Arial"/>
              </a:endParaRPr>
            </a:p>
          </p:txBody>
        </p:sp>
        <p:sp>
          <p:nvSpPr>
            <p:cNvPr id="176" name="Google Shape;103;p3"/>
            <p:cNvSpPr/>
            <p:nvPr/>
          </p:nvSpPr>
          <p:spPr>
            <a:xfrm>
              <a:off x="6173280" y="2664000"/>
              <a:ext cx="17924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Comparable options</a:t>
              </a:r>
              <a:endParaRPr lang="en-US" sz="1450" b="0" u="none" strike="noStrike">
                <a:solidFill>
                  <a:srgbClr val="000000"/>
                </a:solidFill>
                <a:effectLst/>
                <a:uFillTx/>
                <a:latin typeface="Arial"/>
              </a:endParaRPr>
            </a:p>
          </p:txBody>
        </p:sp>
        <p:cxnSp>
          <p:nvCxnSpPr>
            <p:cNvPr id="177" name="Google Shape;104;p3"/>
            <p:cNvCxnSpPr/>
            <p:nvPr/>
          </p:nvCxnSpPr>
          <p:spPr>
            <a:xfrm>
              <a:off x="8143560" y="2628720"/>
              <a:ext cx="457560" cy="720"/>
            </a:xfrm>
            <a:prstGeom prst="straightConnector1">
              <a:avLst/>
            </a:prstGeom>
            <a:ln w="19050">
              <a:solidFill>
                <a:srgbClr val="66758A"/>
              </a:solidFill>
              <a:round/>
              <a:tailEnd len="lg" type="triangle" w="lg"/>
            </a:ln>
          </p:spPr>
        </p:cxnSp>
        <p:sp>
          <p:nvSpPr>
            <p:cNvPr id="178" name="Google Shape;105;p3"/>
            <p:cNvSpPr/>
            <p:nvPr/>
          </p:nvSpPr>
          <p:spPr>
            <a:xfrm>
              <a:off x="8667720" y="2190600"/>
              <a:ext cx="3027600" cy="87480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79" name="Google Shape;106;p3"/>
            <p:cNvSpPr/>
            <p:nvPr/>
          </p:nvSpPr>
          <p:spPr>
            <a:xfrm>
              <a:off x="8895960" y="2311560"/>
              <a:ext cx="18558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A76813"/>
                  </a:solidFill>
                  <a:effectLst/>
                  <a:uFillTx/>
                  <a:latin typeface="Arial"/>
                  <a:ea typeface="Arial"/>
                </a:rPr>
                <a:t>Human: select</a:t>
              </a:r>
              <a:endParaRPr lang="en-US" sz="1750" b="0" u="none" strike="noStrike">
                <a:solidFill>
                  <a:srgbClr val="000000"/>
                </a:solidFill>
                <a:effectLst/>
                <a:uFillTx/>
                <a:latin typeface="Arial"/>
              </a:endParaRPr>
            </a:p>
          </p:txBody>
        </p:sp>
        <p:sp>
          <p:nvSpPr>
            <p:cNvPr id="180" name="Google Shape;107;p3"/>
            <p:cNvSpPr/>
            <p:nvPr/>
          </p:nvSpPr>
          <p:spPr>
            <a:xfrm>
              <a:off x="8897400" y="2664000"/>
              <a:ext cx="23032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Concept / side / views</a:t>
              </a:r>
              <a:endParaRPr lang="en-US" sz="1450" b="0" u="none" strike="noStrike">
                <a:solidFill>
                  <a:srgbClr val="000000"/>
                </a:solidFill>
                <a:effectLst/>
                <a:uFillTx/>
                <a:latin typeface="Arial"/>
              </a:endParaRPr>
            </a:p>
          </p:txBody>
        </p:sp>
        <p:sp>
          <p:nvSpPr>
            <p:cNvPr id="181" name="Google Shape;108;p3"/>
            <p:cNvSpPr/>
            <p:nvPr/>
          </p:nvSpPr>
          <p:spPr>
            <a:xfrm>
              <a:off x="488520" y="3273480"/>
              <a:ext cx="1401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needs table</a:t>
              </a:r>
              <a:endParaRPr lang="en-US" sz="1200" b="0" u="none" strike="noStrike">
                <a:solidFill>
                  <a:srgbClr val="000000"/>
                </a:solidFill>
                <a:effectLst/>
                <a:uFillTx/>
                <a:latin typeface="Arial"/>
              </a:endParaRPr>
            </a:p>
          </p:txBody>
        </p:sp>
        <p:sp>
          <p:nvSpPr>
            <p:cNvPr id="182" name="Google Shape;109;p3"/>
            <p:cNvSpPr/>
            <p:nvPr/>
          </p:nvSpPr>
          <p:spPr>
            <a:xfrm>
              <a:off x="3212640" y="3273480"/>
              <a:ext cx="22910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traceable reference pack</a:t>
              </a:r>
              <a:endParaRPr lang="en-US" sz="1200" b="0" u="none" strike="noStrike">
                <a:solidFill>
                  <a:srgbClr val="000000"/>
                </a:solidFill>
                <a:effectLst/>
                <a:uFillTx/>
                <a:latin typeface="Arial"/>
              </a:endParaRPr>
            </a:p>
          </p:txBody>
        </p:sp>
        <p:sp>
          <p:nvSpPr>
            <p:cNvPr id="183" name="Google Shape;110;p3"/>
            <p:cNvSpPr/>
            <p:nvPr/>
          </p:nvSpPr>
          <p:spPr>
            <a:xfrm>
              <a:off x="5936760" y="3273480"/>
              <a:ext cx="15796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concept board</a:t>
              </a:r>
              <a:endParaRPr lang="en-US" sz="1200" b="0" u="none" strike="noStrike">
                <a:solidFill>
                  <a:srgbClr val="000000"/>
                </a:solidFill>
                <a:effectLst/>
                <a:uFillTx/>
                <a:latin typeface="Arial"/>
              </a:endParaRPr>
            </a:p>
          </p:txBody>
        </p:sp>
        <p:sp>
          <p:nvSpPr>
            <p:cNvPr id="184" name="Google Shape;111;p3"/>
            <p:cNvSpPr/>
            <p:nvPr/>
          </p:nvSpPr>
          <p:spPr>
            <a:xfrm>
              <a:off x="8660880" y="3273480"/>
              <a:ext cx="22147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single current reference</a:t>
              </a:r>
              <a:endParaRPr lang="en-US" sz="1200" b="0" u="none" strike="noStrike">
                <a:solidFill>
                  <a:srgbClr val="000000"/>
                </a:solidFill>
                <a:effectLst/>
                <a:uFillTx/>
                <a:latin typeface="Arial"/>
              </a:endParaRPr>
            </a:p>
          </p:txBody>
        </p:sp>
      </p:grpSp>
      <p:grpSp>
        <p:nvGrpSpPr>
          <p:cNvPr id="185" name="Google Shape;112;p3"/>
          <p:cNvGrpSpPr/>
          <p:nvPr/>
        </p:nvGrpSpPr>
        <p:grpSpPr>
          <a:xfrm>
            <a:off x="488520" y="3600360"/>
            <a:ext cx="11313360" cy="1907280"/>
            <a:chOff x="488520" y="3600360"/>
            <a:chExt cx="11313360" cy="1907280"/>
          </a:xfrm>
        </p:grpSpPr>
        <p:sp>
          <p:nvSpPr>
            <p:cNvPr id="186" name="Google Shape;113;p3"/>
            <p:cNvSpPr/>
            <p:nvPr/>
          </p:nvSpPr>
          <p:spPr>
            <a:xfrm>
              <a:off x="1638360" y="3762360"/>
              <a:ext cx="8647200" cy="7920"/>
            </a:xfrm>
            <a:custGeom>
              <a:avLst/>
              <a:gdLst>
                <a:gd name="textAreaLeft" fmla="*/ 0 w 8647200"/>
                <a:gd name="textAreaRight" fmla="*/ 8647560 w 8647200"/>
                <a:gd name="textAreaTop" fmla="*/ 0 h 7920"/>
                <a:gd name="textAreaBottom" fmla="*/ 8280 h 7920"/>
              </a:gdLst>
              <a:ahLst/>
              <a:cxnLst/>
              <a:rect l="textAreaLeft" t="textAreaTop" r="textAreaRight" b="textAreaBottom"/>
              <a:pathLst>
                <a:path w="8648700" h="9525">
                  <a:moveTo>
                    <a:pt x="8648700" y="0"/>
                  </a:moveTo>
                  <a:lnTo>
                    <a:pt x="0" y="0"/>
                  </a:lnTo>
                </a:path>
              </a:pathLst>
            </a:custGeom>
            <a:noFill/>
            <a:ln w="19050">
              <a:solidFill>
                <a:srgbClr val="66758A"/>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187" name="Google Shape;114;p3"/>
            <p:cNvSpPr/>
            <p:nvPr/>
          </p:nvSpPr>
          <p:spPr>
            <a:xfrm>
              <a:off x="10287000" y="3600360"/>
              <a:ext cx="7920" cy="160560"/>
            </a:xfrm>
            <a:custGeom>
              <a:avLst/>
              <a:gdLst>
                <a:gd name="textAreaLeft" fmla="*/ 0 w 7920"/>
                <a:gd name="textAreaRight" fmla="*/ 8280 w 7920"/>
                <a:gd name="textAreaTop" fmla="*/ 0 h 160560"/>
                <a:gd name="textAreaBottom" fmla="*/ 160920 h 160560"/>
              </a:gdLst>
              <a:ahLst/>
              <a:cxnLst/>
              <a:rect l="textAreaLeft" t="textAreaTop" r="textAreaRight" b="textAreaBottom"/>
              <a:pathLst>
                <a:path w="9525" h="161925">
                  <a:moveTo>
                    <a:pt x="0" y="0"/>
                  </a:moveTo>
                  <a:lnTo>
                    <a:pt x="0" y="161925"/>
                  </a:lnTo>
                </a:path>
              </a:pathLst>
            </a:custGeom>
            <a:noFill/>
            <a:ln w="19050">
              <a:solidFill>
                <a:srgbClr val="66758A"/>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cxnSp>
          <p:nvCxnSpPr>
            <p:cNvPr id="188" name="Google Shape;115;p3"/>
            <p:cNvCxnSpPr/>
            <p:nvPr/>
          </p:nvCxnSpPr>
          <p:spPr>
            <a:xfrm>
              <a:off x="1638000" y="3762360"/>
              <a:ext cx="720" cy="304920"/>
            </a:xfrm>
            <a:prstGeom prst="straightConnector1">
              <a:avLst/>
            </a:prstGeom>
            <a:ln w="19050">
              <a:solidFill>
                <a:srgbClr val="66758A"/>
              </a:solidFill>
              <a:round/>
              <a:tailEnd len="lg" type="triangle" w="lg"/>
            </a:ln>
          </p:spPr>
        </p:cxnSp>
        <p:sp>
          <p:nvSpPr>
            <p:cNvPr id="189" name="Google Shape;116;p3"/>
            <p:cNvSpPr/>
            <p:nvPr/>
          </p:nvSpPr>
          <p:spPr>
            <a:xfrm>
              <a:off x="495360" y="4152960"/>
              <a:ext cx="2141640" cy="87480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90" name="Google Shape;117;p3"/>
            <p:cNvSpPr/>
            <p:nvPr/>
          </p:nvSpPr>
          <p:spPr>
            <a:xfrm>
              <a:off x="723600" y="4273560"/>
              <a:ext cx="18558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069B8A"/>
                  </a:solidFill>
                  <a:effectLst/>
                  <a:uFillTx/>
                  <a:latin typeface="Arial"/>
                  <a:ea typeface="Arial"/>
                </a:rPr>
                <a:t>Form and model</a:t>
              </a:r>
              <a:endParaRPr lang="en-US" sz="1750" b="0" u="none" strike="noStrike">
                <a:solidFill>
                  <a:srgbClr val="000000"/>
                </a:solidFill>
                <a:effectLst/>
                <a:uFillTx/>
                <a:latin typeface="Arial"/>
              </a:endParaRPr>
            </a:p>
          </p:txBody>
        </p:sp>
        <p:sp>
          <p:nvSpPr>
            <p:cNvPr id="191" name="Google Shape;118;p3"/>
            <p:cNvSpPr/>
            <p:nvPr/>
          </p:nvSpPr>
          <p:spPr>
            <a:xfrm>
              <a:off x="725040" y="4626000"/>
              <a:ext cx="18590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Parts / ratio / fit</a:t>
              </a:r>
              <a:endParaRPr lang="en-US" sz="1450" b="0" u="none" strike="noStrike">
                <a:solidFill>
                  <a:srgbClr val="000000"/>
                </a:solidFill>
                <a:effectLst/>
                <a:uFillTx/>
                <a:latin typeface="Arial"/>
              </a:endParaRPr>
            </a:p>
          </p:txBody>
        </p:sp>
        <p:cxnSp>
          <p:nvCxnSpPr>
            <p:cNvPr id="192" name="Google Shape;119;p3"/>
            <p:cNvCxnSpPr/>
            <p:nvPr/>
          </p:nvCxnSpPr>
          <p:spPr>
            <a:xfrm>
              <a:off x="2695320" y="4590720"/>
              <a:ext cx="457560" cy="720"/>
            </a:xfrm>
            <a:prstGeom prst="straightConnector1">
              <a:avLst/>
            </a:prstGeom>
            <a:ln w="19050">
              <a:solidFill>
                <a:srgbClr val="66758A"/>
              </a:solidFill>
              <a:round/>
              <a:tailEnd len="lg" type="triangle" w="lg"/>
            </a:ln>
          </p:spPr>
        </p:cxnSp>
        <p:sp>
          <p:nvSpPr>
            <p:cNvPr id="193" name="Google Shape;120;p3"/>
            <p:cNvSpPr/>
            <p:nvPr/>
          </p:nvSpPr>
          <p:spPr>
            <a:xfrm>
              <a:off x="3219480" y="4152960"/>
              <a:ext cx="2141640" cy="87480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94" name="Google Shape;121;p3"/>
            <p:cNvSpPr/>
            <p:nvPr/>
          </p:nvSpPr>
          <p:spPr>
            <a:xfrm>
              <a:off x="3447720" y="4273560"/>
              <a:ext cx="1593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069B8A"/>
                  </a:solidFill>
                  <a:effectLst/>
                  <a:uFillTx/>
                  <a:latin typeface="Arial"/>
                  <a:ea typeface="Arial"/>
                </a:rPr>
                <a:t>Run real tools</a:t>
              </a:r>
              <a:endParaRPr lang="en-US" sz="1750" b="0" u="none" strike="noStrike">
                <a:solidFill>
                  <a:srgbClr val="000000"/>
                </a:solidFill>
                <a:effectLst/>
                <a:uFillTx/>
                <a:latin typeface="Arial"/>
              </a:endParaRPr>
            </a:p>
          </p:txBody>
        </p:sp>
        <p:sp>
          <p:nvSpPr>
            <p:cNvPr id="195" name="Google Shape;122;p3"/>
            <p:cNvSpPr/>
            <p:nvPr/>
          </p:nvSpPr>
          <p:spPr>
            <a:xfrm>
              <a:off x="3449160" y="4626000"/>
              <a:ext cx="18590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Model / save / reopen</a:t>
              </a:r>
              <a:endParaRPr lang="en-US" sz="1450" b="0" u="none" strike="noStrike">
                <a:solidFill>
                  <a:srgbClr val="000000"/>
                </a:solidFill>
                <a:effectLst/>
                <a:uFillTx/>
                <a:latin typeface="Arial"/>
              </a:endParaRPr>
            </a:p>
          </p:txBody>
        </p:sp>
        <p:cxnSp>
          <p:nvCxnSpPr>
            <p:cNvPr id="196" name="Google Shape;123;p3"/>
            <p:cNvCxnSpPr/>
            <p:nvPr/>
          </p:nvCxnSpPr>
          <p:spPr>
            <a:xfrm>
              <a:off x="5419440" y="4590720"/>
              <a:ext cx="457560" cy="720"/>
            </a:xfrm>
            <a:prstGeom prst="straightConnector1">
              <a:avLst/>
            </a:prstGeom>
            <a:ln w="19050">
              <a:solidFill>
                <a:srgbClr val="66758A"/>
              </a:solidFill>
              <a:round/>
              <a:tailEnd len="lg" type="triangle" w="lg"/>
            </a:ln>
          </p:spPr>
        </p:cxnSp>
        <p:sp>
          <p:nvSpPr>
            <p:cNvPr id="197" name="Google Shape;124;p3"/>
            <p:cNvSpPr/>
            <p:nvPr/>
          </p:nvSpPr>
          <p:spPr>
            <a:xfrm>
              <a:off x="5943600" y="4152960"/>
              <a:ext cx="2513520" cy="87480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98" name="Google Shape;125;p3"/>
            <p:cNvSpPr/>
            <p:nvPr/>
          </p:nvSpPr>
          <p:spPr>
            <a:xfrm>
              <a:off x="6171840" y="4273560"/>
              <a:ext cx="18630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A76813"/>
                  </a:solidFill>
                  <a:effectLst/>
                  <a:uFillTx/>
                  <a:latin typeface="Arial"/>
                  <a:ea typeface="Arial"/>
                </a:rPr>
                <a:t>Geometry review</a:t>
              </a:r>
              <a:endParaRPr lang="en-US" sz="1750" b="0" u="none" strike="noStrike">
                <a:solidFill>
                  <a:srgbClr val="000000"/>
                </a:solidFill>
                <a:effectLst/>
                <a:uFillTx/>
                <a:latin typeface="Arial"/>
              </a:endParaRPr>
            </a:p>
          </p:txBody>
        </p:sp>
        <p:sp>
          <p:nvSpPr>
            <p:cNvPr id="199" name="Google Shape;126;p3"/>
            <p:cNvSpPr/>
            <p:nvPr/>
          </p:nvSpPr>
          <p:spPr>
            <a:xfrm>
              <a:off x="6173280" y="4626000"/>
              <a:ext cx="2081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Geometry / angle / limits</a:t>
              </a:r>
              <a:endParaRPr lang="en-US" sz="1450" b="0" u="none" strike="noStrike">
                <a:solidFill>
                  <a:srgbClr val="000000"/>
                </a:solidFill>
                <a:effectLst/>
                <a:uFillTx/>
                <a:latin typeface="Arial"/>
              </a:endParaRPr>
            </a:p>
          </p:txBody>
        </p:sp>
        <p:cxnSp>
          <p:nvCxnSpPr>
            <p:cNvPr id="200" name="Google Shape;127;p3"/>
            <p:cNvCxnSpPr/>
            <p:nvPr/>
          </p:nvCxnSpPr>
          <p:spPr>
            <a:xfrm>
              <a:off x="8458200" y="4590720"/>
              <a:ext cx="1257480" cy="720"/>
            </a:xfrm>
            <a:prstGeom prst="straightConnector1">
              <a:avLst/>
            </a:prstGeom>
            <a:ln w="19050">
              <a:solidFill>
                <a:srgbClr val="66758A"/>
              </a:solidFill>
              <a:round/>
              <a:tailEnd len="lg" type="triangle" w="lg"/>
            </a:ln>
          </p:spPr>
        </p:cxnSp>
        <p:sp>
          <p:nvSpPr>
            <p:cNvPr id="201" name="Google Shape;128;p3"/>
            <p:cNvSpPr/>
            <p:nvPr/>
          </p:nvSpPr>
          <p:spPr>
            <a:xfrm>
              <a:off x="9848880" y="4067280"/>
              <a:ext cx="1332000" cy="951120"/>
            </a:xfrm>
            <a:prstGeom prst="diamond">
              <a:avLst/>
            </a:prstGeom>
            <a:solidFill>
              <a:srgbClr val="FFF2DD"/>
            </a:solidFill>
            <a:ln w="19050">
              <a:solidFill>
                <a:srgbClr val="D98D2B"/>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02" name="Google Shape;129;p3"/>
            <p:cNvSpPr/>
            <p:nvPr/>
          </p:nvSpPr>
          <p:spPr>
            <a:xfrm>
              <a:off x="10172160" y="4406760"/>
              <a:ext cx="685800" cy="32112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450" b="1" u="none" strike="noStrike">
                  <a:solidFill>
                    <a:schemeClr val="accent1"/>
                  </a:solidFill>
                  <a:effectLst/>
                  <a:uFillTx/>
                  <a:latin typeface="Arial"/>
                  <a:ea typeface="Arial"/>
                </a:rPr>
                <a:t>Accept</a:t>
              </a:r>
              <a:endParaRPr lang="en-US" sz="1450" b="0" u="none" strike="noStrike">
                <a:solidFill>
                  <a:srgbClr val="000000"/>
                </a:solidFill>
                <a:effectLst/>
                <a:uFillTx/>
                <a:latin typeface="Arial"/>
              </a:endParaRPr>
            </a:p>
          </p:txBody>
        </p:sp>
        <p:sp>
          <p:nvSpPr>
            <p:cNvPr id="203" name="Google Shape;130;p3"/>
            <p:cNvSpPr/>
            <p:nvPr/>
          </p:nvSpPr>
          <p:spPr>
            <a:xfrm>
              <a:off x="488520" y="5245200"/>
              <a:ext cx="16642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checkable CAD</a:t>
              </a:r>
              <a:endParaRPr lang="en-US" sz="1200" b="0" u="none" strike="noStrike">
                <a:solidFill>
                  <a:srgbClr val="000000"/>
                </a:solidFill>
                <a:effectLst/>
                <a:uFillTx/>
                <a:latin typeface="Arial"/>
              </a:endParaRPr>
            </a:p>
          </p:txBody>
        </p:sp>
        <p:sp>
          <p:nvSpPr>
            <p:cNvPr id="204" name="Google Shape;131;p3"/>
            <p:cNvSpPr/>
            <p:nvPr/>
          </p:nvSpPr>
          <p:spPr>
            <a:xfrm>
              <a:off x="3212640" y="5245200"/>
              <a:ext cx="19015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saved-state receipt</a:t>
              </a:r>
              <a:endParaRPr lang="en-US" sz="1200" b="0" u="none" strike="noStrike">
                <a:solidFill>
                  <a:srgbClr val="000000"/>
                </a:solidFill>
                <a:effectLst/>
                <a:uFillTx/>
                <a:latin typeface="Arial"/>
              </a:endParaRPr>
            </a:p>
          </p:txBody>
        </p:sp>
        <p:sp>
          <p:nvSpPr>
            <p:cNvPr id="205" name="Google Shape;132;p3"/>
            <p:cNvSpPr/>
            <p:nvPr/>
          </p:nvSpPr>
          <p:spPr>
            <a:xfrm>
              <a:off x="5936760" y="5245200"/>
              <a:ext cx="21470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issue list and evidence</a:t>
              </a:r>
              <a:endParaRPr lang="en-US" sz="1200" b="0" u="none" strike="noStrike">
                <a:solidFill>
                  <a:srgbClr val="000000"/>
                </a:solidFill>
                <a:effectLst/>
                <a:uFillTx/>
                <a:latin typeface="Arial"/>
              </a:endParaRPr>
            </a:p>
          </p:txBody>
        </p:sp>
        <p:sp>
          <p:nvSpPr>
            <p:cNvPr id="206" name="Google Shape;133;p3"/>
            <p:cNvSpPr/>
            <p:nvPr/>
          </p:nvSpPr>
          <p:spPr>
            <a:xfrm>
              <a:off x="10137240" y="5245200"/>
              <a:ext cx="16646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A76813"/>
                  </a:solidFill>
                  <a:effectLst/>
                  <a:uFillTx/>
                  <a:latin typeface="Arial"/>
                  <a:ea typeface="Arial"/>
                </a:rPr>
                <a:t>Release on acceptance</a:t>
              </a:r>
              <a:endParaRPr lang="en-US" sz="1200" b="0" u="none" strike="noStrike">
                <a:solidFill>
                  <a:srgbClr val="000000"/>
                </a:solidFill>
                <a:effectLst/>
                <a:uFillTx/>
                <a:latin typeface="Arial"/>
              </a:endParaRPr>
            </a:p>
          </p:txBody>
        </p:sp>
      </p:grpSp>
      <p:grpSp>
        <p:nvGrpSpPr>
          <p:cNvPr id="207" name="Google Shape;134;p3"/>
          <p:cNvGrpSpPr/>
          <p:nvPr/>
        </p:nvGrpSpPr>
        <p:grpSpPr>
          <a:xfrm>
            <a:off x="1638000" y="5667120"/>
            <a:ext cx="8885520" cy="446400"/>
            <a:chOff x="1638000" y="5667120"/>
            <a:chExt cx="8885520" cy="446400"/>
          </a:xfrm>
        </p:grpSpPr>
        <p:sp>
          <p:nvSpPr>
            <p:cNvPr id="208" name="Google Shape;135;p3"/>
            <p:cNvSpPr/>
            <p:nvPr/>
          </p:nvSpPr>
          <p:spPr>
            <a:xfrm>
              <a:off x="10515600" y="5667480"/>
              <a:ext cx="7920" cy="436680"/>
            </a:xfrm>
            <a:custGeom>
              <a:avLst/>
              <a:gdLst>
                <a:gd name="textAreaLeft" fmla="*/ 0 w 7920"/>
                <a:gd name="textAreaRight" fmla="*/ 8280 w 7920"/>
                <a:gd name="textAreaTop" fmla="*/ 0 h 436680"/>
                <a:gd name="textAreaBottom" fmla="*/ 437040 h 436680"/>
              </a:gdLst>
              <a:ahLst/>
              <a:cxnLst/>
              <a:rect l="textAreaLeft" t="textAreaTop" r="textAreaRight" b="textAreaBottom"/>
              <a:pathLst>
                <a:path w="9525" h="438150">
                  <a:moveTo>
                    <a:pt x="0" y="0"/>
                  </a:moveTo>
                  <a:lnTo>
                    <a:pt x="0" y="438150"/>
                  </a:lnTo>
                </a:path>
              </a:pathLst>
            </a:custGeom>
            <a:noFill/>
            <a:ln w="19050">
              <a:solidFill>
                <a:srgbClr val="D98D2B"/>
              </a:solidFill>
              <a:prstDash val="dash"/>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sp>
          <p:nvSpPr>
            <p:cNvPr id="209" name="Google Shape;136;p3"/>
            <p:cNvSpPr/>
            <p:nvPr/>
          </p:nvSpPr>
          <p:spPr>
            <a:xfrm>
              <a:off x="1638360" y="6105600"/>
              <a:ext cx="8875800" cy="7920"/>
            </a:xfrm>
            <a:custGeom>
              <a:avLst/>
              <a:gdLst>
                <a:gd name="textAreaLeft" fmla="*/ 0 w 8875800"/>
                <a:gd name="textAreaRight" fmla="*/ 8876160 w 8875800"/>
                <a:gd name="textAreaTop" fmla="*/ 0 h 7920"/>
                <a:gd name="textAreaBottom" fmla="*/ 8280 h 7920"/>
              </a:gdLst>
              <a:ahLst/>
              <a:cxnLst/>
              <a:rect l="textAreaLeft" t="textAreaTop" r="textAreaRight" b="textAreaBottom"/>
              <a:pathLst>
                <a:path w="8877300" h="9525">
                  <a:moveTo>
                    <a:pt x="8877300" y="0"/>
                  </a:moveTo>
                  <a:lnTo>
                    <a:pt x="0" y="0"/>
                  </a:lnTo>
                </a:path>
              </a:pathLst>
            </a:custGeom>
            <a:noFill/>
            <a:ln w="19050">
              <a:solidFill>
                <a:srgbClr val="D98D2B"/>
              </a:solidFill>
              <a:prstDash val="dash"/>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cxnSp>
          <p:nvCxnSpPr>
            <p:cNvPr id="210" name="Google Shape;137;p3"/>
            <p:cNvCxnSpPr/>
            <p:nvPr/>
          </p:nvCxnSpPr>
          <p:spPr>
            <a:xfrm flipV="1">
              <a:off x="1638000" y="5667120"/>
              <a:ext cx="720" cy="438480"/>
            </a:xfrm>
            <a:prstGeom prst="straightConnector1">
              <a:avLst/>
            </a:prstGeom>
            <a:ln w="19050">
              <a:solidFill>
                <a:srgbClr val="D98D2B"/>
              </a:solidFill>
              <a:round/>
              <a:tailEnd len="lg" type="triangle" w="lg"/>
            </a:ln>
          </p:spPr>
        </p:cxnSp>
        <p:sp>
          <p:nvSpPr>
            <p:cNvPr id="211" name="Google Shape;138;p3"/>
            <p:cNvSpPr/>
            <p:nvPr/>
          </p:nvSpPr>
          <p:spPr>
            <a:xfrm>
              <a:off x="3192120" y="5711760"/>
              <a:ext cx="62913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rgbClr val="A76813"/>
                  </a:solidFill>
                  <a:effectLst/>
                  <a:uFillTx/>
                  <a:latin typeface="Arial"/>
                  <a:ea typeface="Arial"/>
                </a:rPr>
                <a:t>On a failed review, locate, fix, and recheck. Write back lessons at task close.</a:t>
              </a:r>
              <a:endParaRPr lang="en-US" sz="1450" b="0" u="none" strike="noStrike">
                <a:solidFill>
                  <a:srgbClr val="000000"/>
                </a:solidFill>
                <a:effectLst/>
                <a:uFillTx/>
                <a:latin typeface="Arial"/>
              </a:endParaRPr>
            </a:p>
          </p:txBody>
        </p:sp>
      </p:grpSp>
      <p:sp>
        <p:nvSpPr>
          <p:cNvPr id="212" name="Google Shape;139;p3"/>
          <p:cNvSpPr/>
          <p:nvPr/>
        </p:nvSpPr>
        <p:spPr>
          <a:xfrm>
            <a:off x="488520" y="6407280"/>
            <a:ext cx="51624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Each round first checks the tool connection and resumes after it is restored.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13" name="Google Shape;144;p4"/>
          <p:cNvGrpSpPr/>
          <p:nvPr/>
        </p:nvGrpSpPr>
        <p:grpSpPr>
          <a:xfrm>
            <a:off x="478440" y="422280"/>
            <a:ext cx="10226160" cy="972000"/>
            <a:chOff x="478440" y="422280"/>
            <a:chExt cx="10226160" cy="972000"/>
          </a:xfrm>
        </p:grpSpPr>
        <p:sp>
          <p:nvSpPr>
            <p:cNvPr id="214" name="Google Shape;145;p4"/>
            <p:cNvSpPr/>
            <p:nvPr/>
          </p:nvSpPr>
          <p:spPr>
            <a:xfrm>
              <a:off x="478440" y="422280"/>
              <a:ext cx="850212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Feature Extraction from User Descriptions</a:t>
              </a:r>
              <a:endParaRPr lang="en-US" sz="3300" b="0" u="none" strike="noStrike">
                <a:solidFill>
                  <a:srgbClr val="000000"/>
                </a:solidFill>
                <a:effectLst/>
                <a:uFillTx/>
                <a:latin typeface="Arial"/>
              </a:endParaRPr>
            </a:p>
          </p:txBody>
        </p:sp>
        <p:sp>
          <p:nvSpPr>
            <p:cNvPr id="215" name="Google Shape;146;p4"/>
            <p:cNvSpPr/>
            <p:nvPr/>
          </p:nvSpPr>
          <p:spPr>
            <a:xfrm>
              <a:off x="487080" y="1073160"/>
              <a:ext cx="102175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AI extracts design features from the description, retrieves data by need dimension, and organizes candidates.</a:t>
              </a:r>
              <a:endParaRPr lang="en-US" sz="1650" b="0" u="none" strike="noStrike">
                <a:solidFill>
                  <a:srgbClr val="000000"/>
                </a:solidFill>
                <a:effectLst/>
                <a:uFillTx/>
                <a:latin typeface="Arial"/>
              </a:endParaRPr>
            </a:p>
          </p:txBody>
        </p:sp>
      </p:grpSp>
      <p:grpSp>
        <p:nvGrpSpPr>
          <p:cNvPr id="216" name="Google Shape;147;p4"/>
          <p:cNvGrpSpPr/>
          <p:nvPr/>
        </p:nvGrpSpPr>
        <p:grpSpPr>
          <a:xfrm>
            <a:off x="485280" y="1739880"/>
            <a:ext cx="11251080" cy="1782720"/>
            <a:chOff x="485280" y="1739880"/>
            <a:chExt cx="11251080" cy="1782720"/>
          </a:xfrm>
        </p:grpSpPr>
        <p:sp>
          <p:nvSpPr>
            <p:cNvPr id="217" name="Google Shape;148;p4"/>
            <p:cNvSpPr/>
            <p:nvPr/>
          </p:nvSpPr>
          <p:spPr>
            <a:xfrm>
              <a:off x="485280" y="1739880"/>
              <a:ext cx="34977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Natural-language description</a:t>
              </a:r>
              <a:endParaRPr lang="en-US" sz="1950" b="0" u="none" strike="noStrike">
                <a:solidFill>
                  <a:srgbClr val="000000"/>
                </a:solidFill>
                <a:effectLst/>
                <a:uFillTx/>
                <a:latin typeface="Arial"/>
              </a:endParaRPr>
            </a:p>
          </p:txBody>
        </p:sp>
        <p:sp>
          <p:nvSpPr>
            <p:cNvPr id="218" name="Google Shape;149;p4"/>
            <p:cNvSpPr/>
            <p:nvPr/>
          </p:nvSpPr>
          <p:spPr>
            <a:xfrm>
              <a:off x="487080" y="2254320"/>
              <a:ext cx="28670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Problem, context, preferences</a:t>
              </a:r>
              <a:endParaRPr lang="en-US" sz="1650" b="0" u="none" strike="noStrike">
                <a:solidFill>
                  <a:srgbClr val="000000"/>
                </a:solidFill>
                <a:effectLst/>
                <a:uFillTx/>
                <a:latin typeface="Arial"/>
              </a:endParaRPr>
            </a:p>
          </p:txBody>
        </p:sp>
        <p:sp>
          <p:nvSpPr>
            <p:cNvPr id="219" name="Google Shape;150;p4"/>
            <p:cNvSpPr/>
            <p:nvPr/>
          </p:nvSpPr>
          <p:spPr>
            <a:xfrm>
              <a:off x="495360" y="2685960"/>
              <a:ext cx="3075120" cy="836640"/>
            </a:xfrm>
            <a:prstGeom prst="roundRect">
              <a:avLst>
                <a:gd name="adj" fmla="val 9091"/>
              </a:avLst>
            </a:prstGeom>
            <a:solidFill>
              <a:schemeClr val="lt1"/>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20" name="Google Shape;151;p4"/>
            <p:cNvSpPr/>
            <p:nvPr/>
          </p:nvSpPr>
          <p:spPr>
            <a:xfrm>
              <a:off x="650520" y="2778120"/>
              <a:ext cx="11638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Example input:</a:t>
              </a:r>
              <a:endParaRPr lang="en-US" sz="1300" b="0" u="none" strike="noStrike">
                <a:solidFill>
                  <a:srgbClr val="000000"/>
                </a:solidFill>
                <a:effectLst/>
                <a:uFillTx/>
                <a:latin typeface="Arial"/>
              </a:endParaRPr>
            </a:p>
          </p:txBody>
        </p:sp>
        <p:sp>
          <p:nvSpPr>
            <p:cNvPr id="221" name="Google Shape;152;p4"/>
            <p:cNvSpPr/>
            <p:nvPr/>
          </p:nvSpPr>
          <p:spPr>
            <a:xfrm>
              <a:off x="650520" y="3054240"/>
              <a:ext cx="35222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chemeClr val="dk1"/>
                  </a:solidFill>
                  <a:effectLst/>
                  <a:uFillTx/>
                  <a:latin typeface="Arial"/>
                  <a:ea typeface="Arial"/>
                </a:rPr>
                <a:t>in-ear, stable in sport and sleep, youthful colors</a:t>
              </a:r>
              <a:endParaRPr lang="en-US" sz="1300" b="0" u="none" strike="noStrike">
                <a:solidFill>
                  <a:srgbClr val="000000"/>
                </a:solidFill>
                <a:effectLst/>
                <a:uFillTx/>
                <a:latin typeface="Arial"/>
              </a:endParaRPr>
            </a:p>
          </p:txBody>
        </p:sp>
        <p:cxnSp>
          <p:nvCxnSpPr>
            <p:cNvPr id="222" name="Google Shape;153;p4"/>
            <p:cNvCxnSpPr/>
            <p:nvPr/>
          </p:nvCxnSpPr>
          <p:spPr>
            <a:xfrm>
              <a:off x="3666960" y="2571480"/>
              <a:ext cx="400320" cy="720"/>
            </a:xfrm>
            <a:prstGeom prst="straightConnector1">
              <a:avLst/>
            </a:prstGeom>
            <a:ln w="19050">
              <a:solidFill>
                <a:srgbClr val="66758A"/>
              </a:solidFill>
              <a:round/>
              <a:tailEnd len="lg" type="triangle" w="lg"/>
            </a:ln>
          </p:spPr>
        </p:cxnSp>
        <p:sp>
          <p:nvSpPr>
            <p:cNvPr id="223" name="Google Shape;154;p4"/>
            <p:cNvSpPr/>
            <p:nvPr/>
          </p:nvSpPr>
          <p:spPr>
            <a:xfrm>
              <a:off x="4333320" y="1739880"/>
              <a:ext cx="269964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Split need dimensions</a:t>
              </a:r>
              <a:endParaRPr lang="en-US" sz="1950" b="0" u="none" strike="noStrike">
                <a:solidFill>
                  <a:srgbClr val="000000"/>
                </a:solidFill>
                <a:effectLst/>
                <a:uFillTx/>
                <a:latin typeface="Arial"/>
              </a:endParaRPr>
            </a:p>
          </p:txBody>
        </p:sp>
        <p:sp>
          <p:nvSpPr>
            <p:cNvPr id="224" name="Google Shape;155;p4"/>
            <p:cNvSpPr/>
            <p:nvPr/>
          </p:nvSpPr>
          <p:spPr>
            <a:xfrm>
              <a:off x="4335120" y="2254320"/>
              <a:ext cx="30027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Form / scene / function / look</a:t>
              </a:r>
              <a:endParaRPr lang="en-US" sz="1650" b="0" u="none" strike="noStrike">
                <a:solidFill>
                  <a:srgbClr val="000000"/>
                </a:solidFill>
                <a:effectLst/>
                <a:uFillTx/>
                <a:latin typeface="Arial"/>
              </a:endParaRPr>
            </a:p>
          </p:txBody>
        </p:sp>
        <p:sp>
          <p:nvSpPr>
            <p:cNvPr id="225" name="Google Shape;156;p4"/>
            <p:cNvSpPr/>
            <p:nvPr/>
          </p:nvSpPr>
          <p:spPr>
            <a:xfrm>
              <a:off x="4335120" y="2692440"/>
              <a:ext cx="36237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Mark constraints, conflicts, open items</a:t>
              </a:r>
              <a:endParaRPr lang="en-US" sz="1650" b="0" u="none" strike="noStrike">
                <a:solidFill>
                  <a:srgbClr val="000000"/>
                </a:solidFill>
                <a:effectLst/>
                <a:uFillTx/>
                <a:latin typeface="Arial"/>
              </a:endParaRPr>
            </a:p>
          </p:txBody>
        </p:sp>
        <p:sp>
          <p:nvSpPr>
            <p:cNvPr id="226" name="Google Shape;157;p4"/>
            <p:cNvSpPr/>
            <p:nvPr/>
          </p:nvSpPr>
          <p:spPr>
            <a:xfrm>
              <a:off x="4336560" y="3168720"/>
              <a:ext cx="24850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Sleep is a scene. In-ear is a form</a:t>
              </a:r>
              <a:endParaRPr lang="en-US" sz="1300" b="0" u="none" strike="noStrike">
                <a:solidFill>
                  <a:srgbClr val="000000"/>
                </a:solidFill>
                <a:effectLst/>
                <a:uFillTx/>
                <a:latin typeface="Arial"/>
              </a:endParaRPr>
            </a:p>
          </p:txBody>
        </p:sp>
        <p:cxnSp>
          <p:nvCxnSpPr>
            <p:cNvPr id="227" name="Google Shape;158;p4"/>
            <p:cNvCxnSpPr/>
            <p:nvPr/>
          </p:nvCxnSpPr>
          <p:spPr>
            <a:xfrm>
              <a:off x="7667280" y="2571480"/>
              <a:ext cx="400680" cy="720"/>
            </a:xfrm>
            <a:prstGeom prst="straightConnector1">
              <a:avLst/>
            </a:prstGeom>
            <a:ln w="19050">
              <a:solidFill>
                <a:srgbClr val="66758A"/>
              </a:solidFill>
              <a:round/>
              <a:tailEnd len="lg" type="triangle" w="lg"/>
            </a:ln>
          </p:spPr>
        </p:cxnSp>
        <p:sp>
          <p:nvSpPr>
            <p:cNvPr id="228" name="Google Shape;159;p4"/>
            <p:cNvSpPr/>
            <p:nvPr/>
          </p:nvSpPr>
          <p:spPr>
            <a:xfrm>
              <a:off x="8343360" y="1739880"/>
              <a:ext cx="26452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Retrieve and combine</a:t>
              </a:r>
              <a:endParaRPr lang="en-US" sz="1950" b="0" u="none" strike="noStrike">
                <a:solidFill>
                  <a:srgbClr val="000000"/>
                </a:solidFill>
                <a:effectLst/>
                <a:uFillTx/>
                <a:latin typeface="Arial"/>
              </a:endParaRPr>
            </a:p>
          </p:txBody>
        </p:sp>
        <p:sp>
          <p:nvSpPr>
            <p:cNvPr id="229" name="Google Shape;160;p4"/>
            <p:cNvSpPr/>
            <p:nvPr/>
          </p:nvSpPr>
          <p:spPr>
            <a:xfrm>
              <a:off x="8345160" y="2254320"/>
              <a:ext cx="33912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Query per dimension, then combine</a:t>
              </a:r>
              <a:endParaRPr lang="en-US" sz="1650" b="0" u="none" strike="noStrike">
                <a:solidFill>
                  <a:srgbClr val="000000"/>
                </a:solidFill>
                <a:effectLst/>
                <a:uFillTx/>
                <a:latin typeface="Arial"/>
              </a:endParaRPr>
            </a:p>
          </p:txBody>
        </p:sp>
        <p:sp>
          <p:nvSpPr>
            <p:cNvPr id="230" name="Google Shape;161;p4"/>
            <p:cNvSpPr/>
            <p:nvPr/>
          </p:nvSpPr>
          <p:spPr>
            <a:xfrm>
              <a:off x="8345160" y="2692440"/>
              <a:ext cx="33447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Deduplicate, keep uncovered items</a:t>
              </a:r>
              <a:endParaRPr lang="en-US" sz="1650" b="0" u="none" strike="noStrike">
                <a:solidFill>
                  <a:srgbClr val="000000"/>
                </a:solidFill>
                <a:effectLst/>
                <a:uFillTx/>
                <a:latin typeface="Arial"/>
              </a:endParaRPr>
            </a:p>
          </p:txBody>
        </p:sp>
        <p:sp>
          <p:nvSpPr>
            <p:cNvPr id="231" name="Google Shape;162;p4"/>
            <p:cNvSpPr/>
            <p:nvPr/>
          </p:nvSpPr>
          <p:spPr>
            <a:xfrm>
              <a:off x="8346600" y="3168720"/>
              <a:ext cx="31827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Lexical and semantic search keep sources</a:t>
              </a:r>
              <a:endParaRPr lang="en-US" sz="1300" b="0" u="none" strike="noStrike">
                <a:solidFill>
                  <a:srgbClr val="000000"/>
                </a:solidFill>
                <a:effectLst/>
                <a:uFillTx/>
                <a:latin typeface="Arial"/>
              </a:endParaRPr>
            </a:p>
          </p:txBody>
        </p:sp>
      </p:grpSp>
      <p:grpSp>
        <p:nvGrpSpPr>
          <p:cNvPr id="232" name="Google Shape;163;p4"/>
          <p:cNvGrpSpPr/>
          <p:nvPr/>
        </p:nvGrpSpPr>
        <p:grpSpPr>
          <a:xfrm>
            <a:off x="495360" y="3895560"/>
            <a:ext cx="11199960" cy="918360"/>
            <a:chOff x="495360" y="3895560"/>
            <a:chExt cx="11199960" cy="918360"/>
          </a:xfrm>
        </p:grpSpPr>
        <p:sp>
          <p:nvSpPr>
            <p:cNvPr id="233" name="Google Shape;164;p4"/>
            <p:cNvSpPr/>
            <p:nvPr/>
          </p:nvSpPr>
          <p:spPr>
            <a:xfrm>
              <a:off x="495360" y="3895560"/>
              <a:ext cx="11199960" cy="7920"/>
            </a:xfrm>
            <a:custGeom>
              <a:avLst/>
              <a:gdLst>
                <a:gd name="textAreaLeft" fmla="*/ 0 w 11199960"/>
                <a:gd name="textAreaRight" fmla="*/ 11200320 w 11199960"/>
                <a:gd name="textAreaTop" fmla="*/ 0 h 7920"/>
                <a:gd name="textAreaBottom" fmla="*/ 8280 h 792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234" name="Google Shape;165;p4"/>
            <p:cNvSpPr/>
            <p:nvPr/>
          </p:nvSpPr>
          <p:spPr>
            <a:xfrm>
              <a:off x="533520" y="418140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35" name="Google Shape;166;p4"/>
            <p:cNvSpPr/>
            <p:nvPr/>
          </p:nvSpPr>
          <p:spPr>
            <a:xfrm>
              <a:off x="1056960" y="4054320"/>
              <a:ext cx="20394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Hard constraints</a:t>
              </a:r>
              <a:endParaRPr lang="en-US" sz="1950" b="0" u="none" strike="noStrike">
                <a:solidFill>
                  <a:srgbClr val="000000"/>
                </a:solidFill>
                <a:effectLst/>
                <a:uFillTx/>
                <a:latin typeface="Arial"/>
              </a:endParaRPr>
            </a:p>
          </p:txBody>
        </p:sp>
        <p:sp>
          <p:nvSpPr>
            <p:cNvPr id="236" name="Google Shape;167;p4"/>
            <p:cNvSpPr/>
            <p:nvPr/>
          </p:nvSpPr>
          <p:spPr>
            <a:xfrm>
              <a:off x="1058400" y="4492800"/>
              <a:ext cx="19933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Limits that must hold</a:t>
              </a:r>
              <a:endParaRPr lang="en-US" sz="1650" b="0" u="none" strike="noStrike">
                <a:solidFill>
                  <a:srgbClr val="000000"/>
                </a:solidFill>
                <a:effectLst/>
                <a:uFillTx/>
                <a:latin typeface="Arial"/>
              </a:endParaRPr>
            </a:p>
          </p:txBody>
        </p:sp>
        <p:sp>
          <p:nvSpPr>
            <p:cNvPr id="237" name="Google Shape;168;p4"/>
            <p:cNvSpPr/>
            <p:nvPr/>
          </p:nvSpPr>
          <p:spPr>
            <a:xfrm>
              <a:off x="4381560" y="418140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38" name="Google Shape;169;p4"/>
            <p:cNvSpPr/>
            <p:nvPr/>
          </p:nvSpPr>
          <p:spPr>
            <a:xfrm>
              <a:off x="4905000" y="4054320"/>
              <a:ext cx="20260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Soft preferences</a:t>
              </a:r>
              <a:endParaRPr lang="en-US" sz="1950" b="0" u="none" strike="noStrike">
                <a:solidFill>
                  <a:srgbClr val="000000"/>
                </a:solidFill>
                <a:effectLst/>
                <a:uFillTx/>
                <a:latin typeface="Arial"/>
              </a:endParaRPr>
            </a:p>
          </p:txBody>
        </p:sp>
        <p:sp>
          <p:nvSpPr>
            <p:cNvPr id="239" name="Google Shape;170;p4"/>
            <p:cNvSpPr/>
            <p:nvPr/>
          </p:nvSpPr>
          <p:spPr>
            <a:xfrm>
              <a:off x="4906440" y="4492800"/>
              <a:ext cx="23432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Used for ranking options</a:t>
              </a:r>
              <a:endParaRPr lang="en-US" sz="1650" b="0" u="none" strike="noStrike">
                <a:solidFill>
                  <a:srgbClr val="000000"/>
                </a:solidFill>
                <a:effectLst/>
                <a:uFillTx/>
                <a:latin typeface="Arial"/>
              </a:endParaRPr>
            </a:p>
          </p:txBody>
        </p:sp>
        <p:sp>
          <p:nvSpPr>
            <p:cNvPr id="240" name="Google Shape;171;p4"/>
            <p:cNvSpPr/>
            <p:nvPr/>
          </p:nvSpPr>
          <p:spPr>
            <a:xfrm>
              <a:off x="8229600" y="4181400"/>
              <a:ext cx="360360" cy="36036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41" name="Google Shape;172;p4"/>
            <p:cNvSpPr/>
            <p:nvPr/>
          </p:nvSpPr>
          <p:spPr>
            <a:xfrm>
              <a:off x="8753040" y="4054320"/>
              <a:ext cx="11541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To clarify</a:t>
              </a:r>
              <a:endParaRPr lang="en-US" sz="1950" b="0" u="none" strike="noStrike">
                <a:solidFill>
                  <a:srgbClr val="000000"/>
                </a:solidFill>
                <a:effectLst/>
                <a:uFillTx/>
                <a:latin typeface="Arial"/>
              </a:endParaRPr>
            </a:p>
          </p:txBody>
        </p:sp>
        <p:sp>
          <p:nvSpPr>
            <p:cNvPr id="242" name="Google Shape;173;p4"/>
            <p:cNvSpPr/>
            <p:nvPr/>
          </p:nvSpPr>
          <p:spPr>
            <a:xfrm>
              <a:off x="8754480" y="4492800"/>
              <a:ext cx="29030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Ask when sizes are missing</a:t>
              </a:r>
              <a:endParaRPr lang="en-US" sz="1650" b="0" u="none" strike="noStrike">
                <a:solidFill>
                  <a:srgbClr val="000000"/>
                </a:solidFill>
                <a:effectLst/>
                <a:uFillTx/>
                <a:latin typeface="Arial"/>
              </a:endParaRPr>
            </a:p>
          </p:txBody>
        </p:sp>
      </p:grpSp>
      <p:grpSp>
        <p:nvGrpSpPr>
          <p:cNvPr id="243" name="Google Shape;174;p4"/>
          <p:cNvGrpSpPr/>
          <p:nvPr/>
        </p:nvGrpSpPr>
        <p:grpSpPr>
          <a:xfrm>
            <a:off x="495360" y="5229360"/>
            <a:ext cx="11199960" cy="922320"/>
            <a:chOff x="495360" y="5229360"/>
            <a:chExt cx="11199960" cy="922320"/>
          </a:xfrm>
        </p:grpSpPr>
        <p:sp>
          <p:nvSpPr>
            <p:cNvPr id="244" name="Google Shape;175;p4"/>
            <p:cNvSpPr/>
            <p:nvPr/>
          </p:nvSpPr>
          <p:spPr>
            <a:xfrm>
              <a:off x="495360" y="5229360"/>
              <a:ext cx="11199960" cy="922320"/>
            </a:xfrm>
            <a:prstGeom prst="roundRect">
              <a:avLst>
                <a:gd name="adj" fmla="val 92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45" name="Google Shape;176;p4"/>
            <p:cNvSpPr/>
            <p:nvPr/>
          </p:nvSpPr>
          <p:spPr>
            <a:xfrm>
              <a:off x="713880" y="5349960"/>
              <a:ext cx="1593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Trial result</a:t>
              </a:r>
              <a:endParaRPr lang="en-US" sz="1950" b="0" u="none" strike="noStrike">
                <a:solidFill>
                  <a:srgbClr val="000000"/>
                </a:solidFill>
                <a:effectLst/>
                <a:uFillTx/>
                <a:latin typeface="Arial"/>
              </a:endParaRPr>
            </a:p>
          </p:txBody>
        </p:sp>
        <p:sp>
          <p:nvSpPr>
            <p:cNvPr id="246" name="Google Shape;177;p4"/>
            <p:cNvSpPr/>
            <p:nvPr/>
          </p:nvSpPr>
          <p:spPr>
            <a:xfrm>
              <a:off x="3230280" y="5388120"/>
              <a:ext cx="56592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After deduplication, two different products cover more needs</a:t>
              </a:r>
              <a:endParaRPr lang="en-US" sz="1650" b="0" u="none" strike="noStrike">
                <a:solidFill>
                  <a:srgbClr val="000000"/>
                </a:solidFill>
                <a:effectLst/>
                <a:uFillTx/>
                <a:latin typeface="Arial"/>
              </a:endParaRPr>
            </a:p>
          </p:txBody>
        </p:sp>
        <p:sp>
          <p:nvSpPr>
            <p:cNvPr id="247" name="Google Shape;178;p4"/>
            <p:cNvSpPr/>
            <p:nvPr/>
          </p:nvSpPr>
          <p:spPr>
            <a:xfrm>
              <a:off x="717120" y="5797440"/>
              <a:ext cx="10117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Dimension split and coverage selection passed an independent trial. Not yet integrated into the main project. Wear performance untested.</a:t>
              </a:r>
              <a:endParaRPr lang="en-US" sz="1300" b="0" u="none" strike="noStrike">
                <a:solidFill>
                  <a:srgbClr val="000000"/>
                </a:solidFill>
                <a:effectLst/>
                <a:uFillTx/>
                <a:latin typeface="Arial"/>
              </a:endParaRPr>
            </a:p>
          </p:txBody>
        </p:sp>
      </p:grpSp>
      <p:sp>
        <p:nvSpPr>
          <p:cNvPr id="248" name="Google Shape;179;p4"/>
          <p:cNvSpPr/>
          <p:nvPr/>
        </p:nvSpPr>
        <p:spPr>
          <a:xfrm>
            <a:off x="488520" y="6407280"/>
            <a:ext cx="6156720" cy="19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The example shows the method. Users still confirm constraint strength and priorities.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49" name="Google Shape;184;p5"/>
          <p:cNvGrpSpPr/>
          <p:nvPr/>
        </p:nvGrpSpPr>
        <p:grpSpPr>
          <a:xfrm>
            <a:off x="478440" y="422280"/>
            <a:ext cx="9573120" cy="972000"/>
            <a:chOff x="478440" y="422280"/>
            <a:chExt cx="9573120" cy="972000"/>
          </a:xfrm>
        </p:grpSpPr>
        <p:sp>
          <p:nvSpPr>
            <p:cNvPr id="250" name="Google Shape;185;p5"/>
            <p:cNvSpPr/>
            <p:nvPr/>
          </p:nvSpPr>
          <p:spPr>
            <a:xfrm>
              <a:off x="478440" y="422280"/>
              <a:ext cx="957312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RAG Knowledge Retrieval and Design Evidence</a:t>
              </a:r>
              <a:endParaRPr lang="en-US" sz="3300" b="0" u="none" strike="noStrike">
                <a:solidFill>
                  <a:srgbClr val="000000"/>
                </a:solidFill>
                <a:effectLst/>
                <a:uFillTx/>
                <a:latin typeface="Arial"/>
              </a:endParaRPr>
            </a:p>
          </p:txBody>
        </p:sp>
        <p:sp>
          <p:nvSpPr>
            <p:cNvPr id="251" name="Google Shape;186;p5"/>
            <p:cNvSpPr/>
            <p:nvPr/>
          </p:nvSpPr>
          <p:spPr>
            <a:xfrm>
              <a:off x="487080" y="1073160"/>
              <a:ext cx="92635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RAG (retrieval-augmented generation) reads product cases, ear data, and tool docs to ground the design.</a:t>
              </a:r>
              <a:endParaRPr lang="en-US" sz="1550" b="0" u="none" strike="noStrike">
                <a:solidFill>
                  <a:srgbClr val="000000"/>
                </a:solidFill>
                <a:effectLst/>
                <a:uFillTx/>
                <a:latin typeface="Arial"/>
              </a:endParaRPr>
            </a:p>
          </p:txBody>
        </p:sp>
      </p:grpSp>
      <p:grpSp>
        <p:nvGrpSpPr>
          <p:cNvPr id="252" name="Google Shape;187;p5"/>
          <p:cNvGrpSpPr/>
          <p:nvPr/>
        </p:nvGrpSpPr>
        <p:grpSpPr>
          <a:xfrm>
            <a:off x="495360" y="1724040"/>
            <a:ext cx="11199960" cy="1770120"/>
            <a:chOff x="495360" y="1724040"/>
            <a:chExt cx="11199960" cy="1770120"/>
          </a:xfrm>
        </p:grpSpPr>
        <p:sp>
          <p:nvSpPr>
            <p:cNvPr id="253" name="Google Shape;188;p5"/>
            <p:cNvSpPr/>
            <p:nvPr/>
          </p:nvSpPr>
          <p:spPr>
            <a:xfrm>
              <a:off x="495360" y="1724040"/>
              <a:ext cx="3503880" cy="177012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54" name="Google Shape;189;p5"/>
            <p:cNvSpPr/>
            <p:nvPr/>
          </p:nvSpPr>
          <p:spPr>
            <a:xfrm>
              <a:off x="713880" y="1844640"/>
              <a:ext cx="27684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2"/>
                  </a:solidFill>
                  <a:effectLst/>
                  <a:uFillTx/>
                  <a:latin typeface="Arial"/>
                  <a:ea typeface="Arial"/>
                </a:rPr>
                <a:t>Design data: trade-offs</a:t>
              </a:r>
              <a:endParaRPr lang="en-US" sz="1950" b="0" u="none" strike="noStrike">
                <a:solidFill>
                  <a:srgbClr val="000000"/>
                </a:solidFill>
                <a:effectLst/>
                <a:uFillTx/>
                <a:latin typeface="Arial"/>
              </a:endParaRPr>
            </a:p>
          </p:txBody>
        </p:sp>
        <p:sp>
          <p:nvSpPr>
            <p:cNvPr id="255" name="Google Shape;190;p5"/>
            <p:cNvSpPr/>
            <p:nvPr/>
          </p:nvSpPr>
          <p:spPr>
            <a:xfrm>
              <a:off x="715680" y="2311560"/>
              <a:ext cx="3125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Product cases, images, feedback</a:t>
              </a:r>
              <a:endParaRPr lang="en-US" sz="1550" b="0" u="none" strike="noStrike">
                <a:solidFill>
                  <a:srgbClr val="000000"/>
                </a:solidFill>
                <a:effectLst/>
                <a:uFillTx/>
                <a:latin typeface="Arial"/>
              </a:endParaRPr>
            </a:p>
          </p:txBody>
        </p:sp>
        <p:sp>
          <p:nvSpPr>
            <p:cNvPr id="256" name="Google Shape;191;p5"/>
            <p:cNvSpPr/>
            <p:nvPr/>
          </p:nvSpPr>
          <p:spPr>
            <a:xfrm>
              <a:off x="715680" y="2701800"/>
              <a:ext cx="3125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Structure, support, materials</a:t>
              </a:r>
              <a:endParaRPr lang="en-US" sz="1550" b="0" u="none" strike="noStrike">
                <a:solidFill>
                  <a:srgbClr val="000000"/>
                </a:solidFill>
                <a:effectLst/>
                <a:uFillTx/>
                <a:latin typeface="Arial"/>
              </a:endParaRPr>
            </a:p>
          </p:txBody>
        </p:sp>
        <p:sp>
          <p:nvSpPr>
            <p:cNvPr id="257" name="Google Shape;192;p5"/>
            <p:cNvSpPr/>
            <p:nvPr/>
          </p:nvSpPr>
          <p:spPr>
            <a:xfrm>
              <a:off x="717120" y="3139920"/>
              <a:ext cx="27604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Main evidence retrieved for this case</a:t>
              </a:r>
              <a:endParaRPr lang="en-US" sz="1300" b="0" u="none" strike="noStrike">
                <a:solidFill>
                  <a:srgbClr val="000000"/>
                </a:solidFill>
                <a:effectLst/>
                <a:uFillTx/>
                <a:latin typeface="Arial"/>
              </a:endParaRPr>
            </a:p>
          </p:txBody>
        </p:sp>
        <p:sp>
          <p:nvSpPr>
            <p:cNvPr id="258" name="Google Shape;193;p5"/>
            <p:cNvSpPr/>
            <p:nvPr/>
          </p:nvSpPr>
          <p:spPr>
            <a:xfrm>
              <a:off x="4343400" y="1724040"/>
              <a:ext cx="3503880" cy="177012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59" name="Google Shape;194;p5"/>
            <p:cNvSpPr/>
            <p:nvPr/>
          </p:nvSpPr>
          <p:spPr>
            <a:xfrm>
              <a:off x="4561920" y="184464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Ear data: constraints</a:t>
              </a:r>
              <a:endParaRPr lang="en-US" sz="1950" b="0" u="none" strike="noStrike">
                <a:solidFill>
                  <a:srgbClr val="000000"/>
                </a:solidFill>
                <a:effectLst/>
                <a:uFillTx/>
                <a:latin typeface="Arial"/>
              </a:endParaRPr>
            </a:p>
          </p:txBody>
        </p:sp>
        <p:sp>
          <p:nvSpPr>
            <p:cNvPr id="260" name="Google Shape;195;p5"/>
            <p:cNvSpPr/>
            <p:nvPr/>
          </p:nvSpPr>
          <p:spPr>
            <a:xfrm>
              <a:off x="4563720" y="2311560"/>
              <a:ext cx="3125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Ear regions, sizes, contact limits</a:t>
              </a:r>
              <a:endParaRPr lang="en-US" sz="1550" b="0" u="none" strike="noStrike">
                <a:solidFill>
                  <a:srgbClr val="000000"/>
                </a:solidFill>
                <a:effectLst/>
                <a:uFillTx/>
                <a:latin typeface="Arial"/>
              </a:endParaRPr>
            </a:p>
          </p:txBody>
        </p:sp>
        <p:sp>
          <p:nvSpPr>
            <p:cNvPr id="261" name="Google Shape;196;p5"/>
            <p:cNvSpPr/>
            <p:nvPr/>
          </p:nvSpPr>
          <p:spPr>
            <a:xfrm>
              <a:off x="4563720" y="2701800"/>
              <a:ext cx="32119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Placement and fit. Comfort untested</a:t>
              </a:r>
              <a:endParaRPr lang="en-US" sz="1550" b="0" u="none" strike="noStrike">
                <a:solidFill>
                  <a:srgbClr val="000000"/>
                </a:solidFill>
                <a:effectLst/>
                <a:uFillTx/>
                <a:latin typeface="Arial"/>
              </a:endParaRPr>
            </a:p>
          </p:txBody>
        </p:sp>
        <p:sp>
          <p:nvSpPr>
            <p:cNvPr id="262" name="Google Shape;197;p5"/>
            <p:cNvSpPr/>
            <p:nvPr/>
          </p:nvSpPr>
          <p:spPr>
            <a:xfrm>
              <a:off x="4565160" y="3139920"/>
              <a:ext cx="32382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Separate knowledge base, chosen per task</a:t>
              </a:r>
              <a:endParaRPr lang="en-US" sz="1300" b="0" u="none" strike="noStrike">
                <a:solidFill>
                  <a:srgbClr val="000000"/>
                </a:solidFill>
                <a:effectLst/>
                <a:uFillTx/>
                <a:latin typeface="Arial"/>
              </a:endParaRPr>
            </a:p>
          </p:txBody>
        </p:sp>
        <p:sp>
          <p:nvSpPr>
            <p:cNvPr id="263" name="Google Shape;198;p5"/>
            <p:cNvSpPr/>
            <p:nvPr/>
          </p:nvSpPr>
          <p:spPr>
            <a:xfrm>
              <a:off x="8191440" y="1724040"/>
              <a:ext cx="3503880" cy="177012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64" name="Google Shape;199;p5"/>
            <p:cNvSpPr/>
            <p:nvPr/>
          </p:nvSpPr>
          <p:spPr>
            <a:xfrm>
              <a:off x="8410320" y="184464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Tool data: operations</a:t>
              </a:r>
              <a:endParaRPr lang="en-US" sz="1950" b="0" u="none" strike="noStrike">
                <a:solidFill>
                  <a:srgbClr val="000000"/>
                </a:solidFill>
                <a:effectLst/>
                <a:uFillTx/>
                <a:latin typeface="Arial"/>
              </a:endParaRPr>
            </a:p>
          </p:txBody>
        </p:sp>
        <p:sp>
          <p:nvSpPr>
            <p:cNvPr id="265" name="Google Shape;200;p5"/>
            <p:cNvSpPr/>
            <p:nvPr/>
          </p:nvSpPr>
          <p:spPr>
            <a:xfrm>
              <a:off x="8411760" y="2311560"/>
              <a:ext cx="31194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FreeCAD docs, modeling, checks</a:t>
              </a:r>
              <a:endParaRPr lang="en-US" sz="1550" b="0" u="none" strike="noStrike">
                <a:solidFill>
                  <a:srgbClr val="000000"/>
                </a:solidFill>
                <a:effectLst/>
                <a:uFillTx/>
                <a:latin typeface="Arial"/>
              </a:endParaRPr>
            </a:p>
          </p:txBody>
        </p:sp>
        <p:sp>
          <p:nvSpPr>
            <p:cNvPr id="266" name="Google Shape;201;p5"/>
            <p:cNvSpPr/>
            <p:nvPr/>
          </p:nvSpPr>
          <p:spPr>
            <a:xfrm>
              <a:off x="8411760" y="2701800"/>
              <a:ext cx="27198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Guides operations and checks</a:t>
              </a:r>
              <a:endParaRPr lang="en-US" sz="1550" b="0" u="none" strike="noStrike">
                <a:solidFill>
                  <a:srgbClr val="000000"/>
                </a:solidFill>
                <a:effectLst/>
                <a:uFillTx/>
                <a:latin typeface="Arial"/>
              </a:endParaRPr>
            </a:p>
          </p:txBody>
        </p:sp>
        <p:sp>
          <p:nvSpPr>
            <p:cNvPr id="267" name="Google Shape;202;p5"/>
            <p:cNvSpPr/>
            <p:nvPr/>
          </p:nvSpPr>
          <p:spPr>
            <a:xfrm>
              <a:off x="8413200" y="3139920"/>
              <a:ext cx="30726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Retrieved apart from product design data</a:t>
              </a:r>
              <a:endParaRPr lang="en-US" sz="1300" b="0" u="none" strike="noStrike">
                <a:solidFill>
                  <a:srgbClr val="000000"/>
                </a:solidFill>
                <a:effectLst/>
                <a:uFillTx/>
                <a:latin typeface="Arial"/>
              </a:endParaRPr>
            </a:p>
          </p:txBody>
        </p:sp>
      </p:grpSp>
      <p:grpSp>
        <p:nvGrpSpPr>
          <p:cNvPr id="268" name="Google Shape;203;p5"/>
          <p:cNvGrpSpPr/>
          <p:nvPr/>
        </p:nvGrpSpPr>
        <p:grpSpPr>
          <a:xfrm>
            <a:off x="483120" y="3889440"/>
            <a:ext cx="11212200" cy="2342160"/>
            <a:chOff x="483120" y="3889440"/>
            <a:chExt cx="11212200" cy="2342160"/>
          </a:xfrm>
        </p:grpSpPr>
        <p:sp>
          <p:nvSpPr>
            <p:cNvPr id="269" name="Google Shape;204;p5"/>
            <p:cNvSpPr/>
            <p:nvPr/>
          </p:nvSpPr>
          <p:spPr>
            <a:xfrm>
              <a:off x="483120" y="3889440"/>
              <a:ext cx="6744960" cy="468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How retrieved data supports design decisions</a:t>
              </a:r>
              <a:endParaRPr lang="en-US" sz="2400" b="0" u="none" strike="noStrike">
                <a:solidFill>
                  <a:srgbClr val="000000"/>
                </a:solidFill>
                <a:effectLst/>
                <a:uFillTx/>
                <a:latin typeface="Arial"/>
              </a:endParaRPr>
            </a:p>
          </p:txBody>
        </p:sp>
        <p:sp>
          <p:nvSpPr>
            <p:cNvPr id="270" name="Google Shape;205;p5"/>
            <p:cNvSpPr/>
            <p:nvPr/>
          </p:nvSpPr>
          <p:spPr>
            <a:xfrm>
              <a:off x="487080" y="4473720"/>
              <a:ext cx="48304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Small-volume cases: fewer functions, simpler structure</a:t>
              </a:r>
              <a:endParaRPr lang="en-US" sz="1550" b="0" u="none" strike="noStrike">
                <a:solidFill>
                  <a:srgbClr val="000000"/>
                </a:solidFill>
                <a:effectLst/>
                <a:uFillTx/>
                <a:latin typeface="Arial"/>
              </a:endParaRPr>
            </a:p>
          </p:txBody>
        </p:sp>
        <p:sp>
          <p:nvSpPr>
            <p:cNvPr id="271" name="Google Shape;206;p5"/>
            <p:cNvSpPr/>
            <p:nvPr/>
          </p:nvSpPr>
          <p:spPr>
            <a:xfrm>
              <a:off x="487080" y="4873680"/>
              <a:ext cx="41637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Soft-support cases: hard shell vs. contact parts</a:t>
              </a:r>
              <a:endParaRPr lang="en-US" sz="1550" b="0" u="none" strike="noStrike">
                <a:solidFill>
                  <a:srgbClr val="000000"/>
                </a:solidFill>
                <a:effectLst/>
                <a:uFillTx/>
                <a:latin typeface="Arial"/>
              </a:endParaRPr>
            </a:p>
          </p:txBody>
        </p:sp>
        <p:sp>
          <p:nvSpPr>
            <p:cNvPr id="272" name="Google Shape;207;p5"/>
            <p:cNvSpPr/>
            <p:nvPr/>
          </p:nvSpPr>
          <p:spPr>
            <a:xfrm>
              <a:off x="487080" y="5273640"/>
              <a:ext cx="48276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User feedback: charging, controls, long-term trade-offs</a:t>
              </a:r>
              <a:endParaRPr lang="en-US" sz="1550" b="0" u="none" strike="noStrike">
                <a:solidFill>
                  <a:srgbClr val="000000"/>
                </a:solidFill>
                <a:effectLst/>
                <a:uFillTx/>
                <a:latin typeface="Arial"/>
              </a:endParaRPr>
            </a:p>
          </p:txBody>
        </p:sp>
        <p:cxnSp>
          <p:nvCxnSpPr>
            <p:cNvPr id="273" name="Google Shape;208;p5"/>
            <p:cNvCxnSpPr/>
            <p:nvPr/>
          </p:nvCxnSpPr>
          <p:spPr>
            <a:xfrm>
              <a:off x="5524200" y="5076720"/>
              <a:ext cx="762480" cy="720"/>
            </a:xfrm>
            <a:prstGeom prst="straightConnector1">
              <a:avLst/>
            </a:prstGeom>
            <a:ln w="28575">
              <a:solidFill>
                <a:srgbClr val="3662EA"/>
              </a:solidFill>
              <a:round/>
              <a:tailEnd len="lg" type="triangle" w="lg"/>
            </a:ln>
          </p:spPr>
        </p:cxnSp>
        <p:sp>
          <p:nvSpPr>
            <p:cNvPr id="274" name="Google Shape;209;p5"/>
            <p:cNvSpPr/>
            <p:nvPr/>
          </p:nvSpPr>
          <p:spPr>
            <a:xfrm>
              <a:off x="6543720" y="4429080"/>
              <a:ext cx="5151600" cy="1370160"/>
            </a:xfrm>
            <a:prstGeom prst="roundRect">
              <a:avLst>
                <a:gd name="adj" fmla="val 6944"/>
              </a:avLst>
            </a:prstGeom>
            <a:solidFill>
              <a:schemeClr val="accent1"/>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75" name="Google Shape;210;p5"/>
            <p:cNvSpPr/>
            <p:nvPr/>
          </p:nvSpPr>
          <p:spPr>
            <a:xfrm>
              <a:off x="6781320" y="4578480"/>
              <a:ext cx="44071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FFFFFF"/>
                  </a:solidFill>
                  <a:effectLst/>
                  <a:uFillTx/>
                  <a:latin typeface="Arial"/>
                  <a:ea typeface="Arial"/>
                </a:rPr>
                <a:t>Record advice, evidence, open items</a:t>
              </a:r>
              <a:endParaRPr lang="en-US" sz="1950" b="0" u="none" strike="noStrike">
                <a:solidFill>
                  <a:srgbClr val="000000"/>
                </a:solidFill>
                <a:effectLst/>
                <a:uFillTx/>
                <a:latin typeface="Arial"/>
              </a:endParaRPr>
            </a:p>
          </p:txBody>
        </p:sp>
        <p:sp>
          <p:nvSpPr>
            <p:cNvPr id="276" name="Google Shape;211;p5"/>
            <p:cNvSpPr/>
            <p:nvPr/>
          </p:nvSpPr>
          <p:spPr>
            <a:xfrm>
              <a:off x="6783120" y="5025960"/>
              <a:ext cx="38358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FFFFFF"/>
                  </a:solidFill>
                  <a:effectLst/>
                  <a:uFillTx/>
                  <a:latin typeface="Arial"/>
                  <a:ea typeface="Arial"/>
                </a:rPr>
                <a:t>Which features to borrow, and from where?</a:t>
              </a:r>
              <a:endParaRPr lang="en-US" sz="1550" b="0" u="none" strike="noStrike">
                <a:solidFill>
                  <a:srgbClr val="000000"/>
                </a:solidFill>
                <a:effectLst/>
                <a:uFillTx/>
                <a:latin typeface="Arial"/>
              </a:endParaRPr>
            </a:p>
          </p:txBody>
        </p:sp>
        <p:sp>
          <p:nvSpPr>
            <p:cNvPr id="277" name="Google Shape;212;p5"/>
            <p:cNvSpPr/>
            <p:nvPr/>
          </p:nvSpPr>
          <p:spPr>
            <a:xfrm>
              <a:off x="6783120" y="5369040"/>
              <a:ext cx="45028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FFFFFF"/>
                  </a:solidFill>
                  <a:effectLst/>
                  <a:uFillTx/>
                  <a:latin typeface="Arial"/>
                  <a:ea typeface="Arial"/>
                </a:rPr>
                <a:t>Which sizes and wear performance lack evidence?</a:t>
              </a:r>
              <a:endParaRPr lang="en-US" sz="1550" b="0" u="none" strike="noStrike">
                <a:solidFill>
                  <a:srgbClr val="000000"/>
                </a:solidFill>
                <a:effectLst/>
                <a:uFillTx/>
                <a:latin typeface="Arial"/>
              </a:endParaRPr>
            </a:p>
          </p:txBody>
        </p:sp>
        <p:sp>
          <p:nvSpPr>
            <p:cNvPr id="278" name="Google Shape;213;p5"/>
            <p:cNvSpPr/>
            <p:nvPr/>
          </p:nvSpPr>
          <p:spPr>
            <a:xfrm>
              <a:off x="488520" y="5969160"/>
              <a:ext cx="77713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References include QuietOn, Kokoon, Ozlo, and Nothing Ear, each with source type and applicable limits.</a:t>
              </a:r>
              <a:endParaRPr lang="en-US" sz="1300" b="0" u="none" strike="noStrike">
                <a:solidFill>
                  <a:srgbClr val="000000"/>
                </a:solidFill>
                <a:effectLst/>
                <a:uFillTx/>
                <a:latin typeface="Arial"/>
              </a:endParaRPr>
            </a:p>
          </p:txBody>
        </p:sp>
      </p:grpSp>
      <p:sp>
        <p:nvSpPr>
          <p:cNvPr id="279" name="Google Shape;214;p5"/>
          <p:cNvSpPr/>
          <p:nvPr/>
        </p:nvSpPr>
        <p:spPr>
          <a:xfrm>
            <a:off x="488520" y="6407280"/>
            <a:ext cx="49168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Retrieval relevance and source credibility are assessed separately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80" name="Google Shape;219;p6"/>
          <p:cNvGrpSpPr/>
          <p:nvPr/>
        </p:nvGrpSpPr>
        <p:grpSpPr>
          <a:xfrm>
            <a:off x="478440" y="422280"/>
            <a:ext cx="8424360" cy="972000"/>
            <a:chOff x="478440" y="422280"/>
            <a:chExt cx="8424360" cy="972000"/>
          </a:xfrm>
        </p:grpSpPr>
        <p:sp>
          <p:nvSpPr>
            <p:cNvPr id="281" name="Google Shape;220;p6"/>
            <p:cNvSpPr/>
            <p:nvPr/>
          </p:nvSpPr>
          <p:spPr>
            <a:xfrm>
              <a:off x="478440" y="422280"/>
              <a:ext cx="703584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rgbClr val="13243A"/>
                  </a:solidFill>
                  <a:effectLst/>
                  <a:uFillTx/>
                  <a:latin typeface="Arial"/>
                  <a:ea typeface="Arial"/>
                </a:rPr>
                <a:t>Evidence Review of Retrieved Data</a:t>
              </a:r>
              <a:endParaRPr lang="en-US" sz="3300" b="0" u="none" strike="noStrike">
                <a:solidFill>
                  <a:srgbClr val="000000"/>
                </a:solidFill>
                <a:effectLst/>
                <a:uFillTx/>
                <a:latin typeface="Arial"/>
              </a:endParaRPr>
            </a:p>
          </p:txBody>
        </p:sp>
        <p:sp>
          <p:nvSpPr>
            <p:cNvPr id="282" name="Google Shape;221;p6"/>
            <p:cNvSpPr/>
            <p:nvPr/>
          </p:nvSpPr>
          <p:spPr>
            <a:xfrm>
              <a:off x="487080" y="1073160"/>
              <a:ext cx="84157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Review source, visible facts, and inference to decide which design conclusions each item supports.</a:t>
              </a:r>
              <a:endParaRPr lang="en-US" sz="1500" b="0" u="none" strike="noStrike">
                <a:solidFill>
                  <a:srgbClr val="000000"/>
                </a:solidFill>
                <a:effectLst/>
                <a:uFillTx/>
                <a:latin typeface="Arial"/>
              </a:endParaRPr>
            </a:p>
          </p:txBody>
        </p:sp>
      </p:grpSp>
      <p:grpSp>
        <p:nvGrpSpPr>
          <p:cNvPr id="283" name="Google Shape;222;p6"/>
          <p:cNvGrpSpPr/>
          <p:nvPr/>
        </p:nvGrpSpPr>
        <p:grpSpPr>
          <a:xfrm>
            <a:off x="485280" y="1863720"/>
            <a:ext cx="11354040" cy="1157760"/>
            <a:chOff x="485280" y="1863720"/>
            <a:chExt cx="11354040" cy="1157760"/>
          </a:xfrm>
        </p:grpSpPr>
        <p:sp>
          <p:nvSpPr>
            <p:cNvPr id="284" name="Google Shape;223;p6"/>
            <p:cNvSpPr/>
            <p:nvPr/>
          </p:nvSpPr>
          <p:spPr>
            <a:xfrm>
              <a:off x="485280" y="1863720"/>
              <a:ext cx="18885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Source records</a:t>
              </a:r>
              <a:endParaRPr lang="en-US" sz="1950" b="0" u="none" strike="noStrike">
                <a:solidFill>
                  <a:srgbClr val="000000"/>
                </a:solidFill>
                <a:effectLst/>
                <a:uFillTx/>
                <a:latin typeface="Arial"/>
              </a:endParaRPr>
            </a:p>
          </p:txBody>
        </p:sp>
        <p:sp>
          <p:nvSpPr>
            <p:cNvPr id="285" name="Google Shape;224;p6"/>
            <p:cNvSpPr/>
            <p:nvPr/>
          </p:nvSpPr>
          <p:spPr>
            <a:xfrm>
              <a:off x="487080" y="2320920"/>
              <a:ext cx="32486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Vendor notes, reviews, user feedback</a:t>
              </a:r>
              <a:endParaRPr lang="en-US" sz="1500" b="0" u="none" strike="noStrike">
                <a:solidFill>
                  <a:srgbClr val="000000"/>
                </a:solidFill>
                <a:effectLst/>
                <a:uFillTx/>
                <a:latin typeface="Arial"/>
              </a:endParaRPr>
            </a:p>
          </p:txBody>
        </p:sp>
        <p:sp>
          <p:nvSpPr>
            <p:cNvPr id="286" name="Google Shape;225;p6"/>
            <p:cNvSpPr/>
            <p:nvPr/>
          </p:nvSpPr>
          <p:spPr>
            <a:xfrm>
              <a:off x="488520" y="2759040"/>
              <a:ext cx="26071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Keep author and source category</a:t>
              </a:r>
              <a:endParaRPr lang="en-US" sz="1350" b="0" u="none" strike="noStrike">
                <a:solidFill>
                  <a:srgbClr val="000000"/>
                </a:solidFill>
                <a:effectLst/>
                <a:uFillTx/>
                <a:latin typeface="Arial"/>
              </a:endParaRPr>
            </a:p>
          </p:txBody>
        </p:sp>
        <p:sp>
          <p:nvSpPr>
            <p:cNvPr id="287" name="Google Shape;226;p6"/>
            <p:cNvSpPr/>
            <p:nvPr/>
          </p:nvSpPr>
          <p:spPr>
            <a:xfrm>
              <a:off x="4524120" y="1863720"/>
              <a:ext cx="22597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Image observation</a:t>
              </a:r>
              <a:endParaRPr lang="en-US" sz="1950" b="0" u="none" strike="noStrike">
                <a:solidFill>
                  <a:srgbClr val="000000"/>
                </a:solidFill>
                <a:effectLst/>
                <a:uFillTx/>
                <a:latin typeface="Arial"/>
              </a:endParaRPr>
            </a:p>
          </p:txBody>
        </p:sp>
        <p:sp>
          <p:nvSpPr>
            <p:cNvPr id="288" name="Google Shape;227;p6"/>
            <p:cNvSpPr/>
            <p:nvPr/>
          </p:nvSpPr>
          <p:spPr>
            <a:xfrm>
              <a:off x="4525560" y="2320920"/>
              <a:ext cx="37562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Outline, material zones, accessory relations</a:t>
              </a:r>
              <a:endParaRPr lang="en-US" sz="1500" b="0" u="none" strike="noStrike">
                <a:solidFill>
                  <a:srgbClr val="000000"/>
                </a:solidFill>
                <a:effectLst/>
                <a:uFillTx/>
                <a:latin typeface="Arial"/>
              </a:endParaRPr>
            </a:p>
          </p:txBody>
        </p:sp>
        <p:sp>
          <p:nvSpPr>
            <p:cNvPr id="289" name="Google Shape;228;p6"/>
            <p:cNvSpPr/>
            <p:nvPr/>
          </p:nvSpPr>
          <p:spPr>
            <a:xfrm>
              <a:off x="4527000" y="2759040"/>
              <a:ext cx="32997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Sizes and use effects need other evidence</a:t>
              </a:r>
              <a:endParaRPr lang="en-US" sz="1350" b="0" u="none" strike="noStrike">
                <a:solidFill>
                  <a:srgbClr val="000000"/>
                </a:solidFill>
                <a:effectLst/>
                <a:uFillTx/>
                <a:latin typeface="Arial"/>
              </a:endParaRPr>
            </a:p>
          </p:txBody>
        </p:sp>
        <p:sp>
          <p:nvSpPr>
            <p:cNvPr id="290" name="Google Shape;229;p6"/>
            <p:cNvSpPr/>
            <p:nvPr/>
          </p:nvSpPr>
          <p:spPr>
            <a:xfrm>
              <a:off x="8562600" y="1863720"/>
              <a:ext cx="21499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Inference records</a:t>
              </a:r>
              <a:endParaRPr lang="en-US" sz="1950" b="0" u="none" strike="noStrike">
                <a:solidFill>
                  <a:srgbClr val="000000"/>
                </a:solidFill>
                <a:effectLst/>
                <a:uFillTx/>
                <a:latin typeface="Arial"/>
              </a:endParaRPr>
            </a:p>
          </p:txBody>
        </p:sp>
        <p:sp>
          <p:nvSpPr>
            <p:cNvPr id="291" name="Google Shape;230;p6"/>
            <p:cNvSpPr/>
            <p:nvPr/>
          </p:nvSpPr>
          <p:spPr>
            <a:xfrm>
              <a:off x="8564040" y="2320920"/>
              <a:ext cx="29203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AI inferences recorded separately</a:t>
              </a:r>
              <a:endParaRPr lang="en-US" sz="1500" b="0" u="none" strike="noStrike">
                <a:solidFill>
                  <a:srgbClr val="000000"/>
                </a:solidFill>
                <a:effectLst/>
                <a:uFillTx/>
                <a:latin typeface="Arial"/>
              </a:endParaRPr>
            </a:p>
          </p:txBody>
        </p:sp>
        <p:sp>
          <p:nvSpPr>
            <p:cNvPr id="292" name="Google Shape;231;p6"/>
            <p:cNvSpPr/>
            <p:nvPr/>
          </p:nvSpPr>
          <p:spPr>
            <a:xfrm>
              <a:off x="8565480" y="2759040"/>
              <a:ext cx="3273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Unsupported conclusions marked as open</a:t>
              </a:r>
              <a:endParaRPr lang="en-US" sz="1350" b="0" u="none" strike="noStrike">
                <a:solidFill>
                  <a:srgbClr val="000000"/>
                </a:solidFill>
                <a:effectLst/>
                <a:uFillTx/>
                <a:latin typeface="Arial"/>
              </a:endParaRPr>
            </a:p>
          </p:txBody>
        </p:sp>
      </p:grpSp>
      <p:sp>
        <p:nvSpPr>
          <p:cNvPr id="293" name="Google Shape;232;p6"/>
          <p:cNvSpPr/>
          <p:nvPr/>
        </p:nvSpPr>
        <p:spPr>
          <a:xfrm>
            <a:off x="495360" y="3362400"/>
            <a:ext cx="11199960" cy="7920"/>
          </a:xfrm>
          <a:custGeom>
            <a:avLst/>
            <a:gdLst>
              <a:gd name="textAreaLeft" fmla="*/ 0 w 11199960"/>
              <a:gd name="textAreaRight" fmla="*/ 11200320 w 11199960"/>
              <a:gd name="textAreaTop" fmla="*/ 0 h 7920"/>
              <a:gd name="textAreaBottom" fmla="*/ 8280 h 792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grpSp>
        <p:nvGrpSpPr>
          <p:cNvPr id="294" name="Google Shape;233;p6"/>
          <p:cNvGrpSpPr/>
          <p:nvPr/>
        </p:nvGrpSpPr>
        <p:grpSpPr>
          <a:xfrm>
            <a:off x="483120" y="3670200"/>
            <a:ext cx="11297520" cy="1533960"/>
            <a:chOff x="483120" y="3670200"/>
            <a:chExt cx="11297520" cy="1533960"/>
          </a:xfrm>
        </p:grpSpPr>
        <p:sp>
          <p:nvSpPr>
            <p:cNvPr id="295" name="Google Shape;234;p6"/>
            <p:cNvSpPr/>
            <p:nvPr/>
          </p:nvSpPr>
          <p:spPr>
            <a:xfrm>
              <a:off x="483120" y="3670200"/>
              <a:ext cx="5610240" cy="468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rgbClr val="13243A"/>
                  </a:solidFill>
                  <a:effectLst/>
                  <a:uFillTx/>
                  <a:latin typeface="Arial"/>
                  <a:ea typeface="Arial"/>
                </a:rPr>
                <a:t>Review flow before data enters design</a:t>
              </a:r>
              <a:endParaRPr lang="en-US" sz="2400" b="0" u="none" strike="noStrike">
                <a:solidFill>
                  <a:srgbClr val="000000"/>
                </a:solidFill>
                <a:effectLst/>
                <a:uFillTx/>
                <a:latin typeface="Arial"/>
              </a:endParaRPr>
            </a:p>
          </p:txBody>
        </p:sp>
        <p:sp>
          <p:nvSpPr>
            <p:cNvPr id="296" name="Google Shape;235;p6"/>
            <p:cNvSpPr/>
            <p:nvPr/>
          </p:nvSpPr>
          <p:spPr>
            <a:xfrm>
              <a:off x="485280" y="4187880"/>
              <a:ext cx="1971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01 Verify source</a:t>
              </a:r>
              <a:endParaRPr lang="en-US" sz="1950" b="0" u="none" strike="noStrike">
                <a:solidFill>
                  <a:srgbClr val="000000"/>
                </a:solidFill>
                <a:effectLst/>
                <a:uFillTx/>
                <a:latin typeface="Arial"/>
              </a:endParaRPr>
            </a:p>
          </p:txBody>
        </p:sp>
        <p:sp>
          <p:nvSpPr>
            <p:cNvPr id="297" name="Google Shape;236;p6"/>
            <p:cNvSpPr/>
            <p:nvPr/>
          </p:nvSpPr>
          <p:spPr>
            <a:xfrm>
              <a:off x="487080" y="4578480"/>
              <a:ext cx="3206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Check original text and image source</a:t>
              </a:r>
              <a:endParaRPr lang="en-US" sz="1500" b="0" u="none" strike="noStrike">
                <a:solidFill>
                  <a:srgbClr val="000000"/>
                </a:solidFill>
                <a:effectLst/>
                <a:uFillTx/>
                <a:latin typeface="Arial"/>
              </a:endParaRPr>
            </a:p>
          </p:txBody>
        </p:sp>
        <p:sp>
          <p:nvSpPr>
            <p:cNvPr id="298" name="Google Shape;237;p6"/>
            <p:cNvSpPr/>
            <p:nvPr/>
          </p:nvSpPr>
          <p:spPr>
            <a:xfrm>
              <a:off x="487080" y="4883040"/>
              <a:ext cx="25603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Record author and conditions</a:t>
              </a:r>
              <a:endParaRPr lang="en-US" sz="1500" b="0" u="none" strike="noStrike">
                <a:solidFill>
                  <a:srgbClr val="000000"/>
                </a:solidFill>
                <a:effectLst/>
                <a:uFillTx/>
                <a:latin typeface="Arial"/>
              </a:endParaRPr>
            </a:p>
          </p:txBody>
        </p:sp>
        <p:cxnSp>
          <p:nvCxnSpPr>
            <p:cNvPr id="299" name="Google Shape;238;p6"/>
            <p:cNvCxnSpPr/>
            <p:nvPr/>
          </p:nvCxnSpPr>
          <p:spPr>
            <a:xfrm>
              <a:off x="4105080" y="4552920"/>
              <a:ext cx="619560" cy="720"/>
            </a:xfrm>
            <a:prstGeom prst="straightConnector1">
              <a:avLst/>
            </a:prstGeom>
            <a:ln w="19050">
              <a:solidFill>
                <a:srgbClr val="66758A"/>
              </a:solidFill>
              <a:round/>
              <a:tailEnd len="lg" type="triangle" w="lg"/>
            </a:ln>
          </p:spPr>
        </p:cxnSp>
        <p:sp>
          <p:nvSpPr>
            <p:cNvPr id="300" name="Google Shape;239;p6"/>
            <p:cNvSpPr/>
            <p:nvPr/>
          </p:nvSpPr>
          <p:spPr>
            <a:xfrm>
              <a:off x="5000400" y="4187880"/>
              <a:ext cx="21769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02 Match purpose</a:t>
              </a:r>
              <a:endParaRPr lang="en-US" sz="1950" b="0" u="none" strike="noStrike">
                <a:solidFill>
                  <a:srgbClr val="000000"/>
                </a:solidFill>
                <a:effectLst/>
                <a:uFillTx/>
                <a:latin typeface="Arial"/>
              </a:endParaRPr>
            </a:p>
          </p:txBody>
        </p:sp>
        <p:sp>
          <p:nvSpPr>
            <p:cNvPr id="301" name="Google Shape;240;p6"/>
            <p:cNvSpPr/>
            <p:nvPr/>
          </p:nvSpPr>
          <p:spPr>
            <a:xfrm>
              <a:off x="5001840" y="4578480"/>
              <a:ext cx="28144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Shape reference or support data</a:t>
              </a:r>
              <a:endParaRPr lang="en-US" sz="1500" b="0" u="none" strike="noStrike">
                <a:solidFill>
                  <a:srgbClr val="000000"/>
                </a:solidFill>
                <a:effectLst/>
                <a:uFillTx/>
                <a:latin typeface="Arial"/>
              </a:endParaRPr>
            </a:p>
          </p:txBody>
        </p:sp>
        <p:sp>
          <p:nvSpPr>
            <p:cNvPr id="302" name="Google Shape;241;p6"/>
            <p:cNvSpPr/>
            <p:nvPr/>
          </p:nvSpPr>
          <p:spPr>
            <a:xfrm>
              <a:off x="5001840" y="4883040"/>
              <a:ext cx="28670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Sizes must map to a specific part</a:t>
              </a:r>
              <a:endParaRPr lang="en-US" sz="1500" b="0" u="none" strike="noStrike">
                <a:solidFill>
                  <a:srgbClr val="000000"/>
                </a:solidFill>
                <a:effectLst/>
                <a:uFillTx/>
                <a:latin typeface="Arial"/>
              </a:endParaRPr>
            </a:p>
          </p:txBody>
        </p:sp>
        <p:cxnSp>
          <p:nvCxnSpPr>
            <p:cNvPr id="303" name="Google Shape;242;p6"/>
            <p:cNvCxnSpPr/>
            <p:nvPr/>
          </p:nvCxnSpPr>
          <p:spPr>
            <a:xfrm>
              <a:off x="7924680" y="4552920"/>
              <a:ext cx="476640" cy="720"/>
            </a:xfrm>
            <a:prstGeom prst="straightConnector1">
              <a:avLst/>
            </a:prstGeom>
            <a:ln w="19050">
              <a:solidFill>
                <a:srgbClr val="66758A"/>
              </a:solidFill>
              <a:round/>
              <a:tailEnd len="lg" type="triangle" w="lg"/>
            </a:ln>
          </p:spPr>
        </p:cxnSp>
        <p:sp>
          <p:nvSpPr>
            <p:cNvPr id="304" name="Google Shape;243;p6"/>
            <p:cNvSpPr/>
            <p:nvPr/>
          </p:nvSpPr>
          <p:spPr>
            <a:xfrm>
              <a:off x="8658000" y="4187880"/>
              <a:ext cx="23976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03 Keep open items</a:t>
              </a:r>
              <a:endParaRPr lang="en-US" sz="1950" b="0" u="none" strike="noStrike">
                <a:solidFill>
                  <a:srgbClr val="000000"/>
                </a:solidFill>
                <a:effectLst/>
                <a:uFillTx/>
                <a:latin typeface="Arial"/>
              </a:endParaRPr>
            </a:p>
          </p:txBody>
        </p:sp>
        <p:sp>
          <p:nvSpPr>
            <p:cNvPr id="305" name="Google Shape;244;p6"/>
            <p:cNvSpPr/>
            <p:nvPr/>
          </p:nvSpPr>
          <p:spPr>
            <a:xfrm>
              <a:off x="8659440" y="4578480"/>
              <a:ext cx="31212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File inference apart from source text</a:t>
              </a:r>
              <a:endParaRPr lang="en-US" sz="1500" b="0" u="none" strike="noStrike">
                <a:solidFill>
                  <a:srgbClr val="000000"/>
                </a:solidFill>
                <a:effectLst/>
                <a:uFillTx/>
                <a:latin typeface="Arial"/>
              </a:endParaRPr>
            </a:p>
          </p:txBody>
        </p:sp>
        <p:sp>
          <p:nvSpPr>
            <p:cNvPr id="306" name="Google Shape;245;p6"/>
            <p:cNvSpPr/>
            <p:nvPr/>
          </p:nvSpPr>
          <p:spPr>
            <a:xfrm>
              <a:off x="8659440" y="4883040"/>
              <a:ext cx="27295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Not modeled on weak evidence</a:t>
              </a:r>
              <a:endParaRPr lang="en-US" sz="1500" b="0" u="none" strike="noStrike">
                <a:solidFill>
                  <a:srgbClr val="000000"/>
                </a:solidFill>
                <a:effectLst/>
                <a:uFillTx/>
                <a:latin typeface="Arial"/>
              </a:endParaRPr>
            </a:p>
          </p:txBody>
        </p:sp>
      </p:grpSp>
      <p:grpSp>
        <p:nvGrpSpPr>
          <p:cNvPr id="307" name="Google Shape;246;p6"/>
          <p:cNvGrpSpPr/>
          <p:nvPr/>
        </p:nvGrpSpPr>
        <p:grpSpPr>
          <a:xfrm>
            <a:off x="495360" y="5467320"/>
            <a:ext cx="11199960" cy="693720"/>
            <a:chOff x="495360" y="5467320"/>
            <a:chExt cx="11199960" cy="693720"/>
          </a:xfrm>
        </p:grpSpPr>
        <p:sp>
          <p:nvSpPr>
            <p:cNvPr id="308" name="Google Shape;247;p6"/>
            <p:cNvSpPr/>
            <p:nvPr/>
          </p:nvSpPr>
          <p:spPr>
            <a:xfrm>
              <a:off x="495360" y="5467320"/>
              <a:ext cx="11199960" cy="693720"/>
            </a:xfrm>
            <a:prstGeom prst="roundRect">
              <a:avLst>
                <a:gd name="adj" fmla="val 12329"/>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09" name="Google Shape;248;p6"/>
            <p:cNvSpPr/>
            <p:nvPr/>
          </p:nvSpPr>
          <p:spPr>
            <a:xfrm>
              <a:off x="715680" y="5692680"/>
              <a:ext cx="75448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An independent trial reviewed 166 images: 119 as shape references, 47 as support data.</a:t>
              </a:r>
              <a:endParaRPr lang="en-US" sz="1500" b="0" u="none" strike="noStrike">
                <a:solidFill>
                  <a:srgbClr val="000000"/>
                </a:solidFill>
                <a:effectLst/>
                <a:uFillTx/>
                <a:latin typeface="Arial"/>
              </a:endParaRPr>
            </a:p>
          </p:txBody>
        </p:sp>
      </p:grpSp>
      <p:sp>
        <p:nvSpPr>
          <p:cNvPr id="310" name="Google Shape;249;p6"/>
          <p:cNvSpPr/>
          <p:nvPr/>
        </p:nvSpPr>
        <p:spPr>
          <a:xfrm>
            <a:off x="488520" y="6407280"/>
            <a:ext cx="60148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Comfort, sport stability, and retrieval quality gains still need separate validation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11" name="Google Shape;254;p7"/>
          <p:cNvGrpSpPr/>
          <p:nvPr/>
        </p:nvGrpSpPr>
        <p:grpSpPr>
          <a:xfrm>
            <a:off x="478440" y="422280"/>
            <a:ext cx="7364160" cy="972000"/>
            <a:chOff x="478440" y="422280"/>
            <a:chExt cx="7364160" cy="972000"/>
          </a:xfrm>
        </p:grpSpPr>
        <p:sp>
          <p:nvSpPr>
            <p:cNvPr id="312" name="Google Shape;255;p7"/>
            <p:cNvSpPr/>
            <p:nvPr/>
          </p:nvSpPr>
          <p:spPr>
            <a:xfrm>
              <a:off x="478440" y="422280"/>
              <a:ext cx="694908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MCP Tool Calls and Result Checks</a:t>
              </a:r>
              <a:endParaRPr lang="en-US" sz="3300" b="0" u="none" strike="noStrike">
                <a:solidFill>
                  <a:srgbClr val="000000"/>
                </a:solidFill>
                <a:effectLst/>
                <a:uFillTx/>
                <a:latin typeface="Arial"/>
              </a:endParaRPr>
            </a:p>
          </p:txBody>
        </p:sp>
        <p:sp>
          <p:nvSpPr>
            <p:cNvPr id="313" name="Google Shape;256;p7"/>
            <p:cNvSpPr/>
            <p:nvPr/>
          </p:nvSpPr>
          <p:spPr>
            <a:xfrm>
              <a:off x="487080" y="1073160"/>
              <a:ext cx="73555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MCP connects tools, RAG provides evidence, and people review scope and results.</a:t>
              </a:r>
              <a:endParaRPr lang="en-US" sz="1550" b="0" u="none" strike="noStrike">
                <a:solidFill>
                  <a:srgbClr val="000000"/>
                </a:solidFill>
                <a:effectLst/>
                <a:uFillTx/>
                <a:latin typeface="Arial"/>
              </a:endParaRPr>
            </a:p>
          </p:txBody>
        </p:sp>
      </p:grpSp>
      <p:grpSp>
        <p:nvGrpSpPr>
          <p:cNvPr id="314" name="Google Shape;257;p7"/>
          <p:cNvGrpSpPr/>
          <p:nvPr/>
        </p:nvGrpSpPr>
        <p:grpSpPr>
          <a:xfrm>
            <a:off x="657360" y="1825560"/>
            <a:ext cx="6818400" cy="2292840"/>
            <a:chOff x="657360" y="1825560"/>
            <a:chExt cx="6818400" cy="2292840"/>
          </a:xfrm>
        </p:grpSpPr>
        <p:sp>
          <p:nvSpPr>
            <p:cNvPr id="315" name="Google Shape;258;p7"/>
            <p:cNvSpPr/>
            <p:nvPr/>
          </p:nvSpPr>
          <p:spPr>
            <a:xfrm>
              <a:off x="657360" y="2181240"/>
              <a:ext cx="1427400" cy="1427400"/>
            </a:xfrm>
            <a:prstGeom prst="ellipse">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16" name="Google Shape;259;p7"/>
            <p:cNvSpPr/>
            <p:nvPr/>
          </p:nvSpPr>
          <p:spPr>
            <a:xfrm>
              <a:off x="818640" y="2565360"/>
              <a:ext cx="1104840" cy="468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2400" b="1" u="none" strike="noStrike">
                  <a:solidFill>
                    <a:schemeClr val="accent1"/>
                  </a:solidFill>
                  <a:effectLst/>
                  <a:uFillTx/>
                  <a:latin typeface="Arial"/>
                  <a:ea typeface="Arial"/>
                </a:rPr>
                <a:t>Human</a:t>
              </a:r>
              <a:endParaRPr lang="en-US" sz="2400" b="0" u="none" strike="noStrike">
                <a:solidFill>
                  <a:srgbClr val="000000"/>
                </a:solidFill>
                <a:effectLst/>
                <a:uFillTx/>
                <a:latin typeface="Arial"/>
              </a:endParaRPr>
            </a:p>
          </p:txBody>
        </p:sp>
        <p:sp>
          <p:nvSpPr>
            <p:cNvPr id="317" name="Google Shape;260;p7"/>
            <p:cNvSpPr/>
            <p:nvPr/>
          </p:nvSpPr>
          <p:spPr>
            <a:xfrm>
              <a:off x="823320" y="3025800"/>
              <a:ext cx="1095120" cy="26244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50" b="0" u="none" strike="noStrike">
                  <a:solidFill>
                    <a:srgbClr val="A76813"/>
                  </a:solidFill>
                  <a:effectLst/>
                  <a:uFillTx/>
                  <a:latin typeface="Arial"/>
                  <a:ea typeface="Arial"/>
                </a:rPr>
                <a:t>needs / review</a:t>
              </a:r>
              <a:endParaRPr lang="en-US" sz="1250" b="0" u="none" strike="noStrike">
                <a:solidFill>
                  <a:srgbClr val="000000"/>
                </a:solidFill>
                <a:effectLst/>
                <a:uFillTx/>
                <a:latin typeface="Arial"/>
              </a:endParaRPr>
            </a:p>
          </p:txBody>
        </p:sp>
        <p:cxnSp>
          <p:nvCxnSpPr>
            <p:cNvPr id="318" name="Google Shape;261;p7"/>
            <p:cNvCxnSpPr/>
            <p:nvPr/>
          </p:nvCxnSpPr>
          <p:spPr>
            <a:xfrm>
              <a:off x="2190600" y="2895480"/>
              <a:ext cx="1857600" cy="720"/>
            </a:xfrm>
            <a:prstGeom prst="straightConnector1">
              <a:avLst/>
            </a:prstGeom>
            <a:ln w="19050">
              <a:solidFill>
                <a:srgbClr val="069B8A"/>
              </a:solidFill>
              <a:round/>
              <a:tailEnd len="lg" type="triangle" w="lg"/>
            </a:ln>
          </p:spPr>
        </p:cxnSp>
        <p:sp>
          <p:nvSpPr>
            <p:cNvPr id="319" name="Google Shape;262;p7"/>
            <p:cNvSpPr/>
            <p:nvPr/>
          </p:nvSpPr>
          <p:spPr>
            <a:xfrm>
              <a:off x="2326680" y="2444760"/>
              <a:ext cx="16513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Scope and protections</a:t>
              </a:r>
              <a:endParaRPr lang="en-US" sz="1250" b="0" u="none" strike="noStrike">
                <a:solidFill>
                  <a:srgbClr val="000000"/>
                </a:solidFill>
                <a:effectLst/>
                <a:uFillTx/>
                <a:latin typeface="Arial"/>
              </a:endParaRPr>
            </a:p>
          </p:txBody>
        </p:sp>
        <p:sp>
          <p:nvSpPr>
            <p:cNvPr id="320" name="Google Shape;263;p7"/>
            <p:cNvSpPr/>
            <p:nvPr/>
          </p:nvSpPr>
          <p:spPr>
            <a:xfrm>
              <a:off x="4200480" y="2305080"/>
              <a:ext cx="3275280" cy="1141560"/>
            </a:xfrm>
            <a:prstGeom prst="hexagon">
              <a:avLst>
                <a:gd name="adj" fmla="val 25000"/>
                <a:gd name="vf" fmla="val 115470"/>
              </a:avLst>
            </a:prstGeom>
            <a:solidFill>
              <a:schemeClr val="accent1"/>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21" name="Google Shape;264;p7"/>
            <p:cNvSpPr/>
            <p:nvPr/>
          </p:nvSpPr>
          <p:spPr>
            <a:xfrm>
              <a:off x="4972320" y="2479680"/>
              <a:ext cx="1731600" cy="468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2400" b="1" u="none" strike="noStrike">
                  <a:solidFill>
                    <a:srgbClr val="FFFFFF"/>
                  </a:solidFill>
                  <a:effectLst/>
                  <a:uFillTx/>
                  <a:latin typeface="Arial"/>
                  <a:ea typeface="Arial"/>
                </a:rPr>
                <a:t>AI executor</a:t>
              </a:r>
              <a:endParaRPr lang="en-US" sz="2400" b="0" u="none" strike="noStrike">
                <a:solidFill>
                  <a:srgbClr val="000000"/>
                </a:solidFill>
                <a:effectLst/>
                <a:uFillTx/>
                <a:latin typeface="Arial"/>
              </a:endParaRPr>
            </a:p>
          </p:txBody>
        </p:sp>
        <p:sp>
          <p:nvSpPr>
            <p:cNvPr id="322" name="Google Shape;265;p7"/>
            <p:cNvSpPr/>
            <p:nvPr/>
          </p:nvSpPr>
          <p:spPr>
            <a:xfrm>
              <a:off x="4386600" y="2930400"/>
              <a:ext cx="2903040" cy="32112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50" b="0" u="none" strike="noStrike">
                  <a:solidFill>
                    <a:srgbClr val="FFFFFF"/>
                  </a:solidFill>
                  <a:effectLst/>
                  <a:uFillTx/>
                  <a:latin typeface="Arial"/>
                  <a:ea typeface="Arial"/>
                </a:rPr>
                <a:t>Plan tasks, pick tools, check</a:t>
              </a:r>
              <a:endParaRPr lang="en-US" sz="1550" b="0" u="none" strike="noStrike">
                <a:solidFill>
                  <a:srgbClr val="000000"/>
                </a:solidFill>
                <a:effectLst/>
                <a:uFillTx/>
                <a:latin typeface="Arial"/>
              </a:endParaRPr>
            </a:p>
          </p:txBody>
        </p:sp>
        <p:sp>
          <p:nvSpPr>
            <p:cNvPr id="323" name="Google Shape;266;p7"/>
            <p:cNvSpPr/>
            <p:nvPr/>
          </p:nvSpPr>
          <p:spPr>
            <a:xfrm>
              <a:off x="4325400" y="1825560"/>
              <a:ext cx="31464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accent2"/>
                  </a:solidFill>
                  <a:effectLst/>
                  <a:uFillTx/>
                  <a:latin typeface="Arial"/>
                  <a:ea typeface="Arial"/>
                </a:rPr>
                <a:t>Knowledge, confirmed project state</a:t>
              </a:r>
              <a:endParaRPr lang="en-US" sz="1550" b="0" u="none" strike="noStrike">
                <a:solidFill>
                  <a:srgbClr val="000000"/>
                </a:solidFill>
                <a:effectLst/>
                <a:uFillTx/>
                <a:latin typeface="Arial"/>
              </a:endParaRPr>
            </a:p>
          </p:txBody>
        </p:sp>
        <p:sp>
          <p:nvSpPr>
            <p:cNvPr id="324" name="Google Shape;267;p7"/>
            <p:cNvSpPr/>
            <p:nvPr/>
          </p:nvSpPr>
          <p:spPr>
            <a:xfrm>
              <a:off x="4325400" y="3797280"/>
              <a:ext cx="26809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Restore a failed tool link first</a:t>
              </a:r>
              <a:endParaRPr lang="en-US" sz="1550" b="0" u="none" strike="noStrike">
                <a:solidFill>
                  <a:srgbClr val="000000"/>
                </a:solidFill>
                <a:effectLst/>
                <a:uFillTx/>
                <a:latin typeface="Arial"/>
              </a:endParaRPr>
            </a:p>
          </p:txBody>
        </p:sp>
      </p:grpSp>
      <p:grpSp>
        <p:nvGrpSpPr>
          <p:cNvPr id="325" name="Google Shape;268;p7"/>
          <p:cNvGrpSpPr/>
          <p:nvPr/>
        </p:nvGrpSpPr>
        <p:grpSpPr>
          <a:xfrm>
            <a:off x="7858080" y="1762200"/>
            <a:ext cx="3837240" cy="2694240"/>
            <a:chOff x="7858080" y="1762200"/>
            <a:chExt cx="3837240" cy="2694240"/>
          </a:xfrm>
        </p:grpSpPr>
        <p:sp>
          <p:nvSpPr>
            <p:cNvPr id="326" name="Google Shape;269;p7"/>
            <p:cNvSpPr/>
            <p:nvPr/>
          </p:nvSpPr>
          <p:spPr>
            <a:xfrm>
              <a:off x="7858080" y="1762200"/>
              <a:ext cx="3837240" cy="2694240"/>
            </a:xfrm>
            <a:prstGeom prst="roundRect">
              <a:avLst>
                <a:gd name="adj" fmla="val 3534"/>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27" name="Google Shape;270;p7"/>
            <p:cNvSpPr/>
            <p:nvPr/>
          </p:nvSpPr>
          <p:spPr>
            <a:xfrm>
              <a:off x="8086320" y="1892160"/>
              <a:ext cx="28746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Tool interfaces and scope</a:t>
              </a:r>
              <a:endParaRPr lang="en-US" sz="1800" b="0" u="none" strike="noStrike">
                <a:solidFill>
                  <a:srgbClr val="000000"/>
                </a:solidFill>
                <a:effectLst/>
                <a:uFillTx/>
                <a:latin typeface="Arial"/>
              </a:endParaRPr>
            </a:p>
          </p:txBody>
        </p:sp>
        <p:sp>
          <p:nvSpPr>
            <p:cNvPr id="328" name="Google Shape;271;p7"/>
            <p:cNvSpPr/>
            <p:nvPr/>
          </p:nvSpPr>
          <p:spPr>
            <a:xfrm>
              <a:off x="8087760" y="2349360"/>
              <a:ext cx="3125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accent1"/>
                  </a:solidFill>
                  <a:effectLst/>
                  <a:uFillTx/>
                  <a:latin typeface="Arial"/>
                  <a:ea typeface="Arial"/>
                </a:rPr>
                <a:t>Headless: docs, scripts, export</a:t>
              </a:r>
              <a:endParaRPr lang="en-US" sz="1550" b="0" u="none" strike="noStrike">
                <a:solidFill>
                  <a:srgbClr val="000000"/>
                </a:solidFill>
                <a:effectLst/>
                <a:uFillTx/>
                <a:latin typeface="Arial"/>
              </a:endParaRPr>
            </a:p>
          </p:txBody>
        </p:sp>
        <p:sp>
          <p:nvSpPr>
            <p:cNvPr id="329" name="Google Shape;272;p7"/>
            <p:cNvSpPr/>
            <p:nvPr/>
          </p:nvSpPr>
          <p:spPr>
            <a:xfrm>
              <a:off x="8089560" y="2701800"/>
              <a:ext cx="35215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Static script check, isolated process, result check</a:t>
              </a:r>
              <a:endParaRPr lang="en-US" sz="1250" b="0" u="none" strike="noStrike">
                <a:solidFill>
                  <a:srgbClr val="000000"/>
                </a:solidFill>
                <a:effectLst/>
                <a:uFillTx/>
                <a:latin typeface="Arial"/>
              </a:endParaRPr>
            </a:p>
          </p:txBody>
        </p:sp>
        <p:sp>
          <p:nvSpPr>
            <p:cNvPr id="330" name="Google Shape;273;p7"/>
            <p:cNvSpPr/>
            <p:nvPr/>
          </p:nvSpPr>
          <p:spPr>
            <a:xfrm>
              <a:off x="8096400" y="3105000"/>
              <a:ext cx="3360960" cy="7920"/>
            </a:xfrm>
            <a:custGeom>
              <a:avLst/>
              <a:gdLst>
                <a:gd name="textAreaLeft" fmla="*/ 0 w 3360960"/>
                <a:gd name="textAreaRight" fmla="*/ 3361320 w 3360960"/>
                <a:gd name="textAreaTop" fmla="*/ 0 h 7920"/>
                <a:gd name="textAreaBottom" fmla="*/ 8280 h 7920"/>
              </a:gdLst>
              <a:ahLst/>
              <a:cxnLst/>
              <a:rect l="textAreaLeft" t="textAreaTop" r="textAreaRight" b="textAreaBottom"/>
              <a:pathLst>
                <a:path w="3362325" h="9525">
                  <a:moveTo>
                    <a:pt x="0" y="0"/>
                  </a:moveTo>
                  <a:lnTo>
                    <a:pt x="3362325" y="0"/>
                  </a:lnTo>
                </a:path>
              </a:pathLst>
            </a:custGeom>
            <a:noFill/>
            <a:ln w="9525">
              <a:solidFill>
                <a:srgbClr val="B9DCD3"/>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331" name="Google Shape;274;p7"/>
            <p:cNvSpPr/>
            <p:nvPr/>
          </p:nvSpPr>
          <p:spPr>
            <a:xfrm>
              <a:off x="8087760" y="3273480"/>
              <a:ext cx="32007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accent1"/>
                  </a:solidFill>
                  <a:effectLst/>
                  <a:uFillTx/>
                  <a:latin typeface="Arial"/>
                  <a:ea typeface="Arial"/>
                </a:rPr>
                <a:t>CAD GUI bridge: read / limited edits</a:t>
              </a:r>
              <a:endParaRPr lang="en-US" sz="1550" b="0" u="none" strike="noStrike">
                <a:solidFill>
                  <a:srgbClr val="000000"/>
                </a:solidFill>
                <a:effectLst/>
                <a:uFillTx/>
                <a:latin typeface="Arial"/>
              </a:endParaRPr>
            </a:p>
          </p:txBody>
        </p:sp>
        <p:sp>
          <p:nvSpPr>
            <p:cNvPr id="332" name="Google Shape;275;p7"/>
            <p:cNvSpPr/>
            <p:nvPr/>
          </p:nvSpPr>
          <p:spPr>
            <a:xfrm>
              <a:off x="8089560" y="3625920"/>
              <a:ext cx="33894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GUI prototype supports verified operations only</a:t>
              </a:r>
              <a:endParaRPr lang="en-US" sz="1250" b="0" u="none" strike="noStrike">
                <a:solidFill>
                  <a:srgbClr val="000000"/>
                </a:solidFill>
                <a:effectLst/>
                <a:uFillTx/>
                <a:latin typeface="Arial"/>
              </a:endParaRPr>
            </a:p>
          </p:txBody>
        </p:sp>
        <p:sp>
          <p:nvSpPr>
            <p:cNvPr id="333" name="Google Shape;276;p7"/>
            <p:cNvSpPr/>
            <p:nvPr/>
          </p:nvSpPr>
          <p:spPr>
            <a:xfrm>
              <a:off x="8089560" y="3997440"/>
              <a:ext cx="29307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Real window and document still checked</a:t>
              </a:r>
              <a:endParaRPr lang="en-US" sz="1250" b="0" u="none" strike="noStrike">
                <a:solidFill>
                  <a:srgbClr val="000000"/>
                </a:solidFill>
                <a:effectLst/>
                <a:uFillTx/>
                <a:latin typeface="Arial"/>
              </a:endParaRPr>
            </a:p>
          </p:txBody>
        </p:sp>
      </p:grpSp>
      <p:grpSp>
        <p:nvGrpSpPr>
          <p:cNvPr id="334" name="Google Shape;277;p7"/>
          <p:cNvGrpSpPr/>
          <p:nvPr/>
        </p:nvGrpSpPr>
        <p:grpSpPr>
          <a:xfrm>
            <a:off x="495360" y="2904840"/>
            <a:ext cx="11199960" cy="3132720"/>
            <a:chOff x="495360" y="2904840"/>
            <a:chExt cx="11199960" cy="3132720"/>
          </a:xfrm>
        </p:grpSpPr>
        <p:cxnSp>
          <p:nvCxnSpPr>
            <p:cNvPr id="335" name="Google Shape;278;p7"/>
            <p:cNvCxnSpPr/>
            <p:nvPr/>
          </p:nvCxnSpPr>
          <p:spPr>
            <a:xfrm>
              <a:off x="7515000" y="2904840"/>
              <a:ext cx="219600" cy="720"/>
            </a:xfrm>
            <a:prstGeom prst="straightConnector1">
              <a:avLst/>
            </a:prstGeom>
            <a:ln w="19050">
              <a:solidFill>
                <a:srgbClr val="069B8A"/>
              </a:solidFill>
              <a:round/>
              <a:tailEnd len="lg" type="triangle" w="lg"/>
            </a:ln>
          </p:spPr>
        </p:cxnSp>
        <p:sp>
          <p:nvSpPr>
            <p:cNvPr id="336" name="Google Shape;279;p7"/>
            <p:cNvSpPr/>
            <p:nvPr/>
          </p:nvSpPr>
          <p:spPr>
            <a:xfrm>
              <a:off x="495360" y="4791240"/>
              <a:ext cx="11199960" cy="1246320"/>
            </a:xfrm>
            <a:prstGeom prst="roundRect">
              <a:avLst>
                <a:gd name="adj" fmla="val 6870"/>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37" name="Google Shape;280;p7"/>
            <p:cNvSpPr/>
            <p:nvPr/>
          </p:nvSpPr>
          <p:spPr>
            <a:xfrm>
              <a:off x="723600" y="4902120"/>
              <a:ext cx="206604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chemeClr val="accent1"/>
                  </a:solidFill>
                  <a:effectLst/>
                  <a:uFillTx/>
                  <a:latin typeface="Arial"/>
                  <a:ea typeface="Arial"/>
                </a:rPr>
                <a:t>Result review flow</a:t>
              </a:r>
              <a:endParaRPr lang="en-US" sz="1800" b="0" u="none" strike="noStrike">
                <a:solidFill>
                  <a:srgbClr val="000000"/>
                </a:solidFill>
                <a:effectLst/>
                <a:uFillTx/>
                <a:latin typeface="Arial"/>
              </a:endParaRPr>
            </a:p>
          </p:txBody>
        </p:sp>
        <p:sp>
          <p:nvSpPr>
            <p:cNvPr id="338" name="Google Shape;281;p7"/>
            <p:cNvSpPr/>
            <p:nvPr/>
          </p:nvSpPr>
          <p:spPr>
            <a:xfrm>
              <a:off x="2868120" y="4940280"/>
              <a:ext cx="9039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069B8A"/>
                  </a:solidFill>
                  <a:effectLst/>
                  <a:uFillTx/>
                  <a:latin typeface="Arial"/>
                  <a:ea typeface="Arial"/>
                </a:rPr>
                <a:t>Save file</a:t>
              </a:r>
              <a:endParaRPr lang="en-US" sz="1550" b="0" u="none" strike="noStrike">
                <a:solidFill>
                  <a:srgbClr val="000000"/>
                </a:solidFill>
                <a:effectLst/>
                <a:uFillTx/>
                <a:latin typeface="Arial"/>
              </a:endParaRPr>
            </a:p>
          </p:txBody>
        </p:sp>
        <p:cxnSp>
          <p:nvCxnSpPr>
            <p:cNvPr id="339" name="Google Shape;282;p7"/>
            <p:cNvCxnSpPr/>
            <p:nvPr/>
          </p:nvCxnSpPr>
          <p:spPr>
            <a:xfrm>
              <a:off x="3971880" y="5076720"/>
              <a:ext cx="514440" cy="720"/>
            </a:xfrm>
            <a:prstGeom prst="straightConnector1">
              <a:avLst/>
            </a:prstGeom>
            <a:ln w="19050">
              <a:solidFill>
                <a:srgbClr val="069B8A"/>
              </a:solidFill>
              <a:round/>
              <a:tailEnd len="lg" type="triangle" w="lg"/>
            </a:ln>
          </p:spPr>
        </p:cxnSp>
        <p:sp>
          <p:nvSpPr>
            <p:cNvPr id="340" name="Google Shape;283;p7"/>
            <p:cNvSpPr/>
            <p:nvPr/>
          </p:nvSpPr>
          <p:spPr>
            <a:xfrm>
              <a:off x="4658760" y="4940280"/>
              <a:ext cx="9039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069B8A"/>
                  </a:solidFill>
                  <a:effectLst/>
                  <a:uFillTx/>
                  <a:latin typeface="Arial"/>
                  <a:ea typeface="Arial"/>
                </a:rPr>
                <a:t>Reopen</a:t>
              </a:r>
              <a:endParaRPr lang="en-US" sz="1550" b="0" u="none" strike="noStrike">
                <a:solidFill>
                  <a:srgbClr val="000000"/>
                </a:solidFill>
                <a:effectLst/>
                <a:uFillTx/>
                <a:latin typeface="Arial"/>
              </a:endParaRPr>
            </a:p>
          </p:txBody>
        </p:sp>
        <p:cxnSp>
          <p:nvCxnSpPr>
            <p:cNvPr id="341" name="Google Shape;284;p7"/>
            <p:cNvCxnSpPr/>
            <p:nvPr/>
          </p:nvCxnSpPr>
          <p:spPr>
            <a:xfrm>
              <a:off x="5762520" y="5076720"/>
              <a:ext cx="514800" cy="720"/>
            </a:xfrm>
            <a:prstGeom prst="straightConnector1">
              <a:avLst/>
            </a:prstGeom>
            <a:ln w="19050">
              <a:solidFill>
                <a:srgbClr val="069B8A"/>
              </a:solidFill>
              <a:round/>
              <a:tailEnd len="lg" type="triangle" w="lg"/>
            </a:ln>
          </p:spPr>
        </p:cxnSp>
        <p:sp>
          <p:nvSpPr>
            <p:cNvPr id="342" name="Google Shape;285;p7"/>
            <p:cNvSpPr/>
            <p:nvPr/>
          </p:nvSpPr>
          <p:spPr>
            <a:xfrm>
              <a:off x="6449400" y="4940280"/>
              <a:ext cx="12099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069B8A"/>
                  </a:solidFill>
                  <a:effectLst/>
                  <a:uFillTx/>
                  <a:latin typeface="Arial"/>
                  <a:ea typeface="Arial"/>
                </a:rPr>
                <a:t>Shape check</a:t>
              </a:r>
              <a:endParaRPr lang="en-US" sz="1550" b="0" u="none" strike="noStrike">
                <a:solidFill>
                  <a:srgbClr val="000000"/>
                </a:solidFill>
                <a:effectLst/>
                <a:uFillTx/>
                <a:latin typeface="Arial"/>
              </a:endParaRPr>
            </a:p>
          </p:txBody>
        </p:sp>
        <p:cxnSp>
          <p:nvCxnSpPr>
            <p:cNvPr id="343" name="Google Shape;286;p7"/>
            <p:cNvCxnSpPr/>
            <p:nvPr/>
          </p:nvCxnSpPr>
          <p:spPr>
            <a:xfrm>
              <a:off x="7743600" y="5076720"/>
              <a:ext cx="514800" cy="720"/>
            </a:xfrm>
            <a:prstGeom prst="straightConnector1">
              <a:avLst/>
            </a:prstGeom>
            <a:ln w="19050">
              <a:solidFill>
                <a:srgbClr val="069B8A"/>
              </a:solidFill>
              <a:round/>
              <a:tailEnd len="lg" type="triangle" w="lg"/>
            </a:ln>
          </p:spPr>
        </p:cxnSp>
        <p:sp>
          <p:nvSpPr>
            <p:cNvPr id="344" name="Google Shape;287;p7"/>
            <p:cNvSpPr/>
            <p:nvPr/>
          </p:nvSpPr>
          <p:spPr>
            <a:xfrm>
              <a:off x="8430840" y="4940280"/>
              <a:ext cx="26978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A76813"/>
                  </a:solidFill>
                  <a:effectLst/>
                  <a:uFillTx/>
                  <a:latin typeface="Arial"/>
                  <a:ea typeface="Arial"/>
                </a:rPr>
                <a:t>A/B receipt and human review</a:t>
              </a:r>
              <a:endParaRPr lang="en-US" sz="1550" b="0" u="none" strike="noStrike">
                <a:solidFill>
                  <a:srgbClr val="000000"/>
                </a:solidFill>
                <a:effectLst/>
                <a:uFillTx/>
                <a:latin typeface="Arial"/>
              </a:endParaRPr>
            </a:p>
          </p:txBody>
        </p:sp>
        <p:sp>
          <p:nvSpPr>
            <p:cNvPr id="345" name="Google Shape;288;p7"/>
            <p:cNvSpPr/>
            <p:nvPr/>
          </p:nvSpPr>
          <p:spPr>
            <a:xfrm>
              <a:off x="725040" y="5445000"/>
              <a:ext cx="91717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Failed checks return to execution. Major trade-offs return to design review. People accept the final result.</a:t>
              </a:r>
              <a:endParaRPr lang="en-US" sz="1550" b="0" u="none" strike="noStrike">
                <a:solidFill>
                  <a:srgbClr val="000000"/>
                </a:solidFill>
                <a:effectLst/>
                <a:uFillTx/>
                <a:latin typeface="Arial"/>
              </a:endParaRPr>
            </a:p>
          </p:txBody>
        </p:sp>
        <p:sp>
          <p:nvSpPr>
            <p:cNvPr id="346" name="Google Shape;289;p7"/>
            <p:cNvSpPr/>
            <p:nvPr/>
          </p:nvSpPr>
          <p:spPr>
            <a:xfrm>
              <a:off x="5838840" y="4619520"/>
              <a:ext cx="5303880" cy="7920"/>
            </a:xfrm>
            <a:custGeom>
              <a:avLst/>
              <a:gdLst>
                <a:gd name="textAreaLeft" fmla="*/ 0 w 5303880"/>
                <a:gd name="textAreaRight" fmla="*/ 5304240 w 5303880"/>
                <a:gd name="textAreaTop" fmla="*/ 0 h 7920"/>
                <a:gd name="textAreaBottom" fmla="*/ 8280 h 7920"/>
              </a:gdLst>
              <a:ahLst/>
              <a:cxnLst/>
              <a:rect l="textAreaLeft" t="textAreaTop" r="textAreaRight" b="textAreaBottom"/>
              <a:pathLst>
                <a:path w="5305425" h="9525">
                  <a:moveTo>
                    <a:pt x="5305425" y="0"/>
                  </a:moveTo>
                  <a:lnTo>
                    <a:pt x="0" y="0"/>
                  </a:lnTo>
                </a:path>
              </a:pathLst>
            </a:custGeom>
            <a:noFill/>
            <a:ln w="19050">
              <a:solidFill>
                <a:srgbClr val="D98D2B"/>
              </a:solidFill>
              <a:prstDash val="dash"/>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cxnSp>
          <p:nvCxnSpPr>
            <p:cNvPr id="347" name="Google Shape;290;p7"/>
            <p:cNvCxnSpPr/>
            <p:nvPr/>
          </p:nvCxnSpPr>
          <p:spPr>
            <a:xfrm flipV="1">
              <a:off x="5838480" y="4295520"/>
              <a:ext cx="720" cy="324360"/>
            </a:xfrm>
            <a:prstGeom prst="straightConnector1">
              <a:avLst/>
            </a:prstGeom>
            <a:ln w="19050">
              <a:solidFill>
                <a:srgbClr val="D98D2B"/>
              </a:solidFill>
              <a:round/>
              <a:tailEnd len="lg" type="triangle" w="lg"/>
            </a:ln>
          </p:spPr>
        </p:cxnSp>
      </p:grpSp>
      <p:sp>
        <p:nvSpPr>
          <p:cNvPr id="348" name="Google Shape;291;p7"/>
          <p:cNvSpPr/>
          <p:nvPr/>
        </p:nvSpPr>
        <p:spPr>
          <a:xfrm>
            <a:off x="488520" y="6407280"/>
            <a:ext cx="61923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Interfaces split work by verified capability. Actual files are checked after each operation.</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49" name="Google Shape;401;p11"/>
          <p:cNvGrpSpPr/>
          <p:nvPr/>
        </p:nvGrpSpPr>
        <p:grpSpPr>
          <a:xfrm>
            <a:off x="478440" y="384120"/>
            <a:ext cx="11208600" cy="972000"/>
            <a:chOff x="478440" y="384120"/>
            <a:chExt cx="11208600" cy="972000"/>
          </a:xfrm>
        </p:grpSpPr>
        <p:sp>
          <p:nvSpPr>
            <p:cNvPr id="350" name="Google Shape;402;p11"/>
            <p:cNvSpPr/>
            <p:nvPr/>
          </p:nvSpPr>
          <p:spPr>
            <a:xfrm>
              <a:off x="478440" y="384120"/>
              <a:ext cx="11199960" cy="6440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Growth of AI Collaboration: Stages 1 to 3</a:t>
              </a:r>
              <a:endParaRPr lang="en-US" sz="3300" b="0" u="none" strike="noStrike">
                <a:solidFill>
                  <a:srgbClr val="000000"/>
                </a:solidFill>
                <a:effectLst/>
                <a:uFillTx/>
                <a:latin typeface="Arial"/>
              </a:endParaRPr>
            </a:p>
          </p:txBody>
        </p:sp>
        <p:sp>
          <p:nvSpPr>
            <p:cNvPr id="351" name="Google Shape;403;p11"/>
            <p:cNvSpPr/>
            <p:nvPr/>
          </p:nvSpPr>
          <p:spPr>
            <a:xfrm>
              <a:off x="487080" y="1035000"/>
              <a:ext cx="11199960" cy="3211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650" b="0" u="none" strike="noStrike">
                  <a:solidFill>
                    <a:srgbClr val="66758A"/>
                  </a:solidFill>
                  <a:effectLst/>
                  <a:uFillTx/>
                  <a:latin typeface="Arial"/>
                  <a:ea typeface="Arial"/>
                </a:rPr>
                <a:t>Concept images come first. Choose the direction, then turn the concept into an editable 3D model.</a:t>
              </a:r>
              <a:endParaRPr lang="en-US" sz="1650" b="0" u="none" strike="noStrike">
                <a:solidFill>
                  <a:srgbClr val="000000"/>
                </a:solidFill>
                <a:effectLst/>
                <a:uFillTx/>
                <a:latin typeface="Arial"/>
              </a:endParaRPr>
            </a:p>
          </p:txBody>
        </p:sp>
      </p:grpSp>
      <p:sp>
        <p:nvSpPr>
          <p:cNvPr id="352" name="Google Shape;404;p11"/>
          <p:cNvSpPr/>
          <p:nvPr/>
        </p:nvSpPr>
        <p:spPr>
          <a:xfrm>
            <a:off x="488520" y="6473880"/>
            <a:ext cx="6378120" cy="2624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250" b="0" u="none" strike="noStrike">
                <a:solidFill>
                  <a:srgbClr val="66758A"/>
                </a:solidFill>
                <a:effectLst/>
                <a:uFillTx/>
                <a:latin typeface="Arial"/>
                <a:ea typeface="Arial"/>
              </a:rPr>
              <a:t>Six stages grouped by capability. Methods refine each other. Candidates still await review.</a:t>
            </a:r>
            <a:endParaRPr lang="en-US" sz="1250" b="0" u="none" strike="noStrike">
              <a:solidFill>
                <a:srgbClr val="000000"/>
              </a:solidFill>
              <a:effectLst/>
              <a:uFillTx/>
              <a:latin typeface="Arial"/>
            </a:endParaRPr>
          </a:p>
        </p:txBody>
      </p:sp>
      <p:sp>
        <p:nvSpPr>
          <p:cNvPr id="353" name="Google Shape;405;p11"/>
          <p:cNvSpPr/>
          <p:nvPr/>
        </p:nvSpPr>
        <p:spPr>
          <a:xfrm>
            <a:off x="4210200" y="1676520"/>
            <a:ext cx="7920" cy="4427640"/>
          </a:xfrm>
          <a:custGeom>
            <a:avLst/>
            <a:gdLst>
              <a:gd name="textAreaLeft" fmla="*/ 0 w 7920"/>
              <a:gd name="textAreaRight" fmla="*/ 8280 w 7920"/>
              <a:gd name="textAreaTop" fmla="*/ 0 h 4427640"/>
              <a:gd name="textAreaBottom" fmla="*/ 4428000 h 442764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sp>
        <p:nvSpPr>
          <p:cNvPr id="354" name="Google Shape;406;p11"/>
          <p:cNvSpPr/>
          <p:nvPr/>
        </p:nvSpPr>
        <p:spPr>
          <a:xfrm>
            <a:off x="8039160" y="1676520"/>
            <a:ext cx="7920" cy="4427640"/>
          </a:xfrm>
          <a:custGeom>
            <a:avLst/>
            <a:gdLst>
              <a:gd name="textAreaLeft" fmla="*/ 0 w 7920"/>
              <a:gd name="textAreaRight" fmla="*/ 8280 w 7920"/>
              <a:gd name="textAreaTop" fmla="*/ 0 h 4427640"/>
              <a:gd name="textAreaBottom" fmla="*/ 4428000 h 442764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grpSp>
        <p:nvGrpSpPr>
          <p:cNvPr id="355" name="Google Shape;407;p11"/>
          <p:cNvGrpSpPr/>
          <p:nvPr/>
        </p:nvGrpSpPr>
        <p:grpSpPr>
          <a:xfrm>
            <a:off x="495360" y="1711440"/>
            <a:ext cx="3648600" cy="4227840"/>
            <a:chOff x="495360" y="1711440"/>
            <a:chExt cx="3648600" cy="4227840"/>
          </a:xfrm>
        </p:grpSpPr>
        <p:sp>
          <p:nvSpPr>
            <p:cNvPr id="356" name="Google Shape;408;p11"/>
            <p:cNvSpPr/>
            <p:nvPr/>
          </p:nvSpPr>
          <p:spPr>
            <a:xfrm>
              <a:off x="495360" y="1714680"/>
              <a:ext cx="55800" cy="293760"/>
            </a:xfrm>
            <a:prstGeom prst="rect">
              <a:avLst/>
            </a:prstGeom>
            <a:solidFill>
              <a:srgbClr val="069B8A"/>
            </a:solidFill>
            <a:ln w="0">
              <a:noFill/>
            </a:ln>
          </p:spPr>
          <p:style>
            <a:lnRef idx="0"/>
            <a:fillRef idx="0"/>
            <a:effectRef idx="0"/>
            <a:fontRef idx="minor"/>
          </p:style>
          <p:txBody>
            <a:bodyPr lIns="28080" tIns="45000" rIns="28080" bIns="45000" anchor="t">
              <a:noAutofit/>
            </a:bodyPr>
            <a:p>
              <a:pPr/>
              <a:endParaRPr lang="en-US" sz="1400" b="0" u="none" strike="noStrike">
                <a:solidFill>
                  <a:srgbClr val="FFFFFF"/>
                </a:solidFill>
                <a:effectLst/>
                <a:uFillTx/>
                <a:latin typeface="Arial"/>
              </a:endParaRPr>
            </a:p>
          </p:txBody>
        </p:sp>
        <p:sp>
          <p:nvSpPr>
            <p:cNvPr id="357" name="Google Shape;409;p11"/>
            <p:cNvSpPr/>
            <p:nvPr/>
          </p:nvSpPr>
          <p:spPr>
            <a:xfrm>
              <a:off x="647280" y="1711440"/>
              <a:ext cx="22456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1 Rough geometry</a:t>
              </a:r>
              <a:endParaRPr lang="en-US" sz="1950" b="0" u="none" strike="noStrike">
                <a:solidFill>
                  <a:srgbClr val="000000"/>
                </a:solidFill>
                <a:effectLst/>
                <a:uFillTx/>
                <a:latin typeface="Arial"/>
              </a:endParaRPr>
            </a:p>
          </p:txBody>
        </p:sp>
        <p:pic>
          <p:nvPicPr>
            <p:cNvPr id="358" name="Google Shape;410;p11"/>
            <p:cNvPicPr/>
            <p:nvPr/>
          </p:nvPicPr>
          <p:blipFill>
            <a:blip r:embed="rId1"/>
            <a:stretch/>
          </p:blipFill>
          <p:spPr>
            <a:xfrm>
              <a:off x="1326240" y="2219400"/>
              <a:ext cx="1860480" cy="1598760"/>
            </a:xfrm>
            <a:prstGeom prst="rect">
              <a:avLst/>
            </a:prstGeom>
            <a:noFill/>
            <a:ln w="0">
              <a:noFill/>
            </a:ln>
          </p:spPr>
        </p:pic>
        <p:sp>
          <p:nvSpPr>
            <p:cNvPr id="359" name="Google Shape;411;p11"/>
            <p:cNvSpPr/>
            <p:nvPr/>
          </p:nvSpPr>
          <p:spPr>
            <a:xfrm>
              <a:off x="621720" y="3892680"/>
              <a:ext cx="31017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Early trial: geometry, thin evidence.</a:t>
              </a:r>
              <a:endParaRPr lang="en-US" sz="1250" b="0" u="none" strike="noStrike">
                <a:solidFill>
                  <a:srgbClr val="000000"/>
                </a:solidFill>
                <a:effectLst/>
                <a:uFillTx/>
                <a:latin typeface="Arial"/>
              </a:endParaRPr>
            </a:p>
          </p:txBody>
        </p:sp>
        <p:sp>
          <p:nvSpPr>
            <p:cNvPr id="360" name="Google Shape;412;p11"/>
            <p:cNvSpPr/>
            <p:nvPr/>
          </p:nvSpPr>
          <p:spPr>
            <a:xfrm>
              <a:off x="621720" y="4321080"/>
              <a:ext cx="3981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Skill</a:t>
              </a:r>
              <a:endParaRPr lang="en-US" sz="1250" b="0" u="none" strike="noStrike">
                <a:solidFill>
                  <a:srgbClr val="000000"/>
                </a:solidFill>
                <a:effectLst/>
                <a:uFillTx/>
                <a:latin typeface="Arial"/>
              </a:endParaRPr>
            </a:p>
          </p:txBody>
        </p:sp>
        <p:sp>
          <p:nvSpPr>
            <p:cNvPr id="361" name="Google Shape;413;p11"/>
            <p:cNvSpPr/>
            <p:nvPr/>
          </p:nvSpPr>
          <p:spPr>
            <a:xfrm>
              <a:off x="1114200" y="4245120"/>
              <a:ext cx="28659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24364C"/>
                  </a:solidFill>
                  <a:effectLst/>
                  <a:uFillTx/>
                  <a:latin typeface="Arial"/>
                  <a:ea typeface="Arial"/>
                </a:rPr>
                <a:t>Needs to rough geometry</a:t>
              </a:r>
              <a:endParaRPr lang="en-US" sz="1950" b="0" u="none" strike="noStrike">
                <a:solidFill>
                  <a:srgbClr val="000000"/>
                </a:solidFill>
                <a:effectLst/>
                <a:uFillTx/>
                <a:latin typeface="Arial"/>
              </a:endParaRPr>
            </a:p>
          </p:txBody>
        </p:sp>
        <p:sp>
          <p:nvSpPr>
            <p:cNvPr id="362" name="Google Shape;414;p11"/>
            <p:cNvSpPr/>
            <p:nvPr/>
          </p:nvSpPr>
          <p:spPr>
            <a:xfrm>
              <a:off x="621720" y="4759200"/>
              <a:ext cx="3805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Gap</a:t>
              </a:r>
              <a:endParaRPr lang="en-US" sz="1250" b="0" u="none" strike="noStrike">
                <a:solidFill>
                  <a:srgbClr val="000000"/>
                </a:solidFill>
                <a:effectLst/>
                <a:uFillTx/>
                <a:latin typeface="Arial"/>
              </a:endParaRPr>
            </a:p>
          </p:txBody>
        </p:sp>
        <p:sp>
          <p:nvSpPr>
            <p:cNvPr id="363" name="Google Shape;415;p11"/>
            <p:cNvSpPr/>
            <p:nvPr/>
          </p:nvSpPr>
          <p:spPr>
            <a:xfrm>
              <a:off x="1114200" y="4683240"/>
              <a:ext cx="29214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66758A"/>
                  </a:solidFill>
                  <a:effectLst/>
                  <a:uFillTx/>
                  <a:latin typeface="Arial"/>
                  <a:ea typeface="Arial"/>
                </a:rPr>
                <a:t>Modeling lacked evidence</a:t>
              </a:r>
              <a:endParaRPr lang="en-US" sz="1950" b="0" u="none" strike="noStrike">
                <a:solidFill>
                  <a:srgbClr val="000000"/>
                </a:solidFill>
                <a:effectLst/>
                <a:uFillTx/>
                <a:latin typeface="Arial"/>
              </a:endParaRPr>
            </a:p>
          </p:txBody>
        </p:sp>
        <p:sp>
          <p:nvSpPr>
            <p:cNvPr id="364" name="Google Shape;416;p11"/>
            <p:cNvSpPr/>
            <p:nvPr/>
          </p:nvSpPr>
          <p:spPr>
            <a:xfrm>
              <a:off x="621720" y="5197320"/>
              <a:ext cx="415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3662EA"/>
                  </a:solidFill>
                  <a:effectLst/>
                  <a:uFillTx/>
                  <a:latin typeface="Arial"/>
                  <a:ea typeface="Arial"/>
                </a:rPr>
                <a:t>Step</a:t>
              </a:r>
              <a:endParaRPr lang="en-US" sz="1250" b="0" u="none" strike="noStrike">
                <a:solidFill>
                  <a:srgbClr val="000000"/>
                </a:solidFill>
                <a:effectLst/>
                <a:uFillTx/>
                <a:latin typeface="Arial"/>
              </a:endParaRPr>
            </a:p>
          </p:txBody>
        </p:sp>
        <p:sp>
          <p:nvSpPr>
            <p:cNvPr id="365" name="Google Shape;417;p11"/>
            <p:cNvSpPr/>
            <p:nvPr/>
          </p:nvSpPr>
          <p:spPr>
            <a:xfrm>
              <a:off x="1114200" y="5121360"/>
              <a:ext cx="28656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3662EA"/>
                  </a:solidFill>
                  <a:effectLst/>
                  <a:uFillTx/>
                  <a:latin typeface="Arial"/>
                  <a:ea typeface="Arial"/>
                </a:rPr>
                <a:t>Concept first, human pick</a:t>
              </a:r>
              <a:endParaRPr lang="en-US" sz="1950" b="0" u="none" strike="noStrike">
                <a:solidFill>
                  <a:srgbClr val="000000"/>
                </a:solidFill>
                <a:effectLst/>
                <a:uFillTx/>
                <a:latin typeface="Arial"/>
              </a:endParaRPr>
            </a:p>
          </p:txBody>
        </p:sp>
        <p:sp>
          <p:nvSpPr>
            <p:cNvPr id="366" name="Google Shape;418;p11"/>
            <p:cNvSpPr/>
            <p:nvPr/>
          </p:nvSpPr>
          <p:spPr>
            <a:xfrm>
              <a:off x="621720" y="5635800"/>
              <a:ext cx="4244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069B8A"/>
                  </a:solidFill>
                  <a:effectLst/>
                  <a:uFillTx/>
                  <a:latin typeface="Arial"/>
                  <a:ea typeface="Arial"/>
                </a:rPr>
                <a:t>Gain</a:t>
              </a:r>
              <a:endParaRPr lang="en-US" sz="1250" b="0" u="none" strike="noStrike">
                <a:solidFill>
                  <a:srgbClr val="000000"/>
                </a:solidFill>
                <a:effectLst/>
                <a:uFillTx/>
                <a:latin typeface="Arial"/>
              </a:endParaRPr>
            </a:p>
          </p:txBody>
        </p:sp>
        <p:sp>
          <p:nvSpPr>
            <p:cNvPr id="367" name="Google Shape;419;p11"/>
            <p:cNvSpPr/>
            <p:nvPr/>
          </p:nvSpPr>
          <p:spPr>
            <a:xfrm>
              <a:off x="1114200" y="5559480"/>
              <a:ext cx="30297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Set direction, then model</a:t>
              </a:r>
              <a:endParaRPr lang="en-US" sz="1950" b="0" u="none" strike="noStrike">
                <a:solidFill>
                  <a:srgbClr val="000000"/>
                </a:solidFill>
                <a:effectLst/>
                <a:uFillTx/>
                <a:latin typeface="Arial"/>
              </a:endParaRPr>
            </a:p>
          </p:txBody>
        </p:sp>
      </p:grpSp>
      <p:grpSp>
        <p:nvGrpSpPr>
          <p:cNvPr id="368" name="Google Shape;420;p11"/>
          <p:cNvGrpSpPr/>
          <p:nvPr/>
        </p:nvGrpSpPr>
        <p:grpSpPr>
          <a:xfrm>
            <a:off x="4324320" y="1711440"/>
            <a:ext cx="3354480" cy="4227840"/>
            <a:chOff x="4324320" y="1711440"/>
            <a:chExt cx="3354480" cy="4227840"/>
          </a:xfrm>
        </p:grpSpPr>
        <p:sp>
          <p:nvSpPr>
            <p:cNvPr id="369" name="Google Shape;421;p11"/>
            <p:cNvSpPr/>
            <p:nvPr/>
          </p:nvSpPr>
          <p:spPr>
            <a:xfrm>
              <a:off x="4324320" y="1714680"/>
              <a:ext cx="55800" cy="293760"/>
            </a:xfrm>
            <a:prstGeom prst="rect">
              <a:avLst/>
            </a:prstGeom>
            <a:solidFill>
              <a:srgbClr val="8B5CF6"/>
            </a:solidFill>
            <a:ln w="0">
              <a:noFill/>
            </a:ln>
          </p:spPr>
          <p:style>
            <a:lnRef idx="0"/>
            <a:fillRef idx="0"/>
            <a:effectRef idx="0"/>
            <a:fontRef idx="minor"/>
          </p:style>
          <p:txBody>
            <a:bodyPr lIns="28080" tIns="45000" rIns="28080" bIns="45000" anchor="t">
              <a:noAutofit/>
            </a:bodyPr>
            <a:p>
              <a:pPr/>
              <a:endParaRPr lang="en-US" sz="1400" b="0" u="none" strike="noStrike">
                <a:solidFill>
                  <a:srgbClr val="FFFFFF"/>
                </a:solidFill>
                <a:effectLst/>
                <a:uFillTx/>
                <a:latin typeface="Arial"/>
              </a:endParaRPr>
            </a:p>
          </p:txBody>
        </p:sp>
        <p:sp>
          <p:nvSpPr>
            <p:cNvPr id="370" name="Google Shape;422;p11"/>
            <p:cNvSpPr/>
            <p:nvPr/>
          </p:nvSpPr>
          <p:spPr>
            <a:xfrm>
              <a:off x="4476240" y="1711440"/>
              <a:ext cx="2892600" cy="298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2 </a:t>
              </a:r>
              <a:r>
                <a:rPr lang="en-US" sz="1950" b="1" u="none" strike="noStrike">
                  <a:solidFill>
                    <a:schemeClr val="accent1"/>
                  </a:solidFill>
                  <a:effectLst/>
                  <a:uFillTx/>
                  <a:latin typeface="Arial"/>
                  <a:ea typeface="Arial"/>
                </a:rPr>
                <a:t>2D first, then translate</a:t>
              </a:r>
              <a:endParaRPr lang="en-US" sz="1950" b="0" u="none" strike="noStrike">
                <a:solidFill>
                  <a:srgbClr val="000000"/>
                </a:solidFill>
                <a:effectLst/>
                <a:uFillTx/>
                <a:latin typeface="Arial"/>
              </a:endParaRPr>
            </a:p>
          </p:txBody>
        </p:sp>
        <p:sp>
          <p:nvSpPr>
            <p:cNvPr id="371" name="Google Shape;423;p11"/>
            <p:cNvSpPr/>
            <p:nvPr/>
          </p:nvSpPr>
          <p:spPr>
            <a:xfrm>
              <a:off x="4450680" y="3892680"/>
              <a:ext cx="31597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Early 2D outline excerpt. Concept fixed first.</a:t>
              </a:r>
              <a:endParaRPr lang="en-US" sz="1250" b="0" u="none" strike="noStrike">
                <a:solidFill>
                  <a:srgbClr val="000000"/>
                </a:solidFill>
                <a:effectLst/>
                <a:uFillTx/>
                <a:latin typeface="Arial"/>
              </a:endParaRPr>
            </a:p>
          </p:txBody>
        </p:sp>
        <p:sp>
          <p:nvSpPr>
            <p:cNvPr id="372" name="Google Shape;424;p11"/>
            <p:cNvSpPr/>
            <p:nvPr/>
          </p:nvSpPr>
          <p:spPr>
            <a:xfrm>
              <a:off x="4450680" y="4321080"/>
              <a:ext cx="3981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Skill</a:t>
              </a:r>
              <a:endParaRPr lang="en-US" sz="1250" b="0" u="none" strike="noStrike">
                <a:solidFill>
                  <a:srgbClr val="000000"/>
                </a:solidFill>
                <a:effectLst/>
                <a:uFillTx/>
                <a:latin typeface="Arial"/>
              </a:endParaRPr>
            </a:p>
          </p:txBody>
        </p:sp>
        <p:sp>
          <p:nvSpPr>
            <p:cNvPr id="373" name="Google Shape;425;p11"/>
            <p:cNvSpPr/>
            <p:nvPr/>
          </p:nvSpPr>
          <p:spPr>
            <a:xfrm>
              <a:off x="4943160" y="4245120"/>
              <a:ext cx="26730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24364C"/>
                  </a:solidFill>
                  <a:effectLst/>
                  <a:uFillTx/>
                  <a:latin typeface="Arial"/>
                  <a:ea typeface="Arial"/>
                </a:rPr>
                <a:t>Compared 2D concepts</a:t>
              </a:r>
              <a:endParaRPr lang="en-US" sz="1950" b="0" u="none" strike="noStrike">
                <a:solidFill>
                  <a:srgbClr val="000000"/>
                </a:solidFill>
                <a:effectLst/>
                <a:uFillTx/>
                <a:latin typeface="Arial"/>
              </a:endParaRPr>
            </a:p>
          </p:txBody>
        </p:sp>
        <p:sp>
          <p:nvSpPr>
            <p:cNvPr id="374" name="Google Shape;426;p11"/>
            <p:cNvSpPr/>
            <p:nvPr/>
          </p:nvSpPr>
          <p:spPr>
            <a:xfrm>
              <a:off x="4450680" y="4759200"/>
              <a:ext cx="3805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Gap</a:t>
              </a:r>
              <a:endParaRPr lang="en-US" sz="1250" b="0" u="none" strike="noStrike">
                <a:solidFill>
                  <a:srgbClr val="000000"/>
                </a:solidFill>
                <a:effectLst/>
                <a:uFillTx/>
                <a:latin typeface="Arial"/>
              </a:endParaRPr>
            </a:p>
          </p:txBody>
        </p:sp>
        <p:sp>
          <p:nvSpPr>
            <p:cNvPr id="375" name="Google Shape;427;p11"/>
            <p:cNvSpPr/>
            <p:nvPr/>
          </p:nvSpPr>
          <p:spPr>
            <a:xfrm>
              <a:off x="4943160" y="4683240"/>
              <a:ext cx="2398320" cy="298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66758A"/>
                  </a:solidFill>
                  <a:effectLst/>
                  <a:uFillTx/>
                  <a:latin typeface="Arial"/>
                  <a:ea typeface="Arial"/>
                </a:rPr>
                <a:t>No concept guidance</a:t>
              </a:r>
              <a:endParaRPr lang="en-US" sz="1950" b="0" u="none" strike="noStrike">
                <a:solidFill>
                  <a:srgbClr val="000000"/>
                </a:solidFill>
                <a:effectLst/>
                <a:uFillTx/>
                <a:latin typeface="Arial"/>
              </a:endParaRPr>
            </a:p>
          </p:txBody>
        </p:sp>
        <p:sp>
          <p:nvSpPr>
            <p:cNvPr id="376" name="Google Shape;428;p11"/>
            <p:cNvSpPr/>
            <p:nvPr/>
          </p:nvSpPr>
          <p:spPr>
            <a:xfrm>
              <a:off x="4450680" y="5197320"/>
              <a:ext cx="415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3662EA"/>
                  </a:solidFill>
                  <a:effectLst/>
                  <a:uFillTx/>
                  <a:latin typeface="Arial"/>
                  <a:ea typeface="Arial"/>
                </a:rPr>
                <a:t>Step</a:t>
              </a:r>
              <a:endParaRPr lang="en-US" sz="1250" b="0" u="none" strike="noStrike">
                <a:solidFill>
                  <a:srgbClr val="000000"/>
                </a:solidFill>
                <a:effectLst/>
                <a:uFillTx/>
                <a:latin typeface="Arial"/>
              </a:endParaRPr>
            </a:p>
          </p:txBody>
        </p:sp>
        <p:sp>
          <p:nvSpPr>
            <p:cNvPr id="377" name="Google Shape;429;p11"/>
            <p:cNvSpPr/>
            <p:nvPr/>
          </p:nvSpPr>
          <p:spPr>
            <a:xfrm>
              <a:off x="4943160" y="512136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3662EA"/>
                  </a:solidFill>
                  <a:effectLst/>
                  <a:uFillTx/>
                  <a:latin typeface="Arial"/>
                  <a:ea typeface="Arial"/>
                </a:rPr>
                <a:t>Concept first, then lock</a:t>
              </a:r>
              <a:endParaRPr lang="en-US" sz="1950" b="0" u="none" strike="noStrike">
                <a:solidFill>
                  <a:srgbClr val="000000"/>
                </a:solidFill>
                <a:effectLst/>
                <a:uFillTx/>
                <a:latin typeface="Arial"/>
              </a:endParaRPr>
            </a:p>
          </p:txBody>
        </p:sp>
        <p:sp>
          <p:nvSpPr>
            <p:cNvPr id="378" name="Google Shape;430;p11"/>
            <p:cNvSpPr/>
            <p:nvPr/>
          </p:nvSpPr>
          <p:spPr>
            <a:xfrm>
              <a:off x="4450680" y="5635800"/>
              <a:ext cx="4244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069B8A"/>
                  </a:solidFill>
                  <a:effectLst/>
                  <a:uFillTx/>
                  <a:latin typeface="Arial"/>
                  <a:ea typeface="Arial"/>
                </a:rPr>
                <a:t>Gain</a:t>
              </a:r>
              <a:endParaRPr lang="en-US" sz="1250" b="0" u="none" strike="noStrike">
                <a:solidFill>
                  <a:srgbClr val="000000"/>
                </a:solidFill>
                <a:effectLst/>
                <a:uFillTx/>
                <a:latin typeface="Arial"/>
              </a:endParaRPr>
            </a:p>
          </p:txBody>
        </p:sp>
        <p:sp>
          <p:nvSpPr>
            <p:cNvPr id="379" name="Google Shape;431;p11"/>
            <p:cNvSpPr/>
            <p:nvPr/>
          </p:nvSpPr>
          <p:spPr>
            <a:xfrm>
              <a:off x="4943160" y="5559480"/>
              <a:ext cx="273564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Chosen concept to 3D</a:t>
              </a:r>
              <a:endParaRPr lang="en-US" sz="1950" b="0" u="none" strike="noStrike">
                <a:solidFill>
                  <a:srgbClr val="000000"/>
                </a:solidFill>
                <a:effectLst/>
                <a:uFillTx/>
                <a:latin typeface="Arial"/>
              </a:endParaRPr>
            </a:p>
          </p:txBody>
        </p:sp>
      </p:grpSp>
      <p:grpSp>
        <p:nvGrpSpPr>
          <p:cNvPr id="380" name="Google Shape;432;p11"/>
          <p:cNvGrpSpPr/>
          <p:nvPr/>
        </p:nvGrpSpPr>
        <p:grpSpPr>
          <a:xfrm>
            <a:off x="8153280" y="1711440"/>
            <a:ext cx="3663360" cy="4227840"/>
            <a:chOff x="8153280" y="1711440"/>
            <a:chExt cx="3663360" cy="4227840"/>
          </a:xfrm>
        </p:grpSpPr>
        <p:sp>
          <p:nvSpPr>
            <p:cNvPr id="381" name="Google Shape;433;p11"/>
            <p:cNvSpPr/>
            <p:nvPr/>
          </p:nvSpPr>
          <p:spPr>
            <a:xfrm>
              <a:off x="8153280" y="1714680"/>
              <a:ext cx="55800" cy="293760"/>
            </a:xfrm>
            <a:prstGeom prst="rect">
              <a:avLst/>
            </a:prstGeom>
            <a:solidFill>
              <a:srgbClr val="D98D2B"/>
            </a:solidFill>
            <a:ln w="0">
              <a:noFill/>
            </a:ln>
          </p:spPr>
          <p:style>
            <a:lnRef idx="0"/>
            <a:fillRef idx="0"/>
            <a:effectRef idx="0"/>
            <a:fontRef idx="minor"/>
          </p:style>
          <p:txBody>
            <a:bodyPr lIns="28080" tIns="45000" rIns="28080" bIns="45000" anchor="t">
              <a:noAutofit/>
            </a:bodyPr>
            <a:p>
              <a:pPr/>
              <a:endParaRPr lang="en-US" sz="1400" b="0" u="none" strike="noStrike">
                <a:solidFill>
                  <a:srgbClr val="FFFFFF"/>
                </a:solidFill>
                <a:effectLst/>
                <a:uFillTx/>
                <a:latin typeface="Arial"/>
              </a:endParaRPr>
            </a:p>
          </p:txBody>
        </p:sp>
        <p:sp>
          <p:nvSpPr>
            <p:cNvPr id="382" name="Google Shape;434;p11"/>
            <p:cNvSpPr/>
            <p:nvPr/>
          </p:nvSpPr>
          <p:spPr>
            <a:xfrm>
              <a:off x="8305560" y="1711440"/>
              <a:ext cx="30027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3 Concept and 3D review</a:t>
              </a:r>
              <a:endParaRPr lang="en-US" sz="1950" b="0" u="none" strike="noStrike">
                <a:solidFill>
                  <a:srgbClr val="000000"/>
                </a:solidFill>
                <a:effectLst/>
                <a:uFillTx/>
                <a:latin typeface="Arial"/>
              </a:endParaRPr>
            </a:p>
          </p:txBody>
        </p:sp>
        <p:sp>
          <p:nvSpPr>
            <p:cNvPr id="383" name="Google Shape;435;p11"/>
            <p:cNvSpPr/>
            <p:nvPr/>
          </p:nvSpPr>
          <p:spPr>
            <a:xfrm>
              <a:off x="8327520" y="2168640"/>
              <a:ext cx="10245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Concept front</a:t>
              </a:r>
              <a:endParaRPr lang="en-US" sz="1250" b="0" u="none" strike="noStrike">
                <a:solidFill>
                  <a:srgbClr val="000000"/>
                </a:solidFill>
                <a:effectLst/>
                <a:uFillTx/>
                <a:latin typeface="Arial"/>
              </a:endParaRPr>
            </a:p>
          </p:txBody>
        </p:sp>
        <p:sp>
          <p:nvSpPr>
            <p:cNvPr id="384" name="Google Shape;436;p11"/>
            <p:cNvSpPr/>
            <p:nvPr/>
          </p:nvSpPr>
          <p:spPr>
            <a:xfrm>
              <a:off x="9994320" y="2168640"/>
              <a:ext cx="865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Model front</a:t>
              </a:r>
              <a:endParaRPr lang="en-US" sz="1250" b="0" u="none" strike="noStrike">
                <a:solidFill>
                  <a:srgbClr val="000000"/>
                </a:solidFill>
                <a:effectLst/>
                <a:uFillTx/>
                <a:latin typeface="Arial"/>
              </a:endParaRPr>
            </a:p>
          </p:txBody>
        </p:sp>
        <p:pic>
          <p:nvPicPr>
            <p:cNvPr id="385" name="Google Shape;437;p11"/>
            <p:cNvPicPr/>
            <p:nvPr/>
          </p:nvPicPr>
          <p:blipFill>
            <a:blip r:embed="rId2"/>
            <a:srcRect l="49308" t="0" r="29306" b="50006"/>
            <a:stretch/>
          </p:blipFill>
          <p:spPr>
            <a:xfrm>
              <a:off x="8344080" y="2476440"/>
              <a:ext cx="915840" cy="1427400"/>
            </a:xfrm>
            <a:prstGeom prst="rect">
              <a:avLst/>
            </a:prstGeom>
            <a:noFill/>
            <a:ln w="0">
              <a:noFill/>
            </a:ln>
          </p:spPr>
        </p:pic>
        <p:pic>
          <p:nvPicPr>
            <p:cNvPr id="386" name="Google Shape;438;p11"/>
            <p:cNvPicPr/>
            <p:nvPr/>
          </p:nvPicPr>
          <p:blipFill>
            <a:blip r:embed="rId3"/>
            <a:stretch/>
          </p:blipFill>
          <p:spPr>
            <a:xfrm>
              <a:off x="10001160" y="2476440"/>
              <a:ext cx="1223280" cy="1427400"/>
            </a:xfrm>
            <a:prstGeom prst="rect">
              <a:avLst/>
            </a:prstGeom>
            <a:noFill/>
            <a:ln w="0">
              <a:noFill/>
            </a:ln>
          </p:spPr>
        </p:pic>
        <p:cxnSp>
          <p:nvCxnSpPr>
            <p:cNvPr id="387" name="Google Shape;439;p11"/>
            <p:cNvCxnSpPr/>
            <p:nvPr/>
          </p:nvCxnSpPr>
          <p:spPr>
            <a:xfrm>
              <a:off x="9439200" y="3190680"/>
              <a:ext cx="371880" cy="720"/>
            </a:xfrm>
            <a:prstGeom prst="straightConnector1">
              <a:avLst/>
            </a:prstGeom>
            <a:ln w="19050">
              <a:solidFill>
                <a:srgbClr val="3662EA"/>
              </a:solidFill>
              <a:round/>
              <a:tailEnd len="lg" type="triangle" w="lg"/>
            </a:ln>
          </p:spPr>
        </p:cxnSp>
        <p:sp>
          <p:nvSpPr>
            <p:cNvPr id="388" name="Google Shape;440;p11"/>
            <p:cNvSpPr/>
            <p:nvPr/>
          </p:nvSpPr>
          <p:spPr>
            <a:xfrm>
              <a:off x="8280000" y="3892680"/>
              <a:ext cx="29199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Newer method: one-reference check.</a:t>
              </a:r>
              <a:endParaRPr lang="en-US" sz="1250" b="0" u="none" strike="noStrike">
                <a:solidFill>
                  <a:srgbClr val="000000"/>
                </a:solidFill>
                <a:effectLst/>
                <a:uFillTx/>
                <a:latin typeface="Arial"/>
              </a:endParaRPr>
            </a:p>
          </p:txBody>
        </p:sp>
        <p:sp>
          <p:nvSpPr>
            <p:cNvPr id="389" name="Google Shape;441;p11"/>
            <p:cNvSpPr/>
            <p:nvPr/>
          </p:nvSpPr>
          <p:spPr>
            <a:xfrm>
              <a:off x="8280000" y="4321080"/>
              <a:ext cx="3981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Skill</a:t>
              </a:r>
              <a:endParaRPr lang="en-US" sz="1250" b="0" u="none" strike="noStrike">
                <a:solidFill>
                  <a:srgbClr val="000000"/>
                </a:solidFill>
                <a:effectLst/>
                <a:uFillTx/>
                <a:latin typeface="Arial"/>
              </a:endParaRPr>
            </a:p>
          </p:txBody>
        </p:sp>
        <p:sp>
          <p:nvSpPr>
            <p:cNvPr id="390" name="Google Shape;442;p11"/>
            <p:cNvSpPr/>
            <p:nvPr/>
          </p:nvSpPr>
          <p:spPr>
            <a:xfrm>
              <a:off x="8772120" y="4245120"/>
              <a:ext cx="22881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24364C"/>
                  </a:solidFill>
                  <a:effectLst/>
                  <a:uFillTx/>
                  <a:latin typeface="Arial"/>
                  <a:ea typeface="Arial"/>
                </a:rPr>
                <a:t>Editable 3D concept</a:t>
              </a:r>
              <a:endParaRPr lang="en-US" sz="1950" b="0" u="none" strike="noStrike">
                <a:solidFill>
                  <a:srgbClr val="000000"/>
                </a:solidFill>
                <a:effectLst/>
                <a:uFillTx/>
                <a:latin typeface="Arial"/>
              </a:endParaRPr>
            </a:p>
          </p:txBody>
        </p:sp>
        <p:sp>
          <p:nvSpPr>
            <p:cNvPr id="391" name="Google Shape;443;p11"/>
            <p:cNvSpPr/>
            <p:nvPr/>
          </p:nvSpPr>
          <p:spPr>
            <a:xfrm>
              <a:off x="8280000" y="4759200"/>
              <a:ext cx="3805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Gap</a:t>
              </a:r>
              <a:endParaRPr lang="en-US" sz="1250" b="0" u="none" strike="noStrike">
                <a:solidFill>
                  <a:srgbClr val="000000"/>
                </a:solidFill>
                <a:effectLst/>
                <a:uFillTx/>
                <a:latin typeface="Arial"/>
              </a:endParaRPr>
            </a:p>
          </p:txBody>
        </p:sp>
        <p:sp>
          <p:nvSpPr>
            <p:cNvPr id="392" name="Google Shape;444;p11"/>
            <p:cNvSpPr/>
            <p:nvPr/>
          </p:nvSpPr>
          <p:spPr>
            <a:xfrm>
              <a:off x="8772120" y="4683240"/>
              <a:ext cx="26406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66758A"/>
                  </a:solidFill>
                  <a:effectLst/>
                  <a:uFillTx/>
                  <a:latin typeface="Arial"/>
                  <a:ea typeface="Arial"/>
                </a:rPr>
                <a:t>Wrong-face circling risk</a:t>
              </a:r>
              <a:endParaRPr lang="en-US" sz="1950" b="0" u="none" strike="noStrike">
                <a:solidFill>
                  <a:srgbClr val="000000"/>
                </a:solidFill>
                <a:effectLst/>
                <a:uFillTx/>
                <a:latin typeface="Arial"/>
              </a:endParaRPr>
            </a:p>
          </p:txBody>
        </p:sp>
        <p:sp>
          <p:nvSpPr>
            <p:cNvPr id="393" name="Google Shape;445;p11"/>
            <p:cNvSpPr/>
            <p:nvPr/>
          </p:nvSpPr>
          <p:spPr>
            <a:xfrm>
              <a:off x="8280000" y="5197320"/>
              <a:ext cx="415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3662EA"/>
                  </a:solidFill>
                  <a:effectLst/>
                  <a:uFillTx/>
                  <a:latin typeface="Arial"/>
                  <a:ea typeface="Arial"/>
                </a:rPr>
                <a:t>Step</a:t>
              </a:r>
              <a:endParaRPr lang="en-US" sz="1250" b="0" u="none" strike="noStrike">
                <a:solidFill>
                  <a:srgbClr val="000000"/>
                </a:solidFill>
                <a:effectLst/>
                <a:uFillTx/>
                <a:latin typeface="Arial"/>
              </a:endParaRPr>
            </a:p>
          </p:txBody>
        </p:sp>
        <p:sp>
          <p:nvSpPr>
            <p:cNvPr id="394" name="Google Shape;446;p11"/>
            <p:cNvSpPr/>
            <p:nvPr/>
          </p:nvSpPr>
          <p:spPr>
            <a:xfrm>
              <a:off x="8772120" y="5121360"/>
              <a:ext cx="2673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3662EA"/>
                  </a:solidFill>
                  <a:effectLst/>
                  <a:uFillTx/>
                  <a:latin typeface="Arial"/>
                  <a:ea typeface="Arial"/>
                </a:rPr>
                <a:t>Relabel, check sections</a:t>
              </a:r>
              <a:endParaRPr lang="en-US" sz="1950" b="0" u="none" strike="noStrike">
                <a:solidFill>
                  <a:srgbClr val="000000"/>
                </a:solidFill>
                <a:effectLst/>
                <a:uFillTx/>
                <a:latin typeface="Arial"/>
              </a:endParaRPr>
            </a:p>
          </p:txBody>
        </p:sp>
        <p:sp>
          <p:nvSpPr>
            <p:cNvPr id="395" name="Google Shape;447;p11"/>
            <p:cNvSpPr/>
            <p:nvPr/>
          </p:nvSpPr>
          <p:spPr>
            <a:xfrm>
              <a:off x="8280000" y="5635800"/>
              <a:ext cx="4244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069B8A"/>
                  </a:solidFill>
                  <a:effectLst/>
                  <a:uFillTx/>
                  <a:latin typeface="Arial"/>
                  <a:ea typeface="Arial"/>
                </a:rPr>
                <a:t>Gain</a:t>
              </a:r>
              <a:endParaRPr lang="en-US" sz="1250" b="0" u="none" strike="noStrike">
                <a:solidFill>
                  <a:srgbClr val="000000"/>
                </a:solidFill>
                <a:effectLst/>
                <a:uFillTx/>
                <a:latin typeface="Arial"/>
              </a:endParaRPr>
            </a:p>
          </p:txBody>
        </p:sp>
        <p:sp>
          <p:nvSpPr>
            <p:cNvPr id="396" name="Google Shape;448;p11"/>
            <p:cNvSpPr/>
            <p:nvPr/>
          </p:nvSpPr>
          <p:spPr>
            <a:xfrm>
              <a:off x="8772120" y="5559480"/>
              <a:ext cx="30445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Feedback now checkable</a:t>
              </a:r>
              <a:endParaRPr lang="en-US" sz="1950" b="0" u="none" strike="noStrike">
                <a:solidFill>
                  <a:srgbClr val="000000"/>
                </a:solidFill>
                <a:effectLst/>
                <a:uFillTx/>
                <a:latin typeface="Arial"/>
              </a:endParaRPr>
            </a:p>
          </p:txBody>
        </p:sp>
      </p:grpSp>
      <p:pic>
        <p:nvPicPr>
          <p:cNvPr id="397" name="Google Shape;449;p11"/>
          <p:cNvPicPr/>
          <p:nvPr/>
        </p:nvPicPr>
        <p:blipFill>
          <a:blip r:embed="rId4"/>
          <a:stretch/>
        </p:blipFill>
        <p:spPr>
          <a:xfrm>
            <a:off x="4476240" y="2168640"/>
            <a:ext cx="2210400" cy="16419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98" name="Google Shape;454;p12"/>
          <p:cNvGrpSpPr/>
          <p:nvPr/>
        </p:nvGrpSpPr>
        <p:grpSpPr>
          <a:xfrm>
            <a:off x="478440" y="422280"/>
            <a:ext cx="11208600" cy="972000"/>
            <a:chOff x="478440" y="422280"/>
            <a:chExt cx="11208600" cy="972000"/>
          </a:xfrm>
        </p:grpSpPr>
        <p:sp>
          <p:nvSpPr>
            <p:cNvPr id="399" name="Google Shape;455;p12"/>
            <p:cNvSpPr/>
            <p:nvPr/>
          </p:nvSpPr>
          <p:spPr>
            <a:xfrm>
              <a:off x="478440" y="422280"/>
              <a:ext cx="11199960" cy="6440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Growth of AI Collaboration: Stages 4 to 6</a:t>
              </a:r>
              <a:endParaRPr lang="en-US" sz="3300" b="0" u="none" strike="noStrike">
                <a:solidFill>
                  <a:srgbClr val="000000"/>
                </a:solidFill>
                <a:effectLst/>
                <a:uFillTx/>
                <a:latin typeface="Arial"/>
              </a:endParaRPr>
            </a:p>
          </p:txBody>
        </p:sp>
        <p:sp>
          <p:nvSpPr>
            <p:cNvPr id="400" name="Google Shape;456;p12"/>
            <p:cNvSpPr/>
            <p:nvPr/>
          </p:nvSpPr>
          <p:spPr>
            <a:xfrm>
              <a:off x="487080" y="1073160"/>
              <a:ext cx="11199960" cy="3211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650" b="0" u="none" strike="noStrike">
                  <a:solidFill>
                    <a:srgbClr val="66758A"/>
                  </a:solidFill>
                  <a:effectLst/>
                  <a:uFillTx/>
                  <a:latin typeface="Arial"/>
                  <a:ea typeface="Arial"/>
                </a:rPr>
                <a:t>Real sections and ear-region knowledge aid placement. Whole-unit moves and review write-back support later tasks.</a:t>
              </a:r>
              <a:endParaRPr lang="en-US" sz="1650" b="0" u="none" strike="noStrike">
                <a:solidFill>
                  <a:srgbClr val="000000"/>
                </a:solidFill>
                <a:effectLst/>
                <a:uFillTx/>
                <a:latin typeface="Arial"/>
              </a:endParaRPr>
            </a:p>
          </p:txBody>
        </p:sp>
      </p:grpSp>
      <p:sp>
        <p:nvSpPr>
          <p:cNvPr id="401" name="Google Shape;457;p12"/>
          <p:cNvSpPr/>
          <p:nvPr/>
        </p:nvSpPr>
        <p:spPr>
          <a:xfrm>
            <a:off x="488520" y="6407280"/>
            <a:ext cx="7037640" cy="2624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200" b="0" u="none" strike="noStrike">
                <a:solidFill>
                  <a:srgbClr val="66758A"/>
                </a:solidFill>
                <a:effectLst/>
                <a:uFillTx/>
                <a:latin typeface="Arial"/>
                <a:ea typeface="Arial"/>
              </a:rPr>
              <a:t>Ear regions and sections support position checks. Wear and cross-task effects are still under validation.</a:t>
            </a:r>
            <a:endParaRPr lang="en-US" sz="1200" b="0" u="none" strike="noStrike">
              <a:solidFill>
                <a:srgbClr val="000000"/>
              </a:solidFill>
              <a:effectLst/>
              <a:uFillTx/>
              <a:latin typeface="Arial"/>
            </a:endParaRPr>
          </a:p>
        </p:txBody>
      </p:sp>
      <p:sp>
        <p:nvSpPr>
          <p:cNvPr id="402" name="Google Shape;458;p12"/>
          <p:cNvSpPr/>
          <p:nvPr/>
        </p:nvSpPr>
        <p:spPr>
          <a:xfrm>
            <a:off x="4210200" y="1676520"/>
            <a:ext cx="7920" cy="4427640"/>
          </a:xfrm>
          <a:custGeom>
            <a:avLst/>
            <a:gdLst>
              <a:gd name="textAreaLeft" fmla="*/ 0 w 7920"/>
              <a:gd name="textAreaRight" fmla="*/ 8280 w 7920"/>
              <a:gd name="textAreaTop" fmla="*/ 0 h 4427640"/>
              <a:gd name="textAreaBottom" fmla="*/ 4428000 h 442764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sp>
        <p:nvSpPr>
          <p:cNvPr id="403" name="Google Shape;459;p12"/>
          <p:cNvSpPr/>
          <p:nvPr/>
        </p:nvSpPr>
        <p:spPr>
          <a:xfrm>
            <a:off x="8039160" y="1676520"/>
            <a:ext cx="7920" cy="4427640"/>
          </a:xfrm>
          <a:custGeom>
            <a:avLst/>
            <a:gdLst>
              <a:gd name="textAreaLeft" fmla="*/ 0 w 7920"/>
              <a:gd name="textAreaRight" fmla="*/ 8280 w 7920"/>
              <a:gd name="textAreaTop" fmla="*/ 0 h 4427640"/>
              <a:gd name="textAreaBottom" fmla="*/ 4428000 h 442764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960" tIns="45000" rIns="3960" bIns="45000" anchor="t">
            <a:noAutofit/>
          </a:bodyPr>
          <a:p>
            <a:pPr/>
            <a:endParaRPr lang="en-US" sz="1400" b="0" u="none" strike="noStrike">
              <a:solidFill>
                <a:srgbClr val="000000"/>
              </a:solidFill>
              <a:effectLst/>
              <a:uFillTx/>
              <a:latin typeface="Arial"/>
            </a:endParaRPr>
          </a:p>
        </p:txBody>
      </p:sp>
      <p:grpSp>
        <p:nvGrpSpPr>
          <p:cNvPr id="404" name="Google Shape;460;p12"/>
          <p:cNvGrpSpPr/>
          <p:nvPr/>
        </p:nvGrpSpPr>
        <p:grpSpPr>
          <a:xfrm>
            <a:off x="495360" y="1711440"/>
            <a:ext cx="3612960" cy="4227840"/>
            <a:chOff x="495360" y="1711440"/>
            <a:chExt cx="3612960" cy="4227840"/>
          </a:xfrm>
        </p:grpSpPr>
        <p:sp>
          <p:nvSpPr>
            <p:cNvPr id="405" name="Google Shape;461;p12"/>
            <p:cNvSpPr/>
            <p:nvPr/>
          </p:nvSpPr>
          <p:spPr>
            <a:xfrm>
              <a:off x="495360" y="1714680"/>
              <a:ext cx="55800" cy="293760"/>
            </a:xfrm>
            <a:prstGeom prst="rect">
              <a:avLst/>
            </a:prstGeom>
            <a:solidFill>
              <a:srgbClr val="D98D2B"/>
            </a:solidFill>
            <a:ln w="0">
              <a:noFill/>
            </a:ln>
          </p:spPr>
          <p:style>
            <a:lnRef idx="0"/>
            <a:fillRef idx="0"/>
            <a:effectRef idx="0"/>
            <a:fontRef idx="minor"/>
          </p:style>
          <p:txBody>
            <a:bodyPr lIns="28080" tIns="45000" rIns="28080" bIns="45000" anchor="t">
              <a:noAutofit/>
            </a:bodyPr>
            <a:p>
              <a:pPr/>
              <a:endParaRPr lang="en-US" sz="1400" b="0" u="none" strike="noStrike">
                <a:solidFill>
                  <a:srgbClr val="FFFFFF"/>
                </a:solidFill>
                <a:effectLst/>
                <a:uFillTx/>
                <a:latin typeface="Arial"/>
              </a:endParaRPr>
            </a:p>
          </p:txBody>
        </p:sp>
        <p:sp>
          <p:nvSpPr>
            <p:cNvPr id="406" name="Google Shape;462;p12"/>
            <p:cNvSpPr/>
            <p:nvPr/>
          </p:nvSpPr>
          <p:spPr>
            <a:xfrm>
              <a:off x="647280" y="1711440"/>
              <a:ext cx="25740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13243A"/>
                  </a:solidFill>
                  <a:effectLst/>
                  <a:uFillTx/>
                  <a:latin typeface="Arial"/>
                  <a:ea typeface="Arial"/>
                </a:rPr>
                <a:t>4 Circling and sections</a:t>
              </a:r>
              <a:endParaRPr lang="en-US" sz="1800" b="0" u="none" strike="noStrike">
                <a:solidFill>
                  <a:srgbClr val="000000"/>
                </a:solidFill>
                <a:effectLst/>
                <a:uFillTx/>
                <a:latin typeface="Arial"/>
              </a:endParaRPr>
            </a:p>
          </p:txBody>
        </p:sp>
        <p:grpSp>
          <p:nvGrpSpPr>
            <p:cNvPr id="407" name="Google Shape;463;p12"/>
            <p:cNvGrpSpPr/>
            <p:nvPr/>
          </p:nvGrpSpPr>
          <p:grpSpPr>
            <a:xfrm>
              <a:off x="628560" y="2060640"/>
              <a:ext cx="3240360" cy="1903680"/>
              <a:chOff x="628560" y="2060640"/>
              <a:chExt cx="3240360" cy="1903680"/>
            </a:xfrm>
          </p:grpSpPr>
          <p:sp>
            <p:nvSpPr>
              <p:cNvPr id="408" name="Google Shape;464;p12"/>
              <p:cNvSpPr/>
              <p:nvPr/>
            </p:nvSpPr>
            <p:spPr>
              <a:xfrm>
                <a:off x="640080" y="2060640"/>
                <a:ext cx="558720" cy="291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24364C"/>
                    </a:solidFill>
                    <a:effectLst/>
                    <a:uFillTx/>
                    <a:latin typeface="Arial"/>
                    <a:ea typeface="Arial"/>
                  </a:rPr>
                  <a:t>Entry</a:t>
                </a:r>
                <a:endParaRPr lang="en-US" sz="1500" b="0" u="none" strike="noStrike">
                  <a:solidFill>
                    <a:srgbClr val="000000"/>
                  </a:solidFill>
                  <a:effectLst/>
                  <a:uFillTx/>
                  <a:latin typeface="Arial"/>
                </a:endParaRPr>
              </a:p>
            </p:txBody>
          </p:sp>
          <p:sp>
            <p:nvSpPr>
              <p:cNvPr id="409" name="Google Shape;465;p12"/>
              <p:cNvSpPr/>
              <p:nvPr/>
            </p:nvSpPr>
            <p:spPr>
              <a:xfrm>
                <a:off x="819360" y="2295360"/>
                <a:ext cx="446040" cy="1398600"/>
              </a:xfrm>
              <a:custGeom>
                <a:avLst/>
                <a:gdLst>
                  <a:gd name="textAreaLeft" fmla="*/ 0 w 446040"/>
                  <a:gd name="textAreaRight" fmla="*/ 446400 w 446040"/>
                  <a:gd name="textAreaTop" fmla="*/ 0 h 1398600"/>
                  <a:gd name="textAreaBottom" fmla="*/ 1398960 h 1398600"/>
                </a:gdLst>
                <a:ahLst/>
                <a:cxnLst/>
                <a:rect l="textAreaLeft" t="textAreaTop" r="textAreaRight" b="textAreaBottom"/>
                <a:pathLst>
                  <a:path w="447465" h="1400175">
                    <a:moveTo>
                      <a:pt x="125187" y="835181"/>
                    </a:moveTo>
                    <a:lnTo>
                      <a:pt x="109947" y="871185"/>
                    </a:lnTo>
                    <a:moveTo>
                      <a:pt x="105023" y="887778"/>
                    </a:moveTo>
                    <a:lnTo>
                      <a:pt x="109947" y="871185"/>
                    </a:lnTo>
                    <a:moveTo>
                      <a:pt x="125187" y="835181"/>
                    </a:moveTo>
                    <a:lnTo>
                      <a:pt x="137893" y="790470"/>
                    </a:lnTo>
                    <a:moveTo>
                      <a:pt x="140703" y="786022"/>
                    </a:moveTo>
                    <a:lnTo>
                      <a:pt x="137893" y="790470"/>
                    </a:lnTo>
                    <a:moveTo>
                      <a:pt x="24470" y="1255147"/>
                    </a:moveTo>
                    <a:lnTo>
                      <a:pt x="22803" y="1248080"/>
                    </a:lnTo>
                    <a:moveTo>
                      <a:pt x="24470" y="1255147"/>
                    </a:moveTo>
                    <a:lnTo>
                      <a:pt x="52245" y="1294924"/>
                    </a:lnTo>
                    <a:moveTo>
                      <a:pt x="58303" y="1307763"/>
                    </a:moveTo>
                    <a:lnTo>
                      <a:pt x="52245" y="1294924"/>
                    </a:lnTo>
                    <a:moveTo>
                      <a:pt x="105023" y="887778"/>
                    </a:moveTo>
                    <a:lnTo>
                      <a:pt x="99517" y="905075"/>
                    </a:lnTo>
                    <a:moveTo>
                      <a:pt x="28089" y="1046093"/>
                    </a:moveTo>
                    <a:lnTo>
                      <a:pt x="51464" y="1002640"/>
                    </a:lnTo>
                    <a:moveTo>
                      <a:pt x="64437" y="979922"/>
                    </a:moveTo>
                    <a:lnTo>
                      <a:pt x="84277" y="933002"/>
                    </a:lnTo>
                    <a:moveTo>
                      <a:pt x="59788" y="986190"/>
                    </a:moveTo>
                    <a:lnTo>
                      <a:pt x="64437" y="979922"/>
                    </a:lnTo>
                    <a:moveTo>
                      <a:pt x="59788" y="986190"/>
                    </a:moveTo>
                    <a:lnTo>
                      <a:pt x="51464" y="1002640"/>
                    </a:lnTo>
                    <a:moveTo>
                      <a:pt x="18555" y="1072553"/>
                    </a:moveTo>
                    <a:lnTo>
                      <a:pt x="28089" y="1046093"/>
                    </a:lnTo>
                    <a:moveTo>
                      <a:pt x="5286" y="1102519"/>
                    </a:moveTo>
                    <a:lnTo>
                      <a:pt x="3715" y="1129789"/>
                    </a:lnTo>
                    <a:moveTo>
                      <a:pt x="0" y="1167936"/>
                    </a:moveTo>
                    <a:lnTo>
                      <a:pt x="3715" y="1129789"/>
                    </a:lnTo>
                    <a:moveTo>
                      <a:pt x="18555" y="1072553"/>
                    </a:moveTo>
                    <a:lnTo>
                      <a:pt x="5286" y="1102519"/>
                    </a:lnTo>
                    <a:moveTo>
                      <a:pt x="99517" y="905075"/>
                    </a:moveTo>
                    <a:lnTo>
                      <a:pt x="84277" y="933002"/>
                    </a:lnTo>
                    <a:moveTo>
                      <a:pt x="58303" y="1307763"/>
                    </a:moveTo>
                    <a:lnTo>
                      <a:pt x="68780" y="1325918"/>
                    </a:lnTo>
                    <a:moveTo>
                      <a:pt x="68780" y="1325918"/>
                    </a:moveTo>
                    <a:lnTo>
                      <a:pt x="99231" y="1353931"/>
                    </a:lnTo>
                    <a:moveTo>
                      <a:pt x="143018" y="1387564"/>
                    </a:moveTo>
                    <a:lnTo>
                      <a:pt x="218656" y="1397660"/>
                    </a:lnTo>
                    <a:moveTo>
                      <a:pt x="143018" y="1387564"/>
                    </a:moveTo>
                    <a:lnTo>
                      <a:pt x="134245" y="1379477"/>
                    </a:lnTo>
                    <a:moveTo>
                      <a:pt x="99231" y="1353931"/>
                    </a:moveTo>
                    <a:lnTo>
                      <a:pt x="134245" y="1379477"/>
                    </a:lnTo>
                    <a:moveTo>
                      <a:pt x="218656" y="1397660"/>
                    </a:moveTo>
                    <a:lnTo>
                      <a:pt x="225095" y="1400175"/>
                    </a:lnTo>
                    <a:moveTo>
                      <a:pt x="241068" y="692048"/>
                    </a:moveTo>
                    <a:lnTo>
                      <a:pt x="260213" y="685524"/>
                    </a:lnTo>
                    <a:moveTo>
                      <a:pt x="260213" y="685524"/>
                    </a:moveTo>
                    <a:lnTo>
                      <a:pt x="268386" y="678799"/>
                    </a:lnTo>
                    <a:moveTo>
                      <a:pt x="156410" y="737864"/>
                    </a:moveTo>
                    <a:lnTo>
                      <a:pt x="157991" y="734778"/>
                    </a:lnTo>
                    <a:moveTo>
                      <a:pt x="147142" y="766001"/>
                    </a:moveTo>
                    <a:lnTo>
                      <a:pt x="156410" y="737864"/>
                    </a:lnTo>
                    <a:moveTo>
                      <a:pt x="157991" y="734778"/>
                    </a:moveTo>
                    <a:lnTo>
                      <a:pt x="173422" y="723243"/>
                    </a:lnTo>
                    <a:moveTo>
                      <a:pt x="147142" y="766001"/>
                    </a:moveTo>
                    <a:lnTo>
                      <a:pt x="140703" y="786022"/>
                    </a:lnTo>
                    <a:moveTo>
                      <a:pt x="201768" y="704450"/>
                    </a:moveTo>
                    <a:lnTo>
                      <a:pt x="173422" y="723243"/>
                    </a:lnTo>
                    <a:moveTo>
                      <a:pt x="241068" y="692048"/>
                    </a:moveTo>
                    <a:lnTo>
                      <a:pt x="201768" y="704450"/>
                    </a:lnTo>
                    <a:moveTo>
                      <a:pt x="65265" y="110176"/>
                    </a:moveTo>
                    <a:lnTo>
                      <a:pt x="70056" y="87058"/>
                    </a:lnTo>
                    <a:moveTo>
                      <a:pt x="65265" y="110176"/>
                    </a:moveTo>
                    <a:lnTo>
                      <a:pt x="60970" y="136665"/>
                    </a:lnTo>
                    <a:moveTo>
                      <a:pt x="299009" y="92774"/>
                    </a:moveTo>
                    <a:lnTo>
                      <a:pt x="303809" y="89668"/>
                    </a:lnTo>
                    <a:moveTo>
                      <a:pt x="293922" y="91745"/>
                    </a:moveTo>
                    <a:lnTo>
                      <a:pt x="299009" y="92774"/>
                    </a:lnTo>
                    <a:moveTo>
                      <a:pt x="277254" y="337252"/>
                    </a:moveTo>
                    <a:lnTo>
                      <a:pt x="296589" y="332356"/>
                    </a:lnTo>
                    <a:moveTo>
                      <a:pt x="296589" y="332356"/>
                    </a:moveTo>
                    <a:lnTo>
                      <a:pt x="333575" y="345777"/>
                    </a:lnTo>
                    <a:moveTo>
                      <a:pt x="333575" y="345777"/>
                    </a:moveTo>
                    <a:lnTo>
                      <a:pt x="344748" y="347910"/>
                    </a:lnTo>
                    <a:moveTo>
                      <a:pt x="244840" y="341843"/>
                    </a:moveTo>
                    <a:lnTo>
                      <a:pt x="260833" y="338442"/>
                    </a:lnTo>
                    <a:moveTo>
                      <a:pt x="277254" y="337252"/>
                    </a:moveTo>
                    <a:lnTo>
                      <a:pt x="260833" y="338442"/>
                    </a:lnTo>
                    <a:moveTo>
                      <a:pt x="223152" y="349910"/>
                    </a:moveTo>
                    <a:lnTo>
                      <a:pt x="244840" y="341843"/>
                    </a:lnTo>
                    <a:moveTo>
                      <a:pt x="355073" y="55597"/>
                    </a:moveTo>
                    <a:lnTo>
                      <a:pt x="356349" y="49835"/>
                    </a:lnTo>
                    <a:moveTo>
                      <a:pt x="356349" y="49835"/>
                    </a:moveTo>
                    <a:lnTo>
                      <a:pt x="368332" y="0"/>
                    </a:lnTo>
                    <a:moveTo>
                      <a:pt x="363493" y="405584"/>
                    </a:moveTo>
                    <a:lnTo>
                      <a:pt x="354235" y="379990"/>
                    </a:lnTo>
                    <a:moveTo>
                      <a:pt x="354235" y="379990"/>
                    </a:moveTo>
                    <a:lnTo>
                      <a:pt x="346443" y="355930"/>
                    </a:lnTo>
                    <a:moveTo>
                      <a:pt x="344748" y="347910"/>
                    </a:moveTo>
                    <a:lnTo>
                      <a:pt x="346443" y="355930"/>
                    </a:lnTo>
                    <a:moveTo>
                      <a:pt x="60970" y="136665"/>
                    </a:moveTo>
                    <a:lnTo>
                      <a:pt x="59446" y="172269"/>
                    </a:lnTo>
                    <a:moveTo>
                      <a:pt x="59446" y="172269"/>
                    </a:moveTo>
                    <a:lnTo>
                      <a:pt x="59474" y="185842"/>
                    </a:lnTo>
                    <a:moveTo>
                      <a:pt x="65627" y="235372"/>
                    </a:moveTo>
                    <a:lnTo>
                      <a:pt x="59474" y="185842"/>
                    </a:lnTo>
                    <a:moveTo>
                      <a:pt x="66046" y="237639"/>
                    </a:moveTo>
                    <a:lnTo>
                      <a:pt x="65627" y="235372"/>
                    </a:lnTo>
                    <a:moveTo>
                      <a:pt x="198311" y="352615"/>
                    </a:moveTo>
                    <a:lnTo>
                      <a:pt x="223152" y="349910"/>
                    </a:lnTo>
                    <a:moveTo>
                      <a:pt x="172155" y="354006"/>
                    </a:moveTo>
                    <a:lnTo>
                      <a:pt x="198311" y="352615"/>
                    </a:lnTo>
                    <a:moveTo>
                      <a:pt x="172155" y="354006"/>
                    </a:moveTo>
                    <a:lnTo>
                      <a:pt x="141551" y="341576"/>
                    </a:lnTo>
                    <a:moveTo>
                      <a:pt x="123168" y="333737"/>
                    </a:moveTo>
                    <a:lnTo>
                      <a:pt x="141551" y="341576"/>
                    </a:lnTo>
                    <a:moveTo>
                      <a:pt x="240535" y="70990"/>
                    </a:moveTo>
                    <a:lnTo>
                      <a:pt x="234410" y="64208"/>
                    </a:lnTo>
                    <a:moveTo>
                      <a:pt x="242926" y="73266"/>
                    </a:moveTo>
                    <a:lnTo>
                      <a:pt x="240535" y="70990"/>
                    </a:lnTo>
                    <a:moveTo>
                      <a:pt x="234410" y="64208"/>
                    </a:moveTo>
                    <a:lnTo>
                      <a:pt x="186176" y="28461"/>
                    </a:lnTo>
                    <a:moveTo>
                      <a:pt x="101394" y="36576"/>
                    </a:moveTo>
                    <a:lnTo>
                      <a:pt x="82658" y="64084"/>
                    </a:lnTo>
                    <a:moveTo>
                      <a:pt x="135093" y="25670"/>
                    </a:moveTo>
                    <a:lnTo>
                      <a:pt x="101394" y="36576"/>
                    </a:lnTo>
                    <a:moveTo>
                      <a:pt x="70056" y="87058"/>
                    </a:moveTo>
                    <a:lnTo>
                      <a:pt x="82658" y="64084"/>
                    </a:lnTo>
                    <a:moveTo>
                      <a:pt x="69637" y="248012"/>
                    </a:moveTo>
                    <a:lnTo>
                      <a:pt x="85306" y="292694"/>
                    </a:lnTo>
                    <a:moveTo>
                      <a:pt x="69637" y="248012"/>
                    </a:moveTo>
                    <a:lnTo>
                      <a:pt x="66046" y="237639"/>
                    </a:lnTo>
                    <a:moveTo>
                      <a:pt x="355073" y="55597"/>
                    </a:moveTo>
                    <a:lnTo>
                      <a:pt x="353158" y="57083"/>
                    </a:lnTo>
                    <a:moveTo>
                      <a:pt x="338538" y="66399"/>
                    </a:moveTo>
                    <a:lnTo>
                      <a:pt x="353158" y="57083"/>
                    </a:lnTo>
                    <a:moveTo>
                      <a:pt x="338538" y="66399"/>
                    </a:moveTo>
                    <a:lnTo>
                      <a:pt x="303809" y="89668"/>
                    </a:lnTo>
                    <a:moveTo>
                      <a:pt x="242926" y="73266"/>
                    </a:moveTo>
                    <a:lnTo>
                      <a:pt x="293922" y="91745"/>
                    </a:lnTo>
                    <a:moveTo>
                      <a:pt x="363493" y="405584"/>
                    </a:moveTo>
                    <a:lnTo>
                      <a:pt x="360931" y="431483"/>
                    </a:lnTo>
                    <a:moveTo>
                      <a:pt x="158877" y="16307"/>
                    </a:moveTo>
                    <a:lnTo>
                      <a:pt x="169383" y="18031"/>
                    </a:lnTo>
                    <a:moveTo>
                      <a:pt x="135093" y="25670"/>
                    </a:moveTo>
                    <a:lnTo>
                      <a:pt x="158877" y="16307"/>
                    </a:lnTo>
                    <a:moveTo>
                      <a:pt x="169383" y="18031"/>
                    </a:moveTo>
                    <a:lnTo>
                      <a:pt x="186176" y="28461"/>
                    </a:lnTo>
                    <a:moveTo>
                      <a:pt x="85306" y="292694"/>
                    </a:moveTo>
                    <a:lnTo>
                      <a:pt x="90268" y="298980"/>
                    </a:lnTo>
                    <a:moveTo>
                      <a:pt x="90268" y="298980"/>
                    </a:moveTo>
                    <a:lnTo>
                      <a:pt x="123168" y="333737"/>
                    </a:lnTo>
                    <a:moveTo>
                      <a:pt x="366398" y="472659"/>
                    </a:moveTo>
                    <a:lnTo>
                      <a:pt x="364617" y="507968"/>
                    </a:lnTo>
                    <a:moveTo>
                      <a:pt x="335147" y="608895"/>
                    </a:moveTo>
                    <a:lnTo>
                      <a:pt x="311820" y="648033"/>
                    </a:lnTo>
                    <a:moveTo>
                      <a:pt x="335147" y="608895"/>
                    </a:moveTo>
                    <a:lnTo>
                      <a:pt x="345615" y="597903"/>
                    </a:lnTo>
                    <a:moveTo>
                      <a:pt x="349625" y="588235"/>
                    </a:moveTo>
                    <a:lnTo>
                      <a:pt x="345615" y="597903"/>
                    </a:lnTo>
                    <a:moveTo>
                      <a:pt x="366398" y="472659"/>
                    </a:moveTo>
                    <a:lnTo>
                      <a:pt x="360931" y="431483"/>
                    </a:lnTo>
                    <a:moveTo>
                      <a:pt x="349625" y="588235"/>
                    </a:moveTo>
                    <a:lnTo>
                      <a:pt x="362722" y="536315"/>
                    </a:lnTo>
                    <a:moveTo>
                      <a:pt x="364617" y="507968"/>
                    </a:moveTo>
                    <a:lnTo>
                      <a:pt x="362722" y="536315"/>
                    </a:lnTo>
                    <a:moveTo>
                      <a:pt x="311820" y="648033"/>
                    </a:moveTo>
                    <a:lnTo>
                      <a:pt x="268386" y="678799"/>
                    </a:lnTo>
                    <a:moveTo>
                      <a:pt x="295408" y="1364990"/>
                    </a:moveTo>
                    <a:lnTo>
                      <a:pt x="235963" y="1398299"/>
                    </a:lnTo>
                    <a:moveTo>
                      <a:pt x="306629" y="1353864"/>
                    </a:moveTo>
                    <a:lnTo>
                      <a:pt x="295408" y="1364990"/>
                    </a:lnTo>
                    <a:moveTo>
                      <a:pt x="306629" y="1353864"/>
                    </a:moveTo>
                    <a:lnTo>
                      <a:pt x="337071" y="1315660"/>
                    </a:lnTo>
                    <a:moveTo>
                      <a:pt x="354035" y="1285646"/>
                    </a:moveTo>
                    <a:lnTo>
                      <a:pt x="383829" y="1223877"/>
                    </a:lnTo>
                    <a:moveTo>
                      <a:pt x="384038" y="1223334"/>
                    </a:moveTo>
                    <a:lnTo>
                      <a:pt x="383829" y="1223877"/>
                    </a:lnTo>
                    <a:moveTo>
                      <a:pt x="337071" y="1315660"/>
                    </a:moveTo>
                    <a:lnTo>
                      <a:pt x="354035" y="1285646"/>
                    </a:lnTo>
                    <a:moveTo>
                      <a:pt x="442903" y="1055818"/>
                    </a:moveTo>
                    <a:lnTo>
                      <a:pt x="432654" y="1081526"/>
                    </a:lnTo>
                    <a:moveTo>
                      <a:pt x="432654" y="1081526"/>
                    </a:moveTo>
                    <a:lnTo>
                      <a:pt x="415061" y="1123026"/>
                    </a:lnTo>
                    <a:moveTo>
                      <a:pt x="400231" y="1172775"/>
                    </a:moveTo>
                    <a:lnTo>
                      <a:pt x="407689" y="1146296"/>
                    </a:lnTo>
                    <a:moveTo>
                      <a:pt x="407689" y="1146296"/>
                    </a:moveTo>
                    <a:lnTo>
                      <a:pt x="415061" y="1123026"/>
                    </a:lnTo>
                    <a:moveTo>
                      <a:pt x="447465" y="1043321"/>
                    </a:moveTo>
                    <a:lnTo>
                      <a:pt x="442903" y="1055818"/>
                    </a:lnTo>
                    <a:moveTo>
                      <a:pt x="394773" y="1186615"/>
                    </a:moveTo>
                    <a:lnTo>
                      <a:pt x="400231" y="1172775"/>
                    </a:lnTo>
                    <a:moveTo>
                      <a:pt x="384219" y="1222648"/>
                    </a:moveTo>
                    <a:lnTo>
                      <a:pt x="394773" y="1186615"/>
                    </a:lnTo>
                    <a:moveTo>
                      <a:pt x="384038" y="1223334"/>
                    </a:moveTo>
                    <a:lnTo>
                      <a:pt x="384219" y="1222648"/>
                    </a:lnTo>
                    <a:moveTo>
                      <a:pt x="225095" y="1400175"/>
                    </a:moveTo>
                    <a:lnTo>
                      <a:pt x="235963" y="1398299"/>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10" name="Google Shape;466;p12"/>
              <p:cNvSpPr/>
              <p:nvPr/>
            </p:nvSpPr>
            <p:spPr>
              <a:xfrm>
                <a:off x="943560" y="3332880"/>
                <a:ext cx="153720" cy="196200"/>
              </a:xfrm>
              <a:custGeom>
                <a:avLst/>
                <a:gdLst>
                  <a:gd name="textAreaLeft" fmla="*/ 0 w 153720"/>
                  <a:gd name="textAreaRight" fmla="*/ 154080 w 153720"/>
                  <a:gd name="textAreaTop" fmla="*/ 0 h 196200"/>
                  <a:gd name="textAreaBottom" fmla="*/ 196560 h 196200"/>
                </a:gdLst>
                <a:ahLst/>
                <a:cxnLst/>
                <a:rect l="textAreaLeft" t="textAreaTop" r="textAreaRight" b="textAreaBottom"/>
                <a:pathLst>
                  <a:path w="155248" h="197463">
                    <a:moveTo>
                      <a:pt x="88944" y="9573"/>
                    </a:moveTo>
                    <a:lnTo>
                      <a:pt x="93640" y="11268"/>
                    </a:lnTo>
                    <a:moveTo>
                      <a:pt x="94440" y="11668"/>
                    </a:moveTo>
                    <a:lnTo>
                      <a:pt x="107699" y="18183"/>
                    </a:lnTo>
                    <a:moveTo>
                      <a:pt x="107699" y="18183"/>
                    </a:moveTo>
                    <a:lnTo>
                      <a:pt x="116691" y="24022"/>
                    </a:lnTo>
                    <a:moveTo>
                      <a:pt x="93640" y="11268"/>
                    </a:moveTo>
                    <a:lnTo>
                      <a:pt x="94440" y="11668"/>
                    </a:lnTo>
                    <a:moveTo>
                      <a:pt x="116691" y="24022"/>
                    </a:moveTo>
                    <a:lnTo>
                      <a:pt x="120253" y="26337"/>
                    </a:lnTo>
                    <a:moveTo>
                      <a:pt x="124130" y="29651"/>
                    </a:moveTo>
                    <a:lnTo>
                      <a:pt x="131112" y="35614"/>
                    </a:lnTo>
                    <a:moveTo>
                      <a:pt x="131112" y="35614"/>
                    </a:moveTo>
                    <a:lnTo>
                      <a:pt x="135884" y="41062"/>
                    </a:lnTo>
                    <a:moveTo>
                      <a:pt x="120253" y="26337"/>
                    </a:moveTo>
                    <a:lnTo>
                      <a:pt x="124130" y="29651"/>
                    </a:lnTo>
                    <a:moveTo>
                      <a:pt x="140113" y="45882"/>
                    </a:moveTo>
                    <a:lnTo>
                      <a:pt x="143361" y="51016"/>
                    </a:lnTo>
                    <a:moveTo>
                      <a:pt x="135884" y="41062"/>
                    </a:moveTo>
                    <a:lnTo>
                      <a:pt x="140113" y="45882"/>
                    </a:lnTo>
                    <a:moveTo>
                      <a:pt x="143361" y="51016"/>
                    </a:moveTo>
                    <a:lnTo>
                      <a:pt x="147114" y="56960"/>
                    </a:lnTo>
                    <a:moveTo>
                      <a:pt x="150009" y="63894"/>
                    </a:moveTo>
                    <a:lnTo>
                      <a:pt x="152019" y="68704"/>
                    </a:lnTo>
                    <a:moveTo>
                      <a:pt x="152019" y="68704"/>
                    </a:moveTo>
                    <a:lnTo>
                      <a:pt x="153076" y="73466"/>
                    </a:lnTo>
                    <a:moveTo>
                      <a:pt x="147114" y="56960"/>
                    </a:moveTo>
                    <a:lnTo>
                      <a:pt x="150009" y="63894"/>
                    </a:lnTo>
                    <a:moveTo>
                      <a:pt x="153076" y="73466"/>
                    </a:moveTo>
                    <a:lnTo>
                      <a:pt x="154743" y="80924"/>
                    </a:lnTo>
                    <a:moveTo>
                      <a:pt x="154743" y="80924"/>
                    </a:moveTo>
                    <a:lnTo>
                      <a:pt x="155048" y="88554"/>
                    </a:lnTo>
                    <a:moveTo>
                      <a:pt x="155048" y="88554"/>
                    </a:moveTo>
                    <a:lnTo>
                      <a:pt x="155248" y="93440"/>
                    </a:lnTo>
                    <a:moveTo>
                      <a:pt x="155248" y="93440"/>
                    </a:moveTo>
                    <a:lnTo>
                      <a:pt x="154543" y="98622"/>
                    </a:lnTo>
                    <a:moveTo>
                      <a:pt x="154543" y="98622"/>
                    </a:moveTo>
                    <a:lnTo>
                      <a:pt x="153524" y="106051"/>
                    </a:lnTo>
                    <a:moveTo>
                      <a:pt x="151428" y="112747"/>
                    </a:moveTo>
                    <a:lnTo>
                      <a:pt x="149609" y="118586"/>
                    </a:lnTo>
                    <a:moveTo>
                      <a:pt x="149609" y="118586"/>
                    </a:moveTo>
                    <a:lnTo>
                      <a:pt x="146333" y="125206"/>
                    </a:lnTo>
                    <a:moveTo>
                      <a:pt x="153524" y="106051"/>
                    </a:moveTo>
                    <a:lnTo>
                      <a:pt x="151428" y="112747"/>
                    </a:lnTo>
                    <a:moveTo>
                      <a:pt x="146333" y="125206"/>
                    </a:moveTo>
                    <a:lnTo>
                      <a:pt x="143542" y="130845"/>
                    </a:lnTo>
                    <a:moveTo>
                      <a:pt x="143542" y="130845"/>
                    </a:moveTo>
                    <a:lnTo>
                      <a:pt x="140456" y="135331"/>
                    </a:lnTo>
                    <a:moveTo>
                      <a:pt x="140456" y="135331"/>
                    </a:moveTo>
                    <a:lnTo>
                      <a:pt x="135436" y="142627"/>
                    </a:lnTo>
                    <a:moveTo>
                      <a:pt x="135436" y="142627"/>
                    </a:moveTo>
                    <a:lnTo>
                      <a:pt x="132636" y="145742"/>
                    </a:lnTo>
                    <a:moveTo>
                      <a:pt x="132636" y="145742"/>
                    </a:moveTo>
                    <a:lnTo>
                      <a:pt x="125406" y="153781"/>
                    </a:lnTo>
                    <a:moveTo>
                      <a:pt x="125406" y="153781"/>
                    </a:moveTo>
                    <a:lnTo>
                      <a:pt x="123463" y="155477"/>
                    </a:lnTo>
                    <a:moveTo>
                      <a:pt x="123463" y="155477"/>
                    </a:moveTo>
                    <a:lnTo>
                      <a:pt x="113595" y="164116"/>
                    </a:lnTo>
                    <a:moveTo>
                      <a:pt x="113595" y="164116"/>
                    </a:moveTo>
                    <a:lnTo>
                      <a:pt x="113100" y="164468"/>
                    </a:lnTo>
                    <a:moveTo>
                      <a:pt x="113100" y="164468"/>
                    </a:moveTo>
                    <a:lnTo>
                      <a:pt x="110014" y="166621"/>
                    </a:lnTo>
                    <a:moveTo>
                      <a:pt x="109661" y="163992"/>
                    </a:moveTo>
                    <a:lnTo>
                      <a:pt x="109709" y="164392"/>
                    </a:lnTo>
                    <a:moveTo>
                      <a:pt x="109709" y="164392"/>
                    </a:moveTo>
                    <a:lnTo>
                      <a:pt x="110014" y="166621"/>
                    </a:lnTo>
                    <a:moveTo>
                      <a:pt x="89040" y="10287"/>
                    </a:moveTo>
                    <a:lnTo>
                      <a:pt x="89297" y="12211"/>
                    </a:lnTo>
                    <a:moveTo>
                      <a:pt x="88944" y="9573"/>
                    </a:moveTo>
                    <a:lnTo>
                      <a:pt x="89040" y="10287"/>
                    </a:lnTo>
                    <a:moveTo>
                      <a:pt x="2896" y="1105"/>
                    </a:moveTo>
                    <a:lnTo>
                      <a:pt x="8820" y="448"/>
                    </a:lnTo>
                    <a:moveTo>
                      <a:pt x="10401" y="400"/>
                    </a:moveTo>
                    <a:lnTo>
                      <a:pt x="26499" y="0"/>
                    </a:lnTo>
                    <a:moveTo>
                      <a:pt x="26499" y="0"/>
                    </a:moveTo>
                    <a:lnTo>
                      <a:pt x="36909" y="638"/>
                    </a:lnTo>
                    <a:moveTo>
                      <a:pt x="8820" y="448"/>
                    </a:moveTo>
                    <a:lnTo>
                      <a:pt x="10401" y="400"/>
                    </a:lnTo>
                    <a:moveTo>
                      <a:pt x="36909" y="638"/>
                    </a:moveTo>
                    <a:lnTo>
                      <a:pt x="43891" y="1067"/>
                    </a:lnTo>
                    <a:moveTo>
                      <a:pt x="53997" y="2610"/>
                    </a:moveTo>
                    <a:lnTo>
                      <a:pt x="60750" y="3648"/>
                    </a:lnTo>
                    <a:moveTo>
                      <a:pt x="43891" y="1067"/>
                    </a:moveTo>
                    <a:lnTo>
                      <a:pt x="53997" y="2610"/>
                    </a:lnTo>
                    <a:moveTo>
                      <a:pt x="74076" y="7001"/>
                    </a:moveTo>
                    <a:lnTo>
                      <a:pt x="76819" y="7687"/>
                    </a:lnTo>
                    <a:moveTo>
                      <a:pt x="76819" y="7687"/>
                    </a:moveTo>
                    <a:lnTo>
                      <a:pt x="78619" y="8344"/>
                    </a:lnTo>
                    <a:moveTo>
                      <a:pt x="60750" y="3648"/>
                    </a:moveTo>
                    <a:lnTo>
                      <a:pt x="74076" y="7001"/>
                    </a:lnTo>
                    <a:moveTo>
                      <a:pt x="89297" y="12211"/>
                    </a:moveTo>
                    <a:lnTo>
                      <a:pt x="78619" y="8344"/>
                    </a:lnTo>
                    <a:moveTo>
                      <a:pt x="109661" y="163992"/>
                    </a:moveTo>
                    <a:lnTo>
                      <a:pt x="99917" y="170812"/>
                    </a:lnTo>
                    <a:moveTo>
                      <a:pt x="99917" y="170812"/>
                    </a:moveTo>
                    <a:lnTo>
                      <a:pt x="98269" y="171955"/>
                    </a:lnTo>
                    <a:moveTo>
                      <a:pt x="98269" y="171955"/>
                    </a:moveTo>
                    <a:lnTo>
                      <a:pt x="87830" y="177794"/>
                    </a:lnTo>
                    <a:moveTo>
                      <a:pt x="87830" y="177794"/>
                    </a:moveTo>
                    <a:lnTo>
                      <a:pt x="83782" y="180051"/>
                    </a:lnTo>
                    <a:moveTo>
                      <a:pt x="83782" y="180051"/>
                    </a:moveTo>
                    <a:lnTo>
                      <a:pt x="77381" y="182870"/>
                    </a:lnTo>
                    <a:moveTo>
                      <a:pt x="68161" y="186928"/>
                    </a:moveTo>
                    <a:lnTo>
                      <a:pt x="57264" y="190595"/>
                    </a:lnTo>
                    <a:moveTo>
                      <a:pt x="77381" y="182870"/>
                    </a:moveTo>
                    <a:lnTo>
                      <a:pt x="68161" y="186928"/>
                    </a:lnTo>
                    <a:moveTo>
                      <a:pt x="57264" y="190595"/>
                    </a:moveTo>
                    <a:lnTo>
                      <a:pt x="51626" y="192491"/>
                    </a:lnTo>
                    <a:moveTo>
                      <a:pt x="47768" y="193434"/>
                    </a:moveTo>
                    <a:lnTo>
                      <a:pt x="34442" y="196663"/>
                    </a:lnTo>
                    <a:moveTo>
                      <a:pt x="51626" y="192491"/>
                    </a:moveTo>
                    <a:lnTo>
                      <a:pt x="47768" y="193434"/>
                    </a:lnTo>
                    <a:moveTo>
                      <a:pt x="33528" y="196806"/>
                    </a:moveTo>
                    <a:lnTo>
                      <a:pt x="29232" y="197463"/>
                    </a:lnTo>
                    <a:moveTo>
                      <a:pt x="34442" y="196663"/>
                    </a:moveTo>
                    <a:lnTo>
                      <a:pt x="33528" y="196806"/>
                    </a:lnTo>
                    <a:moveTo>
                      <a:pt x="8725" y="22870"/>
                    </a:moveTo>
                    <a:lnTo>
                      <a:pt x="2219" y="23593"/>
                    </a:lnTo>
                    <a:moveTo>
                      <a:pt x="9277" y="22860"/>
                    </a:moveTo>
                    <a:lnTo>
                      <a:pt x="8725" y="22870"/>
                    </a:lnTo>
                    <a:moveTo>
                      <a:pt x="9277" y="22860"/>
                    </a:moveTo>
                    <a:lnTo>
                      <a:pt x="22431" y="22527"/>
                    </a:lnTo>
                    <a:moveTo>
                      <a:pt x="24089" y="22622"/>
                    </a:moveTo>
                    <a:lnTo>
                      <a:pt x="22431" y="22527"/>
                    </a:lnTo>
                    <a:moveTo>
                      <a:pt x="24089" y="22622"/>
                    </a:moveTo>
                    <a:lnTo>
                      <a:pt x="35928" y="23355"/>
                    </a:lnTo>
                    <a:moveTo>
                      <a:pt x="35928" y="23355"/>
                    </a:moveTo>
                    <a:lnTo>
                      <a:pt x="45834" y="24870"/>
                    </a:lnTo>
                    <a:moveTo>
                      <a:pt x="48997" y="25356"/>
                    </a:moveTo>
                    <a:lnTo>
                      <a:pt x="45834" y="24870"/>
                    </a:lnTo>
                    <a:moveTo>
                      <a:pt x="52454" y="26222"/>
                    </a:moveTo>
                    <a:lnTo>
                      <a:pt x="48997" y="25356"/>
                    </a:lnTo>
                    <a:moveTo>
                      <a:pt x="52454" y="26222"/>
                    </a:moveTo>
                    <a:lnTo>
                      <a:pt x="61455" y="28489"/>
                    </a:lnTo>
                    <a:moveTo>
                      <a:pt x="65503" y="29956"/>
                    </a:moveTo>
                    <a:lnTo>
                      <a:pt x="73114" y="32709"/>
                    </a:lnTo>
                    <a:moveTo>
                      <a:pt x="65503" y="29956"/>
                    </a:moveTo>
                    <a:lnTo>
                      <a:pt x="61455" y="28489"/>
                    </a:lnTo>
                    <a:moveTo>
                      <a:pt x="77495" y="34871"/>
                    </a:moveTo>
                    <a:lnTo>
                      <a:pt x="83782" y="37957"/>
                    </a:lnTo>
                    <a:moveTo>
                      <a:pt x="77495" y="34871"/>
                    </a:moveTo>
                    <a:lnTo>
                      <a:pt x="73114" y="32709"/>
                    </a:lnTo>
                    <a:moveTo>
                      <a:pt x="88230" y="40843"/>
                    </a:moveTo>
                    <a:lnTo>
                      <a:pt x="93316" y="44148"/>
                    </a:lnTo>
                    <a:moveTo>
                      <a:pt x="88230" y="40843"/>
                    </a:moveTo>
                    <a:lnTo>
                      <a:pt x="83782" y="37957"/>
                    </a:lnTo>
                    <a:moveTo>
                      <a:pt x="97546" y="47768"/>
                    </a:moveTo>
                    <a:lnTo>
                      <a:pt x="101565" y="51197"/>
                    </a:lnTo>
                    <a:moveTo>
                      <a:pt x="97546" y="47768"/>
                    </a:moveTo>
                    <a:lnTo>
                      <a:pt x="93316" y="44148"/>
                    </a:lnTo>
                    <a:moveTo>
                      <a:pt x="105318" y="55483"/>
                    </a:moveTo>
                    <a:lnTo>
                      <a:pt x="108394" y="58988"/>
                    </a:lnTo>
                    <a:moveTo>
                      <a:pt x="108394" y="58988"/>
                    </a:moveTo>
                    <a:lnTo>
                      <a:pt x="110652" y="62570"/>
                    </a:lnTo>
                    <a:moveTo>
                      <a:pt x="105318" y="55483"/>
                    </a:moveTo>
                    <a:lnTo>
                      <a:pt x="101565" y="51197"/>
                    </a:lnTo>
                    <a:moveTo>
                      <a:pt x="113709" y="67399"/>
                    </a:moveTo>
                    <a:lnTo>
                      <a:pt x="110652" y="62570"/>
                    </a:lnTo>
                    <a:moveTo>
                      <a:pt x="115929" y="72714"/>
                    </a:moveTo>
                    <a:lnTo>
                      <a:pt x="117434" y="76314"/>
                    </a:lnTo>
                    <a:moveTo>
                      <a:pt x="115929" y="72714"/>
                    </a:moveTo>
                    <a:lnTo>
                      <a:pt x="113709" y="67399"/>
                    </a:lnTo>
                    <a:moveTo>
                      <a:pt x="118682" y="81925"/>
                    </a:moveTo>
                    <a:lnTo>
                      <a:pt x="119501" y="85592"/>
                    </a:lnTo>
                    <a:moveTo>
                      <a:pt x="118682" y="81925"/>
                    </a:moveTo>
                    <a:lnTo>
                      <a:pt x="117434" y="76314"/>
                    </a:lnTo>
                    <a:moveTo>
                      <a:pt x="119729" y="91326"/>
                    </a:moveTo>
                    <a:lnTo>
                      <a:pt x="119882" y="95088"/>
                    </a:lnTo>
                    <a:moveTo>
                      <a:pt x="119729" y="91326"/>
                    </a:moveTo>
                    <a:lnTo>
                      <a:pt x="119501" y="85592"/>
                    </a:lnTo>
                    <a:moveTo>
                      <a:pt x="119110" y="100775"/>
                    </a:moveTo>
                    <a:lnTo>
                      <a:pt x="119882" y="95088"/>
                    </a:lnTo>
                    <a:moveTo>
                      <a:pt x="119110" y="100775"/>
                    </a:moveTo>
                    <a:lnTo>
                      <a:pt x="118577" y="104670"/>
                    </a:lnTo>
                    <a:moveTo>
                      <a:pt x="118577" y="104670"/>
                    </a:moveTo>
                    <a:lnTo>
                      <a:pt x="117319" y="108690"/>
                    </a:lnTo>
                    <a:moveTo>
                      <a:pt x="115605" y="114186"/>
                    </a:moveTo>
                    <a:lnTo>
                      <a:pt x="117319" y="108690"/>
                    </a:lnTo>
                    <a:moveTo>
                      <a:pt x="113090" y="119263"/>
                    </a:moveTo>
                    <a:lnTo>
                      <a:pt x="115605" y="114186"/>
                    </a:lnTo>
                    <a:moveTo>
                      <a:pt x="113090" y="119263"/>
                    </a:moveTo>
                    <a:lnTo>
                      <a:pt x="111004" y="123482"/>
                    </a:lnTo>
                    <a:moveTo>
                      <a:pt x="107861" y="128054"/>
                    </a:moveTo>
                    <a:lnTo>
                      <a:pt x="111004" y="123482"/>
                    </a:lnTo>
                    <a:moveTo>
                      <a:pt x="107861" y="128054"/>
                    </a:moveTo>
                    <a:lnTo>
                      <a:pt x="104842" y="132436"/>
                    </a:lnTo>
                    <a:moveTo>
                      <a:pt x="104842" y="132436"/>
                    </a:moveTo>
                    <a:lnTo>
                      <a:pt x="100755" y="136979"/>
                    </a:lnTo>
                    <a:moveTo>
                      <a:pt x="97222" y="140903"/>
                    </a:moveTo>
                    <a:lnTo>
                      <a:pt x="100755" y="136979"/>
                    </a:lnTo>
                    <a:moveTo>
                      <a:pt x="93478" y="144180"/>
                    </a:moveTo>
                    <a:lnTo>
                      <a:pt x="97222" y="140903"/>
                    </a:lnTo>
                    <a:moveTo>
                      <a:pt x="93478" y="144180"/>
                    </a:moveTo>
                    <a:lnTo>
                      <a:pt x="88259" y="148752"/>
                    </a:lnTo>
                    <a:moveTo>
                      <a:pt x="84572" y="151333"/>
                    </a:moveTo>
                    <a:lnTo>
                      <a:pt x="88259" y="148752"/>
                    </a:lnTo>
                    <a:moveTo>
                      <a:pt x="84572" y="151333"/>
                    </a:moveTo>
                    <a:lnTo>
                      <a:pt x="78086" y="155867"/>
                    </a:lnTo>
                    <a:moveTo>
                      <a:pt x="74686" y="157763"/>
                    </a:moveTo>
                    <a:lnTo>
                      <a:pt x="78086" y="155867"/>
                    </a:lnTo>
                    <a:moveTo>
                      <a:pt x="74686" y="157763"/>
                    </a:moveTo>
                    <a:lnTo>
                      <a:pt x="66856" y="162135"/>
                    </a:lnTo>
                    <a:moveTo>
                      <a:pt x="66856" y="162135"/>
                    </a:moveTo>
                    <a:lnTo>
                      <a:pt x="57150" y="166411"/>
                    </a:lnTo>
                    <a:moveTo>
                      <a:pt x="54740" y="167469"/>
                    </a:moveTo>
                    <a:lnTo>
                      <a:pt x="57150" y="166411"/>
                    </a:lnTo>
                    <a:moveTo>
                      <a:pt x="52530" y="168212"/>
                    </a:moveTo>
                    <a:lnTo>
                      <a:pt x="54740" y="167469"/>
                    </a:lnTo>
                    <a:moveTo>
                      <a:pt x="52530" y="168212"/>
                    </a:moveTo>
                    <a:lnTo>
                      <a:pt x="41920" y="171793"/>
                    </a:lnTo>
                    <a:moveTo>
                      <a:pt x="40557" y="172117"/>
                    </a:moveTo>
                    <a:lnTo>
                      <a:pt x="41920" y="171793"/>
                    </a:lnTo>
                    <a:moveTo>
                      <a:pt x="40557" y="172117"/>
                    </a:moveTo>
                    <a:lnTo>
                      <a:pt x="28594" y="175022"/>
                    </a:lnTo>
                    <a:moveTo>
                      <a:pt x="28165" y="175089"/>
                    </a:moveTo>
                    <a:lnTo>
                      <a:pt x="28594" y="175022"/>
                    </a:lnTo>
                    <a:moveTo>
                      <a:pt x="28165" y="175089"/>
                    </a:moveTo>
                    <a:lnTo>
                      <a:pt x="22660" y="175936"/>
                    </a:lnTo>
                    <a:moveTo>
                      <a:pt x="1657" y="3639"/>
                    </a:moveTo>
                    <a:lnTo>
                      <a:pt x="0" y="7029"/>
                    </a:lnTo>
                    <a:moveTo>
                      <a:pt x="2896" y="1105"/>
                    </a:moveTo>
                    <a:lnTo>
                      <a:pt x="1657" y="3639"/>
                    </a:lnTo>
                    <a:moveTo>
                      <a:pt x="26603" y="194462"/>
                    </a:moveTo>
                    <a:lnTo>
                      <a:pt x="24879" y="192500"/>
                    </a:lnTo>
                    <a:moveTo>
                      <a:pt x="29232" y="197463"/>
                    </a:moveTo>
                    <a:lnTo>
                      <a:pt x="26603" y="194462"/>
                    </a:lnTo>
                    <a:moveTo>
                      <a:pt x="22660" y="175936"/>
                    </a:moveTo>
                    <a:lnTo>
                      <a:pt x="23736" y="184004"/>
                    </a:lnTo>
                    <a:moveTo>
                      <a:pt x="23736" y="184004"/>
                    </a:moveTo>
                    <a:lnTo>
                      <a:pt x="24879" y="192500"/>
                    </a:lnTo>
                    <a:moveTo>
                      <a:pt x="1219" y="16107"/>
                    </a:moveTo>
                    <a:lnTo>
                      <a:pt x="2219" y="23593"/>
                    </a:lnTo>
                    <a:moveTo>
                      <a:pt x="0" y="7029"/>
                    </a:moveTo>
                    <a:lnTo>
                      <a:pt x="1219" y="16107"/>
                    </a:lnTo>
                  </a:path>
                </a:pathLst>
              </a:custGeom>
              <a:noFill/>
              <a:ln w="19050">
                <a:solidFill>
                  <a:srgbClr val="497D89"/>
                </a:solidFill>
                <a:round/>
              </a:ln>
            </p:spPr>
            <p:style>
              <a:lnRef idx="0"/>
              <a:fillRef idx="0"/>
              <a:effectRef idx="0"/>
              <a:fontRef idx="minor"/>
            </p:style>
            <p:txBody>
              <a:bodyPr lIns="77040" tIns="45000" rIns="77040" bIns="45000" anchor="t">
                <a:noAutofit/>
              </a:bodyPr>
              <a:p>
                <a:pPr/>
                <a:endParaRPr lang="en-US" sz="1400" b="0" u="none" strike="noStrike">
                  <a:solidFill>
                    <a:srgbClr val="000000"/>
                  </a:solidFill>
                  <a:effectLst/>
                  <a:uFillTx/>
                  <a:latin typeface="Arial"/>
                </a:endParaRPr>
              </a:p>
            </p:txBody>
          </p:sp>
          <p:sp>
            <p:nvSpPr>
              <p:cNvPr id="411" name="Google Shape;467;p12"/>
              <p:cNvSpPr/>
              <p:nvPr/>
            </p:nvSpPr>
            <p:spPr>
              <a:xfrm>
                <a:off x="829080" y="3227760"/>
                <a:ext cx="399240" cy="385920"/>
              </a:xfrm>
              <a:custGeom>
                <a:avLst/>
                <a:gdLst>
                  <a:gd name="textAreaLeft" fmla="*/ 0 w 399240"/>
                  <a:gd name="textAreaRight" fmla="*/ 399600 w 399240"/>
                  <a:gd name="textAreaTop" fmla="*/ 0 h 385920"/>
                  <a:gd name="textAreaBottom" fmla="*/ 386280 h 385920"/>
                </a:gdLst>
                <a:ahLst/>
                <a:cxnLst/>
                <a:rect l="textAreaLeft" t="textAreaTop" r="textAreaRight" b="textAreaBottom"/>
                <a:pathLst>
                  <a:path w="400564" h="387344">
                    <a:moveTo>
                      <a:pt x="1076" y="173165"/>
                    </a:moveTo>
                    <a:lnTo>
                      <a:pt x="1076" y="172641"/>
                    </a:lnTo>
                    <a:moveTo>
                      <a:pt x="1229" y="174603"/>
                    </a:moveTo>
                    <a:lnTo>
                      <a:pt x="1076" y="173165"/>
                    </a:lnTo>
                    <a:moveTo>
                      <a:pt x="124" y="157153"/>
                    </a:moveTo>
                    <a:lnTo>
                      <a:pt x="610" y="165116"/>
                    </a:lnTo>
                    <a:moveTo>
                      <a:pt x="57" y="155800"/>
                    </a:moveTo>
                    <a:lnTo>
                      <a:pt x="124" y="157153"/>
                    </a:lnTo>
                    <a:moveTo>
                      <a:pt x="610" y="165116"/>
                    </a:moveTo>
                    <a:lnTo>
                      <a:pt x="1076" y="172641"/>
                    </a:lnTo>
                    <a:moveTo>
                      <a:pt x="3896" y="127444"/>
                    </a:moveTo>
                    <a:lnTo>
                      <a:pt x="5058" y="123330"/>
                    </a:lnTo>
                    <a:moveTo>
                      <a:pt x="2962" y="130759"/>
                    </a:moveTo>
                    <a:lnTo>
                      <a:pt x="3896" y="127444"/>
                    </a:lnTo>
                    <a:moveTo>
                      <a:pt x="108814" y="22679"/>
                    </a:moveTo>
                    <a:lnTo>
                      <a:pt x="123863" y="16583"/>
                    </a:lnTo>
                    <a:moveTo>
                      <a:pt x="86249" y="31823"/>
                    </a:moveTo>
                    <a:lnTo>
                      <a:pt x="108814" y="22679"/>
                    </a:lnTo>
                    <a:moveTo>
                      <a:pt x="12983" y="103575"/>
                    </a:moveTo>
                    <a:lnTo>
                      <a:pt x="24717" y="84306"/>
                    </a:lnTo>
                    <a:moveTo>
                      <a:pt x="196939" y="0"/>
                    </a:moveTo>
                    <a:lnTo>
                      <a:pt x="255365" y="6610"/>
                    </a:lnTo>
                    <a:moveTo>
                      <a:pt x="255365" y="6610"/>
                    </a:moveTo>
                    <a:lnTo>
                      <a:pt x="268300" y="8839"/>
                    </a:lnTo>
                    <a:moveTo>
                      <a:pt x="268300" y="8839"/>
                    </a:moveTo>
                    <a:lnTo>
                      <a:pt x="286788" y="13992"/>
                    </a:lnTo>
                    <a:moveTo>
                      <a:pt x="35309" y="71114"/>
                    </a:moveTo>
                    <a:lnTo>
                      <a:pt x="49863" y="58474"/>
                    </a:lnTo>
                    <a:moveTo>
                      <a:pt x="49863" y="58474"/>
                    </a:moveTo>
                    <a:lnTo>
                      <a:pt x="64465" y="45787"/>
                    </a:lnTo>
                    <a:moveTo>
                      <a:pt x="64465" y="45787"/>
                    </a:moveTo>
                    <a:lnTo>
                      <a:pt x="86249" y="31823"/>
                    </a:lnTo>
                    <a:moveTo>
                      <a:pt x="0" y="154334"/>
                    </a:moveTo>
                    <a:lnTo>
                      <a:pt x="57" y="155800"/>
                    </a:lnTo>
                    <a:moveTo>
                      <a:pt x="0" y="154334"/>
                    </a:moveTo>
                    <a:lnTo>
                      <a:pt x="1495" y="142475"/>
                    </a:lnTo>
                    <a:moveTo>
                      <a:pt x="1495" y="142475"/>
                    </a:moveTo>
                    <a:lnTo>
                      <a:pt x="2962" y="130759"/>
                    </a:lnTo>
                    <a:moveTo>
                      <a:pt x="9563" y="112100"/>
                    </a:moveTo>
                    <a:lnTo>
                      <a:pt x="5058" y="123330"/>
                    </a:lnTo>
                    <a:moveTo>
                      <a:pt x="9563" y="112100"/>
                    </a:moveTo>
                    <a:lnTo>
                      <a:pt x="12983" y="103575"/>
                    </a:lnTo>
                    <a:moveTo>
                      <a:pt x="150257" y="10573"/>
                    </a:moveTo>
                    <a:lnTo>
                      <a:pt x="196529" y="29"/>
                    </a:lnTo>
                    <a:moveTo>
                      <a:pt x="150257" y="10573"/>
                    </a:moveTo>
                    <a:lnTo>
                      <a:pt x="123863" y="16583"/>
                    </a:lnTo>
                    <a:moveTo>
                      <a:pt x="30566" y="77019"/>
                    </a:moveTo>
                    <a:lnTo>
                      <a:pt x="35309" y="71114"/>
                    </a:lnTo>
                    <a:moveTo>
                      <a:pt x="30566" y="77019"/>
                    </a:moveTo>
                    <a:lnTo>
                      <a:pt x="24717" y="84306"/>
                    </a:lnTo>
                    <a:moveTo>
                      <a:pt x="311915" y="22203"/>
                    </a:moveTo>
                    <a:lnTo>
                      <a:pt x="333918" y="31051"/>
                    </a:lnTo>
                    <a:moveTo>
                      <a:pt x="333918" y="31051"/>
                    </a:moveTo>
                    <a:lnTo>
                      <a:pt x="361693" y="46368"/>
                    </a:lnTo>
                    <a:moveTo>
                      <a:pt x="311915" y="22203"/>
                    </a:moveTo>
                    <a:lnTo>
                      <a:pt x="286788" y="13992"/>
                    </a:lnTo>
                    <a:moveTo>
                      <a:pt x="196682" y="19"/>
                    </a:moveTo>
                    <a:lnTo>
                      <a:pt x="196529" y="29"/>
                    </a:lnTo>
                    <a:moveTo>
                      <a:pt x="196682" y="19"/>
                    </a:moveTo>
                    <a:lnTo>
                      <a:pt x="196939" y="0"/>
                    </a:lnTo>
                    <a:moveTo>
                      <a:pt x="363417" y="47444"/>
                    </a:moveTo>
                    <a:lnTo>
                      <a:pt x="361693" y="46368"/>
                    </a:lnTo>
                    <a:moveTo>
                      <a:pt x="363417" y="47444"/>
                    </a:moveTo>
                    <a:lnTo>
                      <a:pt x="368646" y="51340"/>
                    </a:lnTo>
                    <a:moveTo>
                      <a:pt x="395802" y="295313"/>
                    </a:moveTo>
                    <a:lnTo>
                      <a:pt x="400564" y="289312"/>
                    </a:lnTo>
                    <a:moveTo>
                      <a:pt x="394164" y="297085"/>
                    </a:moveTo>
                    <a:lnTo>
                      <a:pt x="395802" y="295313"/>
                    </a:lnTo>
                    <a:moveTo>
                      <a:pt x="394164" y="297085"/>
                    </a:moveTo>
                    <a:lnTo>
                      <a:pt x="371418" y="318945"/>
                    </a:lnTo>
                    <a:moveTo>
                      <a:pt x="371418" y="318945"/>
                    </a:moveTo>
                    <a:lnTo>
                      <a:pt x="352606" y="333089"/>
                    </a:lnTo>
                    <a:moveTo>
                      <a:pt x="329984" y="347843"/>
                    </a:moveTo>
                    <a:lnTo>
                      <a:pt x="352606" y="333089"/>
                    </a:lnTo>
                    <a:moveTo>
                      <a:pt x="329984" y="347843"/>
                    </a:moveTo>
                    <a:lnTo>
                      <a:pt x="313744" y="357454"/>
                    </a:lnTo>
                    <a:moveTo>
                      <a:pt x="313744" y="357454"/>
                    </a:moveTo>
                    <a:lnTo>
                      <a:pt x="302047" y="362874"/>
                    </a:lnTo>
                    <a:moveTo>
                      <a:pt x="248450" y="384010"/>
                    </a:moveTo>
                    <a:lnTo>
                      <a:pt x="302047" y="362874"/>
                    </a:lnTo>
                    <a:moveTo>
                      <a:pt x="246545" y="384410"/>
                    </a:moveTo>
                    <a:lnTo>
                      <a:pt x="248450" y="384010"/>
                    </a:lnTo>
                    <a:moveTo>
                      <a:pt x="243383" y="384534"/>
                    </a:moveTo>
                    <a:lnTo>
                      <a:pt x="172231" y="387344"/>
                    </a:lnTo>
                    <a:moveTo>
                      <a:pt x="243383" y="384534"/>
                    </a:moveTo>
                    <a:lnTo>
                      <a:pt x="246545" y="384410"/>
                    </a:lnTo>
                    <a:moveTo>
                      <a:pt x="133302" y="382591"/>
                    </a:moveTo>
                    <a:lnTo>
                      <a:pt x="172231" y="387344"/>
                    </a:lnTo>
                    <a:moveTo>
                      <a:pt x="119663" y="378285"/>
                    </a:moveTo>
                    <a:lnTo>
                      <a:pt x="133302" y="382591"/>
                    </a:lnTo>
                    <a:moveTo>
                      <a:pt x="107480" y="374437"/>
                    </a:moveTo>
                    <a:lnTo>
                      <a:pt x="119663" y="378285"/>
                    </a:lnTo>
                    <a:moveTo>
                      <a:pt x="73800" y="358102"/>
                    </a:moveTo>
                    <a:lnTo>
                      <a:pt x="107480" y="374437"/>
                    </a:lnTo>
                    <a:moveTo>
                      <a:pt x="67323" y="353378"/>
                    </a:moveTo>
                    <a:lnTo>
                      <a:pt x="73800" y="358102"/>
                    </a:lnTo>
                    <a:moveTo>
                      <a:pt x="59369" y="347586"/>
                    </a:moveTo>
                    <a:lnTo>
                      <a:pt x="67323" y="353378"/>
                    </a:lnTo>
                    <a:moveTo>
                      <a:pt x="43720" y="332718"/>
                    </a:moveTo>
                    <a:lnTo>
                      <a:pt x="59369" y="347586"/>
                    </a:lnTo>
                    <a:moveTo>
                      <a:pt x="30451" y="315125"/>
                    </a:moveTo>
                    <a:lnTo>
                      <a:pt x="43720" y="332718"/>
                    </a:lnTo>
                    <a:moveTo>
                      <a:pt x="26899" y="309181"/>
                    </a:moveTo>
                    <a:lnTo>
                      <a:pt x="30451" y="315125"/>
                    </a:lnTo>
                    <a:moveTo>
                      <a:pt x="17069" y="283816"/>
                    </a:moveTo>
                    <a:lnTo>
                      <a:pt x="17412" y="285388"/>
                    </a:lnTo>
                    <a:moveTo>
                      <a:pt x="15183" y="274806"/>
                    </a:moveTo>
                    <a:lnTo>
                      <a:pt x="17069" y="283816"/>
                    </a:lnTo>
                    <a:moveTo>
                      <a:pt x="17412" y="285388"/>
                    </a:moveTo>
                    <a:lnTo>
                      <a:pt x="17812" y="287093"/>
                    </a:lnTo>
                    <a:moveTo>
                      <a:pt x="17812" y="287093"/>
                    </a:moveTo>
                    <a:lnTo>
                      <a:pt x="20898" y="294580"/>
                    </a:lnTo>
                    <a:moveTo>
                      <a:pt x="20898" y="294580"/>
                    </a:moveTo>
                    <a:lnTo>
                      <a:pt x="26899" y="309181"/>
                    </a:lnTo>
                    <a:moveTo>
                      <a:pt x="13973" y="268910"/>
                    </a:moveTo>
                    <a:lnTo>
                      <a:pt x="13659" y="267319"/>
                    </a:lnTo>
                    <a:moveTo>
                      <a:pt x="13973" y="268910"/>
                    </a:moveTo>
                    <a:lnTo>
                      <a:pt x="15183" y="274806"/>
                    </a:lnTo>
                    <a:moveTo>
                      <a:pt x="12630" y="259661"/>
                    </a:moveTo>
                    <a:lnTo>
                      <a:pt x="13659" y="267319"/>
                    </a:lnTo>
                    <a:moveTo>
                      <a:pt x="12316" y="257299"/>
                    </a:moveTo>
                    <a:lnTo>
                      <a:pt x="12630" y="259661"/>
                    </a:lnTo>
                    <a:moveTo>
                      <a:pt x="11401" y="250498"/>
                    </a:moveTo>
                    <a:lnTo>
                      <a:pt x="12316" y="257299"/>
                    </a:lnTo>
                    <a:moveTo>
                      <a:pt x="10801" y="246031"/>
                    </a:moveTo>
                    <a:lnTo>
                      <a:pt x="11401" y="250498"/>
                    </a:lnTo>
                    <a:moveTo>
                      <a:pt x="9944" y="239592"/>
                    </a:moveTo>
                    <a:lnTo>
                      <a:pt x="10801" y="246031"/>
                    </a:lnTo>
                    <a:moveTo>
                      <a:pt x="9411" y="235610"/>
                    </a:moveTo>
                    <a:lnTo>
                      <a:pt x="9944" y="239592"/>
                    </a:lnTo>
                    <a:moveTo>
                      <a:pt x="8420" y="228248"/>
                    </a:moveTo>
                    <a:lnTo>
                      <a:pt x="9411" y="235610"/>
                    </a:lnTo>
                    <a:moveTo>
                      <a:pt x="8077" y="225657"/>
                    </a:moveTo>
                    <a:lnTo>
                      <a:pt x="8420" y="228248"/>
                    </a:lnTo>
                    <a:moveTo>
                      <a:pt x="7753" y="223285"/>
                    </a:moveTo>
                    <a:lnTo>
                      <a:pt x="8077" y="225657"/>
                    </a:lnTo>
                    <a:moveTo>
                      <a:pt x="6753" y="215846"/>
                    </a:moveTo>
                    <a:lnTo>
                      <a:pt x="7753" y="223285"/>
                    </a:lnTo>
                    <a:moveTo>
                      <a:pt x="4629" y="199977"/>
                    </a:moveTo>
                    <a:lnTo>
                      <a:pt x="5420" y="205883"/>
                    </a:lnTo>
                    <a:moveTo>
                      <a:pt x="6410" y="213227"/>
                    </a:moveTo>
                    <a:lnTo>
                      <a:pt x="6753" y="215846"/>
                    </a:lnTo>
                    <a:moveTo>
                      <a:pt x="5420" y="205883"/>
                    </a:moveTo>
                    <a:lnTo>
                      <a:pt x="6410" y="213227"/>
                    </a:lnTo>
                    <a:moveTo>
                      <a:pt x="3429" y="191033"/>
                    </a:moveTo>
                    <a:lnTo>
                      <a:pt x="4020" y="195434"/>
                    </a:lnTo>
                    <a:moveTo>
                      <a:pt x="4020" y="195434"/>
                    </a:moveTo>
                    <a:lnTo>
                      <a:pt x="4629" y="199977"/>
                    </a:lnTo>
                    <a:moveTo>
                      <a:pt x="2505" y="184128"/>
                    </a:moveTo>
                    <a:lnTo>
                      <a:pt x="3429" y="191033"/>
                    </a:lnTo>
                    <a:moveTo>
                      <a:pt x="1229" y="174603"/>
                    </a:moveTo>
                    <a:lnTo>
                      <a:pt x="2505" y="184128"/>
                    </a:lnTo>
                    <a:moveTo>
                      <a:pt x="18793" y="185537"/>
                    </a:moveTo>
                    <a:lnTo>
                      <a:pt x="23393" y="177717"/>
                    </a:lnTo>
                    <a:moveTo>
                      <a:pt x="18793" y="185537"/>
                    </a:moveTo>
                    <a:lnTo>
                      <a:pt x="18002" y="186861"/>
                    </a:lnTo>
                    <a:moveTo>
                      <a:pt x="24860" y="175870"/>
                    </a:moveTo>
                    <a:lnTo>
                      <a:pt x="30289" y="168993"/>
                    </a:lnTo>
                    <a:moveTo>
                      <a:pt x="24860" y="175870"/>
                    </a:moveTo>
                    <a:lnTo>
                      <a:pt x="23393" y="177717"/>
                    </a:lnTo>
                    <a:moveTo>
                      <a:pt x="32737" y="166592"/>
                    </a:moveTo>
                    <a:lnTo>
                      <a:pt x="38605" y="160820"/>
                    </a:lnTo>
                    <a:moveTo>
                      <a:pt x="32737" y="166592"/>
                    </a:moveTo>
                    <a:lnTo>
                      <a:pt x="30289" y="168993"/>
                    </a:lnTo>
                    <a:moveTo>
                      <a:pt x="42358" y="157886"/>
                    </a:moveTo>
                    <a:lnTo>
                      <a:pt x="48187" y="153333"/>
                    </a:lnTo>
                    <a:moveTo>
                      <a:pt x="42358" y="157886"/>
                    </a:moveTo>
                    <a:lnTo>
                      <a:pt x="38605" y="160820"/>
                    </a:lnTo>
                    <a:moveTo>
                      <a:pt x="53578" y="149962"/>
                    </a:moveTo>
                    <a:lnTo>
                      <a:pt x="58912" y="146628"/>
                    </a:lnTo>
                    <a:moveTo>
                      <a:pt x="53578" y="149962"/>
                    </a:moveTo>
                    <a:lnTo>
                      <a:pt x="48187" y="153333"/>
                    </a:lnTo>
                    <a:moveTo>
                      <a:pt x="66218" y="142989"/>
                    </a:moveTo>
                    <a:lnTo>
                      <a:pt x="70609" y="140808"/>
                    </a:lnTo>
                    <a:moveTo>
                      <a:pt x="66218" y="142989"/>
                    </a:moveTo>
                    <a:lnTo>
                      <a:pt x="58912" y="146628"/>
                    </a:lnTo>
                    <a:moveTo>
                      <a:pt x="80067" y="137150"/>
                    </a:moveTo>
                    <a:lnTo>
                      <a:pt x="83096" y="135969"/>
                    </a:lnTo>
                    <a:moveTo>
                      <a:pt x="80067" y="137150"/>
                    </a:moveTo>
                    <a:lnTo>
                      <a:pt x="70609" y="140808"/>
                    </a:lnTo>
                    <a:moveTo>
                      <a:pt x="94831" y="132588"/>
                    </a:moveTo>
                    <a:lnTo>
                      <a:pt x="96193" y="132188"/>
                    </a:lnTo>
                    <a:moveTo>
                      <a:pt x="94831" y="132588"/>
                    </a:moveTo>
                    <a:lnTo>
                      <a:pt x="83096" y="135969"/>
                    </a:lnTo>
                    <a:moveTo>
                      <a:pt x="106032" y="130245"/>
                    </a:moveTo>
                    <a:lnTo>
                      <a:pt x="96193" y="132188"/>
                    </a:lnTo>
                    <a:moveTo>
                      <a:pt x="117081" y="283102"/>
                    </a:moveTo>
                    <a:lnTo>
                      <a:pt x="115910" y="283188"/>
                    </a:lnTo>
                    <a:moveTo>
                      <a:pt x="126454" y="282464"/>
                    </a:moveTo>
                    <a:lnTo>
                      <a:pt x="117081" y="283102"/>
                    </a:lnTo>
                    <a:moveTo>
                      <a:pt x="104937" y="282988"/>
                    </a:moveTo>
                    <a:lnTo>
                      <a:pt x="115910" y="283188"/>
                    </a:lnTo>
                    <a:moveTo>
                      <a:pt x="104937" y="282988"/>
                    </a:moveTo>
                    <a:lnTo>
                      <a:pt x="102289" y="282940"/>
                    </a:lnTo>
                    <a:moveTo>
                      <a:pt x="92993" y="281950"/>
                    </a:moveTo>
                    <a:lnTo>
                      <a:pt x="88983" y="281521"/>
                    </a:lnTo>
                    <a:moveTo>
                      <a:pt x="92993" y="281950"/>
                    </a:moveTo>
                    <a:lnTo>
                      <a:pt x="102289" y="282940"/>
                    </a:lnTo>
                    <a:moveTo>
                      <a:pt x="81363" y="279997"/>
                    </a:moveTo>
                    <a:lnTo>
                      <a:pt x="76190" y="278949"/>
                    </a:lnTo>
                    <a:moveTo>
                      <a:pt x="81363" y="279997"/>
                    </a:moveTo>
                    <a:lnTo>
                      <a:pt x="88983" y="281521"/>
                    </a:lnTo>
                    <a:moveTo>
                      <a:pt x="70171" y="277120"/>
                    </a:moveTo>
                    <a:lnTo>
                      <a:pt x="64113" y="275263"/>
                    </a:lnTo>
                    <a:moveTo>
                      <a:pt x="64113" y="275263"/>
                    </a:moveTo>
                    <a:lnTo>
                      <a:pt x="57255" y="272358"/>
                    </a:lnTo>
                    <a:moveTo>
                      <a:pt x="70171" y="277120"/>
                    </a:moveTo>
                    <a:lnTo>
                      <a:pt x="76190" y="278949"/>
                    </a:lnTo>
                    <a:moveTo>
                      <a:pt x="52921" y="270520"/>
                    </a:moveTo>
                    <a:lnTo>
                      <a:pt x="57255" y="272358"/>
                    </a:lnTo>
                    <a:moveTo>
                      <a:pt x="49654" y="268672"/>
                    </a:moveTo>
                    <a:lnTo>
                      <a:pt x="42805" y="264795"/>
                    </a:lnTo>
                    <a:moveTo>
                      <a:pt x="49654" y="268672"/>
                    </a:moveTo>
                    <a:lnTo>
                      <a:pt x="52921" y="270520"/>
                    </a:lnTo>
                    <a:moveTo>
                      <a:pt x="40596" y="263147"/>
                    </a:moveTo>
                    <a:lnTo>
                      <a:pt x="33899" y="258166"/>
                    </a:lnTo>
                    <a:moveTo>
                      <a:pt x="40596" y="263147"/>
                    </a:moveTo>
                    <a:lnTo>
                      <a:pt x="42805" y="264795"/>
                    </a:lnTo>
                    <a:moveTo>
                      <a:pt x="32518" y="256804"/>
                    </a:moveTo>
                    <a:lnTo>
                      <a:pt x="26346" y="250727"/>
                    </a:lnTo>
                    <a:moveTo>
                      <a:pt x="32518" y="256804"/>
                    </a:moveTo>
                    <a:lnTo>
                      <a:pt x="33899" y="258166"/>
                    </a:lnTo>
                    <a:moveTo>
                      <a:pt x="25565" y="249688"/>
                    </a:moveTo>
                    <a:lnTo>
                      <a:pt x="20260" y="242611"/>
                    </a:lnTo>
                    <a:moveTo>
                      <a:pt x="25565" y="249688"/>
                    </a:moveTo>
                    <a:lnTo>
                      <a:pt x="26346" y="250727"/>
                    </a:lnTo>
                    <a:moveTo>
                      <a:pt x="19869" y="241859"/>
                    </a:moveTo>
                    <a:lnTo>
                      <a:pt x="15735" y="233934"/>
                    </a:lnTo>
                    <a:moveTo>
                      <a:pt x="19869" y="241859"/>
                    </a:moveTo>
                    <a:lnTo>
                      <a:pt x="20260" y="242611"/>
                    </a:lnTo>
                    <a:moveTo>
                      <a:pt x="15564" y="233401"/>
                    </a:moveTo>
                    <a:lnTo>
                      <a:pt x="12830" y="224819"/>
                    </a:lnTo>
                    <a:moveTo>
                      <a:pt x="15564" y="233401"/>
                    </a:moveTo>
                    <a:lnTo>
                      <a:pt x="15735" y="233934"/>
                    </a:lnTo>
                    <a:moveTo>
                      <a:pt x="12773" y="224409"/>
                    </a:moveTo>
                    <a:lnTo>
                      <a:pt x="11601" y="215417"/>
                    </a:lnTo>
                    <a:moveTo>
                      <a:pt x="12773" y="224409"/>
                    </a:moveTo>
                    <a:lnTo>
                      <a:pt x="12830" y="224819"/>
                    </a:lnTo>
                    <a:moveTo>
                      <a:pt x="11620" y="214979"/>
                    </a:moveTo>
                    <a:lnTo>
                      <a:pt x="11601" y="215417"/>
                    </a:lnTo>
                    <a:moveTo>
                      <a:pt x="11620" y="214979"/>
                    </a:moveTo>
                    <a:lnTo>
                      <a:pt x="12068" y="205854"/>
                    </a:lnTo>
                    <a:moveTo>
                      <a:pt x="12202" y="205264"/>
                    </a:moveTo>
                    <a:lnTo>
                      <a:pt x="12068" y="205854"/>
                    </a:lnTo>
                    <a:moveTo>
                      <a:pt x="12202" y="205264"/>
                    </a:moveTo>
                    <a:lnTo>
                      <a:pt x="14211" y="196291"/>
                    </a:lnTo>
                    <a:moveTo>
                      <a:pt x="14573" y="195396"/>
                    </a:moveTo>
                    <a:lnTo>
                      <a:pt x="14211" y="196291"/>
                    </a:lnTo>
                    <a:moveTo>
                      <a:pt x="14573" y="195396"/>
                    </a:moveTo>
                    <a:lnTo>
                      <a:pt x="18002" y="186861"/>
                    </a:lnTo>
                    <a:moveTo>
                      <a:pt x="108766" y="124244"/>
                    </a:moveTo>
                    <a:lnTo>
                      <a:pt x="106032" y="130245"/>
                    </a:lnTo>
                    <a:moveTo>
                      <a:pt x="117577" y="106232"/>
                    </a:moveTo>
                    <a:lnTo>
                      <a:pt x="108766" y="124244"/>
                    </a:lnTo>
                    <a:moveTo>
                      <a:pt x="130026" y="286769"/>
                    </a:moveTo>
                    <a:lnTo>
                      <a:pt x="126454" y="282464"/>
                    </a:lnTo>
                    <a:moveTo>
                      <a:pt x="143913" y="302590"/>
                    </a:moveTo>
                    <a:lnTo>
                      <a:pt x="130026" y="286769"/>
                    </a:lnTo>
                    <a:moveTo>
                      <a:pt x="123501" y="105575"/>
                    </a:moveTo>
                    <a:lnTo>
                      <a:pt x="117577" y="106232"/>
                    </a:lnTo>
                    <a:moveTo>
                      <a:pt x="125082" y="105527"/>
                    </a:moveTo>
                    <a:lnTo>
                      <a:pt x="141180" y="105127"/>
                    </a:lnTo>
                    <a:moveTo>
                      <a:pt x="141180" y="105127"/>
                    </a:moveTo>
                    <a:lnTo>
                      <a:pt x="151590" y="105766"/>
                    </a:lnTo>
                    <a:moveTo>
                      <a:pt x="125082" y="105527"/>
                    </a:moveTo>
                    <a:lnTo>
                      <a:pt x="123501" y="105575"/>
                    </a:lnTo>
                    <a:moveTo>
                      <a:pt x="158572" y="106194"/>
                    </a:moveTo>
                    <a:lnTo>
                      <a:pt x="151590" y="105766"/>
                    </a:lnTo>
                    <a:moveTo>
                      <a:pt x="168678" y="107737"/>
                    </a:moveTo>
                    <a:lnTo>
                      <a:pt x="175431" y="108776"/>
                    </a:lnTo>
                    <a:moveTo>
                      <a:pt x="168678" y="107737"/>
                    </a:moveTo>
                    <a:lnTo>
                      <a:pt x="158572" y="106194"/>
                    </a:lnTo>
                    <a:moveTo>
                      <a:pt x="188757" y="112128"/>
                    </a:moveTo>
                    <a:lnTo>
                      <a:pt x="191500" y="112814"/>
                    </a:lnTo>
                    <a:moveTo>
                      <a:pt x="191500" y="112814"/>
                    </a:moveTo>
                    <a:lnTo>
                      <a:pt x="193300" y="113471"/>
                    </a:lnTo>
                    <a:moveTo>
                      <a:pt x="188757" y="112128"/>
                    </a:moveTo>
                    <a:lnTo>
                      <a:pt x="175431" y="108776"/>
                    </a:lnTo>
                    <a:moveTo>
                      <a:pt x="203978" y="117338"/>
                    </a:moveTo>
                    <a:lnTo>
                      <a:pt x="193300" y="113471"/>
                    </a:lnTo>
                    <a:moveTo>
                      <a:pt x="224342" y="269119"/>
                    </a:moveTo>
                    <a:lnTo>
                      <a:pt x="214598" y="275939"/>
                    </a:lnTo>
                    <a:moveTo>
                      <a:pt x="214598" y="275939"/>
                    </a:moveTo>
                    <a:lnTo>
                      <a:pt x="212950" y="277082"/>
                    </a:lnTo>
                    <a:moveTo>
                      <a:pt x="202511" y="282921"/>
                    </a:moveTo>
                    <a:lnTo>
                      <a:pt x="212950" y="277082"/>
                    </a:lnTo>
                    <a:moveTo>
                      <a:pt x="202511" y="282921"/>
                    </a:moveTo>
                    <a:lnTo>
                      <a:pt x="198463" y="285178"/>
                    </a:lnTo>
                    <a:moveTo>
                      <a:pt x="198463" y="285178"/>
                    </a:moveTo>
                    <a:lnTo>
                      <a:pt x="192062" y="287998"/>
                    </a:lnTo>
                    <a:moveTo>
                      <a:pt x="182842" y="292056"/>
                    </a:moveTo>
                    <a:lnTo>
                      <a:pt x="171945" y="295723"/>
                    </a:lnTo>
                    <a:moveTo>
                      <a:pt x="182842" y="292056"/>
                    </a:moveTo>
                    <a:lnTo>
                      <a:pt x="192062" y="287998"/>
                    </a:lnTo>
                    <a:moveTo>
                      <a:pt x="166306" y="297618"/>
                    </a:moveTo>
                    <a:lnTo>
                      <a:pt x="171945" y="295723"/>
                    </a:lnTo>
                    <a:moveTo>
                      <a:pt x="162449" y="298561"/>
                    </a:moveTo>
                    <a:lnTo>
                      <a:pt x="149123" y="301790"/>
                    </a:lnTo>
                    <a:moveTo>
                      <a:pt x="162449" y="298561"/>
                    </a:moveTo>
                    <a:lnTo>
                      <a:pt x="166306" y="297618"/>
                    </a:lnTo>
                    <a:moveTo>
                      <a:pt x="148209" y="301933"/>
                    </a:moveTo>
                    <a:lnTo>
                      <a:pt x="143913" y="302590"/>
                    </a:lnTo>
                    <a:moveTo>
                      <a:pt x="148209" y="301933"/>
                    </a:moveTo>
                    <a:lnTo>
                      <a:pt x="149123" y="301790"/>
                    </a:lnTo>
                    <a:moveTo>
                      <a:pt x="226905" y="288207"/>
                    </a:moveTo>
                    <a:lnTo>
                      <a:pt x="227714" y="294256"/>
                    </a:lnTo>
                    <a:moveTo>
                      <a:pt x="225600" y="278492"/>
                    </a:moveTo>
                    <a:lnTo>
                      <a:pt x="226905" y="288207"/>
                    </a:lnTo>
                    <a:moveTo>
                      <a:pt x="225600" y="278492"/>
                    </a:moveTo>
                    <a:lnTo>
                      <a:pt x="224342" y="269119"/>
                    </a:lnTo>
                    <a:moveTo>
                      <a:pt x="200606" y="92202"/>
                    </a:moveTo>
                    <a:lnTo>
                      <a:pt x="201549" y="99212"/>
                    </a:lnTo>
                    <a:moveTo>
                      <a:pt x="202778" y="108385"/>
                    </a:moveTo>
                    <a:lnTo>
                      <a:pt x="203978" y="117338"/>
                    </a:lnTo>
                    <a:moveTo>
                      <a:pt x="202778" y="108385"/>
                    </a:moveTo>
                    <a:lnTo>
                      <a:pt x="201549" y="99212"/>
                    </a:lnTo>
                    <a:moveTo>
                      <a:pt x="121148" y="85011"/>
                    </a:moveTo>
                    <a:lnTo>
                      <a:pt x="123587" y="84744"/>
                    </a:lnTo>
                    <a:moveTo>
                      <a:pt x="111185" y="86116"/>
                    </a:moveTo>
                    <a:lnTo>
                      <a:pt x="121148" y="85011"/>
                    </a:lnTo>
                    <a:moveTo>
                      <a:pt x="138341" y="84372"/>
                    </a:moveTo>
                    <a:lnTo>
                      <a:pt x="144942" y="84201"/>
                    </a:lnTo>
                    <a:moveTo>
                      <a:pt x="138341" y="84372"/>
                    </a:moveTo>
                    <a:lnTo>
                      <a:pt x="123587" y="84744"/>
                    </a:lnTo>
                    <a:moveTo>
                      <a:pt x="155429" y="84849"/>
                    </a:moveTo>
                    <a:lnTo>
                      <a:pt x="165973" y="85496"/>
                    </a:lnTo>
                    <a:moveTo>
                      <a:pt x="155429" y="84849"/>
                    </a:moveTo>
                    <a:lnTo>
                      <a:pt x="144942" y="84201"/>
                    </a:lnTo>
                    <a:moveTo>
                      <a:pt x="172307" y="86468"/>
                    </a:moveTo>
                    <a:lnTo>
                      <a:pt x="186347" y="88611"/>
                    </a:lnTo>
                    <a:moveTo>
                      <a:pt x="172307" y="86468"/>
                    </a:moveTo>
                    <a:lnTo>
                      <a:pt x="165973" y="85496"/>
                    </a:lnTo>
                    <a:moveTo>
                      <a:pt x="188843" y="89240"/>
                    </a:moveTo>
                    <a:lnTo>
                      <a:pt x="200606" y="92202"/>
                    </a:lnTo>
                    <a:moveTo>
                      <a:pt x="188843" y="89240"/>
                    </a:moveTo>
                    <a:lnTo>
                      <a:pt x="186347" y="88611"/>
                    </a:lnTo>
                    <a:moveTo>
                      <a:pt x="214189" y="301809"/>
                    </a:moveTo>
                    <a:lnTo>
                      <a:pt x="227714" y="294256"/>
                    </a:lnTo>
                    <a:moveTo>
                      <a:pt x="210188" y="303571"/>
                    </a:moveTo>
                    <a:lnTo>
                      <a:pt x="195301" y="310124"/>
                    </a:lnTo>
                    <a:moveTo>
                      <a:pt x="195301" y="310124"/>
                    </a:moveTo>
                    <a:lnTo>
                      <a:pt x="185433" y="313439"/>
                    </a:lnTo>
                    <a:moveTo>
                      <a:pt x="210188" y="303571"/>
                    </a:moveTo>
                    <a:lnTo>
                      <a:pt x="214189" y="301809"/>
                    </a:lnTo>
                    <a:moveTo>
                      <a:pt x="175317" y="316849"/>
                    </a:moveTo>
                    <a:lnTo>
                      <a:pt x="185433" y="313439"/>
                    </a:lnTo>
                    <a:moveTo>
                      <a:pt x="158182" y="321012"/>
                    </a:moveTo>
                    <a:lnTo>
                      <a:pt x="154553" y="321888"/>
                    </a:lnTo>
                    <a:moveTo>
                      <a:pt x="154553" y="321888"/>
                    </a:moveTo>
                    <a:lnTo>
                      <a:pt x="152286" y="322240"/>
                    </a:lnTo>
                    <a:moveTo>
                      <a:pt x="158182" y="321012"/>
                    </a:moveTo>
                    <a:lnTo>
                      <a:pt x="175317" y="316849"/>
                    </a:lnTo>
                    <a:moveTo>
                      <a:pt x="143046" y="323660"/>
                    </a:moveTo>
                    <a:lnTo>
                      <a:pt x="152286" y="322240"/>
                    </a:lnTo>
                    <a:moveTo>
                      <a:pt x="100841" y="79315"/>
                    </a:moveTo>
                    <a:lnTo>
                      <a:pt x="111185" y="86116"/>
                    </a:lnTo>
                    <a:moveTo>
                      <a:pt x="87030" y="71152"/>
                    </a:moveTo>
                    <a:lnTo>
                      <a:pt x="100841" y="79315"/>
                    </a:lnTo>
                    <a:moveTo>
                      <a:pt x="134045" y="333842"/>
                    </a:moveTo>
                    <a:lnTo>
                      <a:pt x="143046" y="323660"/>
                    </a:lnTo>
                    <a:moveTo>
                      <a:pt x="123692" y="344462"/>
                    </a:moveTo>
                    <a:lnTo>
                      <a:pt x="134045" y="333842"/>
                    </a:lnTo>
                    <a:moveTo>
                      <a:pt x="91859" y="66265"/>
                    </a:moveTo>
                    <a:lnTo>
                      <a:pt x="87030" y="71152"/>
                    </a:lnTo>
                    <a:moveTo>
                      <a:pt x="107594" y="52226"/>
                    </a:moveTo>
                    <a:lnTo>
                      <a:pt x="91859" y="66265"/>
                    </a:lnTo>
                    <a:moveTo>
                      <a:pt x="123758" y="41691"/>
                    </a:moveTo>
                    <a:lnTo>
                      <a:pt x="107594" y="52226"/>
                    </a:lnTo>
                    <a:moveTo>
                      <a:pt x="131997" y="37833"/>
                    </a:moveTo>
                    <a:lnTo>
                      <a:pt x="123758" y="41691"/>
                    </a:lnTo>
                    <a:moveTo>
                      <a:pt x="141027" y="35319"/>
                    </a:moveTo>
                    <a:lnTo>
                      <a:pt x="131997" y="37833"/>
                    </a:lnTo>
                    <a:moveTo>
                      <a:pt x="164649" y="28756"/>
                    </a:moveTo>
                    <a:lnTo>
                      <a:pt x="141027" y="35319"/>
                    </a:lnTo>
                    <a:moveTo>
                      <a:pt x="187223" y="26060"/>
                    </a:moveTo>
                    <a:lnTo>
                      <a:pt x="164649" y="28756"/>
                    </a:lnTo>
                    <a:moveTo>
                      <a:pt x="218437" y="27880"/>
                    </a:moveTo>
                    <a:lnTo>
                      <a:pt x="187223" y="26060"/>
                    </a:lnTo>
                    <a:moveTo>
                      <a:pt x="252765" y="29880"/>
                    </a:moveTo>
                    <a:lnTo>
                      <a:pt x="261852" y="32290"/>
                    </a:lnTo>
                    <a:moveTo>
                      <a:pt x="218437" y="27880"/>
                    </a:moveTo>
                    <a:lnTo>
                      <a:pt x="252765" y="29880"/>
                    </a:lnTo>
                    <a:moveTo>
                      <a:pt x="304762" y="45815"/>
                    </a:moveTo>
                    <a:lnTo>
                      <a:pt x="281226" y="37433"/>
                    </a:lnTo>
                    <a:moveTo>
                      <a:pt x="312134" y="49073"/>
                    </a:moveTo>
                    <a:lnTo>
                      <a:pt x="304762" y="45815"/>
                    </a:lnTo>
                    <a:moveTo>
                      <a:pt x="323936" y="56093"/>
                    </a:moveTo>
                    <a:lnTo>
                      <a:pt x="312134" y="49073"/>
                    </a:lnTo>
                    <a:moveTo>
                      <a:pt x="281226" y="37433"/>
                    </a:moveTo>
                    <a:lnTo>
                      <a:pt x="261852" y="32290"/>
                    </a:lnTo>
                    <a:moveTo>
                      <a:pt x="343881" y="69313"/>
                    </a:moveTo>
                    <a:lnTo>
                      <a:pt x="323936" y="56093"/>
                    </a:lnTo>
                    <a:moveTo>
                      <a:pt x="358816" y="81163"/>
                    </a:moveTo>
                    <a:lnTo>
                      <a:pt x="343881" y="69313"/>
                    </a:lnTo>
                    <a:moveTo>
                      <a:pt x="358816" y="81163"/>
                    </a:moveTo>
                    <a:lnTo>
                      <a:pt x="374961" y="98431"/>
                    </a:lnTo>
                    <a:moveTo>
                      <a:pt x="382657" y="264090"/>
                    </a:moveTo>
                    <a:lnTo>
                      <a:pt x="394268" y="242392"/>
                    </a:lnTo>
                    <a:moveTo>
                      <a:pt x="371389" y="279254"/>
                    </a:moveTo>
                    <a:lnTo>
                      <a:pt x="382657" y="264090"/>
                    </a:lnTo>
                    <a:moveTo>
                      <a:pt x="355102" y="297675"/>
                    </a:moveTo>
                    <a:lnTo>
                      <a:pt x="371389" y="279254"/>
                    </a:lnTo>
                    <a:moveTo>
                      <a:pt x="345796" y="307229"/>
                    </a:moveTo>
                    <a:lnTo>
                      <a:pt x="355102" y="297675"/>
                    </a:lnTo>
                    <a:moveTo>
                      <a:pt x="339719" y="312125"/>
                    </a:moveTo>
                    <a:lnTo>
                      <a:pt x="345796" y="307229"/>
                    </a:lnTo>
                    <a:moveTo>
                      <a:pt x="172650" y="364122"/>
                    </a:moveTo>
                    <a:lnTo>
                      <a:pt x="165630" y="362893"/>
                    </a:lnTo>
                    <a:moveTo>
                      <a:pt x="175841" y="364684"/>
                    </a:moveTo>
                    <a:lnTo>
                      <a:pt x="172650" y="364122"/>
                    </a:lnTo>
                    <a:moveTo>
                      <a:pt x="148523" y="357349"/>
                    </a:moveTo>
                    <a:lnTo>
                      <a:pt x="129159" y="347643"/>
                    </a:lnTo>
                    <a:moveTo>
                      <a:pt x="129159" y="347643"/>
                    </a:moveTo>
                    <a:lnTo>
                      <a:pt x="123692" y="344462"/>
                    </a:lnTo>
                    <a:moveTo>
                      <a:pt x="319907" y="325812"/>
                    </a:moveTo>
                    <a:lnTo>
                      <a:pt x="339719" y="312125"/>
                    </a:lnTo>
                    <a:moveTo>
                      <a:pt x="319907" y="325812"/>
                    </a:moveTo>
                    <a:lnTo>
                      <a:pt x="293265" y="341128"/>
                    </a:lnTo>
                    <a:moveTo>
                      <a:pt x="209740" y="364950"/>
                    </a:moveTo>
                    <a:lnTo>
                      <a:pt x="194177" y="364827"/>
                    </a:lnTo>
                    <a:moveTo>
                      <a:pt x="194177" y="364827"/>
                    </a:moveTo>
                    <a:lnTo>
                      <a:pt x="175841" y="364684"/>
                    </a:lnTo>
                    <a:moveTo>
                      <a:pt x="153505" y="358969"/>
                    </a:moveTo>
                    <a:lnTo>
                      <a:pt x="148523" y="357349"/>
                    </a:lnTo>
                    <a:moveTo>
                      <a:pt x="153505" y="358969"/>
                    </a:moveTo>
                    <a:lnTo>
                      <a:pt x="165630" y="362893"/>
                    </a:lnTo>
                    <a:moveTo>
                      <a:pt x="262033" y="351530"/>
                    </a:moveTo>
                    <a:lnTo>
                      <a:pt x="230991" y="361855"/>
                    </a:lnTo>
                    <a:moveTo>
                      <a:pt x="262033" y="351530"/>
                    </a:moveTo>
                    <a:lnTo>
                      <a:pt x="293265" y="341128"/>
                    </a:lnTo>
                    <a:moveTo>
                      <a:pt x="222799" y="363045"/>
                    </a:moveTo>
                    <a:lnTo>
                      <a:pt x="230991" y="361855"/>
                    </a:lnTo>
                    <a:moveTo>
                      <a:pt x="222799" y="363045"/>
                    </a:moveTo>
                    <a:lnTo>
                      <a:pt x="209740" y="364950"/>
                    </a:lnTo>
                    <a:moveTo>
                      <a:pt x="398793" y="276054"/>
                    </a:moveTo>
                    <a:lnTo>
                      <a:pt x="400564" y="289312"/>
                    </a:lnTo>
                    <a:moveTo>
                      <a:pt x="397640" y="267472"/>
                    </a:moveTo>
                    <a:lnTo>
                      <a:pt x="398793" y="276054"/>
                    </a:lnTo>
                    <a:moveTo>
                      <a:pt x="396411" y="258328"/>
                    </a:moveTo>
                    <a:lnTo>
                      <a:pt x="397640" y="267472"/>
                    </a:lnTo>
                    <a:moveTo>
                      <a:pt x="396411" y="258328"/>
                    </a:moveTo>
                    <a:lnTo>
                      <a:pt x="394268" y="242392"/>
                    </a:lnTo>
                    <a:moveTo>
                      <a:pt x="370522" y="65361"/>
                    </a:moveTo>
                    <a:lnTo>
                      <a:pt x="371732" y="74352"/>
                    </a:lnTo>
                    <a:moveTo>
                      <a:pt x="371732" y="74352"/>
                    </a:moveTo>
                    <a:lnTo>
                      <a:pt x="374961" y="98431"/>
                    </a:lnTo>
                    <a:moveTo>
                      <a:pt x="368646" y="51340"/>
                    </a:moveTo>
                    <a:lnTo>
                      <a:pt x="370522" y="65361"/>
                    </a:lnTo>
                  </a:path>
                </a:pathLst>
              </a:custGeom>
              <a:noFill/>
              <a:ln w="19050">
                <a:solidFill>
                  <a:srgbClr val="D98536"/>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12" name="Google Shape;468;p12"/>
              <p:cNvSpPr/>
              <p:nvPr/>
            </p:nvSpPr>
            <p:spPr>
              <a:xfrm>
                <a:off x="1196280" y="2557440"/>
                <a:ext cx="65160" cy="88920"/>
              </a:xfrm>
              <a:custGeom>
                <a:avLst/>
                <a:gdLst>
                  <a:gd name="textAreaLeft" fmla="*/ 0 w 65160"/>
                  <a:gd name="textAreaRight" fmla="*/ 65520 w 65160"/>
                  <a:gd name="textAreaTop" fmla="*/ 0 h 88920"/>
                  <a:gd name="textAreaBottom" fmla="*/ 89280 h 88920"/>
                </a:gdLst>
                <a:ahLst/>
                <a:cxnLst/>
                <a:rect l="textAreaLeft" t="textAreaTop" r="textAreaRight" b="textAreaBottom"/>
                <a:pathLst>
                  <a:path w="66732" h="90297">
                    <a:moveTo>
                      <a:pt x="16602" y="962"/>
                    </a:moveTo>
                    <a:lnTo>
                      <a:pt x="14888" y="1438"/>
                    </a:lnTo>
                    <a:moveTo>
                      <a:pt x="16602" y="962"/>
                    </a:moveTo>
                    <a:lnTo>
                      <a:pt x="22879" y="0"/>
                    </a:lnTo>
                    <a:moveTo>
                      <a:pt x="24536" y="19"/>
                    </a:moveTo>
                    <a:lnTo>
                      <a:pt x="22879" y="0"/>
                    </a:lnTo>
                    <a:moveTo>
                      <a:pt x="49901" y="16516"/>
                    </a:moveTo>
                    <a:lnTo>
                      <a:pt x="55540" y="24413"/>
                    </a:lnTo>
                    <a:moveTo>
                      <a:pt x="55540" y="24413"/>
                    </a:moveTo>
                    <a:lnTo>
                      <a:pt x="57112" y="26518"/>
                    </a:lnTo>
                    <a:moveTo>
                      <a:pt x="27880" y="1295"/>
                    </a:moveTo>
                    <a:lnTo>
                      <a:pt x="36128" y="3972"/>
                    </a:lnTo>
                    <a:moveTo>
                      <a:pt x="27880" y="1295"/>
                    </a:moveTo>
                    <a:lnTo>
                      <a:pt x="24536" y="19"/>
                    </a:lnTo>
                    <a:moveTo>
                      <a:pt x="61246" y="36595"/>
                    </a:moveTo>
                    <a:lnTo>
                      <a:pt x="57112" y="26518"/>
                    </a:lnTo>
                    <a:moveTo>
                      <a:pt x="61246" y="36595"/>
                    </a:moveTo>
                    <a:lnTo>
                      <a:pt x="63998" y="42910"/>
                    </a:lnTo>
                    <a:moveTo>
                      <a:pt x="38252" y="5848"/>
                    </a:moveTo>
                    <a:lnTo>
                      <a:pt x="47635" y="13345"/>
                    </a:lnTo>
                    <a:moveTo>
                      <a:pt x="38252" y="5848"/>
                    </a:moveTo>
                    <a:lnTo>
                      <a:pt x="36128" y="3972"/>
                    </a:lnTo>
                    <a:moveTo>
                      <a:pt x="60360" y="82706"/>
                    </a:moveTo>
                    <a:lnTo>
                      <a:pt x="58979" y="84630"/>
                    </a:lnTo>
                    <a:moveTo>
                      <a:pt x="54150" y="88201"/>
                    </a:moveTo>
                    <a:lnTo>
                      <a:pt x="53892" y="88382"/>
                    </a:lnTo>
                    <a:moveTo>
                      <a:pt x="54150" y="88201"/>
                    </a:moveTo>
                    <a:lnTo>
                      <a:pt x="58979" y="84630"/>
                    </a:lnTo>
                    <a:moveTo>
                      <a:pt x="66732" y="61998"/>
                    </a:moveTo>
                    <a:lnTo>
                      <a:pt x="63265" y="77962"/>
                    </a:lnTo>
                    <a:moveTo>
                      <a:pt x="64980" y="50378"/>
                    </a:moveTo>
                    <a:lnTo>
                      <a:pt x="63998" y="42910"/>
                    </a:lnTo>
                    <a:moveTo>
                      <a:pt x="64980" y="50378"/>
                    </a:moveTo>
                    <a:lnTo>
                      <a:pt x="66732" y="61998"/>
                    </a:lnTo>
                    <a:moveTo>
                      <a:pt x="48006" y="13916"/>
                    </a:moveTo>
                    <a:lnTo>
                      <a:pt x="47635" y="13345"/>
                    </a:lnTo>
                    <a:moveTo>
                      <a:pt x="48006" y="13916"/>
                    </a:moveTo>
                    <a:lnTo>
                      <a:pt x="49901" y="16516"/>
                    </a:lnTo>
                    <a:moveTo>
                      <a:pt x="48206" y="90192"/>
                    </a:moveTo>
                    <a:lnTo>
                      <a:pt x="53892" y="88382"/>
                    </a:lnTo>
                    <a:moveTo>
                      <a:pt x="48206" y="90192"/>
                    </a:moveTo>
                    <a:lnTo>
                      <a:pt x="47892" y="90297"/>
                    </a:lnTo>
                    <a:moveTo>
                      <a:pt x="47892" y="90297"/>
                    </a:moveTo>
                    <a:lnTo>
                      <a:pt x="47539" y="90287"/>
                    </a:lnTo>
                    <a:moveTo>
                      <a:pt x="40853" y="90202"/>
                    </a:moveTo>
                    <a:lnTo>
                      <a:pt x="47539" y="90287"/>
                    </a:lnTo>
                    <a:moveTo>
                      <a:pt x="63084" y="78781"/>
                    </a:moveTo>
                    <a:lnTo>
                      <a:pt x="63265" y="77962"/>
                    </a:lnTo>
                    <a:moveTo>
                      <a:pt x="62941" y="78981"/>
                    </a:moveTo>
                    <a:lnTo>
                      <a:pt x="60360" y="82706"/>
                    </a:lnTo>
                    <a:moveTo>
                      <a:pt x="62941" y="78981"/>
                    </a:moveTo>
                    <a:lnTo>
                      <a:pt x="63084" y="78781"/>
                    </a:lnTo>
                    <a:moveTo>
                      <a:pt x="39014" y="89383"/>
                    </a:moveTo>
                    <a:lnTo>
                      <a:pt x="40853" y="90202"/>
                    </a:lnTo>
                    <a:moveTo>
                      <a:pt x="25422" y="82934"/>
                    </a:moveTo>
                    <a:lnTo>
                      <a:pt x="15859" y="72542"/>
                    </a:lnTo>
                    <a:moveTo>
                      <a:pt x="25422" y="82934"/>
                    </a:moveTo>
                    <a:lnTo>
                      <a:pt x="39014" y="89383"/>
                    </a:lnTo>
                    <a:moveTo>
                      <a:pt x="12106" y="68409"/>
                    </a:moveTo>
                    <a:lnTo>
                      <a:pt x="15859" y="72542"/>
                    </a:lnTo>
                    <a:moveTo>
                      <a:pt x="8049" y="60274"/>
                    </a:moveTo>
                    <a:lnTo>
                      <a:pt x="12106" y="68409"/>
                    </a:lnTo>
                    <a:moveTo>
                      <a:pt x="8049" y="60274"/>
                    </a:moveTo>
                    <a:lnTo>
                      <a:pt x="3772" y="51806"/>
                    </a:lnTo>
                    <a:moveTo>
                      <a:pt x="629" y="37719"/>
                    </a:moveTo>
                    <a:lnTo>
                      <a:pt x="0" y="35014"/>
                    </a:lnTo>
                    <a:moveTo>
                      <a:pt x="0" y="35014"/>
                    </a:moveTo>
                    <a:lnTo>
                      <a:pt x="76" y="33395"/>
                    </a:lnTo>
                    <a:moveTo>
                      <a:pt x="629" y="37719"/>
                    </a:moveTo>
                    <a:lnTo>
                      <a:pt x="3772" y="51806"/>
                    </a:lnTo>
                    <a:moveTo>
                      <a:pt x="448" y="27165"/>
                    </a:moveTo>
                    <a:lnTo>
                      <a:pt x="76" y="33395"/>
                    </a:lnTo>
                    <a:moveTo>
                      <a:pt x="1105" y="19145"/>
                    </a:moveTo>
                    <a:lnTo>
                      <a:pt x="448" y="27165"/>
                    </a:lnTo>
                    <a:moveTo>
                      <a:pt x="1838" y="17717"/>
                    </a:moveTo>
                    <a:lnTo>
                      <a:pt x="6706" y="7515"/>
                    </a:lnTo>
                    <a:moveTo>
                      <a:pt x="1838" y="17717"/>
                    </a:moveTo>
                    <a:lnTo>
                      <a:pt x="1105" y="19145"/>
                    </a:lnTo>
                    <a:moveTo>
                      <a:pt x="13202" y="2257"/>
                    </a:moveTo>
                    <a:lnTo>
                      <a:pt x="14888" y="1438"/>
                    </a:lnTo>
                    <a:moveTo>
                      <a:pt x="10554" y="3772"/>
                    </a:moveTo>
                    <a:lnTo>
                      <a:pt x="13202" y="2257"/>
                    </a:lnTo>
                    <a:moveTo>
                      <a:pt x="7744" y="6553"/>
                    </a:moveTo>
                    <a:lnTo>
                      <a:pt x="10554" y="3772"/>
                    </a:lnTo>
                    <a:moveTo>
                      <a:pt x="7744" y="6553"/>
                    </a:moveTo>
                    <a:lnTo>
                      <a:pt x="6706" y="7515"/>
                    </a:lnTo>
                  </a:path>
                </a:pathLst>
              </a:custGeom>
              <a:noFill/>
              <a:ln w="19050">
                <a:solidFill>
                  <a:srgbClr val="A357B9"/>
                </a:solidFill>
                <a:round/>
              </a:ln>
            </p:spPr>
            <p:style>
              <a:lnRef idx="0"/>
              <a:fillRef idx="0"/>
              <a:effectRef idx="0"/>
              <a:fontRef idx="minor"/>
            </p:style>
            <p:txBody>
              <a:bodyPr lIns="32760" tIns="44640" rIns="32760" bIns="44640" anchor="t">
                <a:noAutofit/>
              </a:bodyPr>
              <a:p>
                <a:pPr/>
                <a:endParaRPr lang="en-US" sz="1400" b="0" u="none" strike="noStrike">
                  <a:solidFill>
                    <a:srgbClr val="000000"/>
                  </a:solidFill>
                  <a:effectLst/>
                  <a:uFillTx/>
                  <a:latin typeface="Arial"/>
                </a:endParaRPr>
              </a:p>
            </p:txBody>
          </p:sp>
          <p:sp>
            <p:nvSpPr>
              <p:cNvPr id="413" name="Google Shape;469;p12"/>
              <p:cNvSpPr/>
              <p:nvPr/>
            </p:nvSpPr>
            <p:spPr>
              <a:xfrm>
                <a:off x="1687680" y="2060640"/>
                <a:ext cx="1278720" cy="291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24364C"/>
                    </a:solidFill>
                    <a:effectLst/>
                    <a:uFillTx/>
                    <a:latin typeface="Arial"/>
                    <a:ea typeface="Arial"/>
                  </a:rPr>
                  <a:t>Near soft leaf</a:t>
                </a:r>
                <a:endParaRPr lang="en-US" sz="1500" b="0" u="none" strike="noStrike">
                  <a:solidFill>
                    <a:srgbClr val="000000"/>
                  </a:solidFill>
                  <a:effectLst/>
                  <a:uFillTx/>
                  <a:latin typeface="Arial"/>
                </a:endParaRPr>
              </a:p>
            </p:txBody>
          </p:sp>
          <p:sp>
            <p:nvSpPr>
              <p:cNvPr id="414" name="Google Shape;470;p12"/>
              <p:cNvSpPr/>
              <p:nvPr/>
            </p:nvSpPr>
            <p:spPr>
              <a:xfrm>
                <a:off x="1740240" y="2295360"/>
                <a:ext cx="2128680" cy="1398600"/>
              </a:xfrm>
              <a:custGeom>
                <a:avLst/>
                <a:gdLst>
                  <a:gd name="textAreaLeft" fmla="*/ 0 w 2128680"/>
                  <a:gd name="textAreaRight" fmla="*/ 2129040 w 2128680"/>
                  <a:gd name="textAreaTop" fmla="*/ 0 h 1398600"/>
                  <a:gd name="textAreaBottom" fmla="*/ 1398960 h 1398600"/>
                </a:gdLst>
                <a:ahLst/>
                <a:cxnLst/>
                <a:rect l="textAreaLeft" t="textAreaTop" r="textAreaRight" b="textAreaBottom"/>
                <a:pathLst>
                  <a:path w="2130076" h="1400175">
                    <a:moveTo>
                      <a:pt x="1889122" y="1109462"/>
                    </a:moveTo>
                    <a:lnTo>
                      <a:pt x="1997602" y="1027119"/>
                    </a:lnTo>
                    <a:moveTo>
                      <a:pt x="990267" y="1354979"/>
                    </a:moveTo>
                    <a:lnTo>
                      <a:pt x="1054370" y="1343339"/>
                    </a:lnTo>
                    <a:moveTo>
                      <a:pt x="1880845" y="1114749"/>
                    </a:moveTo>
                    <a:lnTo>
                      <a:pt x="1886312" y="1111158"/>
                    </a:lnTo>
                    <a:moveTo>
                      <a:pt x="1886312" y="1111158"/>
                    </a:moveTo>
                    <a:lnTo>
                      <a:pt x="1887141" y="1110605"/>
                    </a:lnTo>
                    <a:moveTo>
                      <a:pt x="1880845" y="1114749"/>
                    </a:moveTo>
                    <a:lnTo>
                      <a:pt x="1771850" y="1181786"/>
                    </a:lnTo>
                    <a:moveTo>
                      <a:pt x="1771850" y="1181786"/>
                    </a:moveTo>
                    <a:lnTo>
                      <a:pt x="1748314" y="1193635"/>
                    </a:lnTo>
                    <a:moveTo>
                      <a:pt x="1671552" y="1232297"/>
                    </a:moveTo>
                    <a:lnTo>
                      <a:pt x="1748314" y="1193635"/>
                    </a:lnTo>
                    <a:moveTo>
                      <a:pt x="1346102" y="1312240"/>
                    </a:moveTo>
                    <a:lnTo>
                      <a:pt x="1346902" y="1312154"/>
                    </a:lnTo>
                    <a:moveTo>
                      <a:pt x="1346902" y="1312154"/>
                    </a:moveTo>
                    <a:lnTo>
                      <a:pt x="1349188" y="1311831"/>
                    </a:lnTo>
                    <a:moveTo>
                      <a:pt x="157505" y="1156468"/>
                    </a:moveTo>
                    <a:lnTo>
                      <a:pt x="206121" y="1202379"/>
                    </a:lnTo>
                    <a:moveTo>
                      <a:pt x="290189" y="1285789"/>
                    </a:moveTo>
                    <a:lnTo>
                      <a:pt x="255775" y="1258786"/>
                    </a:lnTo>
                    <a:moveTo>
                      <a:pt x="255775" y="1258786"/>
                    </a:moveTo>
                    <a:lnTo>
                      <a:pt x="206121" y="1202379"/>
                    </a:lnTo>
                    <a:moveTo>
                      <a:pt x="100155" y="1061933"/>
                    </a:moveTo>
                    <a:lnTo>
                      <a:pt x="150952" y="1143200"/>
                    </a:lnTo>
                    <a:moveTo>
                      <a:pt x="157505" y="1156468"/>
                    </a:moveTo>
                    <a:lnTo>
                      <a:pt x="150952" y="1143200"/>
                    </a:lnTo>
                    <a:moveTo>
                      <a:pt x="744274" y="1391879"/>
                    </a:moveTo>
                    <a:lnTo>
                      <a:pt x="776259" y="1387869"/>
                    </a:lnTo>
                    <a:moveTo>
                      <a:pt x="776259" y="1387869"/>
                    </a:moveTo>
                    <a:lnTo>
                      <a:pt x="835476" y="1378944"/>
                    </a:lnTo>
                    <a:moveTo>
                      <a:pt x="1746047" y="756323"/>
                    </a:moveTo>
                    <a:lnTo>
                      <a:pt x="1727730" y="739188"/>
                    </a:lnTo>
                    <a:moveTo>
                      <a:pt x="1746047" y="756323"/>
                    </a:moveTo>
                    <a:lnTo>
                      <a:pt x="1792167" y="765238"/>
                    </a:lnTo>
                    <a:moveTo>
                      <a:pt x="1847278" y="783536"/>
                    </a:moveTo>
                    <a:lnTo>
                      <a:pt x="1792167" y="765238"/>
                    </a:lnTo>
                    <a:moveTo>
                      <a:pt x="1694783" y="645681"/>
                    </a:moveTo>
                    <a:lnTo>
                      <a:pt x="1707794" y="677513"/>
                    </a:lnTo>
                    <a:moveTo>
                      <a:pt x="1707794" y="677513"/>
                    </a:moveTo>
                    <a:lnTo>
                      <a:pt x="1727730" y="739188"/>
                    </a:lnTo>
                    <a:moveTo>
                      <a:pt x="1847278" y="783536"/>
                    </a:moveTo>
                    <a:lnTo>
                      <a:pt x="1903714" y="778688"/>
                    </a:lnTo>
                    <a:moveTo>
                      <a:pt x="1903714" y="778688"/>
                    </a:moveTo>
                    <a:lnTo>
                      <a:pt x="1965779" y="774944"/>
                    </a:lnTo>
                    <a:moveTo>
                      <a:pt x="391716" y="1357303"/>
                    </a:moveTo>
                    <a:lnTo>
                      <a:pt x="391354" y="1357255"/>
                    </a:lnTo>
                    <a:moveTo>
                      <a:pt x="391354" y="1357255"/>
                    </a:moveTo>
                    <a:lnTo>
                      <a:pt x="389658" y="1356265"/>
                    </a:lnTo>
                    <a:moveTo>
                      <a:pt x="1216676" y="1321413"/>
                    </a:moveTo>
                    <a:lnTo>
                      <a:pt x="1346102" y="1312240"/>
                    </a:lnTo>
                    <a:moveTo>
                      <a:pt x="1179405" y="1330490"/>
                    </a:moveTo>
                    <a:lnTo>
                      <a:pt x="1216676" y="1321413"/>
                    </a:lnTo>
                    <a:moveTo>
                      <a:pt x="392821" y="1357608"/>
                    </a:moveTo>
                    <a:lnTo>
                      <a:pt x="525980" y="1393336"/>
                    </a:lnTo>
                    <a:moveTo>
                      <a:pt x="525980" y="1393336"/>
                    </a:moveTo>
                    <a:lnTo>
                      <a:pt x="623964" y="1397860"/>
                    </a:lnTo>
                    <a:moveTo>
                      <a:pt x="623964" y="1397860"/>
                    </a:moveTo>
                    <a:lnTo>
                      <a:pt x="655577" y="1399908"/>
                    </a:lnTo>
                    <a:moveTo>
                      <a:pt x="391716" y="1357303"/>
                    </a:moveTo>
                    <a:lnTo>
                      <a:pt x="392821" y="1357608"/>
                    </a:lnTo>
                    <a:moveTo>
                      <a:pt x="14135" y="769287"/>
                    </a:moveTo>
                    <a:lnTo>
                      <a:pt x="200" y="657215"/>
                    </a:lnTo>
                    <a:moveTo>
                      <a:pt x="1965779" y="774944"/>
                    </a:moveTo>
                    <a:lnTo>
                      <a:pt x="1993059" y="787584"/>
                    </a:lnTo>
                    <a:moveTo>
                      <a:pt x="25232" y="825713"/>
                    </a:moveTo>
                    <a:lnTo>
                      <a:pt x="20288" y="805853"/>
                    </a:lnTo>
                    <a:moveTo>
                      <a:pt x="14135" y="769287"/>
                    </a:moveTo>
                    <a:lnTo>
                      <a:pt x="20288" y="805853"/>
                    </a:lnTo>
                    <a:moveTo>
                      <a:pt x="1179405" y="1330490"/>
                    </a:moveTo>
                    <a:lnTo>
                      <a:pt x="1107262" y="1339806"/>
                    </a:lnTo>
                    <a:moveTo>
                      <a:pt x="25232" y="825713"/>
                    </a:moveTo>
                    <a:lnTo>
                      <a:pt x="53550" y="939184"/>
                    </a:lnTo>
                    <a:moveTo>
                      <a:pt x="96250" y="1047960"/>
                    </a:moveTo>
                    <a:lnTo>
                      <a:pt x="57426" y="955967"/>
                    </a:lnTo>
                    <a:moveTo>
                      <a:pt x="57426" y="955967"/>
                    </a:moveTo>
                    <a:lnTo>
                      <a:pt x="53550" y="939184"/>
                    </a:lnTo>
                    <a:moveTo>
                      <a:pt x="1458820" y="1287132"/>
                    </a:moveTo>
                    <a:lnTo>
                      <a:pt x="1349188" y="1311831"/>
                    </a:lnTo>
                    <a:moveTo>
                      <a:pt x="1054370" y="1343339"/>
                    </a:moveTo>
                    <a:lnTo>
                      <a:pt x="1107262" y="1339806"/>
                    </a:lnTo>
                    <a:moveTo>
                      <a:pt x="389658" y="1356265"/>
                    </a:moveTo>
                    <a:lnTo>
                      <a:pt x="290189" y="1285789"/>
                    </a:lnTo>
                    <a:moveTo>
                      <a:pt x="1889122" y="1109462"/>
                    </a:moveTo>
                    <a:lnTo>
                      <a:pt x="1887141" y="1110605"/>
                    </a:lnTo>
                    <a:moveTo>
                      <a:pt x="744274" y="1391879"/>
                    </a:moveTo>
                    <a:lnTo>
                      <a:pt x="690772" y="1400175"/>
                    </a:lnTo>
                    <a:moveTo>
                      <a:pt x="690772" y="1400175"/>
                    </a:moveTo>
                    <a:lnTo>
                      <a:pt x="655577" y="1399908"/>
                    </a:lnTo>
                    <a:moveTo>
                      <a:pt x="96250" y="1047960"/>
                    </a:moveTo>
                    <a:lnTo>
                      <a:pt x="100155" y="1061933"/>
                    </a:lnTo>
                    <a:moveTo>
                      <a:pt x="990267" y="1354979"/>
                    </a:moveTo>
                    <a:lnTo>
                      <a:pt x="942365" y="1361665"/>
                    </a:lnTo>
                    <a:moveTo>
                      <a:pt x="912400" y="1368285"/>
                    </a:moveTo>
                    <a:lnTo>
                      <a:pt x="942365" y="1361665"/>
                    </a:lnTo>
                    <a:moveTo>
                      <a:pt x="1694783" y="645681"/>
                    </a:moveTo>
                    <a:lnTo>
                      <a:pt x="1706328" y="570005"/>
                    </a:lnTo>
                    <a:moveTo>
                      <a:pt x="2069249" y="969855"/>
                    </a:moveTo>
                    <a:lnTo>
                      <a:pt x="2092928" y="931374"/>
                    </a:lnTo>
                    <a:moveTo>
                      <a:pt x="1997602" y="1027119"/>
                    </a:moveTo>
                    <a:lnTo>
                      <a:pt x="2069249" y="969855"/>
                    </a:lnTo>
                    <a:moveTo>
                      <a:pt x="2102329" y="882882"/>
                    </a:moveTo>
                    <a:lnTo>
                      <a:pt x="2092928" y="931374"/>
                    </a:lnTo>
                    <a:moveTo>
                      <a:pt x="1562662" y="1267606"/>
                    </a:moveTo>
                    <a:lnTo>
                      <a:pt x="1639967" y="1246442"/>
                    </a:lnTo>
                    <a:moveTo>
                      <a:pt x="1510474" y="1280208"/>
                    </a:moveTo>
                    <a:lnTo>
                      <a:pt x="1562662" y="1267606"/>
                    </a:lnTo>
                    <a:moveTo>
                      <a:pt x="2094395" y="769753"/>
                    </a:moveTo>
                    <a:lnTo>
                      <a:pt x="2025158" y="776154"/>
                    </a:lnTo>
                    <a:moveTo>
                      <a:pt x="1993059" y="787584"/>
                    </a:moveTo>
                    <a:lnTo>
                      <a:pt x="2025158" y="776154"/>
                    </a:lnTo>
                    <a:moveTo>
                      <a:pt x="835476" y="1378944"/>
                    </a:moveTo>
                    <a:lnTo>
                      <a:pt x="912400" y="1368285"/>
                    </a:lnTo>
                    <a:moveTo>
                      <a:pt x="1510474" y="1280208"/>
                    </a:moveTo>
                    <a:lnTo>
                      <a:pt x="1458820" y="1287132"/>
                    </a:lnTo>
                    <a:moveTo>
                      <a:pt x="2102329" y="882882"/>
                    </a:moveTo>
                    <a:lnTo>
                      <a:pt x="2130076" y="828161"/>
                    </a:lnTo>
                    <a:moveTo>
                      <a:pt x="2094395" y="769753"/>
                    </a:moveTo>
                    <a:lnTo>
                      <a:pt x="2130076" y="828161"/>
                    </a:lnTo>
                    <a:moveTo>
                      <a:pt x="1639967" y="1246442"/>
                    </a:moveTo>
                    <a:lnTo>
                      <a:pt x="1671552" y="1232297"/>
                    </a:lnTo>
                    <a:moveTo>
                      <a:pt x="1854756" y="322250"/>
                    </a:moveTo>
                    <a:lnTo>
                      <a:pt x="1826009" y="346796"/>
                    </a:lnTo>
                    <a:moveTo>
                      <a:pt x="1777536" y="408622"/>
                    </a:moveTo>
                    <a:lnTo>
                      <a:pt x="1826009" y="346796"/>
                    </a:lnTo>
                    <a:moveTo>
                      <a:pt x="0" y="569995"/>
                    </a:moveTo>
                    <a:lnTo>
                      <a:pt x="3362" y="520560"/>
                    </a:lnTo>
                    <a:moveTo>
                      <a:pt x="10135" y="478288"/>
                    </a:moveTo>
                    <a:lnTo>
                      <a:pt x="3362" y="520560"/>
                    </a:lnTo>
                    <a:moveTo>
                      <a:pt x="1854756" y="322250"/>
                    </a:moveTo>
                    <a:lnTo>
                      <a:pt x="1912591" y="258194"/>
                    </a:lnTo>
                    <a:moveTo>
                      <a:pt x="1939233" y="238430"/>
                    </a:moveTo>
                    <a:lnTo>
                      <a:pt x="1912591" y="258194"/>
                    </a:lnTo>
                    <a:moveTo>
                      <a:pt x="51216" y="99641"/>
                    </a:moveTo>
                    <a:lnTo>
                      <a:pt x="56226" y="164173"/>
                    </a:lnTo>
                    <a:moveTo>
                      <a:pt x="56140" y="197234"/>
                    </a:moveTo>
                    <a:lnTo>
                      <a:pt x="56226" y="164173"/>
                    </a:lnTo>
                    <a:moveTo>
                      <a:pt x="45568" y="281664"/>
                    </a:moveTo>
                    <a:lnTo>
                      <a:pt x="56140" y="197234"/>
                    </a:lnTo>
                    <a:moveTo>
                      <a:pt x="0" y="569995"/>
                    </a:moveTo>
                    <a:lnTo>
                      <a:pt x="200" y="657215"/>
                    </a:lnTo>
                    <a:moveTo>
                      <a:pt x="1756362" y="446132"/>
                    </a:moveTo>
                    <a:lnTo>
                      <a:pt x="1777536" y="408622"/>
                    </a:lnTo>
                    <a:moveTo>
                      <a:pt x="1718558" y="530047"/>
                    </a:moveTo>
                    <a:lnTo>
                      <a:pt x="1756362" y="446132"/>
                    </a:lnTo>
                    <a:moveTo>
                      <a:pt x="1718558" y="530047"/>
                    </a:moveTo>
                    <a:lnTo>
                      <a:pt x="1713643" y="541934"/>
                    </a:lnTo>
                    <a:moveTo>
                      <a:pt x="2061629" y="157924"/>
                    </a:moveTo>
                    <a:lnTo>
                      <a:pt x="2013109" y="183251"/>
                    </a:lnTo>
                    <a:moveTo>
                      <a:pt x="23041" y="400021"/>
                    </a:moveTo>
                    <a:lnTo>
                      <a:pt x="10135" y="478288"/>
                    </a:lnTo>
                    <a:moveTo>
                      <a:pt x="1983029" y="206454"/>
                    </a:moveTo>
                    <a:lnTo>
                      <a:pt x="1939233" y="238430"/>
                    </a:lnTo>
                    <a:moveTo>
                      <a:pt x="2013109" y="183251"/>
                    </a:moveTo>
                    <a:lnTo>
                      <a:pt x="1983029" y="206454"/>
                    </a:lnTo>
                    <a:moveTo>
                      <a:pt x="1711195" y="545363"/>
                    </a:moveTo>
                    <a:lnTo>
                      <a:pt x="1713643" y="541934"/>
                    </a:lnTo>
                    <a:moveTo>
                      <a:pt x="1711195" y="545363"/>
                    </a:moveTo>
                    <a:lnTo>
                      <a:pt x="1706328" y="570005"/>
                    </a:lnTo>
                    <a:moveTo>
                      <a:pt x="45568" y="281664"/>
                    </a:moveTo>
                    <a:lnTo>
                      <a:pt x="29832" y="343262"/>
                    </a:lnTo>
                    <a:moveTo>
                      <a:pt x="23041" y="400021"/>
                    </a:moveTo>
                    <a:lnTo>
                      <a:pt x="29832" y="343262"/>
                    </a:lnTo>
                    <a:moveTo>
                      <a:pt x="51216" y="99641"/>
                    </a:moveTo>
                    <a:lnTo>
                      <a:pt x="19069" y="0"/>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15" name="Google Shape;471;p12"/>
              <p:cNvSpPr/>
              <p:nvPr/>
            </p:nvSpPr>
            <p:spPr>
              <a:xfrm>
                <a:off x="2946600" y="2770200"/>
                <a:ext cx="492480" cy="146880"/>
              </a:xfrm>
              <a:custGeom>
                <a:avLst/>
                <a:gdLst>
                  <a:gd name="textAreaLeft" fmla="*/ 0 w 492480"/>
                  <a:gd name="textAreaRight" fmla="*/ 492840 w 492480"/>
                  <a:gd name="textAreaTop" fmla="*/ 0 h 146880"/>
                  <a:gd name="textAreaBottom" fmla="*/ 147240 h 146880"/>
                </a:gdLst>
                <a:ahLst/>
                <a:cxnLst/>
                <a:rect l="textAreaLeft" t="textAreaTop" r="textAreaRight" b="textAreaBottom"/>
                <a:pathLst>
                  <a:path w="494014" h="148219">
                    <a:moveTo>
                      <a:pt x="7191" y="81296"/>
                    </a:moveTo>
                    <a:lnTo>
                      <a:pt x="1419" y="77362"/>
                    </a:lnTo>
                    <a:moveTo>
                      <a:pt x="7191" y="81296"/>
                    </a:moveTo>
                    <a:lnTo>
                      <a:pt x="36376" y="100089"/>
                    </a:lnTo>
                    <a:moveTo>
                      <a:pt x="1419" y="77362"/>
                    </a:moveTo>
                    <a:lnTo>
                      <a:pt x="676" y="67570"/>
                    </a:lnTo>
                    <a:moveTo>
                      <a:pt x="0" y="56121"/>
                    </a:moveTo>
                    <a:lnTo>
                      <a:pt x="676" y="67570"/>
                    </a:lnTo>
                    <a:moveTo>
                      <a:pt x="0" y="56121"/>
                    </a:moveTo>
                    <a:lnTo>
                      <a:pt x="18517" y="44739"/>
                    </a:lnTo>
                    <a:moveTo>
                      <a:pt x="43729" y="29651"/>
                    </a:moveTo>
                    <a:lnTo>
                      <a:pt x="18517" y="44739"/>
                    </a:lnTo>
                    <a:moveTo>
                      <a:pt x="67542" y="16774"/>
                    </a:moveTo>
                    <a:lnTo>
                      <a:pt x="43729" y="29651"/>
                    </a:lnTo>
                    <a:moveTo>
                      <a:pt x="125349" y="8011"/>
                    </a:moveTo>
                    <a:lnTo>
                      <a:pt x="67542" y="16774"/>
                    </a:lnTo>
                    <a:moveTo>
                      <a:pt x="198892" y="124"/>
                    </a:moveTo>
                    <a:lnTo>
                      <a:pt x="176965" y="2410"/>
                    </a:lnTo>
                    <a:moveTo>
                      <a:pt x="176965" y="2410"/>
                    </a:moveTo>
                    <a:lnTo>
                      <a:pt x="125349" y="8011"/>
                    </a:lnTo>
                    <a:moveTo>
                      <a:pt x="233248" y="0"/>
                    </a:moveTo>
                    <a:lnTo>
                      <a:pt x="198892" y="124"/>
                    </a:lnTo>
                    <a:moveTo>
                      <a:pt x="264281" y="2657"/>
                    </a:moveTo>
                    <a:lnTo>
                      <a:pt x="233248" y="0"/>
                    </a:lnTo>
                    <a:moveTo>
                      <a:pt x="307638" y="9639"/>
                    </a:moveTo>
                    <a:lnTo>
                      <a:pt x="264281" y="2657"/>
                    </a:lnTo>
                    <a:moveTo>
                      <a:pt x="321164" y="11897"/>
                    </a:moveTo>
                    <a:lnTo>
                      <a:pt x="307638" y="9639"/>
                    </a:lnTo>
                    <a:moveTo>
                      <a:pt x="369170" y="22136"/>
                    </a:moveTo>
                    <a:lnTo>
                      <a:pt x="340690" y="16231"/>
                    </a:lnTo>
                    <a:moveTo>
                      <a:pt x="340690" y="16231"/>
                    </a:moveTo>
                    <a:lnTo>
                      <a:pt x="321164" y="11897"/>
                    </a:lnTo>
                    <a:moveTo>
                      <a:pt x="56036" y="113481"/>
                    </a:moveTo>
                    <a:lnTo>
                      <a:pt x="36376" y="100089"/>
                    </a:lnTo>
                    <a:moveTo>
                      <a:pt x="407422" y="30871"/>
                    </a:moveTo>
                    <a:lnTo>
                      <a:pt x="389601" y="27137"/>
                    </a:lnTo>
                    <a:moveTo>
                      <a:pt x="389601" y="27137"/>
                    </a:moveTo>
                    <a:lnTo>
                      <a:pt x="369170" y="22136"/>
                    </a:lnTo>
                    <a:moveTo>
                      <a:pt x="108937" y="131483"/>
                    </a:moveTo>
                    <a:lnTo>
                      <a:pt x="84268" y="123777"/>
                    </a:lnTo>
                    <a:moveTo>
                      <a:pt x="63122" y="117205"/>
                    </a:moveTo>
                    <a:lnTo>
                      <a:pt x="56036" y="113481"/>
                    </a:lnTo>
                    <a:moveTo>
                      <a:pt x="84268" y="123777"/>
                    </a:moveTo>
                    <a:lnTo>
                      <a:pt x="63122" y="117205"/>
                    </a:lnTo>
                    <a:moveTo>
                      <a:pt x="422205" y="33776"/>
                    </a:moveTo>
                    <a:lnTo>
                      <a:pt x="407422" y="30871"/>
                    </a:lnTo>
                    <a:moveTo>
                      <a:pt x="435569" y="37319"/>
                    </a:moveTo>
                    <a:lnTo>
                      <a:pt x="422205" y="33776"/>
                    </a:lnTo>
                    <a:moveTo>
                      <a:pt x="455590" y="42624"/>
                    </a:moveTo>
                    <a:lnTo>
                      <a:pt x="445980" y="40615"/>
                    </a:lnTo>
                    <a:moveTo>
                      <a:pt x="445980" y="40615"/>
                    </a:moveTo>
                    <a:lnTo>
                      <a:pt x="435569" y="37319"/>
                    </a:lnTo>
                    <a:moveTo>
                      <a:pt x="485156" y="50340"/>
                    </a:moveTo>
                    <a:lnTo>
                      <a:pt x="486175" y="50578"/>
                    </a:lnTo>
                    <a:moveTo>
                      <a:pt x="473593" y="47187"/>
                    </a:moveTo>
                    <a:lnTo>
                      <a:pt x="485156" y="50340"/>
                    </a:lnTo>
                    <a:moveTo>
                      <a:pt x="470926" y="46587"/>
                    </a:moveTo>
                    <a:lnTo>
                      <a:pt x="455590" y="42624"/>
                    </a:lnTo>
                    <a:moveTo>
                      <a:pt x="471992" y="46939"/>
                    </a:moveTo>
                    <a:lnTo>
                      <a:pt x="473593" y="47187"/>
                    </a:lnTo>
                    <a:moveTo>
                      <a:pt x="471992" y="46939"/>
                    </a:moveTo>
                    <a:lnTo>
                      <a:pt x="470926" y="46587"/>
                    </a:lnTo>
                    <a:moveTo>
                      <a:pt x="400774" y="124044"/>
                    </a:moveTo>
                    <a:lnTo>
                      <a:pt x="369227" y="132874"/>
                    </a:lnTo>
                    <a:moveTo>
                      <a:pt x="406375" y="122615"/>
                    </a:moveTo>
                    <a:lnTo>
                      <a:pt x="400774" y="124044"/>
                    </a:lnTo>
                    <a:moveTo>
                      <a:pt x="363188" y="134207"/>
                    </a:moveTo>
                    <a:lnTo>
                      <a:pt x="361483" y="134626"/>
                    </a:lnTo>
                    <a:moveTo>
                      <a:pt x="363188" y="134207"/>
                    </a:moveTo>
                    <a:lnTo>
                      <a:pt x="369227" y="132874"/>
                    </a:lnTo>
                    <a:moveTo>
                      <a:pt x="431625" y="113224"/>
                    </a:moveTo>
                    <a:lnTo>
                      <a:pt x="406375" y="122615"/>
                    </a:lnTo>
                    <a:moveTo>
                      <a:pt x="441731" y="109823"/>
                    </a:moveTo>
                    <a:lnTo>
                      <a:pt x="431625" y="113224"/>
                    </a:lnTo>
                    <a:moveTo>
                      <a:pt x="113167" y="132702"/>
                    </a:moveTo>
                    <a:lnTo>
                      <a:pt x="108937" y="131483"/>
                    </a:lnTo>
                    <a:moveTo>
                      <a:pt x="491747" y="53492"/>
                    </a:moveTo>
                    <a:lnTo>
                      <a:pt x="491366" y="53026"/>
                    </a:lnTo>
                    <a:moveTo>
                      <a:pt x="490490" y="52511"/>
                    </a:moveTo>
                    <a:lnTo>
                      <a:pt x="486175" y="50578"/>
                    </a:lnTo>
                    <a:moveTo>
                      <a:pt x="492033" y="53664"/>
                    </a:moveTo>
                    <a:lnTo>
                      <a:pt x="491747" y="53492"/>
                    </a:lnTo>
                    <a:moveTo>
                      <a:pt x="492033" y="53664"/>
                    </a:moveTo>
                    <a:lnTo>
                      <a:pt x="493319" y="55216"/>
                    </a:lnTo>
                    <a:moveTo>
                      <a:pt x="491366" y="53026"/>
                    </a:moveTo>
                    <a:lnTo>
                      <a:pt x="490490" y="52511"/>
                    </a:lnTo>
                    <a:moveTo>
                      <a:pt x="490128" y="71228"/>
                    </a:moveTo>
                    <a:lnTo>
                      <a:pt x="485404" y="78686"/>
                    </a:lnTo>
                    <a:moveTo>
                      <a:pt x="492700" y="65923"/>
                    </a:moveTo>
                    <a:lnTo>
                      <a:pt x="492404" y="66989"/>
                    </a:lnTo>
                    <a:moveTo>
                      <a:pt x="492404" y="66989"/>
                    </a:moveTo>
                    <a:lnTo>
                      <a:pt x="490128" y="71228"/>
                    </a:lnTo>
                    <a:moveTo>
                      <a:pt x="123282" y="134007"/>
                    </a:moveTo>
                    <a:lnTo>
                      <a:pt x="113167" y="132702"/>
                    </a:lnTo>
                    <a:moveTo>
                      <a:pt x="150057" y="140541"/>
                    </a:moveTo>
                    <a:lnTo>
                      <a:pt x="156096" y="141970"/>
                    </a:lnTo>
                    <a:moveTo>
                      <a:pt x="150057" y="140541"/>
                    </a:moveTo>
                    <a:lnTo>
                      <a:pt x="123282" y="134007"/>
                    </a:lnTo>
                    <a:moveTo>
                      <a:pt x="172260" y="145304"/>
                    </a:moveTo>
                    <a:lnTo>
                      <a:pt x="172250" y="145304"/>
                    </a:lnTo>
                    <a:moveTo>
                      <a:pt x="172250" y="145304"/>
                    </a:moveTo>
                    <a:lnTo>
                      <a:pt x="156096" y="141970"/>
                    </a:lnTo>
                    <a:moveTo>
                      <a:pt x="188805" y="146742"/>
                    </a:moveTo>
                    <a:lnTo>
                      <a:pt x="172260" y="145304"/>
                    </a:lnTo>
                    <a:moveTo>
                      <a:pt x="230819" y="148219"/>
                    </a:moveTo>
                    <a:lnTo>
                      <a:pt x="214341" y="147790"/>
                    </a:lnTo>
                    <a:moveTo>
                      <a:pt x="214341" y="147790"/>
                    </a:moveTo>
                    <a:lnTo>
                      <a:pt x="188805" y="146742"/>
                    </a:lnTo>
                    <a:moveTo>
                      <a:pt x="242459" y="148199"/>
                    </a:moveTo>
                    <a:lnTo>
                      <a:pt x="230819" y="148219"/>
                    </a:lnTo>
                    <a:moveTo>
                      <a:pt x="251679" y="147942"/>
                    </a:moveTo>
                    <a:lnTo>
                      <a:pt x="242459" y="148199"/>
                    </a:lnTo>
                    <a:moveTo>
                      <a:pt x="260385" y="147466"/>
                    </a:moveTo>
                    <a:lnTo>
                      <a:pt x="251679" y="147942"/>
                    </a:lnTo>
                    <a:moveTo>
                      <a:pt x="293627" y="144837"/>
                    </a:moveTo>
                    <a:lnTo>
                      <a:pt x="260385" y="147466"/>
                    </a:lnTo>
                    <a:moveTo>
                      <a:pt x="305419" y="143751"/>
                    </a:moveTo>
                    <a:lnTo>
                      <a:pt x="293627" y="144837"/>
                    </a:lnTo>
                    <a:moveTo>
                      <a:pt x="312020" y="142875"/>
                    </a:moveTo>
                    <a:lnTo>
                      <a:pt x="305419" y="143751"/>
                    </a:lnTo>
                    <a:moveTo>
                      <a:pt x="360759" y="134836"/>
                    </a:moveTo>
                    <a:lnTo>
                      <a:pt x="320126" y="141494"/>
                    </a:lnTo>
                    <a:moveTo>
                      <a:pt x="360759" y="134836"/>
                    </a:moveTo>
                    <a:lnTo>
                      <a:pt x="361483" y="134626"/>
                    </a:lnTo>
                    <a:moveTo>
                      <a:pt x="320126" y="141494"/>
                    </a:moveTo>
                    <a:lnTo>
                      <a:pt x="312020" y="142875"/>
                    </a:lnTo>
                    <a:moveTo>
                      <a:pt x="456695" y="102470"/>
                    </a:moveTo>
                    <a:lnTo>
                      <a:pt x="447113" y="107775"/>
                    </a:lnTo>
                    <a:moveTo>
                      <a:pt x="456695" y="102470"/>
                    </a:moveTo>
                    <a:lnTo>
                      <a:pt x="467592" y="95612"/>
                    </a:lnTo>
                    <a:moveTo>
                      <a:pt x="447113" y="107775"/>
                    </a:moveTo>
                    <a:lnTo>
                      <a:pt x="441731" y="109823"/>
                    </a:lnTo>
                    <a:moveTo>
                      <a:pt x="479012" y="85658"/>
                    </a:moveTo>
                    <a:lnTo>
                      <a:pt x="470525" y="93678"/>
                    </a:lnTo>
                    <a:moveTo>
                      <a:pt x="479012" y="85658"/>
                    </a:moveTo>
                    <a:lnTo>
                      <a:pt x="485404" y="78686"/>
                    </a:lnTo>
                    <a:moveTo>
                      <a:pt x="470525" y="93678"/>
                    </a:moveTo>
                    <a:lnTo>
                      <a:pt x="467592" y="95612"/>
                    </a:lnTo>
                    <a:moveTo>
                      <a:pt x="494014" y="58912"/>
                    </a:moveTo>
                    <a:lnTo>
                      <a:pt x="492700" y="65923"/>
                    </a:lnTo>
                    <a:moveTo>
                      <a:pt x="493614" y="56540"/>
                    </a:moveTo>
                    <a:lnTo>
                      <a:pt x="493319" y="55216"/>
                    </a:lnTo>
                    <a:moveTo>
                      <a:pt x="493614" y="56540"/>
                    </a:moveTo>
                    <a:lnTo>
                      <a:pt x="493919" y="58493"/>
                    </a:lnTo>
                    <a:moveTo>
                      <a:pt x="493919" y="58493"/>
                    </a:moveTo>
                    <a:lnTo>
                      <a:pt x="494014" y="58912"/>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16" name="Google Shape;472;p12"/>
              <p:cNvSpPr/>
              <p:nvPr/>
            </p:nvSpPr>
            <p:spPr>
              <a:xfrm>
                <a:off x="628560" y="3809880"/>
                <a:ext cx="169920" cy="7920"/>
              </a:xfrm>
              <a:custGeom>
                <a:avLst/>
                <a:gdLst>
                  <a:gd name="textAreaLeft" fmla="*/ 0 w 169920"/>
                  <a:gd name="textAreaRight" fmla="*/ 170280 w 169920"/>
                  <a:gd name="textAreaTop" fmla="*/ 0 h 7920"/>
                  <a:gd name="textAreaBottom" fmla="*/ 8280 h 7920"/>
                </a:gdLst>
                <a:ahLst/>
                <a:cxnLst/>
                <a:rect l="textAreaLeft" t="textAreaTop" r="textAreaRight" b="textAreaBottom"/>
                <a:pathLst>
                  <a:path w="171450" h="9525">
                    <a:moveTo>
                      <a:pt x="0" y="0"/>
                    </a:moveTo>
                    <a:lnTo>
                      <a:pt x="171450" y="0"/>
                    </a:lnTo>
                  </a:path>
                </a:pathLst>
              </a:custGeom>
              <a:noFill/>
              <a:ln w="28575">
                <a:solidFill>
                  <a:srgbClr val="7C8F99"/>
                </a:solidFill>
                <a:round/>
              </a:ln>
            </p:spPr>
            <p:style>
              <a:lnRef idx="0"/>
              <a:fillRef idx="0"/>
              <a:effectRef idx="0"/>
              <a:fontRef idx="minor"/>
            </p:style>
            <p:txBody>
              <a:bodyPr lIns="84960" tIns="0" rIns="84960" bIns="0" anchor="t">
                <a:noAutofit/>
              </a:bodyPr>
              <a:p>
                <a:pPr/>
                <a:endParaRPr lang="en-US" sz="1400" b="0" u="none" strike="noStrike">
                  <a:solidFill>
                    <a:srgbClr val="000000"/>
                  </a:solidFill>
                  <a:effectLst/>
                  <a:uFillTx/>
                  <a:latin typeface="Arial"/>
                </a:endParaRPr>
              </a:p>
            </p:txBody>
          </p:sp>
          <p:sp>
            <p:nvSpPr>
              <p:cNvPr id="417" name="Google Shape;473;p12"/>
              <p:cNvSpPr/>
              <p:nvPr/>
            </p:nvSpPr>
            <p:spPr>
              <a:xfrm>
                <a:off x="850320" y="3701880"/>
                <a:ext cx="375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Ear</a:t>
                </a:r>
                <a:endParaRPr lang="en-US" sz="1200" b="0" u="none" strike="noStrike">
                  <a:solidFill>
                    <a:srgbClr val="000000"/>
                  </a:solidFill>
                  <a:effectLst/>
                  <a:uFillTx/>
                  <a:latin typeface="Arial"/>
                </a:endParaRPr>
              </a:p>
            </p:txBody>
          </p:sp>
          <p:sp>
            <p:nvSpPr>
              <p:cNvPr id="418" name="Google Shape;474;p12"/>
              <p:cNvSpPr/>
              <p:nvPr/>
            </p:nvSpPr>
            <p:spPr>
              <a:xfrm>
                <a:off x="1467000" y="3809880"/>
                <a:ext cx="169920" cy="7920"/>
              </a:xfrm>
              <a:custGeom>
                <a:avLst/>
                <a:gdLst>
                  <a:gd name="textAreaLeft" fmla="*/ 0 w 169920"/>
                  <a:gd name="textAreaRight" fmla="*/ 170280 w 169920"/>
                  <a:gd name="textAreaTop" fmla="*/ 0 h 7920"/>
                  <a:gd name="textAreaBottom" fmla="*/ 8280 h 7920"/>
                </a:gdLst>
                <a:ahLst/>
                <a:cxnLst/>
                <a:rect l="textAreaLeft" t="textAreaTop" r="textAreaRight" b="textAreaBottom"/>
                <a:pathLst>
                  <a:path w="171450" h="9525">
                    <a:moveTo>
                      <a:pt x="0" y="0"/>
                    </a:moveTo>
                    <a:lnTo>
                      <a:pt x="171450" y="0"/>
                    </a:lnTo>
                  </a:path>
                </a:pathLst>
              </a:custGeom>
              <a:noFill/>
              <a:ln w="28575">
                <a:solidFill>
                  <a:srgbClr val="D98536"/>
                </a:solidFill>
                <a:round/>
              </a:ln>
            </p:spPr>
            <p:style>
              <a:lnRef idx="0"/>
              <a:fillRef idx="0"/>
              <a:effectRef idx="0"/>
              <a:fontRef idx="minor"/>
            </p:style>
            <p:txBody>
              <a:bodyPr lIns="84960" tIns="0" rIns="84960" bIns="0" anchor="t">
                <a:noAutofit/>
              </a:bodyPr>
              <a:p>
                <a:pPr/>
                <a:endParaRPr lang="en-US" sz="1400" b="0" u="none" strike="noStrike">
                  <a:solidFill>
                    <a:srgbClr val="000000"/>
                  </a:solidFill>
                  <a:effectLst/>
                  <a:uFillTx/>
                  <a:latin typeface="Arial"/>
                </a:endParaRPr>
              </a:p>
            </p:txBody>
          </p:sp>
          <p:sp>
            <p:nvSpPr>
              <p:cNvPr id="419" name="Google Shape;475;p12"/>
              <p:cNvSpPr/>
              <p:nvPr/>
            </p:nvSpPr>
            <p:spPr>
              <a:xfrm>
                <a:off x="1688760" y="3701880"/>
                <a:ext cx="375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Tip</a:t>
                </a:r>
                <a:endParaRPr lang="en-US" sz="1200" b="0" u="none" strike="noStrike">
                  <a:solidFill>
                    <a:srgbClr val="000000"/>
                  </a:solidFill>
                  <a:effectLst/>
                  <a:uFillTx/>
                  <a:latin typeface="Arial"/>
                </a:endParaRPr>
              </a:p>
            </p:txBody>
          </p:sp>
          <p:sp>
            <p:nvSpPr>
              <p:cNvPr id="420" name="Google Shape;476;p12"/>
              <p:cNvSpPr/>
              <p:nvPr/>
            </p:nvSpPr>
            <p:spPr>
              <a:xfrm>
                <a:off x="2305080" y="3809880"/>
                <a:ext cx="169920" cy="7920"/>
              </a:xfrm>
              <a:custGeom>
                <a:avLst/>
                <a:gdLst>
                  <a:gd name="textAreaLeft" fmla="*/ 0 w 169920"/>
                  <a:gd name="textAreaRight" fmla="*/ 170280 w 169920"/>
                  <a:gd name="textAreaTop" fmla="*/ 0 h 7920"/>
                  <a:gd name="textAreaBottom" fmla="*/ 8280 h 7920"/>
                </a:gdLst>
                <a:ahLst/>
                <a:cxnLst/>
                <a:rect l="textAreaLeft" t="textAreaTop" r="textAreaRight" b="textAreaBottom"/>
                <a:pathLst>
                  <a:path w="171450" h="9525">
                    <a:moveTo>
                      <a:pt x="0" y="0"/>
                    </a:moveTo>
                    <a:lnTo>
                      <a:pt x="171450" y="0"/>
                    </a:lnTo>
                  </a:path>
                </a:pathLst>
              </a:custGeom>
              <a:noFill/>
              <a:ln w="28575">
                <a:solidFill>
                  <a:srgbClr val="497D89"/>
                </a:solidFill>
                <a:round/>
              </a:ln>
            </p:spPr>
            <p:style>
              <a:lnRef idx="0"/>
              <a:fillRef idx="0"/>
              <a:effectRef idx="0"/>
              <a:fontRef idx="minor"/>
            </p:style>
            <p:txBody>
              <a:bodyPr lIns="84960" tIns="0" rIns="84960" bIns="0" anchor="t">
                <a:noAutofit/>
              </a:bodyPr>
              <a:p>
                <a:pPr/>
                <a:endParaRPr lang="en-US" sz="1400" b="0" u="none" strike="noStrike">
                  <a:solidFill>
                    <a:srgbClr val="000000"/>
                  </a:solidFill>
                  <a:effectLst/>
                  <a:uFillTx/>
                  <a:latin typeface="Arial"/>
                </a:endParaRPr>
              </a:p>
            </p:txBody>
          </p:sp>
          <p:sp>
            <p:nvSpPr>
              <p:cNvPr id="421" name="Google Shape;477;p12"/>
              <p:cNvSpPr/>
              <p:nvPr/>
            </p:nvSpPr>
            <p:spPr>
              <a:xfrm>
                <a:off x="2526840" y="3701880"/>
                <a:ext cx="5576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Nozzle</a:t>
                </a:r>
                <a:endParaRPr lang="en-US" sz="1200" b="0" u="none" strike="noStrike">
                  <a:solidFill>
                    <a:srgbClr val="000000"/>
                  </a:solidFill>
                  <a:effectLst/>
                  <a:uFillTx/>
                  <a:latin typeface="Arial"/>
                </a:endParaRPr>
              </a:p>
            </p:txBody>
          </p:sp>
          <p:sp>
            <p:nvSpPr>
              <p:cNvPr id="422" name="Google Shape;478;p12"/>
              <p:cNvSpPr/>
              <p:nvPr/>
            </p:nvSpPr>
            <p:spPr>
              <a:xfrm>
                <a:off x="3143160" y="3809880"/>
                <a:ext cx="169920" cy="7920"/>
              </a:xfrm>
              <a:custGeom>
                <a:avLst/>
                <a:gdLst>
                  <a:gd name="textAreaLeft" fmla="*/ 0 w 169920"/>
                  <a:gd name="textAreaRight" fmla="*/ 170280 w 169920"/>
                  <a:gd name="textAreaTop" fmla="*/ 0 h 7920"/>
                  <a:gd name="textAreaBottom" fmla="*/ 8280 h 7920"/>
                </a:gdLst>
                <a:ahLst/>
                <a:cxnLst/>
                <a:rect l="textAreaLeft" t="textAreaTop" r="textAreaRight" b="textAreaBottom"/>
                <a:pathLst>
                  <a:path w="171450" h="9525">
                    <a:moveTo>
                      <a:pt x="0" y="0"/>
                    </a:moveTo>
                    <a:lnTo>
                      <a:pt x="171450" y="0"/>
                    </a:lnTo>
                  </a:path>
                </a:pathLst>
              </a:custGeom>
              <a:noFill/>
              <a:ln w="28575">
                <a:solidFill>
                  <a:srgbClr val="A357B9"/>
                </a:solidFill>
                <a:round/>
              </a:ln>
            </p:spPr>
            <p:style>
              <a:lnRef idx="0"/>
              <a:fillRef idx="0"/>
              <a:effectRef idx="0"/>
              <a:fontRef idx="minor"/>
            </p:style>
            <p:txBody>
              <a:bodyPr lIns="84960" tIns="0" rIns="84960" bIns="0" anchor="t">
                <a:noAutofit/>
              </a:bodyPr>
              <a:p>
                <a:pPr/>
                <a:endParaRPr lang="en-US" sz="1400" b="0" u="none" strike="noStrike">
                  <a:solidFill>
                    <a:srgbClr val="000000"/>
                  </a:solidFill>
                  <a:effectLst/>
                  <a:uFillTx/>
                  <a:latin typeface="Arial"/>
                </a:endParaRPr>
              </a:p>
            </p:txBody>
          </p:sp>
          <p:sp>
            <p:nvSpPr>
              <p:cNvPr id="423" name="Google Shape;479;p12"/>
              <p:cNvSpPr/>
              <p:nvPr/>
            </p:nvSpPr>
            <p:spPr>
              <a:xfrm>
                <a:off x="3364920" y="3701880"/>
                <a:ext cx="375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Leaf</a:t>
                </a:r>
                <a:endParaRPr lang="en-US" sz="1200" b="0" u="none" strike="noStrike">
                  <a:solidFill>
                    <a:srgbClr val="000000"/>
                  </a:solidFill>
                  <a:effectLst/>
                  <a:uFillTx/>
                  <a:latin typeface="Arial"/>
                </a:endParaRPr>
              </a:p>
            </p:txBody>
          </p:sp>
        </p:grpSp>
        <p:sp>
          <p:nvSpPr>
            <p:cNvPr id="424" name="Google Shape;480;p12"/>
            <p:cNvSpPr/>
            <p:nvPr/>
          </p:nvSpPr>
          <p:spPr>
            <a:xfrm>
              <a:off x="621720" y="3892680"/>
              <a:ext cx="273816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Real sections, equal scale.</a:t>
              </a:r>
              <a:endParaRPr lang="en-US" sz="1200" b="0" u="none" strike="noStrike">
                <a:solidFill>
                  <a:srgbClr val="000000"/>
                </a:solidFill>
                <a:effectLst/>
                <a:uFillTx/>
                <a:latin typeface="Arial"/>
              </a:endParaRPr>
            </a:p>
          </p:txBody>
        </p:sp>
        <p:sp>
          <p:nvSpPr>
            <p:cNvPr id="425" name="Google Shape;481;p12"/>
            <p:cNvSpPr/>
            <p:nvPr/>
          </p:nvSpPr>
          <p:spPr>
            <a:xfrm>
              <a:off x="621720" y="4321080"/>
              <a:ext cx="3852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Skill</a:t>
              </a:r>
              <a:endParaRPr lang="en-US" sz="1200" b="0" u="none" strike="noStrike">
                <a:solidFill>
                  <a:srgbClr val="000000"/>
                </a:solidFill>
                <a:effectLst/>
                <a:uFillTx/>
                <a:latin typeface="Arial"/>
              </a:endParaRPr>
            </a:p>
          </p:txBody>
        </p:sp>
        <p:sp>
          <p:nvSpPr>
            <p:cNvPr id="426" name="Google Shape;482;p12"/>
            <p:cNvSpPr/>
            <p:nvPr/>
          </p:nvSpPr>
          <p:spPr>
            <a:xfrm>
              <a:off x="1114200" y="4245120"/>
              <a:ext cx="238104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24364C"/>
                  </a:solidFill>
                  <a:effectLst/>
                  <a:uFillTx/>
                  <a:latin typeface="Arial"/>
                  <a:ea typeface="Arial"/>
                </a:rPr>
                <a:t>Sections show depths</a:t>
              </a:r>
              <a:endParaRPr lang="en-US" sz="1800" b="0" u="none" strike="noStrike">
                <a:solidFill>
                  <a:srgbClr val="000000"/>
                </a:solidFill>
                <a:effectLst/>
                <a:uFillTx/>
                <a:latin typeface="Arial"/>
              </a:endParaRPr>
            </a:p>
          </p:txBody>
        </p:sp>
        <p:sp>
          <p:nvSpPr>
            <p:cNvPr id="427" name="Google Shape;483;p12"/>
            <p:cNvSpPr/>
            <p:nvPr/>
          </p:nvSpPr>
          <p:spPr>
            <a:xfrm>
              <a:off x="621720" y="4759200"/>
              <a:ext cx="375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Gap</a:t>
              </a:r>
              <a:endParaRPr lang="en-US" sz="1200" b="0" u="none" strike="noStrike">
                <a:solidFill>
                  <a:srgbClr val="000000"/>
                </a:solidFill>
                <a:effectLst/>
                <a:uFillTx/>
                <a:latin typeface="Arial"/>
              </a:endParaRPr>
            </a:p>
          </p:txBody>
        </p:sp>
        <p:sp>
          <p:nvSpPr>
            <p:cNvPr id="428" name="Google Shape;484;p12"/>
            <p:cNvSpPr/>
            <p:nvPr/>
          </p:nvSpPr>
          <p:spPr>
            <a:xfrm>
              <a:off x="1114200" y="468324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66758A"/>
                  </a:solidFill>
                  <a:effectLst/>
                  <a:uFillTx/>
                  <a:latin typeface="Arial"/>
                  <a:ea typeface="Arial"/>
                </a:rPr>
                <a:t>Ear names not on model</a:t>
              </a:r>
              <a:endParaRPr lang="en-US" sz="1800" b="0" u="none" strike="noStrike">
                <a:solidFill>
                  <a:srgbClr val="000000"/>
                </a:solidFill>
                <a:effectLst/>
                <a:uFillTx/>
                <a:latin typeface="Arial"/>
              </a:endParaRPr>
            </a:p>
          </p:txBody>
        </p:sp>
        <p:sp>
          <p:nvSpPr>
            <p:cNvPr id="429" name="Google Shape;485;p12"/>
            <p:cNvSpPr/>
            <p:nvPr/>
          </p:nvSpPr>
          <p:spPr>
            <a:xfrm>
              <a:off x="621720" y="5197320"/>
              <a:ext cx="4021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3662EA"/>
                  </a:solidFill>
                  <a:effectLst/>
                  <a:uFillTx/>
                  <a:latin typeface="Arial"/>
                  <a:ea typeface="Arial"/>
                </a:rPr>
                <a:t>Step</a:t>
              </a:r>
              <a:endParaRPr lang="en-US" sz="1200" b="0" u="none" strike="noStrike">
                <a:solidFill>
                  <a:srgbClr val="000000"/>
                </a:solidFill>
                <a:effectLst/>
                <a:uFillTx/>
                <a:latin typeface="Arial"/>
              </a:endParaRPr>
            </a:p>
          </p:txBody>
        </p:sp>
        <p:sp>
          <p:nvSpPr>
            <p:cNvPr id="430" name="Google Shape;486;p12"/>
            <p:cNvSpPr/>
            <p:nvPr/>
          </p:nvSpPr>
          <p:spPr>
            <a:xfrm>
              <a:off x="1114200" y="5121360"/>
              <a:ext cx="29941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3662EA"/>
                  </a:solidFill>
                  <a:effectLst/>
                  <a:uFillTx/>
                  <a:latin typeface="Arial"/>
                  <a:ea typeface="Arial"/>
                </a:rPr>
                <a:t>Map bound to CN/EN names</a:t>
              </a:r>
              <a:endParaRPr lang="en-US" sz="1800" b="0" u="none" strike="noStrike">
                <a:solidFill>
                  <a:srgbClr val="000000"/>
                </a:solidFill>
                <a:effectLst/>
                <a:uFillTx/>
                <a:latin typeface="Arial"/>
              </a:endParaRPr>
            </a:p>
          </p:txBody>
        </p:sp>
        <p:sp>
          <p:nvSpPr>
            <p:cNvPr id="431" name="Google Shape;487;p12"/>
            <p:cNvSpPr/>
            <p:nvPr/>
          </p:nvSpPr>
          <p:spPr>
            <a:xfrm>
              <a:off x="621720" y="5635800"/>
              <a:ext cx="4104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069B8A"/>
                  </a:solidFill>
                  <a:effectLst/>
                  <a:uFillTx/>
                  <a:latin typeface="Arial"/>
                  <a:ea typeface="Arial"/>
                </a:rPr>
                <a:t>Gain</a:t>
              </a:r>
              <a:endParaRPr lang="en-US" sz="1200" b="0" u="none" strike="noStrike">
                <a:solidFill>
                  <a:srgbClr val="000000"/>
                </a:solidFill>
                <a:effectLst/>
                <a:uFillTx/>
                <a:latin typeface="Arial"/>
              </a:endParaRPr>
            </a:p>
          </p:txBody>
        </p:sp>
        <p:sp>
          <p:nvSpPr>
            <p:cNvPr id="432" name="Google Shape;488;p12"/>
            <p:cNvSpPr/>
            <p:nvPr/>
          </p:nvSpPr>
          <p:spPr>
            <a:xfrm>
              <a:off x="1114200" y="5559480"/>
              <a:ext cx="27648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Feedback on ear regions</a:t>
              </a:r>
              <a:endParaRPr lang="en-US" sz="1800" b="0" u="none" strike="noStrike">
                <a:solidFill>
                  <a:srgbClr val="000000"/>
                </a:solidFill>
                <a:effectLst/>
                <a:uFillTx/>
                <a:latin typeface="Arial"/>
              </a:endParaRPr>
            </a:p>
          </p:txBody>
        </p:sp>
      </p:grpSp>
      <p:grpSp>
        <p:nvGrpSpPr>
          <p:cNvPr id="433" name="Google Shape;489;p12"/>
          <p:cNvGrpSpPr/>
          <p:nvPr/>
        </p:nvGrpSpPr>
        <p:grpSpPr>
          <a:xfrm>
            <a:off x="4324320" y="1711440"/>
            <a:ext cx="3440160" cy="4227840"/>
            <a:chOff x="4324320" y="1711440"/>
            <a:chExt cx="3440160" cy="4227840"/>
          </a:xfrm>
        </p:grpSpPr>
        <p:sp>
          <p:nvSpPr>
            <p:cNvPr id="434" name="Google Shape;490;p12"/>
            <p:cNvSpPr/>
            <p:nvPr/>
          </p:nvSpPr>
          <p:spPr>
            <a:xfrm>
              <a:off x="4324320" y="1714680"/>
              <a:ext cx="55800" cy="293760"/>
            </a:xfrm>
            <a:prstGeom prst="rect">
              <a:avLst/>
            </a:prstGeom>
            <a:solidFill>
              <a:srgbClr val="3662EA"/>
            </a:solidFill>
            <a:ln w="0">
              <a:noFill/>
            </a:ln>
          </p:spPr>
          <p:style>
            <a:lnRef idx="0"/>
            <a:fillRef idx="0"/>
            <a:effectRef idx="0"/>
            <a:fontRef idx="minor"/>
          </p:style>
          <p:txBody>
            <a:bodyPr lIns="28080" tIns="45000" rIns="28080" bIns="45000" anchor="t">
              <a:noAutofit/>
            </a:bodyPr>
            <a:p>
              <a:pPr/>
              <a:endParaRPr lang="en-US" sz="1400" b="0" u="none" strike="noStrike">
                <a:solidFill>
                  <a:srgbClr val="FFFFFF"/>
                </a:solidFill>
                <a:effectLst/>
                <a:uFillTx/>
                <a:latin typeface="Arial"/>
              </a:endParaRPr>
            </a:p>
          </p:txBody>
        </p:sp>
        <p:sp>
          <p:nvSpPr>
            <p:cNvPr id="435" name="Google Shape;491;p12"/>
            <p:cNvSpPr/>
            <p:nvPr/>
          </p:nvSpPr>
          <p:spPr>
            <a:xfrm>
              <a:off x="4476240" y="1711440"/>
              <a:ext cx="25995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13243A"/>
                  </a:solidFill>
                  <a:effectLst/>
                  <a:uFillTx/>
                  <a:latin typeface="Arial"/>
                  <a:ea typeface="Arial"/>
                </a:rPr>
                <a:t>5 Ear-region placement</a:t>
              </a:r>
              <a:endParaRPr lang="en-US" sz="1800" b="0" u="none" strike="noStrike">
                <a:solidFill>
                  <a:srgbClr val="000000"/>
                </a:solidFill>
                <a:effectLst/>
                <a:uFillTx/>
                <a:latin typeface="Arial"/>
              </a:endParaRPr>
            </a:p>
          </p:txBody>
        </p:sp>
        <p:pic>
          <p:nvPicPr>
            <p:cNvPr id="436" name="Google Shape;492;p12"/>
            <p:cNvPicPr/>
            <p:nvPr/>
          </p:nvPicPr>
          <p:blipFill>
            <a:blip r:embed="rId1"/>
            <a:srcRect l="0" t="9003" r="39685" b="0"/>
            <a:stretch/>
          </p:blipFill>
          <p:spPr>
            <a:xfrm>
              <a:off x="4429080" y="2238480"/>
              <a:ext cx="1598760" cy="1598400"/>
            </a:xfrm>
            <a:prstGeom prst="rect">
              <a:avLst/>
            </a:prstGeom>
            <a:noFill/>
            <a:ln w="0">
              <a:noFill/>
            </a:ln>
          </p:spPr>
        </p:pic>
        <p:sp>
          <p:nvSpPr>
            <p:cNvPr id="437" name="Google Shape;493;p12"/>
            <p:cNvSpPr/>
            <p:nvPr/>
          </p:nvSpPr>
          <p:spPr>
            <a:xfrm>
              <a:off x="6202080" y="2273400"/>
              <a:ext cx="15624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rgbClr val="3662EA"/>
                  </a:solidFill>
                  <a:effectLst/>
                  <a:uFillTx/>
                  <a:latin typeface="Arial"/>
                  <a:ea typeface="Arial"/>
                </a:rPr>
                <a:t>Cymba concha</a:t>
              </a:r>
              <a:endParaRPr lang="en-US" sz="1650" b="0" u="none" strike="noStrike">
                <a:solidFill>
                  <a:srgbClr val="000000"/>
                </a:solidFill>
                <a:effectLst/>
                <a:uFillTx/>
                <a:latin typeface="Arial"/>
              </a:endParaRPr>
            </a:p>
          </p:txBody>
        </p:sp>
        <p:sp>
          <p:nvSpPr>
            <p:cNvPr id="438" name="Google Shape;494;p12"/>
            <p:cNvSpPr/>
            <p:nvPr/>
          </p:nvSpPr>
          <p:spPr>
            <a:xfrm>
              <a:off x="6204240" y="2543040"/>
              <a:ext cx="1093680" cy="233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upper concha</a:t>
              </a:r>
              <a:endParaRPr lang="en-US" sz="1200" b="0" u="none" strike="noStrike">
                <a:solidFill>
                  <a:srgbClr val="000000"/>
                </a:solidFill>
                <a:effectLst/>
                <a:uFillTx/>
                <a:latin typeface="Arial"/>
              </a:endParaRPr>
            </a:p>
          </p:txBody>
        </p:sp>
        <p:sp>
          <p:nvSpPr>
            <p:cNvPr id="439" name="Google Shape;495;p12"/>
            <p:cNvSpPr/>
            <p:nvPr/>
          </p:nvSpPr>
          <p:spPr>
            <a:xfrm>
              <a:off x="6202080" y="2825640"/>
              <a:ext cx="13410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rgbClr val="3662EA"/>
                  </a:solidFill>
                  <a:effectLst/>
                  <a:uFillTx/>
                  <a:latin typeface="Arial"/>
                  <a:ea typeface="Arial"/>
                </a:rPr>
                <a:t>Crus of helix</a:t>
              </a:r>
              <a:endParaRPr lang="en-US" sz="1650" b="0" u="none" strike="noStrike">
                <a:solidFill>
                  <a:srgbClr val="000000"/>
                </a:solidFill>
                <a:effectLst/>
                <a:uFillTx/>
                <a:latin typeface="Arial"/>
              </a:endParaRPr>
            </a:p>
          </p:txBody>
        </p:sp>
        <p:sp>
          <p:nvSpPr>
            <p:cNvPr id="440" name="Google Shape;496;p12"/>
            <p:cNvSpPr/>
            <p:nvPr/>
          </p:nvSpPr>
          <p:spPr>
            <a:xfrm>
              <a:off x="6204240" y="3095640"/>
              <a:ext cx="913320" cy="233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helix root</a:t>
              </a:r>
              <a:endParaRPr lang="en-US" sz="1200" b="0" u="none" strike="noStrike">
                <a:solidFill>
                  <a:srgbClr val="000000"/>
                </a:solidFill>
                <a:effectLst/>
                <a:uFillTx/>
                <a:latin typeface="Arial"/>
              </a:endParaRPr>
            </a:p>
          </p:txBody>
        </p:sp>
        <p:sp>
          <p:nvSpPr>
            <p:cNvPr id="441" name="Google Shape;497;p12"/>
            <p:cNvSpPr/>
            <p:nvPr/>
          </p:nvSpPr>
          <p:spPr>
            <a:xfrm>
              <a:off x="6202080" y="3378240"/>
              <a:ext cx="15624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rgbClr val="3662EA"/>
                  </a:solidFill>
                  <a:effectLst/>
                  <a:uFillTx/>
                  <a:latin typeface="Arial"/>
                  <a:ea typeface="Arial"/>
                </a:rPr>
                <a:t>Cavum concha</a:t>
              </a:r>
              <a:endParaRPr lang="en-US" sz="1650" b="0" u="none" strike="noStrike">
                <a:solidFill>
                  <a:srgbClr val="000000"/>
                </a:solidFill>
                <a:effectLst/>
                <a:uFillTx/>
                <a:latin typeface="Arial"/>
              </a:endParaRPr>
            </a:p>
          </p:txBody>
        </p:sp>
        <p:sp>
          <p:nvSpPr>
            <p:cNvPr id="442" name="Google Shape;498;p12"/>
            <p:cNvSpPr/>
            <p:nvPr/>
          </p:nvSpPr>
          <p:spPr>
            <a:xfrm>
              <a:off x="6204240" y="3648240"/>
              <a:ext cx="1093680" cy="233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lower concha</a:t>
              </a:r>
              <a:endParaRPr lang="en-US" sz="1200" b="0" u="none" strike="noStrike">
                <a:solidFill>
                  <a:srgbClr val="000000"/>
                </a:solidFill>
                <a:effectLst/>
                <a:uFillTx/>
                <a:latin typeface="Arial"/>
              </a:endParaRPr>
            </a:p>
          </p:txBody>
        </p:sp>
        <p:sp>
          <p:nvSpPr>
            <p:cNvPr id="443" name="Google Shape;499;p12"/>
            <p:cNvSpPr/>
            <p:nvPr/>
          </p:nvSpPr>
          <p:spPr>
            <a:xfrm>
              <a:off x="4450680" y="3892680"/>
              <a:ext cx="2976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Names, map, and real source faces match.</a:t>
              </a:r>
              <a:endParaRPr lang="en-US" sz="1200" b="0" u="none" strike="noStrike">
                <a:solidFill>
                  <a:srgbClr val="000000"/>
                </a:solidFill>
                <a:effectLst/>
                <a:uFillTx/>
                <a:latin typeface="Arial"/>
              </a:endParaRPr>
            </a:p>
          </p:txBody>
        </p:sp>
        <p:sp>
          <p:nvSpPr>
            <p:cNvPr id="444" name="Google Shape;500;p12"/>
            <p:cNvSpPr/>
            <p:nvPr/>
          </p:nvSpPr>
          <p:spPr>
            <a:xfrm>
              <a:off x="4450680" y="4321080"/>
              <a:ext cx="3852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Skill</a:t>
              </a:r>
              <a:endParaRPr lang="en-US" sz="1200" b="0" u="none" strike="noStrike">
                <a:solidFill>
                  <a:srgbClr val="000000"/>
                </a:solidFill>
                <a:effectLst/>
                <a:uFillTx/>
                <a:latin typeface="Arial"/>
              </a:endParaRPr>
            </a:p>
          </p:txBody>
        </p:sp>
        <p:sp>
          <p:nvSpPr>
            <p:cNvPr id="445" name="Google Shape;501;p12"/>
            <p:cNvSpPr/>
            <p:nvPr/>
          </p:nvSpPr>
          <p:spPr>
            <a:xfrm>
              <a:off x="4943160" y="4245120"/>
              <a:ext cx="2511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24364C"/>
                  </a:solidFill>
                  <a:effectLst/>
                  <a:uFillTx/>
                  <a:latin typeface="Arial"/>
                  <a:ea typeface="Arial"/>
                </a:rPr>
                <a:t>10 regions map to faces</a:t>
              </a:r>
              <a:endParaRPr lang="en-US" sz="1800" b="0" u="none" strike="noStrike">
                <a:solidFill>
                  <a:srgbClr val="000000"/>
                </a:solidFill>
                <a:effectLst/>
                <a:uFillTx/>
                <a:latin typeface="Arial"/>
              </a:endParaRPr>
            </a:p>
          </p:txBody>
        </p:sp>
        <p:sp>
          <p:nvSpPr>
            <p:cNvPr id="446" name="Google Shape;502;p12"/>
            <p:cNvSpPr/>
            <p:nvPr/>
          </p:nvSpPr>
          <p:spPr>
            <a:xfrm>
              <a:off x="4450680" y="4759200"/>
              <a:ext cx="375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Gap</a:t>
              </a:r>
              <a:endParaRPr lang="en-US" sz="1200" b="0" u="none" strike="noStrike">
                <a:solidFill>
                  <a:srgbClr val="000000"/>
                </a:solidFill>
                <a:effectLst/>
                <a:uFillTx/>
                <a:latin typeface="Arial"/>
              </a:endParaRPr>
            </a:p>
          </p:txBody>
        </p:sp>
        <p:sp>
          <p:nvSpPr>
            <p:cNvPr id="447" name="Google Shape;503;p12"/>
            <p:cNvSpPr/>
            <p:nvPr/>
          </p:nvSpPr>
          <p:spPr>
            <a:xfrm>
              <a:off x="4943160" y="468324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66758A"/>
                  </a:solidFill>
                  <a:effectLst/>
                  <a:uFillTx/>
                  <a:latin typeface="Arial"/>
                  <a:ea typeface="Arial"/>
                </a:rPr>
                <a:t>Local fixes hid bad pose</a:t>
              </a:r>
              <a:endParaRPr lang="en-US" sz="1800" b="0" u="none" strike="noStrike">
                <a:solidFill>
                  <a:srgbClr val="000000"/>
                </a:solidFill>
                <a:effectLst/>
                <a:uFillTx/>
                <a:latin typeface="Arial"/>
              </a:endParaRPr>
            </a:p>
          </p:txBody>
        </p:sp>
        <p:sp>
          <p:nvSpPr>
            <p:cNvPr id="448" name="Google Shape;504;p12"/>
            <p:cNvSpPr/>
            <p:nvPr/>
          </p:nvSpPr>
          <p:spPr>
            <a:xfrm>
              <a:off x="4450680" y="5197320"/>
              <a:ext cx="4021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3662EA"/>
                  </a:solidFill>
                  <a:effectLst/>
                  <a:uFillTx/>
                  <a:latin typeface="Arial"/>
                  <a:ea typeface="Arial"/>
                </a:rPr>
                <a:t>Step</a:t>
              </a:r>
              <a:endParaRPr lang="en-US" sz="1200" b="0" u="none" strike="noStrike">
                <a:solidFill>
                  <a:srgbClr val="000000"/>
                </a:solidFill>
                <a:effectLst/>
                <a:uFillTx/>
                <a:latin typeface="Arial"/>
              </a:endParaRPr>
            </a:p>
          </p:txBody>
        </p:sp>
        <p:sp>
          <p:nvSpPr>
            <p:cNvPr id="449" name="Google Shape;505;p12"/>
            <p:cNvSpPr/>
            <p:nvPr/>
          </p:nvSpPr>
          <p:spPr>
            <a:xfrm>
              <a:off x="4943160" y="512136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3662EA"/>
                  </a:solidFill>
                  <a:effectLst/>
                  <a:uFillTx/>
                  <a:latin typeface="Arial"/>
                  <a:ea typeface="Arial"/>
                </a:rPr>
                <a:t>Align ears, move as unit</a:t>
              </a:r>
              <a:endParaRPr lang="en-US" sz="1800" b="0" u="none" strike="noStrike">
                <a:solidFill>
                  <a:srgbClr val="000000"/>
                </a:solidFill>
                <a:effectLst/>
                <a:uFillTx/>
                <a:latin typeface="Arial"/>
              </a:endParaRPr>
            </a:p>
          </p:txBody>
        </p:sp>
        <p:sp>
          <p:nvSpPr>
            <p:cNvPr id="450" name="Google Shape;506;p12"/>
            <p:cNvSpPr/>
            <p:nvPr/>
          </p:nvSpPr>
          <p:spPr>
            <a:xfrm>
              <a:off x="4450680" y="5635800"/>
              <a:ext cx="4104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069B8A"/>
                  </a:solidFill>
                  <a:effectLst/>
                  <a:uFillTx/>
                  <a:latin typeface="Arial"/>
                  <a:ea typeface="Arial"/>
                </a:rPr>
                <a:t>Gain</a:t>
              </a:r>
              <a:endParaRPr lang="en-US" sz="1200" b="0" u="none" strike="noStrike">
                <a:solidFill>
                  <a:srgbClr val="000000"/>
                </a:solidFill>
                <a:effectLst/>
                <a:uFillTx/>
                <a:latin typeface="Arial"/>
              </a:endParaRPr>
            </a:p>
          </p:txBody>
        </p:sp>
        <p:sp>
          <p:nvSpPr>
            <p:cNvPr id="451" name="Google Shape;507;p12"/>
            <p:cNvSpPr/>
            <p:nvPr/>
          </p:nvSpPr>
          <p:spPr>
            <a:xfrm>
              <a:off x="4943160" y="5559480"/>
              <a:ext cx="24465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Fit targets guide pose</a:t>
              </a:r>
              <a:endParaRPr lang="en-US" sz="1800" b="0" u="none" strike="noStrike">
                <a:solidFill>
                  <a:srgbClr val="000000"/>
                </a:solidFill>
                <a:effectLst/>
                <a:uFillTx/>
                <a:latin typeface="Arial"/>
              </a:endParaRPr>
            </a:p>
          </p:txBody>
        </p:sp>
      </p:grpSp>
      <p:grpSp>
        <p:nvGrpSpPr>
          <p:cNvPr id="452" name="Google Shape;508;p12"/>
          <p:cNvGrpSpPr/>
          <p:nvPr/>
        </p:nvGrpSpPr>
        <p:grpSpPr>
          <a:xfrm>
            <a:off x="8153280" y="1711440"/>
            <a:ext cx="3322800" cy="4227840"/>
            <a:chOff x="8153280" y="1711440"/>
            <a:chExt cx="3322800" cy="4227840"/>
          </a:xfrm>
        </p:grpSpPr>
        <p:sp>
          <p:nvSpPr>
            <p:cNvPr id="453" name="Google Shape;509;p12"/>
            <p:cNvSpPr/>
            <p:nvPr/>
          </p:nvSpPr>
          <p:spPr>
            <a:xfrm>
              <a:off x="8153280" y="1714680"/>
              <a:ext cx="55800" cy="293760"/>
            </a:xfrm>
            <a:prstGeom prst="rect">
              <a:avLst/>
            </a:prstGeom>
            <a:solidFill>
              <a:srgbClr val="D98D2B"/>
            </a:solidFill>
            <a:ln w="0">
              <a:noFill/>
            </a:ln>
          </p:spPr>
          <p:style>
            <a:lnRef idx="0"/>
            <a:fillRef idx="0"/>
            <a:effectRef idx="0"/>
            <a:fontRef idx="minor"/>
          </p:style>
          <p:txBody>
            <a:bodyPr lIns="28080" tIns="45000" rIns="28080" bIns="45000" anchor="t">
              <a:noAutofit/>
            </a:bodyPr>
            <a:p>
              <a:pPr/>
              <a:endParaRPr lang="en-US" sz="1400" b="0" u="none" strike="noStrike">
                <a:solidFill>
                  <a:srgbClr val="FFFFFF"/>
                </a:solidFill>
                <a:effectLst/>
                <a:uFillTx/>
                <a:latin typeface="Arial"/>
              </a:endParaRPr>
            </a:p>
          </p:txBody>
        </p:sp>
        <p:sp>
          <p:nvSpPr>
            <p:cNvPr id="454" name="Google Shape;510;p12"/>
            <p:cNvSpPr/>
            <p:nvPr/>
          </p:nvSpPr>
          <p:spPr>
            <a:xfrm>
              <a:off x="8305560" y="1711440"/>
              <a:ext cx="26380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13243A"/>
                  </a:solidFill>
                  <a:effectLst/>
                  <a:uFillTx/>
                  <a:latin typeface="Arial"/>
                  <a:ea typeface="Arial"/>
                </a:rPr>
                <a:t>6 Joint wear and review</a:t>
              </a:r>
              <a:endParaRPr lang="en-US" sz="1800" b="0" u="none" strike="noStrike">
                <a:solidFill>
                  <a:srgbClr val="000000"/>
                </a:solidFill>
                <a:effectLst/>
                <a:uFillTx/>
                <a:latin typeface="Arial"/>
              </a:endParaRPr>
            </a:p>
          </p:txBody>
        </p:sp>
        <p:sp>
          <p:nvSpPr>
            <p:cNvPr id="455" name="Google Shape;511;p12"/>
            <p:cNvSpPr/>
            <p:nvPr/>
          </p:nvSpPr>
          <p:spPr>
            <a:xfrm>
              <a:off x="8213040" y="2168640"/>
              <a:ext cx="5576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Before</a:t>
              </a:r>
              <a:endParaRPr lang="en-US" sz="1200" b="0" u="none" strike="noStrike">
                <a:solidFill>
                  <a:srgbClr val="000000"/>
                </a:solidFill>
                <a:effectLst/>
                <a:uFillTx/>
                <a:latin typeface="Arial"/>
              </a:endParaRPr>
            </a:p>
          </p:txBody>
        </p:sp>
        <p:sp>
          <p:nvSpPr>
            <p:cNvPr id="456" name="Google Shape;512;p12"/>
            <p:cNvSpPr/>
            <p:nvPr/>
          </p:nvSpPr>
          <p:spPr>
            <a:xfrm>
              <a:off x="9946800" y="2168640"/>
              <a:ext cx="92088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After</a:t>
              </a:r>
              <a:endParaRPr lang="en-US" sz="1200" b="0" u="none" strike="noStrike">
                <a:solidFill>
                  <a:srgbClr val="000000"/>
                </a:solidFill>
                <a:effectLst/>
                <a:uFillTx/>
                <a:latin typeface="Arial"/>
              </a:endParaRPr>
            </a:p>
          </p:txBody>
        </p:sp>
        <p:pic>
          <p:nvPicPr>
            <p:cNvPr id="457" name="Google Shape;513;p12"/>
            <p:cNvPicPr/>
            <p:nvPr/>
          </p:nvPicPr>
          <p:blipFill>
            <a:blip r:embed="rId2"/>
            <a:stretch/>
          </p:blipFill>
          <p:spPr>
            <a:xfrm>
              <a:off x="8267760" y="2381400"/>
              <a:ext cx="1474920" cy="1474920"/>
            </a:xfrm>
            <a:prstGeom prst="rect">
              <a:avLst/>
            </a:prstGeom>
            <a:noFill/>
            <a:ln w="0">
              <a:noFill/>
            </a:ln>
          </p:spPr>
        </p:pic>
        <p:pic>
          <p:nvPicPr>
            <p:cNvPr id="458" name="Google Shape;514;p12"/>
            <p:cNvPicPr/>
            <p:nvPr/>
          </p:nvPicPr>
          <p:blipFill>
            <a:blip r:embed="rId3"/>
            <a:stretch/>
          </p:blipFill>
          <p:spPr>
            <a:xfrm>
              <a:off x="10001160" y="2381400"/>
              <a:ext cx="1474920" cy="1474920"/>
            </a:xfrm>
            <a:prstGeom prst="rect">
              <a:avLst/>
            </a:prstGeom>
            <a:noFill/>
            <a:ln w="0">
              <a:noFill/>
            </a:ln>
          </p:spPr>
        </p:pic>
        <p:sp>
          <p:nvSpPr>
            <p:cNvPr id="459" name="Google Shape;515;p12"/>
            <p:cNvSpPr/>
            <p:nvPr/>
          </p:nvSpPr>
          <p:spPr>
            <a:xfrm>
              <a:off x="8280000" y="3892680"/>
              <a:ext cx="2544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Real saved state, same-camera A/B.</a:t>
              </a:r>
              <a:endParaRPr lang="en-US" sz="1200" b="0" u="none" strike="noStrike">
                <a:solidFill>
                  <a:srgbClr val="000000"/>
                </a:solidFill>
                <a:effectLst/>
                <a:uFillTx/>
                <a:latin typeface="Arial"/>
              </a:endParaRPr>
            </a:p>
          </p:txBody>
        </p:sp>
        <p:sp>
          <p:nvSpPr>
            <p:cNvPr id="460" name="Google Shape;516;p12"/>
            <p:cNvSpPr/>
            <p:nvPr/>
          </p:nvSpPr>
          <p:spPr>
            <a:xfrm>
              <a:off x="8280000" y="4321080"/>
              <a:ext cx="3852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Skill</a:t>
              </a:r>
              <a:endParaRPr lang="en-US" sz="1200" b="0" u="none" strike="noStrike">
                <a:solidFill>
                  <a:srgbClr val="000000"/>
                </a:solidFill>
                <a:effectLst/>
                <a:uFillTx/>
                <a:latin typeface="Arial"/>
              </a:endParaRPr>
            </a:p>
          </p:txBody>
        </p:sp>
        <p:sp>
          <p:nvSpPr>
            <p:cNvPr id="461" name="Google Shape;517;p12"/>
            <p:cNvSpPr/>
            <p:nvPr/>
          </p:nvSpPr>
          <p:spPr>
            <a:xfrm>
              <a:off x="8772120" y="4245120"/>
              <a:ext cx="26632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24364C"/>
                  </a:solidFill>
                  <a:effectLst/>
                  <a:uFillTx/>
                  <a:latin typeface="Arial"/>
                  <a:ea typeface="Arial"/>
                </a:rPr>
                <a:t>Direction partly confirmed</a:t>
              </a:r>
              <a:endParaRPr lang="en-US" sz="1800" b="0" u="none" strike="noStrike">
                <a:solidFill>
                  <a:srgbClr val="000000"/>
                </a:solidFill>
                <a:effectLst/>
                <a:uFillTx/>
                <a:latin typeface="Arial"/>
              </a:endParaRPr>
            </a:p>
          </p:txBody>
        </p:sp>
        <p:sp>
          <p:nvSpPr>
            <p:cNvPr id="462" name="Google Shape;518;p12"/>
            <p:cNvSpPr/>
            <p:nvPr/>
          </p:nvSpPr>
          <p:spPr>
            <a:xfrm>
              <a:off x="8280000" y="4759200"/>
              <a:ext cx="3758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Gap</a:t>
              </a:r>
              <a:endParaRPr lang="en-US" sz="1200" b="0" u="none" strike="noStrike">
                <a:solidFill>
                  <a:srgbClr val="000000"/>
                </a:solidFill>
                <a:effectLst/>
                <a:uFillTx/>
                <a:latin typeface="Arial"/>
              </a:endParaRPr>
            </a:p>
          </p:txBody>
        </p:sp>
        <p:sp>
          <p:nvSpPr>
            <p:cNvPr id="463" name="Google Shape;519;p12"/>
            <p:cNvSpPr/>
            <p:nvPr/>
          </p:nvSpPr>
          <p:spPr>
            <a:xfrm>
              <a:off x="8772120" y="468324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66758A"/>
                  </a:solidFill>
                  <a:effectLst/>
                  <a:uFillTx/>
                  <a:latin typeface="Arial"/>
                  <a:ea typeface="Arial"/>
                </a:rPr>
                <a:t>Joint and wear untested</a:t>
              </a:r>
              <a:endParaRPr lang="en-US" sz="1800" b="0" u="none" strike="noStrike">
                <a:solidFill>
                  <a:srgbClr val="000000"/>
                </a:solidFill>
                <a:effectLst/>
                <a:uFillTx/>
                <a:latin typeface="Arial"/>
              </a:endParaRPr>
            </a:p>
          </p:txBody>
        </p:sp>
        <p:sp>
          <p:nvSpPr>
            <p:cNvPr id="464" name="Google Shape;520;p12"/>
            <p:cNvSpPr/>
            <p:nvPr/>
          </p:nvSpPr>
          <p:spPr>
            <a:xfrm>
              <a:off x="8280000" y="5197320"/>
              <a:ext cx="40212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3662EA"/>
                  </a:solidFill>
                  <a:effectLst/>
                  <a:uFillTx/>
                  <a:latin typeface="Arial"/>
                  <a:ea typeface="Arial"/>
                </a:rPr>
                <a:t>Step</a:t>
              </a:r>
              <a:endParaRPr lang="en-US" sz="1200" b="0" u="none" strike="noStrike">
                <a:solidFill>
                  <a:srgbClr val="000000"/>
                </a:solidFill>
                <a:effectLst/>
                <a:uFillTx/>
                <a:latin typeface="Arial"/>
              </a:endParaRPr>
            </a:p>
          </p:txBody>
        </p:sp>
        <p:sp>
          <p:nvSpPr>
            <p:cNvPr id="465" name="Google Shape;521;p12"/>
            <p:cNvSpPr/>
            <p:nvPr/>
          </p:nvSpPr>
          <p:spPr>
            <a:xfrm>
              <a:off x="8772120" y="5121360"/>
              <a:ext cx="256536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3662EA"/>
                  </a:solidFill>
                  <a:effectLst/>
                  <a:uFillTx/>
                  <a:latin typeface="Arial"/>
                  <a:ea typeface="Arial"/>
                </a:rPr>
                <a:t>Review, A/B, write-back</a:t>
              </a:r>
              <a:endParaRPr lang="en-US" sz="1800" b="0" u="none" strike="noStrike">
                <a:solidFill>
                  <a:srgbClr val="000000"/>
                </a:solidFill>
                <a:effectLst/>
                <a:uFillTx/>
                <a:latin typeface="Arial"/>
              </a:endParaRPr>
            </a:p>
          </p:txBody>
        </p:sp>
        <p:sp>
          <p:nvSpPr>
            <p:cNvPr id="466" name="Google Shape;522;p12"/>
            <p:cNvSpPr/>
            <p:nvPr/>
          </p:nvSpPr>
          <p:spPr>
            <a:xfrm>
              <a:off x="8280000" y="5635800"/>
              <a:ext cx="4104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069B8A"/>
                  </a:solidFill>
                  <a:effectLst/>
                  <a:uFillTx/>
                  <a:latin typeface="Arial"/>
                  <a:ea typeface="Arial"/>
                </a:rPr>
                <a:t>Gain</a:t>
              </a:r>
              <a:endParaRPr lang="en-US" sz="1200" b="0" u="none" strike="noStrike">
                <a:solidFill>
                  <a:srgbClr val="000000"/>
                </a:solidFill>
                <a:effectLst/>
                <a:uFillTx/>
                <a:latin typeface="Arial"/>
              </a:endParaRPr>
            </a:p>
          </p:txBody>
        </p:sp>
        <p:sp>
          <p:nvSpPr>
            <p:cNvPr id="467" name="Google Shape;523;p12"/>
            <p:cNvSpPr/>
            <p:nvPr/>
          </p:nvSpPr>
          <p:spPr>
            <a:xfrm>
              <a:off x="8772120" y="5559480"/>
              <a:ext cx="26434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Traceable, gaps logged</a:t>
              </a:r>
              <a:endParaRPr lang="en-US"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68" name="Google Shape;561;p14"/>
          <p:cNvGrpSpPr/>
          <p:nvPr/>
        </p:nvGrpSpPr>
        <p:grpSpPr>
          <a:xfrm>
            <a:off x="478440" y="422280"/>
            <a:ext cx="11209320" cy="972360"/>
            <a:chOff x="478440" y="422280"/>
            <a:chExt cx="11209320" cy="972360"/>
          </a:xfrm>
        </p:grpSpPr>
        <p:sp>
          <p:nvSpPr>
            <p:cNvPr id="469" name="Google Shape;562;p14"/>
            <p:cNvSpPr/>
            <p:nvPr/>
          </p:nvSpPr>
          <p:spPr>
            <a:xfrm>
              <a:off x="478440" y="422280"/>
              <a:ext cx="11200680" cy="6444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How Review Results Enter the Next Round</a:t>
              </a:r>
              <a:endParaRPr lang="en-US" sz="3300" b="0" u="none" strike="noStrike">
                <a:solidFill>
                  <a:srgbClr val="000000"/>
                </a:solidFill>
                <a:effectLst/>
                <a:uFillTx/>
                <a:latin typeface="Arial"/>
              </a:endParaRPr>
            </a:p>
          </p:txBody>
        </p:sp>
        <p:sp>
          <p:nvSpPr>
            <p:cNvPr id="470" name="Google Shape;563;p14"/>
            <p:cNvSpPr/>
            <p:nvPr/>
          </p:nvSpPr>
          <p:spPr>
            <a:xfrm>
              <a:off x="487080" y="1073160"/>
              <a:ext cx="11200680" cy="3214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500" b="0" u="none" strike="noStrike">
                  <a:solidFill>
                    <a:srgbClr val="66758A"/>
                  </a:solidFill>
                  <a:effectLst/>
                  <a:uFillTx/>
                  <a:latin typeface="Arial"/>
                  <a:ea typeface="Arial"/>
                </a:rPr>
                <a:t>Changes run after the plan is confirmed, same-version receipts support human review, and rules re-enter the workflow.</a:t>
              </a:r>
              <a:endParaRPr lang="en-US" sz="1500" b="0" u="none" strike="noStrike">
                <a:solidFill>
                  <a:srgbClr val="000000"/>
                </a:solidFill>
                <a:effectLst/>
                <a:uFillTx/>
                <a:latin typeface="Arial"/>
              </a:endParaRPr>
            </a:p>
          </p:txBody>
        </p:sp>
      </p:grpSp>
      <p:sp>
        <p:nvSpPr>
          <p:cNvPr id="471" name="Google Shape;564;p14"/>
          <p:cNvSpPr/>
          <p:nvPr/>
        </p:nvSpPr>
        <p:spPr>
          <a:xfrm>
            <a:off x="488520" y="6407280"/>
            <a:ext cx="10666800" cy="2628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50" b="0" u="none" strike="noStrike">
                <a:solidFill>
                  <a:srgbClr val="66758A"/>
                </a:solidFill>
                <a:effectLst/>
                <a:uFillTx/>
                <a:latin typeface="Arial"/>
                <a:ea typeface="Arial"/>
              </a:rPr>
              <a:t>Accepted scope and gaps are recorded separately; after write-back, check actual reads and regression.</a:t>
            </a:r>
            <a:endParaRPr lang="en-US" sz="1350" b="0" u="none" strike="noStrike">
              <a:solidFill>
                <a:srgbClr val="000000"/>
              </a:solidFill>
              <a:effectLst/>
              <a:uFillTx/>
              <a:latin typeface="Arial"/>
            </a:endParaRPr>
          </a:p>
        </p:txBody>
      </p:sp>
      <p:grpSp>
        <p:nvGrpSpPr>
          <p:cNvPr id="472" name="Google Shape;565;p14"/>
          <p:cNvGrpSpPr/>
          <p:nvPr/>
        </p:nvGrpSpPr>
        <p:grpSpPr>
          <a:xfrm>
            <a:off x="487080" y="1847880"/>
            <a:ext cx="7314480" cy="3071160"/>
            <a:chOff x="487080" y="1847880"/>
            <a:chExt cx="7314480" cy="3071160"/>
          </a:xfrm>
        </p:grpSpPr>
        <p:sp>
          <p:nvSpPr>
            <p:cNvPr id="473" name="Google Shape;566;p14"/>
            <p:cNvSpPr/>
            <p:nvPr/>
          </p:nvSpPr>
          <p:spPr>
            <a:xfrm>
              <a:off x="493920" y="1847880"/>
              <a:ext cx="2193840" cy="8751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74" name="Google Shape;567;p14"/>
            <p:cNvSpPr/>
            <p:nvPr/>
          </p:nvSpPr>
          <p:spPr>
            <a:xfrm>
              <a:off x="676800" y="1994040"/>
              <a:ext cx="210240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A76813"/>
                  </a:solidFill>
                  <a:effectLst/>
                  <a:uFillTx/>
                  <a:latin typeface="Arial"/>
                  <a:ea typeface="Arial"/>
                </a:rPr>
                <a:t>Human feedback</a:t>
              </a:r>
              <a:endParaRPr lang="en-US" sz="1800" b="0" u="none" strike="noStrike">
                <a:solidFill>
                  <a:srgbClr val="000000"/>
                </a:solidFill>
                <a:effectLst/>
                <a:uFillTx/>
                <a:latin typeface="Arial"/>
              </a:endParaRPr>
            </a:p>
          </p:txBody>
        </p:sp>
        <p:sp>
          <p:nvSpPr>
            <p:cNvPr id="475" name="Google Shape;568;p14"/>
            <p:cNvSpPr/>
            <p:nvPr/>
          </p:nvSpPr>
          <p:spPr>
            <a:xfrm>
              <a:off x="676800" y="2330280"/>
              <a:ext cx="21024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Describe, mark, goal</a:t>
              </a:r>
              <a:endParaRPr lang="en-US" sz="1500" b="0" u="none" strike="noStrike">
                <a:solidFill>
                  <a:srgbClr val="000000"/>
                </a:solidFill>
                <a:effectLst/>
                <a:uFillTx/>
                <a:latin typeface="Arial"/>
              </a:endParaRPr>
            </a:p>
          </p:txBody>
        </p:sp>
        <p:cxnSp>
          <p:nvCxnSpPr>
            <p:cNvPr id="476" name="Google Shape;569;p14"/>
            <p:cNvCxnSpPr/>
            <p:nvPr/>
          </p:nvCxnSpPr>
          <p:spPr>
            <a:xfrm>
              <a:off x="2715480" y="2286000"/>
              <a:ext cx="238320" cy="720"/>
            </a:xfrm>
            <a:prstGeom prst="straightConnector1">
              <a:avLst/>
            </a:prstGeom>
            <a:ln w="19050">
              <a:solidFill>
                <a:srgbClr val="66758A"/>
              </a:solidFill>
              <a:round/>
              <a:tailEnd len="lg" type="triangle" w="lg"/>
            </a:ln>
          </p:spPr>
        </p:cxnSp>
        <p:sp>
          <p:nvSpPr>
            <p:cNvPr id="477" name="Google Shape;570;p14"/>
            <p:cNvSpPr/>
            <p:nvPr/>
          </p:nvSpPr>
          <p:spPr>
            <a:xfrm>
              <a:off x="2980800" y="1847880"/>
              <a:ext cx="2193840" cy="87516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78" name="Google Shape;571;p14"/>
            <p:cNvSpPr/>
            <p:nvPr/>
          </p:nvSpPr>
          <p:spPr>
            <a:xfrm>
              <a:off x="3163680" y="1994040"/>
              <a:ext cx="210240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00000"/>
                  </a:solidFill>
                  <a:effectLst/>
                  <a:uFillTx/>
                  <a:latin typeface="Arial"/>
                  <a:ea typeface="Arial"/>
                </a:rPr>
                <a:t>AI restates plan</a:t>
              </a:r>
              <a:endParaRPr lang="en-US" sz="1800" b="0" u="none" strike="noStrike">
                <a:solidFill>
                  <a:srgbClr val="000000"/>
                </a:solidFill>
                <a:effectLst/>
                <a:uFillTx/>
                <a:latin typeface="Arial"/>
              </a:endParaRPr>
            </a:p>
          </p:txBody>
        </p:sp>
        <p:sp>
          <p:nvSpPr>
            <p:cNvPr id="479" name="Google Shape;572;p14"/>
            <p:cNvSpPr/>
            <p:nvPr/>
          </p:nvSpPr>
          <p:spPr>
            <a:xfrm>
              <a:off x="3163680" y="2330280"/>
              <a:ext cx="21024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Edits and protections</a:t>
              </a:r>
              <a:endParaRPr lang="en-US" sz="1500" b="0" u="none" strike="noStrike">
                <a:solidFill>
                  <a:srgbClr val="000000"/>
                </a:solidFill>
                <a:effectLst/>
                <a:uFillTx/>
                <a:latin typeface="Arial"/>
              </a:endParaRPr>
            </a:p>
          </p:txBody>
        </p:sp>
        <p:cxnSp>
          <p:nvCxnSpPr>
            <p:cNvPr id="480" name="Google Shape;573;p14"/>
            <p:cNvCxnSpPr/>
            <p:nvPr/>
          </p:nvCxnSpPr>
          <p:spPr>
            <a:xfrm>
              <a:off x="5202720" y="2286000"/>
              <a:ext cx="238320" cy="720"/>
            </a:xfrm>
            <a:prstGeom prst="straightConnector1">
              <a:avLst/>
            </a:prstGeom>
            <a:ln w="19050">
              <a:solidFill>
                <a:srgbClr val="66758A"/>
              </a:solidFill>
              <a:round/>
              <a:tailEnd len="lg" type="triangle" w="lg"/>
            </a:ln>
          </p:spPr>
        </p:cxnSp>
        <p:sp>
          <p:nvSpPr>
            <p:cNvPr id="481" name="Google Shape;574;p14"/>
            <p:cNvSpPr/>
            <p:nvPr/>
          </p:nvSpPr>
          <p:spPr>
            <a:xfrm>
              <a:off x="5468040" y="1847880"/>
              <a:ext cx="2193840" cy="8751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82" name="Google Shape;575;p14"/>
            <p:cNvSpPr/>
            <p:nvPr/>
          </p:nvSpPr>
          <p:spPr>
            <a:xfrm>
              <a:off x="5650920" y="1994040"/>
              <a:ext cx="210240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A76813"/>
                  </a:solidFill>
                  <a:effectLst/>
                  <a:uFillTx/>
                  <a:latin typeface="Arial"/>
                  <a:ea typeface="Arial"/>
                </a:rPr>
                <a:t>Human confirms</a:t>
              </a:r>
              <a:endParaRPr lang="en-US" sz="1800" b="0" u="none" strike="noStrike">
                <a:solidFill>
                  <a:srgbClr val="000000"/>
                </a:solidFill>
                <a:effectLst/>
                <a:uFillTx/>
                <a:latin typeface="Arial"/>
              </a:endParaRPr>
            </a:p>
          </p:txBody>
        </p:sp>
        <p:sp>
          <p:nvSpPr>
            <p:cNvPr id="483" name="Google Shape;576;p14"/>
            <p:cNvSpPr/>
            <p:nvPr/>
          </p:nvSpPr>
          <p:spPr>
            <a:xfrm>
              <a:off x="5650920" y="2330280"/>
              <a:ext cx="21024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Scope and trade-offs</a:t>
              </a:r>
              <a:endParaRPr lang="en-US" sz="1500" b="0" u="none" strike="noStrike">
                <a:solidFill>
                  <a:srgbClr val="000000"/>
                </a:solidFill>
                <a:effectLst/>
                <a:uFillTx/>
                <a:latin typeface="Arial"/>
              </a:endParaRPr>
            </a:p>
          </p:txBody>
        </p:sp>
        <p:cxnSp>
          <p:nvCxnSpPr>
            <p:cNvPr id="484" name="Google Shape;577;p14"/>
            <p:cNvCxnSpPr/>
            <p:nvPr/>
          </p:nvCxnSpPr>
          <p:spPr>
            <a:xfrm>
              <a:off x="6565320" y="2828880"/>
              <a:ext cx="720" cy="543240"/>
            </a:xfrm>
            <a:prstGeom prst="straightConnector1">
              <a:avLst/>
            </a:prstGeom>
            <a:ln w="19050">
              <a:solidFill>
                <a:srgbClr val="66758A"/>
              </a:solidFill>
              <a:round/>
              <a:tailEnd len="lg" type="triangle" w="lg"/>
            </a:ln>
          </p:spPr>
        </p:cxnSp>
        <p:sp>
          <p:nvSpPr>
            <p:cNvPr id="485" name="Google Shape;578;p14"/>
            <p:cNvSpPr/>
            <p:nvPr/>
          </p:nvSpPr>
          <p:spPr>
            <a:xfrm>
              <a:off x="5468040" y="3476520"/>
              <a:ext cx="2193840" cy="87516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86" name="Google Shape;579;p14"/>
            <p:cNvSpPr/>
            <p:nvPr/>
          </p:nvSpPr>
          <p:spPr>
            <a:xfrm>
              <a:off x="5650920" y="3622680"/>
              <a:ext cx="210240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AI applies edit</a:t>
              </a:r>
              <a:endParaRPr lang="en-US" sz="1800" b="0" u="none" strike="noStrike">
                <a:solidFill>
                  <a:srgbClr val="000000"/>
                </a:solidFill>
                <a:effectLst/>
                <a:uFillTx/>
                <a:latin typeface="Arial"/>
              </a:endParaRPr>
            </a:p>
          </p:txBody>
        </p:sp>
        <p:sp>
          <p:nvSpPr>
            <p:cNvPr id="487" name="Google Shape;580;p14"/>
            <p:cNvSpPr/>
            <p:nvPr/>
          </p:nvSpPr>
          <p:spPr>
            <a:xfrm>
              <a:off x="5650920" y="3959280"/>
              <a:ext cx="21024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Save and fresh reopen</a:t>
              </a:r>
              <a:endParaRPr lang="en-US" sz="1500" b="0" u="none" strike="noStrike">
                <a:solidFill>
                  <a:srgbClr val="000000"/>
                </a:solidFill>
                <a:effectLst/>
                <a:uFillTx/>
                <a:latin typeface="Arial"/>
              </a:endParaRPr>
            </a:p>
          </p:txBody>
        </p:sp>
        <p:cxnSp>
          <p:nvCxnSpPr>
            <p:cNvPr id="488" name="Google Shape;581;p14"/>
            <p:cNvCxnSpPr/>
            <p:nvPr/>
          </p:nvCxnSpPr>
          <p:spPr>
            <a:xfrm flipH="1">
              <a:off x="5202720" y="3914640"/>
              <a:ext cx="238320" cy="720"/>
            </a:xfrm>
            <a:prstGeom prst="straightConnector1">
              <a:avLst/>
            </a:prstGeom>
            <a:ln w="19050">
              <a:solidFill>
                <a:srgbClr val="66758A"/>
              </a:solidFill>
              <a:round/>
              <a:tailEnd len="lg" type="triangle" w="lg"/>
            </a:ln>
          </p:spPr>
        </p:cxnSp>
        <p:sp>
          <p:nvSpPr>
            <p:cNvPr id="489" name="Google Shape;582;p14"/>
            <p:cNvSpPr/>
            <p:nvPr/>
          </p:nvSpPr>
          <p:spPr>
            <a:xfrm>
              <a:off x="2980800" y="3476520"/>
              <a:ext cx="2193840" cy="87516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90" name="Google Shape;583;p14"/>
            <p:cNvSpPr/>
            <p:nvPr/>
          </p:nvSpPr>
          <p:spPr>
            <a:xfrm>
              <a:off x="3163680" y="3622680"/>
              <a:ext cx="210240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Make A/B receipt</a:t>
              </a:r>
              <a:endParaRPr lang="en-US" sz="1800" b="0" u="none" strike="noStrike">
                <a:solidFill>
                  <a:srgbClr val="000000"/>
                </a:solidFill>
                <a:effectLst/>
                <a:uFillTx/>
                <a:latin typeface="Arial"/>
              </a:endParaRPr>
            </a:p>
          </p:txBody>
        </p:sp>
        <p:sp>
          <p:nvSpPr>
            <p:cNvPr id="491" name="Google Shape;584;p14"/>
            <p:cNvSpPr/>
            <p:nvPr/>
          </p:nvSpPr>
          <p:spPr>
            <a:xfrm>
              <a:off x="3163680" y="3959280"/>
              <a:ext cx="21024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Same-setting A/B PDF</a:t>
              </a:r>
              <a:endParaRPr lang="en-US" sz="1500" b="0" u="none" strike="noStrike">
                <a:solidFill>
                  <a:srgbClr val="000000"/>
                </a:solidFill>
                <a:effectLst/>
                <a:uFillTx/>
                <a:latin typeface="Arial"/>
              </a:endParaRPr>
            </a:p>
          </p:txBody>
        </p:sp>
        <p:cxnSp>
          <p:nvCxnSpPr>
            <p:cNvPr id="492" name="Google Shape;585;p14"/>
            <p:cNvCxnSpPr/>
            <p:nvPr/>
          </p:nvCxnSpPr>
          <p:spPr>
            <a:xfrm flipH="1">
              <a:off x="2715480" y="3914640"/>
              <a:ext cx="238320" cy="720"/>
            </a:xfrm>
            <a:prstGeom prst="straightConnector1">
              <a:avLst/>
            </a:prstGeom>
            <a:ln w="19050">
              <a:solidFill>
                <a:srgbClr val="66758A"/>
              </a:solidFill>
              <a:round/>
              <a:tailEnd len="lg" type="triangle" w="lg"/>
            </a:ln>
          </p:spPr>
        </p:cxnSp>
        <p:sp>
          <p:nvSpPr>
            <p:cNvPr id="493" name="Google Shape;586;p14"/>
            <p:cNvSpPr/>
            <p:nvPr/>
          </p:nvSpPr>
          <p:spPr>
            <a:xfrm>
              <a:off x="493920" y="3476520"/>
              <a:ext cx="2193840" cy="8751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94" name="Google Shape;587;p14"/>
            <p:cNvSpPr/>
            <p:nvPr/>
          </p:nvSpPr>
          <p:spPr>
            <a:xfrm>
              <a:off x="676800" y="3622680"/>
              <a:ext cx="210240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A76813"/>
                  </a:solidFill>
                  <a:effectLst/>
                  <a:uFillTx/>
                  <a:latin typeface="Arial"/>
                  <a:ea typeface="Arial"/>
                </a:rPr>
                <a:t>Human reviews</a:t>
              </a:r>
              <a:endParaRPr lang="en-US" sz="1800" b="0" u="none" strike="noStrike">
                <a:solidFill>
                  <a:srgbClr val="000000"/>
                </a:solidFill>
                <a:effectLst/>
                <a:uFillTx/>
                <a:latin typeface="Arial"/>
              </a:endParaRPr>
            </a:p>
          </p:txBody>
        </p:sp>
        <p:sp>
          <p:nvSpPr>
            <p:cNvPr id="495" name="Google Shape;588;p14"/>
            <p:cNvSpPr/>
            <p:nvPr/>
          </p:nvSpPr>
          <p:spPr>
            <a:xfrm>
              <a:off x="676800" y="3959280"/>
              <a:ext cx="21024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Accepted scope, gaps</a:t>
              </a:r>
              <a:endParaRPr lang="en-US" sz="1500" b="0" u="none" strike="noStrike">
                <a:solidFill>
                  <a:srgbClr val="000000"/>
                </a:solidFill>
                <a:effectLst/>
                <a:uFillTx/>
                <a:latin typeface="Arial"/>
              </a:endParaRPr>
            </a:p>
          </p:txBody>
        </p:sp>
        <p:cxnSp>
          <p:nvCxnSpPr>
            <p:cNvPr id="496" name="Google Shape;589;p14"/>
            <p:cNvCxnSpPr/>
            <p:nvPr/>
          </p:nvCxnSpPr>
          <p:spPr>
            <a:xfrm flipV="1">
              <a:off x="1590840" y="2828880"/>
              <a:ext cx="720" cy="543240"/>
            </a:xfrm>
            <a:prstGeom prst="straightConnector1">
              <a:avLst/>
            </a:prstGeom>
            <a:ln w="19050">
              <a:solidFill>
                <a:srgbClr val="D98D2B"/>
              </a:solidFill>
              <a:prstDash val="dashDot"/>
              <a:round/>
              <a:tailEnd len="lg" type="triangle" w="lg"/>
            </a:ln>
          </p:spPr>
        </p:cxnSp>
        <p:sp>
          <p:nvSpPr>
            <p:cNvPr id="497" name="Google Shape;590;p14"/>
            <p:cNvSpPr/>
            <p:nvPr/>
          </p:nvSpPr>
          <p:spPr>
            <a:xfrm>
              <a:off x="487080" y="4597560"/>
              <a:ext cx="731448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A76813"/>
                  </a:solidFill>
                  <a:effectLst/>
                  <a:uFillTx/>
                  <a:latin typeface="Arial"/>
                  <a:ea typeface="Arial"/>
                </a:rPr>
                <a:t>Accepted scope and open items are logged separately; failed items are reworked.</a:t>
              </a:r>
              <a:endParaRPr lang="en-US" sz="1500" b="0" u="none" strike="noStrike">
                <a:solidFill>
                  <a:srgbClr val="000000"/>
                </a:solidFill>
                <a:effectLst/>
                <a:uFillTx/>
                <a:latin typeface="Arial"/>
              </a:endParaRPr>
            </a:p>
          </p:txBody>
        </p:sp>
      </p:grpSp>
      <p:grpSp>
        <p:nvGrpSpPr>
          <p:cNvPr id="498" name="Google Shape;591;p14"/>
          <p:cNvGrpSpPr/>
          <p:nvPr/>
        </p:nvGrpSpPr>
        <p:grpSpPr>
          <a:xfrm>
            <a:off x="7863840" y="1797120"/>
            <a:ext cx="3592800" cy="2925360"/>
            <a:chOff x="7863840" y="1797120"/>
            <a:chExt cx="3592800" cy="2925360"/>
          </a:xfrm>
        </p:grpSpPr>
        <p:sp>
          <p:nvSpPr>
            <p:cNvPr id="499" name="Google Shape;592;p14"/>
            <p:cNvSpPr/>
            <p:nvPr/>
          </p:nvSpPr>
          <p:spPr>
            <a:xfrm>
              <a:off x="7863840" y="1797120"/>
              <a:ext cx="3592800" cy="3801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Receipt of a soft-leaf nudge</a:t>
              </a:r>
              <a:endParaRPr lang="en-US" sz="1950" b="0" u="none" strike="noStrike">
                <a:solidFill>
                  <a:srgbClr val="000000"/>
                </a:solidFill>
                <a:effectLst/>
                <a:uFillTx/>
                <a:latin typeface="Arial"/>
              </a:endParaRPr>
            </a:p>
          </p:txBody>
        </p:sp>
        <p:pic>
          <p:nvPicPr>
            <p:cNvPr id="500" name="Google Shape;593;p14"/>
            <p:cNvPicPr/>
            <p:nvPr/>
          </p:nvPicPr>
          <p:blipFill>
            <a:blip r:embed="rId1"/>
            <a:stretch/>
          </p:blipFill>
          <p:spPr>
            <a:xfrm>
              <a:off x="7863840" y="2181240"/>
              <a:ext cx="3592800" cy="2541240"/>
            </a:xfrm>
            <a:prstGeom prst="rect">
              <a:avLst/>
            </a:prstGeom>
            <a:noFill/>
            <a:ln w="0">
              <a:noFill/>
            </a:ln>
          </p:spPr>
        </p:pic>
      </p:grpSp>
      <p:grpSp>
        <p:nvGrpSpPr>
          <p:cNvPr id="501" name="Google Shape;594;p14"/>
          <p:cNvGrpSpPr/>
          <p:nvPr/>
        </p:nvGrpSpPr>
        <p:grpSpPr>
          <a:xfrm>
            <a:off x="495360" y="5143680"/>
            <a:ext cx="11200320" cy="1008720"/>
            <a:chOff x="495360" y="5143680"/>
            <a:chExt cx="11200320" cy="1008720"/>
          </a:xfrm>
        </p:grpSpPr>
        <p:sp>
          <p:nvSpPr>
            <p:cNvPr id="502" name="Google Shape;595;p14"/>
            <p:cNvSpPr/>
            <p:nvPr/>
          </p:nvSpPr>
          <p:spPr>
            <a:xfrm>
              <a:off x="495360" y="5143680"/>
              <a:ext cx="11200320" cy="1008720"/>
            </a:xfrm>
            <a:prstGeom prst="roundRect">
              <a:avLst>
                <a:gd name="adj" fmla="val 8491"/>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503" name="Google Shape;596;p14"/>
            <p:cNvSpPr/>
            <p:nvPr/>
          </p:nvSpPr>
          <p:spPr>
            <a:xfrm>
              <a:off x="724320" y="5261040"/>
              <a:ext cx="5485680" cy="35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FFFFFF"/>
                  </a:solidFill>
                  <a:effectLst/>
                  <a:uFillTx/>
                  <a:latin typeface="Arial"/>
                  <a:ea typeface="Arial"/>
                </a:rPr>
                <a:t>After write-back, check the actual reads</a:t>
              </a:r>
              <a:endParaRPr lang="en-US" sz="1800" b="0" u="none" strike="noStrike">
                <a:solidFill>
                  <a:srgbClr val="000000"/>
                </a:solidFill>
                <a:effectLst/>
                <a:uFillTx/>
                <a:latin typeface="Arial"/>
              </a:endParaRPr>
            </a:p>
          </p:txBody>
        </p:sp>
        <p:sp>
          <p:nvSpPr>
            <p:cNvPr id="504" name="Google Shape;597;p14"/>
            <p:cNvSpPr/>
            <p:nvPr/>
          </p:nvSpPr>
          <p:spPr>
            <a:xfrm>
              <a:off x="722520" y="5645160"/>
              <a:ext cx="274248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Workflow and project memory</a:t>
              </a:r>
              <a:endParaRPr lang="en-US" sz="1500" b="0" u="none" strike="noStrike">
                <a:solidFill>
                  <a:srgbClr val="000000"/>
                </a:solidFill>
                <a:effectLst/>
                <a:uFillTx/>
                <a:latin typeface="Arial"/>
              </a:endParaRPr>
            </a:p>
          </p:txBody>
        </p:sp>
        <p:sp>
          <p:nvSpPr>
            <p:cNvPr id="505" name="Google Shape;598;p14"/>
            <p:cNvSpPr/>
            <p:nvPr/>
          </p:nvSpPr>
          <p:spPr>
            <a:xfrm>
              <a:off x="3840480" y="5645160"/>
              <a:ext cx="30168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Prompts, templates, tool entries</a:t>
              </a:r>
              <a:endParaRPr lang="en-US" sz="1500" b="0" u="none" strike="noStrike">
                <a:solidFill>
                  <a:srgbClr val="000000"/>
                </a:solidFill>
                <a:effectLst/>
                <a:uFillTx/>
                <a:latin typeface="Arial"/>
              </a:endParaRPr>
            </a:p>
          </p:txBody>
        </p:sp>
        <p:sp>
          <p:nvSpPr>
            <p:cNvPr id="506" name="Google Shape;599;p14"/>
            <p:cNvSpPr/>
            <p:nvPr/>
          </p:nvSpPr>
          <p:spPr>
            <a:xfrm>
              <a:off x="7223760" y="5645160"/>
              <a:ext cx="3474000" cy="321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Known pass/fail cases and next task</a:t>
              </a:r>
              <a:endParaRPr lang="en-US" sz="1500" b="0" u="none" strike="noStrike">
                <a:solidFill>
                  <a:srgbClr val="000000"/>
                </a:solidFill>
                <a:effectLst/>
                <a:uFillTx/>
                <a:latin typeface="Arial"/>
              </a:endParaRPr>
            </a:p>
          </p:txBody>
        </p:sp>
        <p:cxnSp>
          <p:nvCxnSpPr>
            <p:cNvPr id="507" name="Google Shape;600;p14"/>
            <p:cNvCxnSpPr/>
            <p:nvPr/>
          </p:nvCxnSpPr>
          <p:spPr>
            <a:xfrm>
              <a:off x="3291840" y="5781600"/>
              <a:ext cx="411840" cy="720"/>
            </a:xfrm>
            <a:prstGeom prst="straightConnector1">
              <a:avLst/>
            </a:prstGeom>
            <a:ln w="28575">
              <a:solidFill>
                <a:srgbClr val="069B8A"/>
              </a:solidFill>
              <a:round/>
              <a:tailEnd len="lg" type="triangle" w="lg"/>
            </a:ln>
          </p:spPr>
        </p:cxnSp>
        <p:cxnSp>
          <p:nvCxnSpPr>
            <p:cNvPr id="508" name="Google Shape;601;p14"/>
            <p:cNvCxnSpPr/>
            <p:nvPr/>
          </p:nvCxnSpPr>
          <p:spPr>
            <a:xfrm>
              <a:off x="6675120" y="5781600"/>
              <a:ext cx="411840" cy="720"/>
            </a:xfrm>
            <a:prstGeom prst="straightConnector1">
              <a:avLst/>
            </a:prstGeom>
            <a:ln w="28575">
              <a:solidFill>
                <a:srgbClr val="069B8A"/>
              </a:solidFill>
              <a:round/>
              <a:tailEnd len="lg" type="triangle" w="lg"/>
            </a:ln>
          </p:spPr>
        </p:cxnSp>
      </p:gr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509" name="Google Shape;606;p15"/>
          <p:cNvGrpSpPr/>
          <p:nvPr/>
        </p:nvGrpSpPr>
        <p:grpSpPr>
          <a:xfrm>
            <a:off x="478440" y="422280"/>
            <a:ext cx="10050840" cy="972000"/>
            <a:chOff x="478440" y="422280"/>
            <a:chExt cx="10050840" cy="972000"/>
          </a:xfrm>
        </p:grpSpPr>
        <p:sp>
          <p:nvSpPr>
            <p:cNvPr id="510" name="Google Shape;607;p15"/>
            <p:cNvSpPr/>
            <p:nvPr/>
          </p:nvSpPr>
          <p:spPr>
            <a:xfrm>
              <a:off x="478440" y="422280"/>
              <a:ext cx="5870880" cy="644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rgbClr val="13243A"/>
                  </a:solidFill>
                  <a:effectLst/>
                  <a:uFillTx/>
                  <a:latin typeface="Arial"/>
                  <a:ea typeface="Arial"/>
                </a:rPr>
                <a:t>Progress and Next Validation</a:t>
              </a:r>
              <a:endParaRPr lang="en-US" sz="3300" b="0" u="none" strike="noStrike">
                <a:solidFill>
                  <a:srgbClr val="000000"/>
                </a:solidFill>
                <a:effectLst/>
                <a:uFillTx/>
                <a:latin typeface="Arial"/>
              </a:endParaRPr>
            </a:p>
          </p:txBody>
        </p:sp>
        <p:sp>
          <p:nvSpPr>
            <p:cNvPr id="511" name="Google Shape;608;p15"/>
            <p:cNvSpPr/>
            <p:nvPr/>
          </p:nvSpPr>
          <p:spPr>
            <a:xfrm>
              <a:off x="487080" y="1073160"/>
              <a:ext cx="100422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Process evidence supports method checks. Cross-task reuse and product performance still need validation.</a:t>
              </a:r>
              <a:endParaRPr lang="en-US" sz="1650" b="0" u="none" strike="noStrike">
                <a:solidFill>
                  <a:srgbClr val="000000"/>
                </a:solidFill>
                <a:effectLst/>
                <a:uFillTx/>
                <a:latin typeface="Arial"/>
              </a:endParaRPr>
            </a:p>
          </p:txBody>
        </p:sp>
      </p:grpSp>
      <p:grpSp>
        <p:nvGrpSpPr>
          <p:cNvPr id="512" name="Google Shape;609;p15"/>
          <p:cNvGrpSpPr/>
          <p:nvPr/>
        </p:nvGrpSpPr>
        <p:grpSpPr>
          <a:xfrm>
            <a:off x="495360" y="1743120"/>
            <a:ext cx="11199960" cy="1951200"/>
            <a:chOff x="495360" y="1743120"/>
            <a:chExt cx="11199960" cy="1951200"/>
          </a:xfrm>
        </p:grpSpPr>
        <p:sp>
          <p:nvSpPr>
            <p:cNvPr id="513" name="Google Shape;610;p15"/>
            <p:cNvSpPr/>
            <p:nvPr/>
          </p:nvSpPr>
          <p:spPr>
            <a:xfrm>
              <a:off x="495360" y="1743120"/>
              <a:ext cx="3427560" cy="195120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514" name="Google Shape;611;p15"/>
            <p:cNvSpPr/>
            <p:nvPr/>
          </p:nvSpPr>
          <p:spPr>
            <a:xfrm>
              <a:off x="713880" y="1863720"/>
              <a:ext cx="29476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Used in the main project</a:t>
              </a:r>
              <a:endParaRPr lang="en-US" sz="1950" b="0" u="none" strike="noStrike">
                <a:solidFill>
                  <a:srgbClr val="000000"/>
                </a:solidFill>
                <a:effectLst/>
                <a:uFillTx/>
                <a:latin typeface="Arial"/>
              </a:endParaRPr>
            </a:p>
          </p:txBody>
        </p:sp>
        <p:sp>
          <p:nvSpPr>
            <p:cNvPr id="515" name="Google Shape;612;p15"/>
            <p:cNvSpPr/>
            <p:nvPr/>
          </p:nvSpPr>
          <p:spPr>
            <a:xfrm>
              <a:off x="715680" y="2368440"/>
              <a:ext cx="30679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RAG, concept-first, tool runs</a:t>
              </a:r>
              <a:endParaRPr lang="en-US" sz="1650" b="0" u="none" strike="noStrike">
                <a:solidFill>
                  <a:srgbClr val="000000"/>
                </a:solidFill>
                <a:effectLst/>
                <a:uFillTx/>
                <a:latin typeface="Arial"/>
              </a:endParaRPr>
            </a:p>
          </p:txBody>
        </p:sp>
        <p:sp>
          <p:nvSpPr>
            <p:cNvPr id="516" name="Google Shape;613;p15"/>
            <p:cNvSpPr/>
            <p:nvPr/>
          </p:nvSpPr>
          <p:spPr>
            <a:xfrm>
              <a:off x="715680" y="2730600"/>
              <a:ext cx="312516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Reopen, receipts, write-back</a:t>
              </a:r>
              <a:endParaRPr lang="en-US" sz="1650" b="0" u="none" strike="noStrike">
                <a:solidFill>
                  <a:srgbClr val="000000"/>
                </a:solidFill>
                <a:effectLst/>
                <a:uFillTx/>
                <a:latin typeface="Arial"/>
              </a:endParaRPr>
            </a:p>
          </p:txBody>
        </p:sp>
        <p:sp>
          <p:nvSpPr>
            <p:cNvPr id="517" name="Google Shape;614;p15"/>
            <p:cNvSpPr/>
            <p:nvPr/>
          </p:nvSpPr>
          <p:spPr>
            <a:xfrm>
              <a:off x="717120" y="3244680"/>
              <a:ext cx="2854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Records checkable, product pending</a:t>
              </a:r>
              <a:endParaRPr lang="en-US" sz="1350" b="0" u="none" strike="noStrike">
                <a:solidFill>
                  <a:srgbClr val="000000"/>
                </a:solidFill>
                <a:effectLst/>
                <a:uFillTx/>
                <a:latin typeface="Arial"/>
              </a:endParaRPr>
            </a:p>
          </p:txBody>
        </p:sp>
        <p:sp>
          <p:nvSpPr>
            <p:cNvPr id="518" name="Google Shape;615;p15"/>
            <p:cNvSpPr/>
            <p:nvPr/>
          </p:nvSpPr>
          <p:spPr>
            <a:xfrm>
              <a:off x="4381560" y="1743120"/>
              <a:ext cx="3427560" cy="195120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519" name="Google Shape;616;p15"/>
            <p:cNvSpPr/>
            <p:nvPr/>
          </p:nvSpPr>
          <p:spPr>
            <a:xfrm>
              <a:off x="4600080" y="1863720"/>
              <a:ext cx="294768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Independent trial results</a:t>
              </a:r>
              <a:endParaRPr lang="en-US" sz="1950" b="0" u="none" strike="noStrike">
                <a:solidFill>
                  <a:srgbClr val="000000"/>
                </a:solidFill>
                <a:effectLst/>
                <a:uFillTx/>
                <a:latin typeface="Arial"/>
              </a:endParaRPr>
            </a:p>
          </p:txBody>
        </p:sp>
        <p:sp>
          <p:nvSpPr>
            <p:cNvPr id="520" name="Google Shape;617;p15"/>
            <p:cNvSpPr/>
            <p:nvPr/>
          </p:nvSpPr>
          <p:spPr>
            <a:xfrm>
              <a:off x="4601880" y="2368440"/>
              <a:ext cx="302508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Form/scene split, coverage pick</a:t>
              </a:r>
              <a:endParaRPr lang="en-US" sz="1650" b="0" u="none" strike="noStrike">
                <a:solidFill>
                  <a:srgbClr val="000000"/>
                </a:solidFill>
                <a:effectLst/>
                <a:uFillTx/>
                <a:latin typeface="Arial"/>
              </a:endParaRPr>
            </a:p>
          </p:txBody>
        </p:sp>
        <p:sp>
          <p:nvSpPr>
            <p:cNvPr id="521" name="Google Shape;618;p15"/>
            <p:cNvSpPr/>
            <p:nvPr/>
          </p:nvSpPr>
          <p:spPr>
            <a:xfrm>
              <a:off x="4601880" y="2730600"/>
              <a:ext cx="29372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Image purpose, size attribution</a:t>
              </a:r>
              <a:endParaRPr lang="en-US" sz="1650" b="0" u="none" strike="noStrike">
                <a:solidFill>
                  <a:srgbClr val="000000"/>
                </a:solidFill>
                <a:effectLst/>
                <a:uFillTx/>
                <a:latin typeface="Arial"/>
              </a:endParaRPr>
            </a:p>
          </p:txBody>
        </p:sp>
        <p:sp>
          <p:nvSpPr>
            <p:cNvPr id="522" name="Google Shape;619;p15"/>
            <p:cNvSpPr/>
            <p:nvPr/>
          </p:nvSpPr>
          <p:spPr>
            <a:xfrm>
              <a:off x="4603320" y="3244680"/>
              <a:ext cx="302580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Not yet fully in the main automatic path</a:t>
              </a:r>
              <a:endParaRPr lang="en-US" sz="1350" b="0" u="none" strike="noStrike">
                <a:solidFill>
                  <a:srgbClr val="000000"/>
                </a:solidFill>
                <a:effectLst/>
                <a:uFillTx/>
                <a:latin typeface="Arial"/>
              </a:endParaRPr>
            </a:p>
          </p:txBody>
        </p:sp>
        <p:sp>
          <p:nvSpPr>
            <p:cNvPr id="523" name="Google Shape;620;p15"/>
            <p:cNvSpPr/>
            <p:nvPr/>
          </p:nvSpPr>
          <p:spPr>
            <a:xfrm>
              <a:off x="8267760" y="1743120"/>
              <a:ext cx="3427560" cy="195120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524" name="Google Shape;621;p15"/>
            <p:cNvSpPr/>
            <p:nvPr/>
          </p:nvSpPr>
          <p:spPr>
            <a:xfrm>
              <a:off x="8486280" y="1863720"/>
              <a:ext cx="19429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D98D2B"/>
                  </a:solidFill>
                  <a:effectLst/>
                  <a:uFillTx/>
                  <a:latin typeface="Arial"/>
                  <a:ea typeface="Arial"/>
                </a:rPr>
                <a:t>Open questions</a:t>
              </a:r>
              <a:endParaRPr lang="en-US" sz="1950" b="0" u="none" strike="noStrike">
                <a:solidFill>
                  <a:srgbClr val="000000"/>
                </a:solidFill>
                <a:effectLst/>
                <a:uFillTx/>
                <a:latin typeface="Arial"/>
              </a:endParaRPr>
            </a:p>
          </p:txBody>
        </p:sp>
        <p:sp>
          <p:nvSpPr>
            <p:cNvPr id="525" name="Google Shape;622;p15"/>
            <p:cNvSpPr/>
            <p:nvPr/>
          </p:nvSpPr>
          <p:spPr>
            <a:xfrm>
              <a:off x="8488080" y="2368440"/>
              <a:ext cx="25956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Efficiency and quality gains</a:t>
              </a:r>
              <a:endParaRPr lang="en-US" sz="1650" b="0" u="none" strike="noStrike">
                <a:solidFill>
                  <a:srgbClr val="000000"/>
                </a:solidFill>
                <a:effectLst/>
                <a:uFillTx/>
                <a:latin typeface="Arial"/>
              </a:endParaRPr>
            </a:p>
          </p:txBody>
        </p:sp>
        <p:sp>
          <p:nvSpPr>
            <p:cNvPr id="526" name="Google Shape;623;p15"/>
            <p:cNvSpPr/>
            <p:nvPr/>
          </p:nvSpPr>
          <p:spPr>
            <a:xfrm>
              <a:off x="8488080" y="2730600"/>
              <a:ext cx="29030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Comfort, stability, production</a:t>
              </a:r>
              <a:endParaRPr lang="en-US" sz="1650" b="0" u="none" strike="noStrike">
                <a:solidFill>
                  <a:srgbClr val="000000"/>
                </a:solidFill>
                <a:effectLst/>
                <a:uFillTx/>
                <a:latin typeface="Arial"/>
              </a:endParaRPr>
            </a:p>
          </p:txBody>
        </p:sp>
        <p:sp>
          <p:nvSpPr>
            <p:cNvPr id="527" name="Google Shape;624;p15"/>
            <p:cNvSpPr/>
            <p:nvPr/>
          </p:nvSpPr>
          <p:spPr>
            <a:xfrm>
              <a:off x="8489520" y="3244680"/>
              <a:ext cx="23684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Controls and tests still needed</a:t>
              </a:r>
              <a:endParaRPr lang="en-US" sz="1350" b="0" u="none" strike="noStrike">
                <a:solidFill>
                  <a:srgbClr val="000000"/>
                </a:solidFill>
                <a:effectLst/>
                <a:uFillTx/>
                <a:latin typeface="Arial"/>
              </a:endParaRPr>
            </a:p>
          </p:txBody>
        </p:sp>
      </p:grpSp>
      <p:grpSp>
        <p:nvGrpSpPr>
          <p:cNvPr id="528" name="Google Shape;625;p15"/>
          <p:cNvGrpSpPr/>
          <p:nvPr/>
        </p:nvGrpSpPr>
        <p:grpSpPr>
          <a:xfrm>
            <a:off x="483120" y="4213080"/>
            <a:ext cx="11234160" cy="1981800"/>
            <a:chOff x="483120" y="4213080"/>
            <a:chExt cx="11234160" cy="1981800"/>
          </a:xfrm>
        </p:grpSpPr>
        <p:sp>
          <p:nvSpPr>
            <p:cNvPr id="529" name="Google Shape;626;p15"/>
            <p:cNvSpPr/>
            <p:nvPr/>
          </p:nvSpPr>
          <p:spPr>
            <a:xfrm>
              <a:off x="483120" y="4213080"/>
              <a:ext cx="4914720" cy="468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rgbClr val="13243A"/>
                  </a:solidFill>
                  <a:effectLst/>
                  <a:uFillTx/>
                  <a:latin typeface="Arial"/>
                  <a:ea typeface="Arial"/>
                </a:rPr>
                <a:t>Validation plan for the next round</a:t>
              </a:r>
              <a:endParaRPr lang="en-US" sz="2400" b="0" u="none" strike="noStrike">
                <a:solidFill>
                  <a:srgbClr val="000000"/>
                </a:solidFill>
                <a:effectLst/>
                <a:uFillTx/>
                <a:latin typeface="Arial"/>
              </a:endParaRPr>
            </a:p>
          </p:txBody>
        </p:sp>
        <p:sp>
          <p:nvSpPr>
            <p:cNvPr id="530" name="Google Shape;627;p15"/>
            <p:cNvSpPr/>
            <p:nvPr/>
          </p:nvSpPr>
          <p:spPr>
            <a:xfrm>
              <a:off x="485280" y="4778280"/>
              <a:ext cx="321012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13243A"/>
                  </a:solidFill>
                  <a:effectLst/>
                  <a:uFillTx/>
                  <a:latin typeface="Arial"/>
                  <a:ea typeface="Arial"/>
                </a:rPr>
                <a:t>New needs and product task</a:t>
              </a:r>
              <a:endParaRPr lang="en-US" sz="1950" b="0" u="none" strike="noStrike">
                <a:solidFill>
                  <a:srgbClr val="000000"/>
                </a:solidFill>
                <a:effectLst/>
                <a:uFillTx/>
                <a:latin typeface="Arial"/>
              </a:endParaRPr>
            </a:p>
          </p:txBody>
        </p:sp>
        <p:sp>
          <p:nvSpPr>
            <p:cNvPr id="531" name="Google Shape;628;p15"/>
            <p:cNvSpPr/>
            <p:nvPr/>
          </p:nvSpPr>
          <p:spPr>
            <a:xfrm>
              <a:off x="4581000" y="4778280"/>
              <a:ext cx="330624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13243A"/>
                  </a:solidFill>
                  <a:effectLst/>
                  <a:uFillTx/>
                  <a:latin typeface="Arial"/>
                  <a:ea typeface="Arial"/>
                </a:rPr>
                <a:t>Log errors, rework, data gaps</a:t>
              </a:r>
              <a:endParaRPr lang="en-US" sz="1950" b="0" u="none" strike="noStrike">
                <a:solidFill>
                  <a:srgbClr val="000000"/>
                </a:solidFill>
                <a:effectLst/>
                <a:uFillTx/>
                <a:latin typeface="Arial"/>
              </a:endParaRPr>
            </a:p>
          </p:txBody>
        </p:sp>
        <p:sp>
          <p:nvSpPr>
            <p:cNvPr id="532" name="Google Shape;629;p15"/>
            <p:cNvSpPr/>
            <p:nvPr/>
          </p:nvSpPr>
          <p:spPr>
            <a:xfrm>
              <a:off x="8934120" y="4778280"/>
              <a:ext cx="2521800" cy="3798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13243A"/>
                  </a:solidFill>
                  <a:effectLst/>
                  <a:uFillTx/>
                  <a:latin typeface="Arial"/>
                  <a:ea typeface="Arial"/>
                </a:rPr>
                <a:t>One-standard controls</a:t>
              </a:r>
              <a:endParaRPr lang="en-US" sz="1950" b="0" u="none" strike="noStrike">
                <a:solidFill>
                  <a:srgbClr val="000000"/>
                </a:solidFill>
                <a:effectLst/>
                <a:uFillTx/>
                <a:latin typeface="Arial"/>
              </a:endParaRPr>
            </a:p>
          </p:txBody>
        </p:sp>
        <p:sp>
          <p:nvSpPr>
            <p:cNvPr id="533" name="Google Shape;630;p15"/>
            <p:cNvSpPr/>
            <p:nvPr/>
          </p:nvSpPr>
          <p:spPr>
            <a:xfrm>
              <a:off x="487080" y="5245200"/>
              <a:ext cx="30301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Check extraction and rule reuse</a:t>
              </a:r>
              <a:endParaRPr lang="en-US" sz="1650" b="0" u="none" strike="noStrike">
                <a:solidFill>
                  <a:srgbClr val="000000"/>
                </a:solidFill>
                <a:effectLst/>
                <a:uFillTx/>
                <a:latin typeface="Arial"/>
              </a:endParaRPr>
            </a:p>
          </p:txBody>
        </p:sp>
        <p:sp>
          <p:nvSpPr>
            <p:cNvPr id="534" name="Google Shape;631;p15"/>
            <p:cNvSpPr/>
            <p:nvPr/>
          </p:nvSpPr>
          <p:spPr>
            <a:xfrm>
              <a:off x="4582800" y="5245200"/>
              <a:ext cx="271944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Track rule reads and failures</a:t>
              </a:r>
              <a:endParaRPr lang="en-US" sz="1650" b="0" u="none" strike="noStrike">
                <a:solidFill>
                  <a:srgbClr val="000000"/>
                </a:solidFill>
                <a:effectLst/>
                <a:uFillTx/>
                <a:latin typeface="Arial"/>
              </a:endParaRPr>
            </a:p>
          </p:txBody>
        </p:sp>
        <p:sp>
          <p:nvSpPr>
            <p:cNvPr id="535" name="Google Shape;632;p15"/>
            <p:cNvSpPr/>
            <p:nvPr/>
          </p:nvSpPr>
          <p:spPr>
            <a:xfrm>
              <a:off x="8935560" y="5245200"/>
              <a:ext cx="278172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Wear tests, engineering tests</a:t>
              </a:r>
              <a:endParaRPr lang="en-US" sz="1650" b="0" u="none" strike="noStrike">
                <a:solidFill>
                  <a:srgbClr val="000000"/>
                </a:solidFill>
                <a:effectLst/>
                <a:uFillTx/>
                <a:latin typeface="Arial"/>
              </a:endParaRPr>
            </a:p>
          </p:txBody>
        </p:sp>
        <p:sp>
          <p:nvSpPr>
            <p:cNvPr id="536" name="Google Shape;633;p15"/>
            <p:cNvSpPr/>
            <p:nvPr/>
          </p:nvSpPr>
          <p:spPr>
            <a:xfrm>
              <a:off x="487080" y="5873760"/>
              <a:ext cx="8877600" cy="321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D98D2B"/>
                  </a:solidFill>
                  <a:effectLst/>
                  <a:uFillTx/>
                  <a:latin typeface="Arial"/>
                  <a:ea typeface="Arial"/>
                </a:rPr>
                <a:t>Product: pose refinement paused, joint under review, multi-view regression pending, gaps kept.</a:t>
              </a:r>
              <a:endParaRPr lang="en-US" sz="1650" b="0" u="none" strike="noStrike">
                <a:solidFill>
                  <a:srgbClr val="000000"/>
                </a:solidFill>
                <a:effectLst/>
                <a:uFillTx/>
                <a:latin typeface="Arial"/>
              </a:endParaRPr>
            </a:p>
          </p:txBody>
        </p:sp>
      </p:grpSp>
      <p:sp>
        <p:nvSpPr>
          <p:cNvPr id="537" name="Google Shape;634;p15"/>
          <p:cNvSpPr/>
          <p:nvPr/>
        </p:nvSpPr>
        <p:spPr>
          <a:xfrm>
            <a:off x="488520" y="6407280"/>
            <a:ext cx="7838640" cy="2624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Method use, user acceptance, product performance, and cross-task validation are recorded separately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i-workflow-report">
  <a:themeElements>
    <a:clrScheme name="ai-workflow-report">
      <a:dk1>
        <a:srgbClr val="24364C"/>
      </a:dk1>
      <a:lt1>
        <a:srgbClr val="FFFFFF"/>
      </a:lt1>
      <a:dk2>
        <a:srgbClr val="1F497D"/>
      </a:dk2>
      <a:lt2>
        <a:srgbClr val="FFFFFF"/>
      </a:lt2>
      <a:accent1>
        <a:srgbClr val="13243A"/>
      </a:accent1>
      <a:accent2>
        <a:srgbClr val="3662EA"/>
      </a:accent2>
      <a:accent3>
        <a:srgbClr val="3662EA"/>
      </a:accent3>
      <a:accent4>
        <a:srgbClr val="13243A"/>
      </a:accent4>
      <a:accent5>
        <a:srgbClr val="F7F8FC"/>
      </a:accent5>
      <a:accent6>
        <a:srgbClr val="8B5CF6"/>
      </a:accent6>
      <a:hlink>
        <a:srgbClr val="3662EA"/>
      </a:hlink>
      <a:folHlink>
        <a:srgbClr val="3662EA"/>
      </a:folHlink>
    </a:clrScheme>
    <a:fontScheme name="Office">
      <a:majorFont>
        <a:latin typeface="Arial"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LibreOffice/26.8.0.3$Windows_X86_64 LibreOffice_project/bce0998afefdbc355585ca324285661a2170ba77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2026-10-05T05:37:00Z</dcterms:created>
  <dc:creator/>
  <dc:description/>
  <dc:language>en-US</dc:language>
  <cp:lastModifiedBy/>
  <dcterms:modified xsi:type="dcterms:W3CDTF">2026-10-06T10:01:13Z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9789CAEDCF8240608A02AD6845FCDB37_12</vt:lpwstr>
  </property>
  <property fmtid="{D5CDD505-2E9C-101B-9397-08002B2CF9AE}" pid="3" name="KSOProductBuildVer">
    <vt:lpwstr>2052-12.1.0.28505</vt:lpwstr>
  </property>
  <property fmtid="{D5CDD505-2E9C-101B-9397-08002B2CF9AE}" pid="4" name="PresentationFormat">
    <vt:lpwstr>On-screen Show (16:9)</vt:lpwstr>
  </property>
  <property fmtid="{D5CDD505-2E9C-101B-9397-08002B2CF9AE}" pid="5" name="Slides">
    <vt:i4>14</vt:i4>
  </property>
</Properties>
</file>