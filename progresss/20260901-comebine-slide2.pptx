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7" r:id="rId7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2" roundtripDataSignature="AMtx7mi2q/weQ7NrHHunKBMwxcIdvHBu9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AC296E5-4685-40E7-A592-16E1309CADE4}">
  <a:tblStyle styleId="{9AC296E5-4685-40E7-A592-16E1309CADE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22" Type="http://customschemas.google.com/relationships/presentationmetadata" Target="meta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f9c857b24b_0_2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" name="Google Shape;23;g3f9c857b24b_0_27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g3f9c857b24b_0_27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f9c857b24b_18_103"/>
          <p:cNvSpPr txBox="1"/>
          <p:nvPr>
            <p:ph idx="10" type="dt"/>
          </p:nvPr>
        </p:nvSpPr>
        <p:spPr>
          <a:xfrm>
            <a:off x="489600" y="4735800"/>
            <a:ext cx="2160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800" lIns="71625" spcFirstLastPara="1" rIns="71625" wrap="square" tIns="358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3" name="Google Shape;13;g3f9c857b24b_18_103"/>
          <p:cNvSpPr txBox="1"/>
          <p:nvPr>
            <p:ph idx="11" type="ftr"/>
          </p:nvPr>
        </p:nvSpPr>
        <p:spPr>
          <a:xfrm>
            <a:off x="3292800" y="4735800"/>
            <a:ext cx="3168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800" lIns="71625" spcFirstLastPara="1" rIns="71625" wrap="square" tIns="358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14" name="Google Shape;14;g3f9c857b24b_18_103"/>
          <p:cNvSpPr txBox="1"/>
          <p:nvPr>
            <p:ph idx="12" type="sldNum"/>
          </p:nvPr>
        </p:nvSpPr>
        <p:spPr>
          <a:xfrm>
            <a:off x="7102080" y="4735800"/>
            <a:ext cx="2160000" cy="23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800" lIns="71625" spcFirstLastPara="1" rIns="71625" wrap="square" tIns="35800">
            <a:normAutofit lnSpcReduction="10000"/>
          </a:bodyPr>
          <a:lstStyle>
            <a:lvl1pPr indent="0" lvl="0" marL="0" algn="r">
              <a:spcBef>
                <a:spcPts val="0"/>
              </a:spcBef>
              <a:buNone/>
              <a:defRPr sz="1100"/>
            </a:lvl1pPr>
            <a:lvl2pPr indent="0" lvl="1" marL="0" algn="r">
              <a:spcBef>
                <a:spcPts val="0"/>
              </a:spcBef>
              <a:buNone/>
              <a:defRPr sz="1100"/>
            </a:lvl2pPr>
            <a:lvl3pPr indent="0" lvl="2" marL="0" algn="r">
              <a:spcBef>
                <a:spcPts val="0"/>
              </a:spcBef>
              <a:buNone/>
              <a:defRPr sz="1100"/>
            </a:lvl3pPr>
            <a:lvl4pPr indent="0" lvl="3" marL="0" algn="r">
              <a:spcBef>
                <a:spcPts val="0"/>
              </a:spcBef>
              <a:buNone/>
              <a:defRPr sz="1100"/>
            </a:lvl4pPr>
            <a:lvl5pPr indent="0" lvl="4" marL="0" algn="r">
              <a:spcBef>
                <a:spcPts val="0"/>
              </a:spcBef>
              <a:buNone/>
              <a:defRPr sz="1100"/>
            </a:lvl5pPr>
            <a:lvl6pPr indent="0" lvl="5" marL="0" algn="r">
              <a:spcBef>
                <a:spcPts val="0"/>
              </a:spcBef>
              <a:buNone/>
              <a:defRPr sz="1100"/>
            </a:lvl6pPr>
            <a:lvl7pPr indent="0" lvl="6" marL="0" algn="r">
              <a:spcBef>
                <a:spcPts val="0"/>
              </a:spcBef>
              <a:buNone/>
              <a:defRPr sz="1100"/>
            </a:lvl7pPr>
            <a:lvl8pPr indent="0" lvl="7" marL="0" algn="r">
              <a:spcBef>
                <a:spcPts val="0"/>
              </a:spcBef>
              <a:buNone/>
              <a:defRPr sz="1100"/>
            </a:lvl8pPr>
            <a:lvl9pPr indent="0" lvl="8" marL="0" algn="r">
              <a:spcBef>
                <a:spcPts val="0"/>
              </a:spcBef>
              <a:buNone/>
              <a:defRPr sz="1100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  <a:effectLst/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g3f9c857b24b_0_274"/>
          <p:cNvSpPr/>
          <p:nvPr/>
        </p:nvSpPr>
        <p:spPr>
          <a:xfrm>
            <a:off x="566928" y="3246120"/>
            <a:ext cx="2880300" cy="1847100"/>
          </a:xfrm>
          <a:prstGeom prst="roundRect">
            <a:avLst>
              <a:gd fmla="val 3960" name="adj"/>
            </a:avLst>
          </a:prstGeom>
          <a:solidFill>
            <a:srgbClr val="F4F8F8"/>
          </a:solidFill>
          <a:ln cap="flat" cmpd="sng" w="15225">
            <a:solidFill>
              <a:srgbClr val="C3D6D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7" name="Google Shape;27;g3f9c857b24b_0_274"/>
          <p:cNvSpPr txBox="1"/>
          <p:nvPr/>
        </p:nvSpPr>
        <p:spPr>
          <a:xfrm>
            <a:off x="658368" y="3291840"/>
            <a:ext cx="2697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772A"/>
              </a:buClr>
              <a:buSzPts val="900"/>
              <a:buFont typeface="Calibri"/>
              <a:buNone/>
            </a:pPr>
            <a:r>
              <a:rPr b="1" i="0" lang="en-US" sz="1400" u="none" cap="none" strike="noStrike">
                <a:solidFill>
                  <a:srgbClr val="A9772A"/>
                </a:solidFill>
                <a:latin typeface="Calibri"/>
                <a:ea typeface="Calibri"/>
                <a:cs typeface="Calibri"/>
                <a:sym typeface="Calibri"/>
              </a:rPr>
              <a:t>PRIOR KNOWLEDGE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g3f9c857b24b_0_274"/>
          <p:cNvSpPr/>
          <p:nvPr/>
        </p:nvSpPr>
        <p:spPr>
          <a:xfrm>
            <a:off x="658368" y="3529584"/>
            <a:ext cx="2697600" cy="255900"/>
          </a:xfrm>
          <a:prstGeom prst="roundRect">
            <a:avLst>
              <a:gd fmla="val 21429" name="adj"/>
            </a:avLst>
          </a:prstGeom>
          <a:solidFill>
            <a:srgbClr val="F7EBD6"/>
          </a:solidFill>
          <a:ln cap="flat" cmpd="sng" w="15225">
            <a:solidFill>
              <a:srgbClr val="A97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9" name="Google Shape;29;g3f9c857b24b_0_274"/>
          <p:cNvSpPr txBox="1"/>
          <p:nvPr/>
        </p:nvSpPr>
        <p:spPr>
          <a:xfrm>
            <a:off x="694944" y="3529584"/>
            <a:ext cx="262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82D"/>
              </a:buClr>
              <a:buSzPts val="720"/>
              <a:buFont typeface="Calibri"/>
              <a:buNone/>
            </a:pPr>
            <a:r>
              <a:rPr b="0" i="0" lang="en-US" sz="1400" u="none" cap="none" strike="noStrike">
                <a:solidFill>
                  <a:srgbClr val="15282D"/>
                </a:solidFill>
                <a:latin typeface="Calibri"/>
                <a:ea typeface="Calibri"/>
                <a:cs typeface="Calibri"/>
                <a:sym typeface="Calibri"/>
              </a:rPr>
              <a:t>Ear Anatomy and Human Factors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g3f9c857b24b_0_274"/>
          <p:cNvSpPr/>
          <p:nvPr/>
        </p:nvSpPr>
        <p:spPr>
          <a:xfrm>
            <a:off x="658368" y="3822192"/>
            <a:ext cx="2697600" cy="255900"/>
          </a:xfrm>
          <a:prstGeom prst="roundRect">
            <a:avLst>
              <a:gd fmla="val 21429" name="adj"/>
            </a:avLst>
          </a:prstGeom>
          <a:solidFill>
            <a:srgbClr val="F7EBD6"/>
          </a:solidFill>
          <a:ln cap="flat" cmpd="sng" w="15225">
            <a:solidFill>
              <a:srgbClr val="A97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31" name="Google Shape;31;g3f9c857b24b_0_274"/>
          <p:cNvSpPr txBox="1"/>
          <p:nvPr/>
        </p:nvSpPr>
        <p:spPr>
          <a:xfrm>
            <a:off x="694944" y="3822192"/>
            <a:ext cx="262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82D"/>
              </a:buClr>
              <a:buSzPts val="720"/>
              <a:buFont typeface="Calibri"/>
              <a:buNone/>
            </a:pPr>
            <a:r>
              <a:rPr b="0" i="0" lang="en-US" sz="1400" u="none" cap="none" strike="noStrike">
                <a:solidFill>
                  <a:srgbClr val="15282D"/>
                </a:solidFill>
                <a:latin typeface="Calibri"/>
                <a:ea typeface="Calibri"/>
                <a:cs typeface="Calibri"/>
                <a:sym typeface="Calibri"/>
              </a:rPr>
              <a:t>Market Products and Patents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g3f9c857b24b_0_274"/>
          <p:cNvSpPr/>
          <p:nvPr/>
        </p:nvSpPr>
        <p:spPr>
          <a:xfrm>
            <a:off x="658368" y="4114800"/>
            <a:ext cx="2697600" cy="255900"/>
          </a:xfrm>
          <a:prstGeom prst="roundRect">
            <a:avLst>
              <a:gd fmla="val 21429" name="adj"/>
            </a:avLst>
          </a:prstGeom>
          <a:solidFill>
            <a:srgbClr val="F7EBD6"/>
          </a:solidFill>
          <a:ln cap="flat" cmpd="sng" w="15225">
            <a:solidFill>
              <a:srgbClr val="A97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33" name="Google Shape;33;g3f9c857b24b_0_274"/>
          <p:cNvSpPr txBox="1"/>
          <p:nvPr/>
        </p:nvSpPr>
        <p:spPr>
          <a:xfrm>
            <a:off x="694944" y="4114800"/>
            <a:ext cx="26244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82D"/>
              </a:buClr>
              <a:buSzPts val="720"/>
              <a:buFont typeface="Calibri"/>
              <a:buNone/>
            </a:pPr>
            <a:r>
              <a:rPr b="0" i="0" lang="en-US" sz="1400" u="none" cap="none" strike="noStrike">
                <a:solidFill>
                  <a:srgbClr val="15282D"/>
                </a:solidFill>
                <a:latin typeface="Calibri"/>
                <a:ea typeface="Calibri"/>
                <a:cs typeface="Calibri"/>
                <a:sym typeface="Calibri"/>
              </a:rPr>
              <a:t>Manufacturing Rules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g3f9c857b24b_0_274"/>
          <p:cNvSpPr/>
          <p:nvPr/>
        </p:nvSpPr>
        <p:spPr>
          <a:xfrm>
            <a:off x="658368" y="4407408"/>
            <a:ext cx="2697600" cy="457200"/>
          </a:xfrm>
          <a:prstGeom prst="roundRect">
            <a:avLst>
              <a:gd fmla="val 14286" name="adj"/>
            </a:avLst>
          </a:prstGeom>
          <a:solidFill>
            <a:srgbClr val="EBD9B4"/>
          </a:solidFill>
          <a:ln cap="flat" cmpd="sng" w="15225">
            <a:solidFill>
              <a:srgbClr val="A97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35" name="Google Shape;35;g3f9c857b24b_0_274"/>
          <p:cNvSpPr txBox="1"/>
          <p:nvPr/>
        </p:nvSpPr>
        <p:spPr>
          <a:xfrm>
            <a:off x="694944" y="4407408"/>
            <a:ext cx="262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82D"/>
              </a:buClr>
              <a:buSzPts val="720"/>
              <a:buFont typeface="Calibri"/>
              <a:buNone/>
            </a:pPr>
            <a:r>
              <a:rPr b="1" i="0" lang="en-US" sz="1400" u="none" cap="none" strike="noStrike">
                <a:solidFill>
                  <a:srgbClr val="15282D"/>
                </a:solidFill>
                <a:latin typeface="Calibri"/>
                <a:ea typeface="Calibri"/>
                <a:cs typeface="Calibri"/>
                <a:sym typeface="Calibri"/>
              </a:rPr>
              <a:t>Real Wearing Data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82D"/>
              </a:buClr>
              <a:buSzPts val="720"/>
              <a:buFont typeface="Calibri"/>
              <a:buNone/>
            </a:pPr>
            <a:r>
              <a:rPr b="1" i="0" lang="en-US" sz="1400" u="none" cap="none" strike="noStrike">
                <a:solidFill>
                  <a:srgbClr val="15282D"/>
                </a:solidFill>
                <a:latin typeface="Calibri"/>
                <a:ea typeface="Calibri"/>
                <a:cs typeface="Calibri"/>
                <a:sym typeface="Calibri"/>
              </a:rPr>
              <a:t>Pose and Contact Areas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g3f9c857b24b_0_274"/>
          <p:cNvSpPr txBox="1"/>
          <p:nvPr/>
        </p:nvSpPr>
        <p:spPr>
          <a:xfrm>
            <a:off x="457200" y="182880"/>
            <a:ext cx="7498200" cy="38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5282D"/>
              </a:buClr>
              <a:buSzPts val="2000"/>
              <a:buFont typeface="Cambria"/>
              <a:buNone/>
            </a:pPr>
            <a:r>
              <a:rPr b="1" i="0" lang="en-US" sz="2000" u="none" cap="none" strike="noStrike">
                <a:solidFill>
                  <a:srgbClr val="15282D"/>
                </a:solidFill>
                <a:latin typeface="Cambria"/>
                <a:ea typeface="Cambria"/>
                <a:cs typeface="Cambria"/>
                <a:sym typeface="Cambria"/>
              </a:rPr>
              <a:t>Agent-Driven Parametric Earphone Design Pipeline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g3f9c857b24b_0_274"/>
          <p:cNvSpPr/>
          <p:nvPr/>
        </p:nvSpPr>
        <p:spPr>
          <a:xfrm>
            <a:off x="566928" y="868680"/>
            <a:ext cx="2880300" cy="2212800"/>
          </a:xfrm>
          <a:prstGeom prst="roundRect">
            <a:avLst>
              <a:gd fmla="val 3306" name="adj"/>
            </a:avLst>
          </a:prstGeom>
          <a:solidFill>
            <a:srgbClr val="F4F8F8"/>
          </a:solidFill>
          <a:ln cap="flat" cmpd="sng" w="15225">
            <a:solidFill>
              <a:srgbClr val="C3D6D8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38" name="Google Shape;38;g3f9c857b24b_0_274"/>
          <p:cNvSpPr txBox="1"/>
          <p:nvPr/>
        </p:nvSpPr>
        <p:spPr>
          <a:xfrm>
            <a:off x="658368" y="914400"/>
            <a:ext cx="2697600" cy="20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6A74"/>
              </a:buClr>
              <a:buSzPts val="900"/>
              <a:buFont typeface="Calibri"/>
              <a:buNone/>
            </a:pPr>
            <a:r>
              <a:rPr b="1" i="0" lang="en-US" sz="1400" u="none" cap="none" strike="noStrike">
                <a:solidFill>
                  <a:srgbClr val="0E6A74"/>
                </a:solidFill>
                <a:latin typeface="Calibri"/>
                <a:ea typeface="Calibri"/>
                <a:cs typeface="Calibri"/>
                <a:sym typeface="Calibri"/>
              </a:rPr>
              <a:t>INPUTS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g3f9c857b24b_0_274"/>
          <p:cNvSpPr/>
          <p:nvPr/>
        </p:nvSpPr>
        <p:spPr>
          <a:xfrm>
            <a:off x="658368" y="1152144"/>
            <a:ext cx="1312200" cy="274200"/>
          </a:xfrm>
          <a:prstGeom prst="roundRect">
            <a:avLst>
              <a:gd fmla="val 20000" name="adj"/>
            </a:avLst>
          </a:prstGeom>
          <a:solidFill>
            <a:srgbClr val="E4EDF5"/>
          </a:solidFill>
          <a:ln cap="flat" cmpd="sng" w="15225">
            <a:solidFill>
              <a:srgbClr val="4E7F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40" name="Google Shape;40;g3f9c857b24b_0_274"/>
          <p:cNvSpPr txBox="1"/>
          <p:nvPr/>
        </p:nvSpPr>
        <p:spPr>
          <a:xfrm>
            <a:off x="694944" y="1152144"/>
            <a:ext cx="123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82D"/>
              </a:buClr>
              <a:buSzPts val="720"/>
              <a:buFont typeface="Calibri"/>
              <a:buNone/>
            </a:pPr>
            <a:r>
              <a:rPr b="0" i="0" lang="en-US" sz="1400" u="none" cap="none" strike="noStrike">
                <a:solidFill>
                  <a:srgbClr val="15282D"/>
                </a:solidFill>
                <a:latin typeface="Calibri"/>
                <a:ea typeface="Calibri"/>
                <a:cs typeface="Calibri"/>
                <a:sym typeface="Calibri"/>
              </a:rPr>
              <a:t>Requirements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g3f9c857b24b_0_274"/>
          <p:cNvSpPr/>
          <p:nvPr/>
        </p:nvSpPr>
        <p:spPr>
          <a:xfrm>
            <a:off x="2043684" y="1152144"/>
            <a:ext cx="1312200" cy="274200"/>
          </a:xfrm>
          <a:prstGeom prst="roundRect">
            <a:avLst>
              <a:gd fmla="val 20000" name="adj"/>
            </a:avLst>
          </a:prstGeom>
          <a:solidFill>
            <a:srgbClr val="E4EDF5"/>
          </a:solidFill>
          <a:ln cap="flat" cmpd="sng" w="15225">
            <a:solidFill>
              <a:srgbClr val="4E7F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42" name="Google Shape;42;g3f9c857b24b_0_274"/>
          <p:cNvSpPr txBox="1"/>
          <p:nvPr/>
        </p:nvSpPr>
        <p:spPr>
          <a:xfrm>
            <a:off x="2080260" y="1152144"/>
            <a:ext cx="12390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82D"/>
              </a:buClr>
              <a:buSzPts val="720"/>
              <a:buFont typeface="Calibri"/>
              <a:buNone/>
            </a:pPr>
            <a:r>
              <a:rPr b="0" i="0" lang="en-US" sz="1400" u="none" cap="none" strike="noStrike">
                <a:solidFill>
                  <a:srgbClr val="15282D"/>
                </a:solidFill>
                <a:latin typeface="Calibri"/>
                <a:ea typeface="Calibri"/>
                <a:cs typeface="Calibri"/>
                <a:sym typeface="Calibri"/>
              </a:rPr>
              <a:t>Constraints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g3f9c857b24b_0_274"/>
          <p:cNvSpPr txBox="1"/>
          <p:nvPr/>
        </p:nvSpPr>
        <p:spPr>
          <a:xfrm>
            <a:off x="658368" y="1481328"/>
            <a:ext cx="2697600" cy="18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7FB0"/>
              </a:buClr>
              <a:buSzPts val="800"/>
              <a:buFont typeface="Calibri"/>
              <a:buNone/>
            </a:pPr>
            <a:r>
              <a:rPr b="1" i="0" lang="en-US" sz="1400" u="none" cap="none" strike="noStrike">
                <a:solidFill>
                  <a:srgbClr val="4E7FB0"/>
                </a:solidFill>
                <a:latin typeface="Calibri"/>
                <a:ea typeface="Calibri"/>
                <a:cs typeface="Calibri"/>
                <a:sym typeface="Calibri"/>
              </a:rPr>
              <a:t>3D Scan Sources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g3f9c857b24b_0_274"/>
          <p:cNvSpPr/>
          <p:nvPr/>
        </p:nvSpPr>
        <p:spPr>
          <a:xfrm>
            <a:off x="658368" y="1700784"/>
            <a:ext cx="2697600" cy="438912"/>
          </a:xfrm>
          <a:prstGeom prst="roundRect">
            <a:avLst>
              <a:gd fmla="val 16667" name="adj"/>
            </a:avLst>
          </a:prstGeom>
          <a:solidFill>
            <a:srgbClr val="E4EDF5"/>
          </a:solidFill>
          <a:ln cap="flat" cmpd="sng" w="15225">
            <a:solidFill>
              <a:srgbClr val="4E7F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45" name="Google Shape;45;g3f9c857b24b_0_274"/>
          <p:cNvSpPr txBox="1"/>
          <p:nvPr/>
        </p:nvSpPr>
        <p:spPr>
          <a:xfrm>
            <a:off x="694944" y="1700784"/>
            <a:ext cx="2624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82D"/>
              </a:buClr>
              <a:buSzPts val="680"/>
              <a:buFont typeface="Calibri"/>
              <a:buNone/>
            </a:pPr>
            <a:r>
              <a:rPr b="0" i="0" lang="en-US" sz="1400" u="none" cap="none" strike="noStrike">
                <a:solidFill>
                  <a:srgbClr val="15282D"/>
                </a:solidFill>
                <a:latin typeface="Calibri"/>
                <a:ea typeface="Calibri"/>
                <a:cs typeface="Calibri"/>
                <a:sym typeface="Calibri"/>
              </a:rPr>
              <a:t>Commercial Earphone Scan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82D"/>
              </a:buClr>
              <a:buSzPts val="680"/>
              <a:buFont typeface="Calibri"/>
              <a:buNone/>
            </a:pPr>
            <a:r>
              <a:rPr b="0" i="0" lang="en-US" sz="1400" u="none" cap="none" strike="noStrike">
                <a:solidFill>
                  <a:srgbClr val="15282D"/>
                </a:solidFill>
                <a:latin typeface="Calibri"/>
                <a:ea typeface="Calibri"/>
                <a:cs typeface="Calibri"/>
                <a:sym typeface="Calibri"/>
              </a:rPr>
              <a:t>Products Already on Sale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g3f9c857b24b_0_274"/>
          <p:cNvSpPr/>
          <p:nvPr/>
        </p:nvSpPr>
        <p:spPr>
          <a:xfrm>
            <a:off x="658368" y="2176272"/>
            <a:ext cx="2697600" cy="438912"/>
          </a:xfrm>
          <a:prstGeom prst="roundRect">
            <a:avLst>
              <a:gd fmla="val 16667" name="adj"/>
            </a:avLst>
          </a:prstGeom>
          <a:solidFill>
            <a:srgbClr val="E4EDF5"/>
          </a:solidFill>
          <a:ln cap="flat" cmpd="sng" w="15225">
            <a:solidFill>
              <a:srgbClr val="4E7F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47" name="Google Shape;47;g3f9c857b24b_0_274"/>
          <p:cNvSpPr txBox="1"/>
          <p:nvPr/>
        </p:nvSpPr>
        <p:spPr>
          <a:xfrm>
            <a:off x="694944" y="2176272"/>
            <a:ext cx="2624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82D"/>
              </a:buClr>
              <a:buSzPts val="680"/>
              <a:buFont typeface="Calibri"/>
              <a:buNone/>
            </a:pPr>
            <a:r>
              <a:rPr b="0" i="0" lang="en-US" sz="1400" u="none" cap="none" strike="noStrike">
                <a:solidFill>
                  <a:srgbClr val="15282D"/>
                </a:solidFill>
                <a:latin typeface="Calibri"/>
                <a:ea typeface="Calibri"/>
                <a:cs typeface="Calibri"/>
                <a:sym typeface="Calibri"/>
              </a:rPr>
              <a:t>Ear Mold Scan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82D"/>
              </a:buClr>
              <a:buSzPts val="680"/>
              <a:buFont typeface="Calibri"/>
              <a:buNone/>
            </a:pPr>
            <a:r>
              <a:rPr b="0" i="0" lang="en-US" sz="1400" u="none" cap="none" strike="noStrike">
                <a:solidFill>
                  <a:srgbClr val="15282D"/>
                </a:solidFill>
                <a:latin typeface="Calibri"/>
                <a:ea typeface="Calibri"/>
                <a:cs typeface="Calibri"/>
                <a:sym typeface="Calibri"/>
              </a:rPr>
              <a:t>Molds Taken from Team Members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g3f9c857b24b_0_274"/>
          <p:cNvSpPr/>
          <p:nvPr/>
        </p:nvSpPr>
        <p:spPr>
          <a:xfrm>
            <a:off x="658368" y="2633472"/>
            <a:ext cx="2697600" cy="438912"/>
          </a:xfrm>
          <a:prstGeom prst="roundRect">
            <a:avLst>
              <a:gd fmla="val 13636" name="adj"/>
            </a:avLst>
          </a:prstGeom>
          <a:solidFill>
            <a:srgbClr val="CFE0F0"/>
          </a:solidFill>
          <a:ln cap="flat" cmpd="sng" w="15225">
            <a:solidFill>
              <a:srgbClr val="4E7F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49" name="Google Shape;49;g3f9c857b24b_0_274"/>
          <p:cNvSpPr txBox="1"/>
          <p:nvPr/>
        </p:nvSpPr>
        <p:spPr>
          <a:xfrm>
            <a:off x="694944" y="2633472"/>
            <a:ext cx="262440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82D"/>
              </a:buClr>
              <a:buSzPts val="680"/>
              <a:buFont typeface="Calibri"/>
              <a:buNone/>
            </a:pPr>
            <a:r>
              <a:rPr b="1" i="0" lang="en-US" sz="1400" u="none" cap="none" strike="noStrike">
                <a:solidFill>
                  <a:srgbClr val="15282D"/>
                </a:solidFill>
                <a:latin typeface="Calibri"/>
                <a:ea typeface="Calibri"/>
                <a:cs typeface="Calibri"/>
                <a:sym typeface="Calibri"/>
              </a:rPr>
              <a:t>Ear Mold + Earphone Scan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82D"/>
              </a:buClr>
              <a:buSzPts val="680"/>
              <a:buFont typeface="Calibri"/>
              <a:buNone/>
            </a:pPr>
            <a:r>
              <a:rPr b="1" i="0" lang="en-US" sz="1400" u="none" cap="none" strike="noStrike">
                <a:solidFill>
                  <a:srgbClr val="15282D"/>
                </a:solidFill>
                <a:latin typeface="Calibri"/>
                <a:ea typeface="Calibri"/>
                <a:cs typeface="Calibri"/>
                <a:sym typeface="Calibri"/>
              </a:rPr>
              <a:t>→ Gives the Real Wearing Pose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g3f9c857b24b_0_274"/>
          <p:cNvSpPr/>
          <p:nvPr/>
        </p:nvSpPr>
        <p:spPr>
          <a:xfrm>
            <a:off x="402336" y="1857146"/>
            <a:ext cx="255900" cy="16500"/>
          </a:xfrm>
          <a:prstGeom prst="rect">
            <a:avLst/>
          </a:prstGeom>
          <a:solidFill>
            <a:srgbClr val="4E7FB0"/>
          </a:solidFill>
          <a:ln cap="flat" cmpd="sng" w="12700">
            <a:solidFill>
              <a:srgbClr val="4E7F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1" name="Google Shape;51;g3f9c857b24b_0_274"/>
          <p:cNvSpPr/>
          <p:nvPr/>
        </p:nvSpPr>
        <p:spPr>
          <a:xfrm>
            <a:off x="394106" y="1865376"/>
            <a:ext cx="16500" cy="2084700"/>
          </a:xfrm>
          <a:prstGeom prst="rect">
            <a:avLst/>
          </a:prstGeom>
          <a:solidFill>
            <a:srgbClr val="4E7FB0"/>
          </a:solidFill>
          <a:ln cap="flat" cmpd="sng" w="12700">
            <a:solidFill>
              <a:srgbClr val="4E7F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2" name="Google Shape;52;g3f9c857b24b_0_274"/>
          <p:cNvSpPr/>
          <p:nvPr/>
        </p:nvSpPr>
        <p:spPr>
          <a:xfrm>
            <a:off x="402336" y="3941978"/>
            <a:ext cx="210300" cy="16500"/>
          </a:xfrm>
          <a:prstGeom prst="rect">
            <a:avLst/>
          </a:prstGeom>
          <a:solidFill>
            <a:srgbClr val="4E7FB0"/>
          </a:solidFill>
          <a:ln cap="flat" cmpd="sng" w="12700">
            <a:solidFill>
              <a:srgbClr val="4E7F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3" name="Google Shape;53;g3f9c857b24b_0_274"/>
          <p:cNvSpPr/>
          <p:nvPr/>
        </p:nvSpPr>
        <p:spPr>
          <a:xfrm>
            <a:off x="534924" y="3886200"/>
            <a:ext cx="155400" cy="12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E7FB0"/>
          </a:solidFill>
          <a:ln cap="flat" cmpd="sng" w="12700">
            <a:solidFill>
              <a:srgbClr val="4E7F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4" name="Google Shape;54;g3f9c857b24b_0_274"/>
          <p:cNvSpPr/>
          <p:nvPr/>
        </p:nvSpPr>
        <p:spPr>
          <a:xfrm>
            <a:off x="237744" y="2625242"/>
            <a:ext cx="420600" cy="16500"/>
          </a:xfrm>
          <a:prstGeom prst="rect">
            <a:avLst/>
          </a:prstGeom>
          <a:solidFill>
            <a:srgbClr val="4E7FB0"/>
          </a:solidFill>
          <a:ln cap="flat" cmpd="sng" w="12700">
            <a:solidFill>
              <a:srgbClr val="4E7F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5" name="Google Shape;55;g3f9c857b24b_0_274"/>
          <p:cNvSpPr/>
          <p:nvPr/>
        </p:nvSpPr>
        <p:spPr>
          <a:xfrm>
            <a:off x="229514" y="2633472"/>
            <a:ext cx="16500" cy="1965900"/>
          </a:xfrm>
          <a:prstGeom prst="rect">
            <a:avLst/>
          </a:prstGeom>
          <a:solidFill>
            <a:srgbClr val="4E7FB0"/>
          </a:solidFill>
          <a:ln cap="flat" cmpd="sng" w="12700">
            <a:solidFill>
              <a:srgbClr val="4E7F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6" name="Google Shape;56;g3f9c857b24b_0_274"/>
          <p:cNvSpPr/>
          <p:nvPr/>
        </p:nvSpPr>
        <p:spPr>
          <a:xfrm>
            <a:off x="237744" y="4591202"/>
            <a:ext cx="375000" cy="16500"/>
          </a:xfrm>
          <a:prstGeom prst="rect">
            <a:avLst/>
          </a:prstGeom>
          <a:solidFill>
            <a:srgbClr val="4E7FB0"/>
          </a:solidFill>
          <a:ln cap="flat" cmpd="sng" w="12700">
            <a:solidFill>
              <a:srgbClr val="4E7F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7" name="Google Shape;57;g3f9c857b24b_0_274"/>
          <p:cNvSpPr/>
          <p:nvPr/>
        </p:nvSpPr>
        <p:spPr>
          <a:xfrm>
            <a:off x="534924" y="4535424"/>
            <a:ext cx="155400" cy="12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E7FB0"/>
          </a:solidFill>
          <a:ln cap="flat" cmpd="sng" w="12700">
            <a:solidFill>
              <a:srgbClr val="4E7F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8" name="Google Shape;58;g3f9c857b24b_0_274"/>
          <p:cNvSpPr/>
          <p:nvPr/>
        </p:nvSpPr>
        <p:spPr>
          <a:xfrm>
            <a:off x="3703320" y="932688"/>
            <a:ext cx="1261800" cy="1225200"/>
          </a:xfrm>
          <a:prstGeom prst="roundRect">
            <a:avLst>
              <a:gd fmla="val 4478" name="adj"/>
            </a:avLst>
          </a:prstGeom>
          <a:solidFill>
            <a:srgbClr val="E3F0F1"/>
          </a:solidFill>
          <a:ln cap="flat" cmpd="sng" w="15225">
            <a:solidFill>
              <a:srgbClr val="0E6A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59" name="Google Shape;59;g3f9c857b24b_0_274"/>
          <p:cNvSpPr txBox="1"/>
          <p:nvPr/>
        </p:nvSpPr>
        <p:spPr>
          <a:xfrm>
            <a:off x="3718545" y="932688"/>
            <a:ext cx="1231350" cy="122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82D"/>
              </a:buClr>
              <a:buSzPts val="800"/>
              <a:buFont typeface="Calibri"/>
              <a:buNone/>
            </a:pPr>
            <a:r>
              <a:rPr b="1" i="0" lang="en-US" sz="1400" u="none" cap="none" strike="noStrike">
                <a:solidFill>
                  <a:srgbClr val="15282D"/>
                </a:solidFill>
                <a:latin typeface="Calibri"/>
                <a:ea typeface="Calibri"/>
                <a:cs typeface="Calibri"/>
                <a:sym typeface="Calibri"/>
              </a:rPr>
              <a:t>Agent Planner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82D"/>
              </a:buClr>
              <a:buSzPts val="800"/>
              <a:buFont typeface="Calibri"/>
              <a:buNone/>
            </a:pPr>
            <a:r>
              <a:rPr b="1" i="0" lang="en-US" sz="1400" u="none" cap="none" strike="noStrike">
                <a:solidFill>
                  <a:srgbClr val="15282D"/>
                </a:solidFill>
                <a:latin typeface="Calibri"/>
                <a:ea typeface="Calibri"/>
                <a:cs typeface="Calibri"/>
                <a:sym typeface="Calibri"/>
              </a:rPr>
              <a:t>Turns the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82D"/>
              </a:buClr>
              <a:buSzPts val="800"/>
              <a:buFont typeface="Calibri"/>
              <a:buNone/>
            </a:pPr>
            <a:r>
              <a:rPr b="1" i="0" lang="en-US" sz="1400" u="none" cap="none" strike="noStrike">
                <a:solidFill>
                  <a:srgbClr val="15282D"/>
                </a:solidFill>
                <a:latin typeface="Calibri"/>
                <a:ea typeface="Calibri"/>
                <a:cs typeface="Calibri"/>
                <a:sym typeface="Calibri"/>
              </a:rPr>
              <a:t>Requirements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82D"/>
              </a:buClr>
              <a:buSzPts val="800"/>
              <a:buFont typeface="Calibri"/>
              <a:buNone/>
            </a:pPr>
            <a:r>
              <a:rPr b="1" i="0" lang="en-US" sz="1400" u="none" cap="none" strike="noStrike">
                <a:solidFill>
                  <a:srgbClr val="15282D"/>
                </a:solidFill>
                <a:latin typeface="Calibri"/>
                <a:ea typeface="Calibri"/>
                <a:cs typeface="Calibri"/>
                <a:sym typeface="Calibri"/>
              </a:rPr>
              <a:t>into a Design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82D"/>
              </a:buClr>
              <a:buSzPts val="800"/>
              <a:buFont typeface="Calibri"/>
              <a:buNone/>
            </a:pPr>
            <a:r>
              <a:rPr b="1" i="0" lang="en-US" sz="1400" u="none" cap="none" strike="noStrike">
                <a:solidFill>
                  <a:srgbClr val="15282D"/>
                </a:solidFill>
                <a:latin typeface="Calibri"/>
                <a:ea typeface="Calibri"/>
                <a:cs typeface="Calibri"/>
                <a:sym typeface="Calibri"/>
              </a:rPr>
              <a:t>Plan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g3f9c857b24b_0_274"/>
          <p:cNvSpPr/>
          <p:nvPr/>
        </p:nvSpPr>
        <p:spPr>
          <a:xfrm>
            <a:off x="5102352" y="932688"/>
            <a:ext cx="1261800" cy="1225200"/>
          </a:xfrm>
          <a:prstGeom prst="roundRect">
            <a:avLst>
              <a:gd fmla="val 4478" name="adj"/>
            </a:avLst>
          </a:prstGeom>
          <a:solidFill>
            <a:srgbClr val="FFFFFF"/>
          </a:solidFill>
          <a:ln cap="flat" cmpd="sng" w="15225">
            <a:solidFill>
              <a:srgbClr val="1528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61" name="Google Shape;61;g3f9c857b24b_0_274"/>
          <p:cNvSpPr txBox="1"/>
          <p:nvPr/>
        </p:nvSpPr>
        <p:spPr>
          <a:xfrm>
            <a:off x="5138928" y="932688"/>
            <a:ext cx="1188600" cy="122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82D"/>
              </a:buClr>
              <a:buSzPts val="860"/>
              <a:buFont typeface="Calibri"/>
              <a:buNone/>
            </a:pPr>
            <a:r>
              <a:rPr b="0" i="0" lang="en-US" sz="1400" u="none" cap="none" strike="noStrike">
                <a:solidFill>
                  <a:srgbClr val="15282D"/>
                </a:solidFill>
                <a:latin typeface="Calibri"/>
                <a:ea typeface="Calibri"/>
                <a:cs typeface="Calibri"/>
                <a:sym typeface="Calibri"/>
              </a:rPr>
              <a:t>Generate 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82D"/>
              </a:buClr>
              <a:buSzPts val="860"/>
              <a:buFont typeface="Calibri"/>
              <a:buNone/>
            </a:pPr>
            <a:r>
              <a:rPr b="0" i="0" lang="en-US" sz="1400" u="none" cap="none" strike="noStrike">
                <a:solidFill>
                  <a:srgbClr val="15282D"/>
                </a:solidFill>
                <a:latin typeface="Calibri"/>
                <a:ea typeface="Calibri"/>
                <a:cs typeface="Calibri"/>
                <a:sym typeface="Calibri"/>
              </a:rPr>
              <a:t>Parameter Set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g3f9c857b24b_0_274"/>
          <p:cNvSpPr/>
          <p:nvPr/>
        </p:nvSpPr>
        <p:spPr>
          <a:xfrm>
            <a:off x="6501384" y="932688"/>
            <a:ext cx="1261800" cy="1225200"/>
          </a:xfrm>
          <a:prstGeom prst="roundRect">
            <a:avLst>
              <a:gd fmla="val 4478" name="adj"/>
            </a:avLst>
          </a:prstGeom>
          <a:solidFill>
            <a:srgbClr val="E3F0F1"/>
          </a:solidFill>
          <a:ln cap="flat" cmpd="sng" w="15225">
            <a:solidFill>
              <a:srgbClr val="0E6A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63" name="Google Shape;63;g3f9c857b24b_0_274"/>
          <p:cNvSpPr txBox="1"/>
          <p:nvPr/>
        </p:nvSpPr>
        <p:spPr>
          <a:xfrm>
            <a:off x="6516609" y="932688"/>
            <a:ext cx="1231350" cy="122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82D"/>
              </a:buClr>
              <a:buSzPts val="780"/>
              <a:buFont typeface="Calibri"/>
              <a:buNone/>
            </a:pPr>
            <a:r>
              <a:rPr b="0" i="0" lang="en-US" sz="1400" u="none" cap="none" strike="noStrike">
                <a:solidFill>
                  <a:srgbClr val="15282D"/>
                </a:solidFill>
                <a:latin typeface="Calibri"/>
                <a:ea typeface="Calibri"/>
                <a:cs typeface="Calibri"/>
                <a:sym typeface="Calibri"/>
              </a:rPr>
              <a:t>FreeCAD Builds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82D"/>
              </a:buClr>
              <a:buSzPts val="780"/>
              <a:buFont typeface="Calibri"/>
              <a:buNone/>
            </a:pPr>
            <a:r>
              <a:rPr b="0" i="0" lang="en-US" sz="1400" u="none" cap="none" strike="noStrike">
                <a:solidFill>
                  <a:srgbClr val="15282D"/>
                </a:solidFill>
                <a:latin typeface="Calibri"/>
                <a:ea typeface="Calibri"/>
                <a:cs typeface="Calibri"/>
                <a:sym typeface="Calibri"/>
              </a:rPr>
              <a:t>the Model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82D"/>
              </a:buClr>
              <a:buSzPts val="780"/>
              <a:buFont typeface="Calibri"/>
              <a:buNone/>
            </a:pPr>
            <a:r>
              <a:rPr b="0" i="0" lang="en-US" sz="1400" u="none" cap="none" strike="noStrike">
                <a:solidFill>
                  <a:srgbClr val="15282D"/>
                </a:solidFill>
                <a:latin typeface="Calibri"/>
                <a:ea typeface="Calibri"/>
                <a:cs typeface="Calibri"/>
                <a:sym typeface="Calibri"/>
              </a:rPr>
              <a:t>(MCP Tools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82D"/>
              </a:buClr>
              <a:buSzPts val="780"/>
              <a:buFont typeface="Calibri"/>
              <a:buNone/>
            </a:pPr>
            <a:r>
              <a:rPr b="0" i="0" lang="en-US" sz="1400" u="none" cap="none" strike="noStrike">
                <a:solidFill>
                  <a:srgbClr val="15282D"/>
                </a:solidFill>
                <a:latin typeface="Calibri"/>
                <a:ea typeface="Calibri"/>
                <a:cs typeface="Calibri"/>
                <a:sym typeface="Calibri"/>
              </a:rPr>
              <a:t>and Scripts)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g3f9c857b24b_0_274"/>
          <p:cNvSpPr/>
          <p:nvPr/>
        </p:nvSpPr>
        <p:spPr>
          <a:xfrm>
            <a:off x="7900416" y="932688"/>
            <a:ext cx="1261800" cy="1225200"/>
          </a:xfrm>
          <a:prstGeom prst="roundRect">
            <a:avLst>
              <a:gd fmla="val 4478" name="adj"/>
            </a:avLst>
          </a:prstGeom>
          <a:solidFill>
            <a:srgbClr val="FFFFFF"/>
          </a:solidFill>
          <a:ln cap="flat" cmpd="sng" w="15225">
            <a:solidFill>
              <a:srgbClr val="1528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65" name="Google Shape;65;g3f9c857b24b_0_274"/>
          <p:cNvSpPr txBox="1"/>
          <p:nvPr/>
        </p:nvSpPr>
        <p:spPr>
          <a:xfrm>
            <a:off x="7936992" y="932688"/>
            <a:ext cx="1188600" cy="122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82D"/>
              </a:buClr>
              <a:buSzPts val="839"/>
              <a:buFont typeface="Calibri"/>
              <a:buNone/>
            </a:pPr>
            <a:r>
              <a:rPr b="0" i="0" lang="en-US" sz="1400" u="none" cap="none" strike="noStrike">
                <a:solidFill>
                  <a:srgbClr val="15282D"/>
                </a:solidFill>
                <a:latin typeface="Calibri"/>
                <a:ea typeface="Calibri"/>
                <a:cs typeface="Calibri"/>
                <a:sym typeface="Calibri"/>
              </a:rPr>
              <a:t>3D Model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82D"/>
              </a:buClr>
              <a:buSzPts val="839"/>
              <a:buFont typeface="Calibri"/>
              <a:buNone/>
            </a:pPr>
            <a:r>
              <a:rPr b="0" i="0" lang="en-US" sz="1400" u="none" cap="none" strike="noStrike">
                <a:solidFill>
                  <a:srgbClr val="15282D"/>
                </a:solidFill>
                <a:latin typeface="Calibri"/>
                <a:ea typeface="Calibri"/>
                <a:cs typeface="Calibri"/>
                <a:sym typeface="Calibri"/>
              </a:rPr>
              <a:t>as STL, STEP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82D"/>
              </a:buClr>
              <a:buSzPts val="839"/>
              <a:buFont typeface="Calibri"/>
              <a:buNone/>
            </a:pPr>
            <a:r>
              <a:rPr b="0" i="0" lang="en-US" sz="1400" u="none" cap="none" strike="noStrike">
                <a:solidFill>
                  <a:srgbClr val="15282D"/>
                </a:solidFill>
                <a:latin typeface="Calibri"/>
                <a:ea typeface="Calibri"/>
                <a:cs typeface="Calibri"/>
                <a:sym typeface="Calibri"/>
              </a:rPr>
              <a:t>or FCStd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g3f9c857b24b_0_274"/>
          <p:cNvSpPr/>
          <p:nvPr/>
        </p:nvSpPr>
        <p:spPr>
          <a:xfrm>
            <a:off x="9299448" y="932688"/>
            <a:ext cx="1261800" cy="1225200"/>
          </a:xfrm>
          <a:prstGeom prst="roundRect">
            <a:avLst>
              <a:gd fmla="val 4478" name="adj"/>
            </a:avLst>
          </a:prstGeom>
          <a:solidFill>
            <a:srgbClr val="FFFFFF"/>
          </a:solidFill>
          <a:ln cap="flat" cmpd="sng" w="15225">
            <a:solidFill>
              <a:srgbClr val="1528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67" name="Google Shape;67;g3f9c857b24b_0_274"/>
          <p:cNvSpPr txBox="1"/>
          <p:nvPr/>
        </p:nvSpPr>
        <p:spPr>
          <a:xfrm>
            <a:off x="9314673" y="932688"/>
            <a:ext cx="1231350" cy="122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82D"/>
              </a:buClr>
              <a:buSzPts val="820"/>
              <a:buFont typeface="Calibri"/>
              <a:buNone/>
            </a:pPr>
            <a:r>
              <a:rPr b="0" i="0" lang="en-US" sz="1400" u="none" cap="none" strike="noStrike">
                <a:solidFill>
                  <a:srgbClr val="15282D"/>
                </a:solidFill>
                <a:latin typeface="Calibri"/>
                <a:ea typeface="Calibri"/>
                <a:cs typeface="Calibri"/>
                <a:sym typeface="Calibri"/>
              </a:rPr>
              <a:t>Automatic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82D"/>
              </a:buClr>
              <a:buSzPts val="820"/>
              <a:buFont typeface="Calibri"/>
              <a:buNone/>
            </a:pPr>
            <a:r>
              <a:rPr b="0" i="0" lang="en-US" sz="1400" u="none" cap="none" strike="noStrike">
                <a:solidFill>
                  <a:srgbClr val="15282D"/>
                </a:solidFill>
                <a:latin typeface="Calibri"/>
                <a:ea typeface="Calibri"/>
                <a:cs typeface="Calibri"/>
                <a:sym typeface="Calibri"/>
              </a:rPr>
              <a:t>Geometry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82D"/>
              </a:buClr>
              <a:buSzPts val="820"/>
              <a:buFont typeface="Calibri"/>
              <a:buNone/>
            </a:pPr>
            <a:r>
              <a:rPr b="0" i="0" lang="en-US" sz="1400" u="none" cap="none" strike="noStrike">
                <a:solidFill>
                  <a:srgbClr val="15282D"/>
                </a:solidFill>
                <a:latin typeface="Calibri"/>
                <a:ea typeface="Calibri"/>
                <a:cs typeface="Calibri"/>
                <a:sym typeface="Calibri"/>
              </a:rPr>
              <a:t>Check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g3f9c857b24b_0_274"/>
          <p:cNvSpPr/>
          <p:nvPr/>
        </p:nvSpPr>
        <p:spPr>
          <a:xfrm>
            <a:off x="10707624" y="978408"/>
            <a:ext cx="1042500" cy="1134000"/>
          </a:xfrm>
          <a:prstGeom prst="diamond">
            <a:avLst/>
          </a:prstGeom>
          <a:solidFill>
            <a:srgbClr val="FBE9E4"/>
          </a:solidFill>
          <a:ln cap="flat" cmpd="sng" w="17775">
            <a:solidFill>
              <a:srgbClr val="B94A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69" name="Google Shape;69;g3f9c857b24b_0_274"/>
          <p:cNvSpPr txBox="1"/>
          <p:nvPr/>
        </p:nvSpPr>
        <p:spPr>
          <a:xfrm>
            <a:off x="10762488" y="978408"/>
            <a:ext cx="932700" cy="113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4A32"/>
              </a:buClr>
              <a:buSzPts val="850"/>
              <a:buFont typeface="Calibri"/>
              <a:buNone/>
            </a:pPr>
            <a:r>
              <a:rPr b="1" i="0" lang="en-US" sz="1400" u="none" cap="none" strike="noStrike">
                <a:solidFill>
                  <a:srgbClr val="B94A32"/>
                </a:solidFill>
                <a:latin typeface="Calibri"/>
                <a:ea typeface="Calibri"/>
                <a:cs typeface="Calibri"/>
                <a:sym typeface="Calibri"/>
              </a:rPr>
              <a:t>Decision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4A32"/>
              </a:buClr>
              <a:buSzPts val="850"/>
              <a:buFont typeface="Calibri"/>
              <a:buNone/>
            </a:pPr>
            <a:r>
              <a:rPr b="1" i="0" lang="en-US" sz="1400" u="none" cap="none" strike="noStrike">
                <a:solidFill>
                  <a:srgbClr val="B94A32"/>
                </a:solidFill>
                <a:latin typeface="Calibri"/>
                <a:ea typeface="Calibri"/>
                <a:cs typeface="Calibri"/>
                <a:sym typeface="Calibri"/>
              </a:rPr>
              <a:t>Point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g3f9c857b24b_0_274"/>
          <p:cNvSpPr/>
          <p:nvPr/>
        </p:nvSpPr>
        <p:spPr>
          <a:xfrm>
            <a:off x="4965192" y="1537106"/>
            <a:ext cx="91500" cy="16500"/>
          </a:xfrm>
          <a:prstGeom prst="rect">
            <a:avLst/>
          </a:prstGeom>
          <a:solidFill>
            <a:srgbClr val="15282D"/>
          </a:solidFill>
          <a:ln cap="flat" cmpd="sng" w="12700">
            <a:solidFill>
              <a:srgbClr val="1528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71" name="Google Shape;71;g3f9c857b24b_0_274"/>
          <p:cNvSpPr/>
          <p:nvPr/>
        </p:nvSpPr>
        <p:spPr>
          <a:xfrm>
            <a:off x="4978908" y="1481328"/>
            <a:ext cx="155400" cy="12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5282D"/>
          </a:solidFill>
          <a:ln cap="flat" cmpd="sng" w="12700">
            <a:solidFill>
              <a:srgbClr val="1528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72" name="Google Shape;72;g3f9c857b24b_0_274"/>
          <p:cNvSpPr/>
          <p:nvPr/>
        </p:nvSpPr>
        <p:spPr>
          <a:xfrm>
            <a:off x="6364224" y="1537106"/>
            <a:ext cx="91500" cy="16500"/>
          </a:xfrm>
          <a:prstGeom prst="rect">
            <a:avLst/>
          </a:prstGeom>
          <a:solidFill>
            <a:srgbClr val="15282D"/>
          </a:solidFill>
          <a:ln cap="flat" cmpd="sng" w="12700">
            <a:solidFill>
              <a:srgbClr val="1528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73" name="Google Shape;73;g3f9c857b24b_0_274"/>
          <p:cNvSpPr/>
          <p:nvPr/>
        </p:nvSpPr>
        <p:spPr>
          <a:xfrm>
            <a:off x="6377940" y="1481328"/>
            <a:ext cx="155400" cy="12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5282D"/>
          </a:solidFill>
          <a:ln cap="flat" cmpd="sng" w="12700">
            <a:solidFill>
              <a:srgbClr val="1528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74" name="Google Shape;74;g3f9c857b24b_0_274"/>
          <p:cNvSpPr/>
          <p:nvPr/>
        </p:nvSpPr>
        <p:spPr>
          <a:xfrm>
            <a:off x="7763256" y="1537106"/>
            <a:ext cx="91500" cy="16500"/>
          </a:xfrm>
          <a:prstGeom prst="rect">
            <a:avLst/>
          </a:prstGeom>
          <a:solidFill>
            <a:srgbClr val="15282D"/>
          </a:solidFill>
          <a:ln cap="flat" cmpd="sng" w="12700">
            <a:solidFill>
              <a:srgbClr val="1528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75" name="Google Shape;75;g3f9c857b24b_0_274"/>
          <p:cNvSpPr/>
          <p:nvPr/>
        </p:nvSpPr>
        <p:spPr>
          <a:xfrm>
            <a:off x="7776972" y="1481328"/>
            <a:ext cx="155400" cy="12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5282D"/>
          </a:solidFill>
          <a:ln cap="flat" cmpd="sng" w="12700">
            <a:solidFill>
              <a:srgbClr val="1528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76" name="Google Shape;76;g3f9c857b24b_0_274"/>
          <p:cNvSpPr/>
          <p:nvPr/>
        </p:nvSpPr>
        <p:spPr>
          <a:xfrm>
            <a:off x="9162288" y="1537106"/>
            <a:ext cx="91500" cy="16500"/>
          </a:xfrm>
          <a:prstGeom prst="rect">
            <a:avLst/>
          </a:prstGeom>
          <a:solidFill>
            <a:srgbClr val="15282D"/>
          </a:solidFill>
          <a:ln cap="flat" cmpd="sng" w="12700">
            <a:solidFill>
              <a:srgbClr val="1528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77" name="Google Shape;77;g3f9c857b24b_0_274"/>
          <p:cNvSpPr/>
          <p:nvPr/>
        </p:nvSpPr>
        <p:spPr>
          <a:xfrm>
            <a:off x="9176004" y="1481328"/>
            <a:ext cx="155400" cy="12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5282D"/>
          </a:solidFill>
          <a:ln cap="flat" cmpd="sng" w="12700">
            <a:solidFill>
              <a:srgbClr val="1528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78" name="Google Shape;78;g3f9c857b24b_0_274"/>
          <p:cNvSpPr/>
          <p:nvPr/>
        </p:nvSpPr>
        <p:spPr>
          <a:xfrm>
            <a:off x="10561320" y="1537106"/>
            <a:ext cx="100500" cy="16500"/>
          </a:xfrm>
          <a:prstGeom prst="rect">
            <a:avLst/>
          </a:prstGeom>
          <a:solidFill>
            <a:srgbClr val="0E6A74"/>
          </a:solidFill>
          <a:ln cap="flat" cmpd="sng" w="12700">
            <a:solidFill>
              <a:srgbClr val="0E6A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79" name="Google Shape;79;g3f9c857b24b_0_274"/>
          <p:cNvSpPr/>
          <p:nvPr/>
        </p:nvSpPr>
        <p:spPr>
          <a:xfrm>
            <a:off x="10584180" y="1481328"/>
            <a:ext cx="155400" cy="12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6A74"/>
          </a:solidFill>
          <a:ln cap="flat" cmpd="sng" w="12700">
            <a:solidFill>
              <a:srgbClr val="0E6A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80" name="Google Shape;80;g3f9c857b24b_0_274"/>
          <p:cNvSpPr txBox="1"/>
          <p:nvPr/>
        </p:nvSpPr>
        <p:spPr>
          <a:xfrm>
            <a:off x="10570464" y="1060704"/>
            <a:ext cx="347472" cy="182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6A74"/>
              </a:buClr>
              <a:buSzPts val="740"/>
              <a:buFont typeface="Calibri"/>
              <a:buNone/>
            </a:pPr>
            <a:r>
              <a:rPr b="1" i="0" lang="en-US" sz="1400" u="none" cap="none" strike="noStrike">
                <a:solidFill>
                  <a:srgbClr val="0E6A74"/>
                </a:solidFill>
                <a:latin typeface="Calibri"/>
                <a:ea typeface="Calibri"/>
                <a:cs typeface="Calibri"/>
                <a:sym typeface="Calibri"/>
              </a:rPr>
              <a:t>Pass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g3f9c857b24b_0_274"/>
          <p:cNvSpPr/>
          <p:nvPr/>
        </p:nvSpPr>
        <p:spPr>
          <a:xfrm>
            <a:off x="3447288" y="1966874"/>
            <a:ext cx="137100" cy="16500"/>
          </a:xfrm>
          <a:prstGeom prst="rect">
            <a:avLst/>
          </a:prstGeom>
          <a:solidFill>
            <a:srgbClr val="4E7FB0"/>
          </a:solidFill>
          <a:ln cap="flat" cmpd="sng" w="12700">
            <a:solidFill>
              <a:srgbClr val="4E7F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82" name="Google Shape;82;g3f9c857b24b_0_274"/>
          <p:cNvSpPr/>
          <p:nvPr/>
        </p:nvSpPr>
        <p:spPr>
          <a:xfrm>
            <a:off x="3576218" y="1399032"/>
            <a:ext cx="16500" cy="576000"/>
          </a:xfrm>
          <a:prstGeom prst="rect">
            <a:avLst/>
          </a:prstGeom>
          <a:solidFill>
            <a:srgbClr val="4E7FB0"/>
          </a:solidFill>
          <a:ln cap="flat" cmpd="sng" w="12700">
            <a:solidFill>
              <a:srgbClr val="4E7F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83" name="Google Shape;83;g3f9c857b24b_0_274"/>
          <p:cNvSpPr/>
          <p:nvPr/>
        </p:nvSpPr>
        <p:spPr>
          <a:xfrm>
            <a:off x="3584448" y="1390802"/>
            <a:ext cx="73200" cy="16500"/>
          </a:xfrm>
          <a:prstGeom prst="rect">
            <a:avLst/>
          </a:prstGeom>
          <a:solidFill>
            <a:srgbClr val="4E7FB0"/>
          </a:solidFill>
          <a:ln cap="flat" cmpd="sng" w="12700">
            <a:solidFill>
              <a:srgbClr val="4E7F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84" name="Google Shape;84;g3f9c857b24b_0_274"/>
          <p:cNvSpPr/>
          <p:nvPr/>
        </p:nvSpPr>
        <p:spPr>
          <a:xfrm>
            <a:off x="3579876" y="1335024"/>
            <a:ext cx="155400" cy="12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4E7FB0"/>
          </a:solidFill>
          <a:ln cap="flat" cmpd="sng" w="12700">
            <a:solidFill>
              <a:srgbClr val="4E7F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85" name="Google Shape;85;g3f9c857b24b_0_274"/>
          <p:cNvSpPr/>
          <p:nvPr/>
        </p:nvSpPr>
        <p:spPr>
          <a:xfrm>
            <a:off x="8414423" y="2432304"/>
            <a:ext cx="1874400" cy="603600"/>
          </a:xfrm>
          <a:prstGeom prst="roundRect">
            <a:avLst>
              <a:gd fmla="val 9091" name="adj"/>
            </a:avLst>
          </a:prstGeom>
          <a:solidFill>
            <a:srgbClr val="EDE4F2"/>
          </a:solidFill>
          <a:ln cap="flat" cmpd="sng" w="15225">
            <a:solidFill>
              <a:srgbClr val="7B5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86" name="Google Shape;86;g3f9c857b24b_0_274"/>
          <p:cNvSpPr txBox="1"/>
          <p:nvPr/>
        </p:nvSpPr>
        <p:spPr>
          <a:xfrm>
            <a:off x="8450999" y="2432304"/>
            <a:ext cx="18015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82D"/>
              </a:buClr>
              <a:buSzPts val="820"/>
              <a:buFont typeface="Calibri"/>
              <a:buNone/>
            </a:pPr>
            <a:r>
              <a:rPr b="1" i="0" lang="en-US" sz="1400" u="none" cap="none" strike="noStrike">
                <a:solidFill>
                  <a:srgbClr val="15282D"/>
                </a:solidFill>
                <a:latin typeface="Calibri"/>
                <a:ea typeface="Calibri"/>
                <a:cs typeface="Calibri"/>
                <a:sym typeface="Calibri"/>
              </a:rPr>
              <a:t>An Expert Picks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82D"/>
              </a:buClr>
              <a:buSzPts val="820"/>
              <a:buFont typeface="Calibri"/>
              <a:buNone/>
            </a:pPr>
            <a:r>
              <a:rPr b="1" i="0" lang="en-US" sz="1400" u="none" cap="none" strike="noStrike">
                <a:solidFill>
                  <a:srgbClr val="15282D"/>
                </a:solidFill>
                <a:latin typeface="Calibri"/>
                <a:ea typeface="Calibri"/>
                <a:cs typeface="Calibri"/>
                <a:sym typeface="Calibri"/>
              </a:rPr>
              <a:t>the Prototype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g3f9c857b24b_0_274"/>
          <p:cNvSpPr/>
          <p:nvPr/>
        </p:nvSpPr>
        <p:spPr>
          <a:xfrm>
            <a:off x="11220602" y="2112264"/>
            <a:ext cx="16500" cy="192000"/>
          </a:xfrm>
          <a:prstGeom prst="rect">
            <a:avLst/>
          </a:prstGeom>
          <a:solidFill>
            <a:srgbClr val="7B5EA7"/>
          </a:solidFill>
          <a:ln cap="flat" cmpd="sng" w="12700">
            <a:solidFill>
              <a:srgbClr val="7B5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88" name="Google Shape;88;g3f9c857b24b_0_274"/>
          <p:cNvSpPr/>
          <p:nvPr/>
        </p:nvSpPr>
        <p:spPr>
          <a:xfrm>
            <a:off x="10424160" y="2296058"/>
            <a:ext cx="804600" cy="16500"/>
          </a:xfrm>
          <a:prstGeom prst="rect">
            <a:avLst/>
          </a:prstGeom>
          <a:solidFill>
            <a:srgbClr val="7B5EA7"/>
          </a:solidFill>
          <a:ln cap="flat" cmpd="sng" w="12700">
            <a:solidFill>
              <a:srgbClr val="7B5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89" name="Google Shape;89;g3f9c857b24b_0_274"/>
          <p:cNvSpPr/>
          <p:nvPr/>
        </p:nvSpPr>
        <p:spPr>
          <a:xfrm>
            <a:off x="10422323" y="2304288"/>
            <a:ext cx="16500" cy="429900"/>
          </a:xfrm>
          <a:prstGeom prst="rect">
            <a:avLst/>
          </a:prstGeom>
          <a:solidFill>
            <a:srgbClr val="7B5EA7"/>
          </a:solidFill>
          <a:ln cap="flat" cmpd="sng" w="12700">
            <a:solidFill>
              <a:srgbClr val="7B5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90" name="Google Shape;90;g3f9c857b24b_0_274"/>
          <p:cNvSpPr/>
          <p:nvPr/>
        </p:nvSpPr>
        <p:spPr>
          <a:xfrm>
            <a:off x="10282510" y="2670048"/>
            <a:ext cx="155400" cy="1281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7B5EA7"/>
          </a:solidFill>
          <a:ln cap="flat" cmpd="sng" w="12700">
            <a:solidFill>
              <a:srgbClr val="7B5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91" name="Google Shape;91;g3f9c857b24b_0_274"/>
          <p:cNvSpPr txBox="1"/>
          <p:nvPr/>
        </p:nvSpPr>
        <p:spPr>
          <a:xfrm>
            <a:off x="10598258" y="2112170"/>
            <a:ext cx="548700" cy="18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B5EA7"/>
              </a:buClr>
              <a:buSzPts val="740"/>
              <a:buFont typeface="Calibri"/>
              <a:buNone/>
            </a:pPr>
            <a:r>
              <a:rPr b="1" i="0" lang="en-US" sz="1400" u="none" cap="none" strike="noStrike">
                <a:solidFill>
                  <a:srgbClr val="7B5EA7"/>
                </a:solidFill>
                <a:latin typeface="Calibri"/>
                <a:ea typeface="Calibri"/>
                <a:cs typeface="Calibri"/>
                <a:sym typeface="Calibri"/>
              </a:rPr>
              <a:t>Path 1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g3f9c857b24b_0_274"/>
          <p:cNvSpPr/>
          <p:nvPr/>
        </p:nvSpPr>
        <p:spPr>
          <a:xfrm>
            <a:off x="10287000" y="3639312"/>
            <a:ext cx="1463100" cy="1316700"/>
          </a:xfrm>
          <a:prstGeom prst="roundRect">
            <a:avLst>
              <a:gd fmla="val 4167" name="adj"/>
            </a:avLst>
          </a:prstGeom>
          <a:solidFill>
            <a:srgbClr val="E3F0F1"/>
          </a:solidFill>
          <a:ln cap="flat" cmpd="sng" w="15225">
            <a:solidFill>
              <a:srgbClr val="0E6A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93" name="Google Shape;93;g3f9c857b24b_0_274"/>
          <p:cNvSpPr txBox="1"/>
          <p:nvPr/>
        </p:nvSpPr>
        <p:spPr>
          <a:xfrm>
            <a:off x="10323576" y="3639312"/>
            <a:ext cx="1389900" cy="13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82D"/>
              </a:buClr>
              <a:buSzPts val="720"/>
              <a:buFont typeface="Calibri"/>
              <a:buNone/>
            </a:pPr>
            <a:r>
              <a:rPr b="1" i="0" lang="en-US" sz="1400" u="none" cap="none" strike="noStrike">
                <a:solidFill>
                  <a:srgbClr val="15282D"/>
                </a:solidFill>
                <a:latin typeface="Calibri"/>
                <a:ea typeface="Calibri"/>
                <a:cs typeface="Calibri"/>
                <a:sym typeface="Calibri"/>
              </a:rPr>
              <a:t>Acoustic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82D"/>
              </a:buClr>
              <a:buSzPts val="720"/>
              <a:buFont typeface="Calibri"/>
              <a:buNone/>
            </a:pPr>
            <a:r>
              <a:rPr b="1" i="0" lang="en-US" sz="1400" u="none" cap="none" strike="noStrike">
                <a:solidFill>
                  <a:srgbClr val="15282D"/>
                </a:solidFill>
                <a:latin typeface="Calibri"/>
                <a:ea typeface="Calibri"/>
                <a:cs typeface="Calibri"/>
                <a:sym typeface="Calibri"/>
              </a:rPr>
              <a:t>Simulation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82D"/>
              </a:buClr>
              <a:buSzPts val="720"/>
              <a:buFont typeface="Calibri"/>
              <a:buNone/>
            </a:pPr>
            <a:r>
              <a:rPr b="1" i="0" lang="en-US" sz="1400" u="none" cap="none" strike="noStrike">
                <a:solidFill>
                  <a:srgbClr val="15282D"/>
                </a:solidFill>
                <a:latin typeface="Calibri"/>
                <a:ea typeface="Calibri"/>
                <a:cs typeface="Calibri"/>
                <a:sym typeface="Calibri"/>
              </a:rPr>
              <a:t>(FEM / BEM,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82D"/>
              </a:buClr>
              <a:buSzPts val="720"/>
              <a:buFont typeface="Calibri"/>
              <a:buNone/>
            </a:pPr>
            <a:r>
              <a:rPr b="1" i="0" lang="en-US" sz="1400" u="none" cap="none" strike="noStrike">
                <a:solidFill>
                  <a:srgbClr val="15282D"/>
                </a:solidFill>
                <a:latin typeface="Calibri"/>
                <a:ea typeface="Calibri"/>
                <a:cs typeface="Calibri"/>
                <a:sym typeface="Calibri"/>
              </a:rPr>
              <a:t>other tools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82D"/>
              </a:buClr>
              <a:buSzPts val="720"/>
              <a:buFont typeface="Calibri"/>
              <a:buNone/>
            </a:pPr>
            <a:r>
              <a:rPr b="1" i="0" lang="en-US" sz="1400" u="none" cap="none" strike="noStrike">
                <a:solidFill>
                  <a:srgbClr val="15282D"/>
                </a:solidFill>
                <a:latin typeface="Calibri"/>
                <a:ea typeface="Calibri"/>
                <a:cs typeface="Calibri"/>
                <a:sym typeface="Calibri"/>
              </a:rPr>
              <a:t>can be added)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g3f9c857b24b_0_274"/>
          <p:cNvSpPr/>
          <p:nvPr/>
        </p:nvSpPr>
        <p:spPr>
          <a:xfrm>
            <a:off x="8613648" y="3639312"/>
            <a:ext cx="1463100" cy="1316700"/>
          </a:xfrm>
          <a:prstGeom prst="roundRect">
            <a:avLst>
              <a:gd fmla="val 4167" name="adj"/>
            </a:avLst>
          </a:prstGeom>
          <a:solidFill>
            <a:srgbClr val="FFFFFF"/>
          </a:solidFill>
          <a:ln cap="flat" cmpd="sng" w="15225">
            <a:solidFill>
              <a:srgbClr val="1528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95" name="Google Shape;95;g3f9c857b24b_0_274"/>
          <p:cNvSpPr txBox="1"/>
          <p:nvPr/>
        </p:nvSpPr>
        <p:spPr>
          <a:xfrm>
            <a:off x="8650224" y="3639312"/>
            <a:ext cx="1389900" cy="13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82D"/>
              </a:buClr>
              <a:buSzPts val="800"/>
              <a:buFont typeface="Calibri"/>
              <a:buNone/>
            </a:pPr>
            <a:r>
              <a:rPr b="0" i="0" lang="en-US" sz="1400" u="none" cap="none" strike="noStrike">
                <a:solidFill>
                  <a:srgbClr val="15282D"/>
                </a:solidFill>
                <a:latin typeface="Calibri"/>
                <a:ea typeface="Calibri"/>
                <a:cs typeface="Calibri"/>
                <a:sym typeface="Calibri"/>
              </a:rPr>
              <a:t>Simulation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82D"/>
              </a:buClr>
              <a:buSzPts val="800"/>
              <a:buFont typeface="Calibri"/>
              <a:buNone/>
            </a:pPr>
            <a:r>
              <a:rPr b="0" i="0" lang="en-US" sz="1400" u="none" cap="none" strike="noStrike">
                <a:solidFill>
                  <a:srgbClr val="15282D"/>
                </a:solidFill>
                <a:latin typeface="Calibri"/>
                <a:ea typeface="Calibri"/>
                <a:cs typeface="Calibri"/>
                <a:sym typeface="Calibri"/>
              </a:rPr>
              <a:t>Results as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82D"/>
              </a:buClr>
              <a:buSzPts val="800"/>
              <a:buFont typeface="Calibri"/>
              <a:buNone/>
            </a:pPr>
            <a:r>
              <a:rPr b="0" i="0" lang="en-US" sz="1400" u="none" cap="none" strike="noStrike">
                <a:solidFill>
                  <a:srgbClr val="15282D"/>
                </a:solidFill>
                <a:latin typeface="Calibri"/>
                <a:ea typeface="Calibri"/>
                <a:cs typeface="Calibri"/>
                <a:sym typeface="Calibri"/>
              </a:rPr>
              <a:t>Numbers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3f9c857b24b_0_274"/>
          <p:cNvSpPr/>
          <p:nvPr/>
        </p:nvSpPr>
        <p:spPr>
          <a:xfrm>
            <a:off x="6940296" y="3639312"/>
            <a:ext cx="1463100" cy="1316700"/>
          </a:xfrm>
          <a:prstGeom prst="roundRect">
            <a:avLst>
              <a:gd fmla="val 4167" name="adj"/>
            </a:avLst>
          </a:prstGeom>
          <a:solidFill>
            <a:srgbClr val="E3F0F1"/>
          </a:solidFill>
          <a:ln cap="flat" cmpd="sng" w="15225">
            <a:solidFill>
              <a:srgbClr val="0E6A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97" name="Google Shape;97;g3f9c857b24b_0_274"/>
          <p:cNvSpPr txBox="1"/>
          <p:nvPr/>
        </p:nvSpPr>
        <p:spPr>
          <a:xfrm>
            <a:off x="6976872" y="3639312"/>
            <a:ext cx="1389900" cy="13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82D"/>
              </a:buClr>
              <a:buSzPts val="740"/>
              <a:buFont typeface="Calibri"/>
              <a:buNone/>
            </a:pPr>
            <a:r>
              <a:rPr b="1" i="0" lang="en-US" sz="1400" u="none" cap="none" strike="noStrike">
                <a:solidFill>
                  <a:srgbClr val="15282D"/>
                </a:solidFill>
                <a:latin typeface="Calibri"/>
                <a:ea typeface="Calibri"/>
                <a:cs typeface="Calibri"/>
                <a:sym typeface="Calibri"/>
              </a:rPr>
              <a:t>Agent Compares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82D"/>
              </a:buClr>
              <a:buSzPts val="740"/>
              <a:buFont typeface="Calibri"/>
              <a:buNone/>
            </a:pPr>
            <a:r>
              <a:rPr b="1" i="0" lang="en-US" sz="1400" u="none" cap="none" strike="noStrike">
                <a:solidFill>
                  <a:srgbClr val="15282D"/>
                </a:solidFill>
                <a:latin typeface="Calibri"/>
                <a:ea typeface="Calibri"/>
                <a:cs typeface="Calibri"/>
                <a:sym typeface="Calibri"/>
              </a:rPr>
              <a:t>Results with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82D"/>
              </a:buClr>
              <a:buSzPts val="740"/>
              <a:buFont typeface="Calibri"/>
              <a:buNone/>
            </a:pPr>
            <a:r>
              <a:rPr b="1" i="0" lang="en-US" sz="1400" u="none" cap="none" strike="noStrike">
                <a:solidFill>
                  <a:srgbClr val="15282D"/>
                </a:solidFill>
                <a:latin typeface="Calibri"/>
                <a:ea typeface="Calibri"/>
                <a:cs typeface="Calibri"/>
                <a:sym typeface="Calibri"/>
              </a:rPr>
              <a:t>the Targets and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82D"/>
              </a:buClr>
              <a:buSzPts val="740"/>
              <a:buFont typeface="Calibri"/>
              <a:buNone/>
            </a:pPr>
            <a:r>
              <a:rPr b="1" i="0" lang="en-US" sz="1400" u="none" cap="none" strike="noStrike">
                <a:solidFill>
                  <a:srgbClr val="15282D"/>
                </a:solidFill>
                <a:latin typeface="Calibri"/>
                <a:ea typeface="Calibri"/>
                <a:cs typeface="Calibri"/>
                <a:sym typeface="Calibri"/>
              </a:rPr>
              <a:t>Finds the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82D"/>
              </a:buClr>
              <a:buSzPts val="740"/>
              <a:buFont typeface="Calibri"/>
              <a:buNone/>
            </a:pPr>
            <a:r>
              <a:rPr b="1" i="0" lang="en-US" sz="1400" u="none" cap="none" strike="noStrike">
                <a:solidFill>
                  <a:srgbClr val="15282D"/>
                </a:solidFill>
                <a:latin typeface="Calibri"/>
                <a:ea typeface="Calibri"/>
                <a:cs typeface="Calibri"/>
                <a:sym typeface="Calibri"/>
              </a:rPr>
              <a:t>Causes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3f9c857b24b_0_274"/>
          <p:cNvSpPr/>
          <p:nvPr/>
        </p:nvSpPr>
        <p:spPr>
          <a:xfrm>
            <a:off x="5633994" y="3739896"/>
            <a:ext cx="1170300" cy="1115700"/>
          </a:xfrm>
          <a:prstGeom prst="diamond">
            <a:avLst/>
          </a:prstGeom>
          <a:solidFill>
            <a:srgbClr val="FBE9E4"/>
          </a:solidFill>
          <a:ln cap="flat" cmpd="sng" w="17775">
            <a:solidFill>
              <a:srgbClr val="B94A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99" name="Google Shape;99;g3f9c857b24b_0_274"/>
          <p:cNvSpPr txBox="1"/>
          <p:nvPr/>
        </p:nvSpPr>
        <p:spPr>
          <a:xfrm>
            <a:off x="5688858" y="3739896"/>
            <a:ext cx="1060800" cy="111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4A32"/>
              </a:buClr>
              <a:buSzPts val="850"/>
              <a:buFont typeface="Calibri"/>
              <a:buNone/>
            </a:pPr>
            <a:r>
              <a:rPr b="1" i="0" lang="en-US" sz="1400" u="none" cap="none" strike="noStrike">
                <a:solidFill>
                  <a:srgbClr val="B94A32"/>
                </a:solidFill>
                <a:latin typeface="Calibri"/>
                <a:ea typeface="Calibri"/>
                <a:cs typeface="Calibri"/>
                <a:sym typeface="Calibri"/>
              </a:rPr>
              <a:t>Target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4A32"/>
              </a:buClr>
              <a:buSzPts val="850"/>
              <a:buFont typeface="Calibri"/>
              <a:buNone/>
            </a:pPr>
            <a:r>
              <a:rPr b="1" i="0" lang="en-US" sz="1400" u="none" cap="none" strike="noStrike">
                <a:solidFill>
                  <a:srgbClr val="B94A32"/>
                </a:solidFill>
                <a:latin typeface="Calibri"/>
                <a:ea typeface="Calibri"/>
                <a:cs typeface="Calibri"/>
                <a:sym typeface="Calibri"/>
              </a:rPr>
              <a:t>Met?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g3f9c857b24b_0_274"/>
          <p:cNvSpPr/>
          <p:nvPr/>
        </p:nvSpPr>
        <p:spPr>
          <a:xfrm>
            <a:off x="11220602" y="2112264"/>
            <a:ext cx="16500" cy="1481400"/>
          </a:xfrm>
          <a:prstGeom prst="rect">
            <a:avLst/>
          </a:prstGeom>
          <a:solidFill>
            <a:srgbClr val="0E6A74"/>
          </a:solidFill>
          <a:ln cap="flat" cmpd="sng" w="12700">
            <a:solidFill>
              <a:srgbClr val="0E6A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01" name="Google Shape;101;g3f9c857b24b_0_274"/>
          <p:cNvSpPr/>
          <p:nvPr/>
        </p:nvSpPr>
        <p:spPr>
          <a:xfrm>
            <a:off x="11164824" y="3515868"/>
            <a:ext cx="128100" cy="1554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0E6A74"/>
          </a:solidFill>
          <a:ln cap="flat" cmpd="sng" w="12700">
            <a:solidFill>
              <a:srgbClr val="0E6A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02" name="Google Shape;102;g3f9c857b24b_0_274"/>
          <p:cNvSpPr txBox="1"/>
          <p:nvPr/>
        </p:nvSpPr>
        <p:spPr>
          <a:xfrm>
            <a:off x="10991088" y="3218688"/>
            <a:ext cx="548700" cy="18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6A74"/>
              </a:buClr>
              <a:buSzPts val="740"/>
              <a:buFont typeface="Calibri"/>
              <a:buNone/>
            </a:pPr>
            <a:r>
              <a:rPr b="1" i="0" lang="en-US" sz="1400" u="none" cap="none" strike="noStrike">
                <a:solidFill>
                  <a:srgbClr val="0E6A74"/>
                </a:solidFill>
                <a:latin typeface="Calibri"/>
                <a:ea typeface="Calibri"/>
                <a:cs typeface="Calibri"/>
                <a:sym typeface="Calibri"/>
              </a:rPr>
              <a:t>Path 2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3f9c857b24b_0_274"/>
          <p:cNvSpPr/>
          <p:nvPr/>
        </p:nvSpPr>
        <p:spPr>
          <a:xfrm>
            <a:off x="10122408" y="4289450"/>
            <a:ext cx="164700" cy="16500"/>
          </a:xfrm>
          <a:prstGeom prst="rect">
            <a:avLst/>
          </a:prstGeom>
          <a:solidFill>
            <a:srgbClr val="0E6A74"/>
          </a:solidFill>
          <a:ln cap="flat" cmpd="sng" w="12700">
            <a:solidFill>
              <a:srgbClr val="0E6A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04" name="Google Shape;104;g3f9c857b24b_0_274"/>
          <p:cNvSpPr/>
          <p:nvPr/>
        </p:nvSpPr>
        <p:spPr>
          <a:xfrm>
            <a:off x="10044684" y="4233672"/>
            <a:ext cx="155400" cy="1281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0E6A74"/>
          </a:solidFill>
          <a:ln cap="flat" cmpd="sng" w="12700">
            <a:solidFill>
              <a:srgbClr val="0E6A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05" name="Google Shape;105;g3f9c857b24b_0_274"/>
          <p:cNvSpPr/>
          <p:nvPr/>
        </p:nvSpPr>
        <p:spPr>
          <a:xfrm>
            <a:off x="8449056" y="4289450"/>
            <a:ext cx="164700" cy="16500"/>
          </a:xfrm>
          <a:prstGeom prst="rect">
            <a:avLst/>
          </a:prstGeom>
          <a:solidFill>
            <a:srgbClr val="0E6A74"/>
          </a:solidFill>
          <a:ln cap="flat" cmpd="sng" w="12700">
            <a:solidFill>
              <a:srgbClr val="0E6A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06" name="Google Shape;106;g3f9c857b24b_0_274"/>
          <p:cNvSpPr/>
          <p:nvPr/>
        </p:nvSpPr>
        <p:spPr>
          <a:xfrm>
            <a:off x="8371332" y="4233672"/>
            <a:ext cx="155400" cy="1281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0E6A74"/>
          </a:solidFill>
          <a:ln cap="flat" cmpd="sng" w="12700">
            <a:solidFill>
              <a:srgbClr val="0E6A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07" name="Google Shape;107;g3f9c857b24b_0_274"/>
          <p:cNvSpPr/>
          <p:nvPr/>
        </p:nvSpPr>
        <p:spPr>
          <a:xfrm>
            <a:off x="6775704" y="4289450"/>
            <a:ext cx="164700" cy="16500"/>
          </a:xfrm>
          <a:prstGeom prst="rect">
            <a:avLst/>
          </a:prstGeom>
          <a:solidFill>
            <a:srgbClr val="0E6A74"/>
          </a:solidFill>
          <a:ln cap="flat" cmpd="sng" w="12700">
            <a:solidFill>
              <a:srgbClr val="0E6A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08" name="Google Shape;108;g3f9c857b24b_0_274"/>
          <p:cNvSpPr/>
          <p:nvPr/>
        </p:nvSpPr>
        <p:spPr>
          <a:xfrm>
            <a:off x="6697980" y="4233672"/>
            <a:ext cx="155400" cy="128100"/>
          </a:xfrm>
          <a:prstGeom prst="leftArrow">
            <a:avLst>
              <a:gd fmla="val 50000" name="adj1"/>
              <a:gd fmla="val 50000" name="adj2"/>
            </a:avLst>
          </a:prstGeom>
          <a:solidFill>
            <a:srgbClr val="0E6A74"/>
          </a:solidFill>
          <a:ln cap="flat" cmpd="sng" w="12700">
            <a:solidFill>
              <a:srgbClr val="0E6A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09" name="Google Shape;109;g3f9c857b24b_0_274"/>
          <p:cNvSpPr/>
          <p:nvPr/>
        </p:nvSpPr>
        <p:spPr>
          <a:xfrm>
            <a:off x="5559552" y="4289450"/>
            <a:ext cx="18300" cy="16500"/>
          </a:xfrm>
          <a:prstGeom prst="rect">
            <a:avLst/>
          </a:prstGeom>
          <a:solidFill>
            <a:srgbClr val="0E6A74"/>
          </a:solidFill>
          <a:ln cap="flat" cmpd="sng" w="12700">
            <a:solidFill>
              <a:srgbClr val="0E6A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10" name="Google Shape;110;g3f9c857b24b_0_274"/>
          <p:cNvSpPr/>
          <p:nvPr/>
        </p:nvSpPr>
        <p:spPr>
          <a:xfrm rot="-10793363">
            <a:off x="5447399" y="4233604"/>
            <a:ext cx="155400" cy="12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6A74"/>
          </a:solidFill>
          <a:ln cap="flat" cmpd="sng" w="12700">
            <a:solidFill>
              <a:srgbClr val="0E6A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11" name="Google Shape;111;g3f9c857b24b_0_274"/>
          <p:cNvSpPr txBox="1"/>
          <p:nvPr/>
        </p:nvSpPr>
        <p:spPr>
          <a:xfrm>
            <a:off x="5427685" y="4014310"/>
            <a:ext cx="384000" cy="18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6A74"/>
              </a:buClr>
              <a:buSzPts val="740"/>
              <a:buFont typeface="Calibri"/>
              <a:buNone/>
            </a:pPr>
            <a:r>
              <a:rPr b="1" i="0" lang="en-US" sz="1400" u="none" cap="none" strike="noStrike">
                <a:solidFill>
                  <a:srgbClr val="0E6A74"/>
                </a:solidFill>
                <a:latin typeface="Calibri"/>
                <a:ea typeface="Calibri"/>
                <a:cs typeface="Calibri"/>
                <a:sym typeface="Calibri"/>
              </a:rPr>
              <a:t>Yes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g3f9c857b24b_0_274"/>
          <p:cNvSpPr/>
          <p:nvPr/>
        </p:nvSpPr>
        <p:spPr>
          <a:xfrm>
            <a:off x="9922154" y="786384"/>
            <a:ext cx="16500" cy="146400"/>
          </a:xfrm>
          <a:prstGeom prst="rect">
            <a:avLst/>
          </a:prstGeom>
          <a:solidFill>
            <a:srgbClr val="B94A32"/>
          </a:solidFill>
          <a:ln cap="flat" cmpd="sng" w="12700">
            <a:solidFill>
              <a:srgbClr val="B94A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13" name="Google Shape;113;g3f9c857b24b_0_274"/>
          <p:cNvSpPr/>
          <p:nvPr/>
        </p:nvSpPr>
        <p:spPr>
          <a:xfrm>
            <a:off x="5733288" y="778154"/>
            <a:ext cx="4197000" cy="16500"/>
          </a:xfrm>
          <a:prstGeom prst="rect">
            <a:avLst/>
          </a:prstGeom>
          <a:solidFill>
            <a:srgbClr val="B94A32"/>
          </a:solidFill>
          <a:ln cap="flat" cmpd="sng" w="12700">
            <a:solidFill>
              <a:srgbClr val="B94A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14" name="Google Shape;114;g3f9c857b24b_0_274"/>
          <p:cNvSpPr/>
          <p:nvPr/>
        </p:nvSpPr>
        <p:spPr>
          <a:xfrm>
            <a:off x="5725058" y="786384"/>
            <a:ext cx="16500" cy="100500"/>
          </a:xfrm>
          <a:prstGeom prst="rect">
            <a:avLst/>
          </a:prstGeom>
          <a:solidFill>
            <a:srgbClr val="B94A32"/>
          </a:solidFill>
          <a:ln cap="flat" cmpd="sng" w="12700">
            <a:solidFill>
              <a:srgbClr val="B94A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15" name="Google Shape;115;g3f9c857b24b_0_274"/>
          <p:cNvSpPr/>
          <p:nvPr/>
        </p:nvSpPr>
        <p:spPr>
          <a:xfrm>
            <a:off x="5669280" y="809244"/>
            <a:ext cx="128100" cy="1554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B94A32"/>
          </a:solidFill>
          <a:ln cap="flat" cmpd="sng" w="12700">
            <a:solidFill>
              <a:srgbClr val="B94A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16" name="Google Shape;116;g3f9c857b24b_0_274"/>
          <p:cNvSpPr txBox="1"/>
          <p:nvPr/>
        </p:nvSpPr>
        <p:spPr>
          <a:xfrm>
            <a:off x="7589520" y="676656"/>
            <a:ext cx="1188600" cy="18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4A32"/>
              </a:buClr>
              <a:buSzPts val="740"/>
              <a:buFont typeface="Calibri"/>
              <a:buNone/>
            </a:pPr>
            <a:r>
              <a:rPr b="1" i="0" lang="en-US" sz="1400" u="none" cap="none" strike="noStrike">
                <a:solidFill>
                  <a:srgbClr val="B94A32"/>
                </a:solidFill>
                <a:latin typeface="Calibri"/>
                <a:ea typeface="Calibri"/>
                <a:cs typeface="Calibri"/>
                <a:sym typeface="Calibri"/>
              </a:rPr>
              <a:t>Fail: send back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g3f9c857b24b_0_274"/>
          <p:cNvSpPr/>
          <p:nvPr/>
        </p:nvSpPr>
        <p:spPr>
          <a:xfrm>
            <a:off x="6136538" y="3291840"/>
            <a:ext cx="16500" cy="448200"/>
          </a:xfrm>
          <a:prstGeom prst="rect">
            <a:avLst/>
          </a:prstGeom>
          <a:solidFill>
            <a:srgbClr val="B94A32"/>
          </a:solidFill>
          <a:ln cap="flat" cmpd="sng" w="12700">
            <a:solidFill>
              <a:srgbClr val="B94A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18" name="Google Shape;118;g3f9c857b24b_0_274"/>
          <p:cNvSpPr/>
          <p:nvPr/>
        </p:nvSpPr>
        <p:spPr>
          <a:xfrm>
            <a:off x="5733288" y="3283610"/>
            <a:ext cx="411600" cy="16500"/>
          </a:xfrm>
          <a:prstGeom prst="rect">
            <a:avLst/>
          </a:prstGeom>
          <a:solidFill>
            <a:srgbClr val="B94A32"/>
          </a:solidFill>
          <a:ln cap="flat" cmpd="sng" w="12700">
            <a:solidFill>
              <a:srgbClr val="B94A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19" name="Google Shape;119;g3f9c857b24b_0_274"/>
          <p:cNvSpPr/>
          <p:nvPr/>
        </p:nvSpPr>
        <p:spPr>
          <a:xfrm>
            <a:off x="5725058" y="2203704"/>
            <a:ext cx="16500" cy="1088100"/>
          </a:xfrm>
          <a:prstGeom prst="rect">
            <a:avLst/>
          </a:prstGeom>
          <a:solidFill>
            <a:srgbClr val="B94A32"/>
          </a:solidFill>
          <a:ln cap="flat" cmpd="sng" w="12700">
            <a:solidFill>
              <a:srgbClr val="B94A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20" name="Google Shape;120;g3f9c857b24b_0_274"/>
          <p:cNvSpPr/>
          <p:nvPr/>
        </p:nvSpPr>
        <p:spPr>
          <a:xfrm>
            <a:off x="5669280" y="2125980"/>
            <a:ext cx="128100" cy="155400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B94A32"/>
          </a:solidFill>
          <a:ln cap="flat" cmpd="sng" w="12700">
            <a:solidFill>
              <a:srgbClr val="B94A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21" name="Google Shape;121;g3f9c857b24b_0_274"/>
          <p:cNvSpPr txBox="1"/>
          <p:nvPr/>
        </p:nvSpPr>
        <p:spPr>
          <a:xfrm>
            <a:off x="5029200" y="3056350"/>
            <a:ext cx="1828800" cy="183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94A32"/>
              </a:buClr>
              <a:buSzPts val="740"/>
              <a:buFont typeface="Calibri"/>
              <a:buNone/>
            </a:pPr>
            <a:r>
              <a:rPr b="1" i="0" lang="en-US" sz="1400" u="none" cap="none" strike="noStrike">
                <a:solidFill>
                  <a:srgbClr val="B94A32"/>
                </a:solidFill>
                <a:latin typeface="Calibri"/>
                <a:ea typeface="Calibri"/>
                <a:cs typeface="Calibri"/>
                <a:sym typeface="Calibri"/>
              </a:rPr>
              <a:t>No: run again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3f9c857b24b_0_274"/>
          <p:cNvSpPr/>
          <p:nvPr/>
        </p:nvSpPr>
        <p:spPr>
          <a:xfrm>
            <a:off x="566928" y="5230368"/>
            <a:ext cx="5559600" cy="1316700"/>
          </a:xfrm>
          <a:prstGeom prst="roundRect">
            <a:avLst>
              <a:gd fmla="val 4861" name="adj"/>
            </a:avLst>
          </a:prstGeom>
          <a:solidFill>
            <a:srgbClr val="F4F8F8"/>
          </a:solidFill>
          <a:ln cap="flat" cmpd="sng" w="15225">
            <a:solidFill>
              <a:srgbClr val="C3D6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23" name="Google Shape;123;g3f9c857b24b_0_274"/>
          <p:cNvSpPr txBox="1"/>
          <p:nvPr/>
        </p:nvSpPr>
        <p:spPr>
          <a:xfrm>
            <a:off x="713232" y="5303520"/>
            <a:ext cx="52668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6A74"/>
              </a:buClr>
              <a:buSzPts val="950"/>
              <a:buFont typeface="Calibri"/>
              <a:buNone/>
            </a:pPr>
            <a:r>
              <a:rPr b="1" i="0" lang="en-US" sz="1400" u="none" cap="none" strike="noStrike">
                <a:solidFill>
                  <a:srgbClr val="0E6A74"/>
                </a:solidFill>
                <a:latin typeface="Calibri"/>
                <a:ea typeface="Calibri"/>
                <a:cs typeface="Calibri"/>
                <a:sym typeface="Calibri"/>
              </a:rPr>
              <a:t>Two ways out of the Decision Point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f9c857b24b_0_274"/>
          <p:cNvSpPr txBox="1"/>
          <p:nvPr/>
        </p:nvSpPr>
        <p:spPr>
          <a:xfrm>
            <a:off x="713232" y="5559552"/>
            <a:ext cx="2331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B5EA7"/>
              </a:buClr>
              <a:buSzPts val="780"/>
              <a:buFont typeface="Calibri"/>
              <a:buNone/>
            </a:pPr>
            <a:r>
              <a:rPr b="1" i="0" lang="en-US" sz="1400" u="none" cap="none" strike="noStrike">
                <a:solidFill>
                  <a:srgbClr val="7B5EA7"/>
                </a:solidFill>
                <a:latin typeface="Calibri"/>
                <a:ea typeface="Calibri"/>
                <a:cs typeface="Calibri"/>
                <a:sym typeface="Calibri"/>
              </a:rPr>
              <a:t>Path 1 — expert decides: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3f9c857b24b_0_274"/>
          <p:cNvSpPr txBox="1"/>
          <p:nvPr/>
        </p:nvSpPr>
        <p:spPr>
          <a:xfrm>
            <a:off x="3081528" y="5559552"/>
            <a:ext cx="28986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82D"/>
              </a:buClr>
              <a:buSzPts val="780"/>
              <a:buFont typeface="Calibri"/>
              <a:buNone/>
            </a:pPr>
            <a:r>
              <a:rPr b="0" i="0" lang="en-US" sz="1400" u="none" cap="none" strike="noStrike">
                <a:solidFill>
                  <a:srgbClr val="15282D"/>
                </a:solidFill>
                <a:latin typeface="Calibri"/>
                <a:ea typeface="Calibri"/>
                <a:cs typeface="Calibri"/>
                <a:sym typeface="Calibri"/>
              </a:rPr>
              <a:t>an expert picks one prototype.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3f9c857b24b_0_274"/>
          <p:cNvSpPr txBox="1"/>
          <p:nvPr/>
        </p:nvSpPr>
        <p:spPr>
          <a:xfrm>
            <a:off x="713232" y="5779008"/>
            <a:ext cx="23317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6A74"/>
              </a:buClr>
              <a:buSzPts val="780"/>
              <a:buFont typeface="Calibri"/>
              <a:buNone/>
            </a:pPr>
            <a:r>
              <a:rPr b="1" i="0" lang="en-US" sz="1400" u="none" cap="none" strike="noStrike">
                <a:solidFill>
                  <a:srgbClr val="0E6A74"/>
                </a:solidFill>
                <a:latin typeface="Calibri"/>
                <a:ea typeface="Calibri"/>
                <a:cs typeface="Calibri"/>
                <a:sym typeface="Calibri"/>
              </a:rPr>
              <a:t>Path 2 — simulate and repeat: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3f9c857b24b_0_274"/>
          <p:cNvSpPr txBox="1"/>
          <p:nvPr/>
        </p:nvSpPr>
        <p:spPr>
          <a:xfrm>
            <a:off x="3081528" y="5779008"/>
            <a:ext cx="2898648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5282D"/>
              </a:buClr>
              <a:buSzPts val="780"/>
              <a:buFont typeface="Calibri"/>
              <a:buNone/>
            </a:pPr>
            <a:r>
              <a:rPr b="0" i="0" lang="en-US" sz="1400" u="none" cap="none" strike="noStrike">
                <a:solidFill>
                  <a:srgbClr val="15282D"/>
                </a:solidFill>
                <a:latin typeface="Calibri"/>
                <a:ea typeface="Calibri"/>
                <a:cs typeface="Calibri"/>
                <a:sym typeface="Calibri"/>
              </a:rPr>
              <a:t>the agent checks the results.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3f9c857b24b_0_274"/>
          <p:cNvSpPr txBox="1"/>
          <p:nvPr/>
        </p:nvSpPr>
        <p:spPr>
          <a:xfrm>
            <a:off x="713232" y="6035040"/>
            <a:ext cx="5266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94A32"/>
              </a:buClr>
              <a:buSzPts val="780"/>
              <a:buFont typeface="Calibri"/>
              <a:buNone/>
            </a:pPr>
            <a:r>
              <a:rPr b="1" i="0" lang="en-US" sz="1400" u="none" cap="none" strike="noStrike">
                <a:solidFill>
                  <a:srgbClr val="B94A32"/>
                </a:solidFill>
                <a:latin typeface="Calibri"/>
                <a:ea typeface="Calibri"/>
                <a:cs typeface="Calibri"/>
                <a:sym typeface="Calibri"/>
              </a:rPr>
              <a:t>Both feedback paths go back to Generate a Parameter Set. That is the only way back in.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g3f9c857b24b_0_274"/>
          <p:cNvSpPr/>
          <p:nvPr/>
        </p:nvSpPr>
        <p:spPr>
          <a:xfrm>
            <a:off x="6327648" y="5230368"/>
            <a:ext cx="5294400" cy="1316700"/>
          </a:xfrm>
          <a:prstGeom prst="roundRect">
            <a:avLst>
              <a:gd fmla="val 4861" name="adj"/>
            </a:avLst>
          </a:prstGeom>
          <a:solidFill>
            <a:srgbClr val="F4F8F8"/>
          </a:solidFill>
          <a:ln cap="flat" cmpd="sng" w="15225">
            <a:solidFill>
              <a:srgbClr val="C3D6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30" name="Google Shape;130;g3f9c857b24b_0_274"/>
          <p:cNvSpPr txBox="1"/>
          <p:nvPr/>
        </p:nvSpPr>
        <p:spPr>
          <a:xfrm>
            <a:off x="6473952" y="5303520"/>
            <a:ext cx="50019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E6A74"/>
              </a:buClr>
              <a:buSzPts val="950"/>
              <a:buFont typeface="Calibri"/>
              <a:buNone/>
            </a:pPr>
            <a:r>
              <a:rPr b="1" i="0" lang="en-US" sz="1400" u="none" cap="none" strike="noStrike">
                <a:solidFill>
                  <a:srgbClr val="0E6A74"/>
                </a:solidFill>
                <a:latin typeface="Calibri"/>
                <a:ea typeface="Calibri"/>
                <a:cs typeface="Calibri"/>
                <a:sym typeface="Calibri"/>
              </a:rPr>
              <a:t>Colour key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3f9c857b24b_0_274"/>
          <p:cNvSpPr txBox="1"/>
          <p:nvPr/>
        </p:nvSpPr>
        <p:spPr>
          <a:xfrm>
            <a:off x="6473952" y="6053328"/>
            <a:ext cx="5001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E7FB0"/>
              </a:buClr>
              <a:buSzPts val="780"/>
              <a:buFont typeface="Calibri"/>
              <a:buNone/>
            </a:pPr>
            <a:r>
              <a:rPr b="1" i="0" lang="en-US" sz="1400" u="none" cap="none" strike="noStrike">
                <a:solidFill>
                  <a:srgbClr val="4E7FB0"/>
                </a:solidFill>
                <a:latin typeface="Calibri"/>
                <a:ea typeface="Calibri"/>
                <a:cs typeface="Calibri"/>
                <a:sym typeface="Calibri"/>
              </a:rPr>
              <a:t>Scan data also updates the prior knowledge: product scans → market products; ear mold scans → real wearing data.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g3f9c857b24b_0_274"/>
          <p:cNvSpPr/>
          <p:nvPr/>
        </p:nvSpPr>
        <p:spPr>
          <a:xfrm>
            <a:off x="3447288" y="4161434"/>
            <a:ext cx="137100" cy="16500"/>
          </a:xfrm>
          <a:prstGeom prst="rect">
            <a:avLst/>
          </a:prstGeom>
          <a:solidFill>
            <a:srgbClr val="A9772A"/>
          </a:solidFill>
          <a:ln cap="flat" cmpd="sng" w="12700">
            <a:solidFill>
              <a:srgbClr val="A97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33" name="Google Shape;133;g3f9c857b24b_0_274"/>
          <p:cNvSpPr/>
          <p:nvPr/>
        </p:nvSpPr>
        <p:spPr>
          <a:xfrm>
            <a:off x="3576218" y="1746504"/>
            <a:ext cx="16500" cy="2423100"/>
          </a:xfrm>
          <a:prstGeom prst="rect">
            <a:avLst/>
          </a:prstGeom>
          <a:solidFill>
            <a:srgbClr val="A9772A"/>
          </a:solidFill>
          <a:ln cap="flat" cmpd="sng" w="12700">
            <a:solidFill>
              <a:srgbClr val="A97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34" name="Google Shape;134;g3f9c857b24b_0_274"/>
          <p:cNvSpPr/>
          <p:nvPr/>
        </p:nvSpPr>
        <p:spPr>
          <a:xfrm>
            <a:off x="3579876" y="1682496"/>
            <a:ext cx="155400" cy="128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9772A"/>
          </a:solidFill>
          <a:ln cap="flat" cmpd="sng" w="12700">
            <a:solidFill>
              <a:srgbClr val="A97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35" name="Google Shape;135;g3f9c857b24b_0_274"/>
          <p:cNvSpPr/>
          <p:nvPr/>
        </p:nvSpPr>
        <p:spPr>
          <a:xfrm>
            <a:off x="3802312" y="3639388"/>
            <a:ext cx="1622100" cy="1316700"/>
          </a:xfrm>
          <a:prstGeom prst="roundRect">
            <a:avLst>
              <a:gd fmla="val 4167" name="adj"/>
            </a:avLst>
          </a:prstGeom>
          <a:solidFill>
            <a:srgbClr val="15282D"/>
          </a:solidFill>
          <a:ln cap="flat" cmpd="sng" w="15225">
            <a:solidFill>
              <a:srgbClr val="1528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36" name="Google Shape;136;g3f9c857b24b_0_274"/>
          <p:cNvSpPr txBox="1"/>
          <p:nvPr/>
        </p:nvSpPr>
        <p:spPr>
          <a:xfrm>
            <a:off x="3833206" y="3639388"/>
            <a:ext cx="1560300" cy="131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9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Final Model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9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+ Full Record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39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of All Steps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g3f9c857b24b_0_274"/>
          <p:cNvSpPr/>
          <p:nvPr/>
        </p:nvSpPr>
        <p:spPr>
          <a:xfrm>
            <a:off x="6473952" y="5605272"/>
            <a:ext cx="137100" cy="137100"/>
          </a:xfrm>
          <a:prstGeom prst="roundRect">
            <a:avLst>
              <a:gd fmla="val 26667" name="adj"/>
            </a:avLst>
          </a:prstGeom>
          <a:solidFill>
            <a:srgbClr val="4E7FB0"/>
          </a:solidFill>
          <a:ln cap="flat" cmpd="sng" w="12700">
            <a:solidFill>
              <a:srgbClr val="4E7FB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38" name="Google Shape;138;g3f9c857b24b_0_274"/>
          <p:cNvSpPr txBox="1"/>
          <p:nvPr/>
        </p:nvSpPr>
        <p:spPr>
          <a:xfrm>
            <a:off x="6656832" y="5577840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F85"/>
              </a:buClr>
              <a:buSzPts val="760"/>
              <a:buFont typeface="Calibri"/>
              <a:buNone/>
            </a:pPr>
            <a:r>
              <a:rPr b="0" i="0" lang="en-US" sz="1400" u="none" cap="none" strike="noStrike">
                <a:solidFill>
                  <a:srgbClr val="6B7F85"/>
                </a:solidFill>
                <a:latin typeface="Calibri"/>
                <a:ea typeface="Calibri"/>
                <a:cs typeface="Calibri"/>
                <a:sym typeface="Calibri"/>
              </a:rPr>
              <a:t>3D scan data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g3f9c857b24b_0_274"/>
          <p:cNvSpPr/>
          <p:nvPr/>
        </p:nvSpPr>
        <p:spPr>
          <a:xfrm>
            <a:off x="8275320" y="5605272"/>
            <a:ext cx="137100" cy="137100"/>
          </a:xfrm>
          <a:prstGeom prst="roundRect">
            <a:avLst>
              <a:gd fmla="val 26667" name="adj"/>
            </a:avLst>
          </a:prstGeom>
          <a:solidFill>
            <a:srgbClr val="A9772A"/>
          </a:solidFill>
          <a:ln cap="flat" cmpd="sng" w="12700">
            <a:solidFill>
              <a:srgbClr val="A977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40" name="Google Shape;140;g3f9c857b24b_0_274"/>
          <p:cNvSpPr txBox="1"/>
          <p:nvPr/>
        </p:nvSpPr>
        <p:spPr>
          <a:xfrm>
            <a:off x="8458200" y="5577840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F85"/>
              </a:buClr>
              <a:buSzPts val="760"/>
              <a:buFont typeface="Calibri"/>
              <a:buNone/>
            </a:pPr>
            <a:r>
              <a:rPr b="0" i="0" lang="en-US" sz="1400" u="none" cap="none" strike="noStrike">
                <a:solidFill>
                  <a:srgbClr val="6B7F85"/>
                </a:solidFill>
                <a:latin typeface="Calibri"/>
                <a:ea typeface="Calibri"/>
                <a:cs typeface="Calibri"/>
                <a:sym typeface="Calibri"/>
              </a:rPr>
              <a:t>prior knowledge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g3f9c857b24b_0_274"/>
          <p:cNvSpPr/>
          <p:nvPr/>
        </p:nvSpPr>
        <p:spPr>
          <a:xfrm>
            <a:off x="9966960" y="5605272"/>
            <a:ext cx="137100" cy="137100"/>
          </a:xfrm>
          <a:prstGeom prst="roundRect">
            <a:avLst>
              <a:gd fmla="val 26667" name="adj"/>
            </a:avLst>
          </a:prstGeom>
          <a:solidFill>
            <a:srgbClr val="0E6A74"/>
          </a:solidFill>
          <a:ln cap="flat" cmpd="sng" w="12700">
            <a:solidFill>
              <a:srgbClr val="0E6A7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42" name="Google Shape;142;g3f9c857b24b_0_274"/>
          <p:cNvSpPr txBox="1"/>
          <p:nvPr/>
        </p:nvSpPr>
        <p:spPr>
          <a:xfrm>
            <a:off x="10149840" y="5577840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F85"/>
              </a:buClr>
              <a:buSzPts val="760"/>
              <a:buFont typeface="Calibri"/>
              <a:buNone/>
            </a:pPr>
            <a:r>
              <a:rPr b="0" i="0" lang="en-US" sz="1400" u="none" cap="none" strike="noStrike">
                <a:solidFill>
                  <a:srgbClr val="6B7F85"/>
                </a:solidFill>
                <a:latin typeface="Calibri"/>
                <a:ea typeface="Calibri"/>
                <a:cs typeface="Calibri"/>
                <a:sym typeface="Calibri"/>
              </a:rPr>
              <a:t>agent and tools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g3f9c857b24b_0_274"/>
          <p:cNvSpPr/>
          <p:nvPr/>
        </p:nvSpPr>
        <p:spPr>
          <a:xfrm>
            <a:off x="6473952" y="5843016"/>
            <a:ext cx="137100" cy="137100"/>
          </a:xfrm>
          <a:prstGeom prst="roundRect">
            <a:avLst>
              <a:gd fmla="val 26667" name="adj"/>
            </a:avLst>
          </a:prstGeom>
          <a:solidFill>
            <a:srgbClr val="B94A32"/>
          </a:solidFill>
          <a:ln cap="flat" cmpd="sng" w="12700">
            <a:solidFill>
              <a:srgbClr val="B94A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44" name="Google Shape;144;g3f9c857b24b_0_274"/>
          <p:cNvSpPr txBox="1"/>
          <p:nvPr/>
        </p:nvSpPr>
        <p:spPr>
          <a:xfrm>
            <a:off x="6656832" y="5815584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F85"/>
              </a:buClr>
              <a:buSzPts val="760"/>
              <a:buFont typeface="Calibri"/>
              <a:buNone/>
            </a:pPr>
            <a:r>
              <a:rPr b="0" i="0" lang="en-US" sz="1400" u="none" cap="none" strike="noStrike">
                <a:solidFill>
                  <a:srgbClr val="6B7F85"/>
                </a:solidFill>
                <a:latin typeface="Calibri"/>
                <a:ea typeface="Calibri"/>
                <a:cs typeface="Calibri"/>
                <a:sym typeface="Calibri"/>
              </a:rPr>
              <a:t>feedback paths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g3f9c857b24b_0_274"/>
          <p:cNvSpPr/>
          <p:nvPr/>
        </p:nvSpPr>
        <p:spPr>
          <a:xfrm>
            <a:off x="8275320" y="5843016"/>
            <a:ext cx="137100" cy="137100"/>
          </a:xfrm>
          <a:prstGeom prst="roundRect">
            <a:avLst>
              <a:gd fmla="val 26667" name="adj"/>
            </a:avLst>
          </a:prstGeom>
          <a:solidFill>
            <a:srgbClr val="7B5EA7"/>
          </a:solidFill>
          <a:ln cap="flat" cmpd="sng" w="12700">
            <a:solidFill>
              <a:srgbClr val="7B5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46" name="Google Shape;146;g3f9c857b24b_0_274"/>
          <p:cNvSpPr txBox="1"/>
          <p:nvPr/>
        </p:nvSpPr>
        <p:spPr>
          <a:xfrm>
            <a:off x="8458200" y="5815584"/>
            <a:ext cx="164592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F85"/>
              </a:buClr>
              <a:buSzPts val="760"/>
              <a:buFont typeface="Calibri"/>
              <a:buNone/>
            </a:pPr>
            <a:r>
              <a:rPr b="0" i="0" lang="en-US" sz="1400" u="none" cap="none" strike="noStrike">
                <a:solidFill>
                  <a:srgbClr val="6B7F85"/>
                </a:solidFill>
                <a:latin typeface="Calibri"/>
                <a:ea typeface="Calibri"/>
                <a:cs typeface="Calibri"/>
                <a:sym typeface="Calibri"/>
              </a:rPr>
              <a:t>expert decision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g3f9c857b24b_0_274"/>
          <p:cNvSpPr/>
          <p:nvPr/>
        </p:nvSpPr>
        <p:spPr>
          <a:xfrm>
            <a:off x="9966960" y="5843016"/>
            <a:ext cx="137100" cy="137100"/>
          </a:xfrm>
          <a:prstGeom prst="roundRect">
            <a:avLst>
              <a:gd fmla="val 26667" name="adj"/>
            </a:avLst>
          </a:prstGeom>
          <a:solidFill>
            <a:srgbClr val="15282D"/>
          </a:solidFill>
          <a:ln cap="flat" cmpd="sng" w="12700">
            <a:solidFill>
              <a:srgbClr val="15282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148" name="Google Shape;148;g3f9c857b24b_0_274"/>
          <p:cNvSpPr txBox="1"/>
          <p:nvPr/>
        </p:nvSpPr>
        <p:spPr>
          <a:xfrm>
            <a:off x="10149840" y="5815584"/>
            <a:ext cx="155448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7F85"/>
              </a:buClr>
              <a:buSzPts val="760"/>
              <a:buFont typeface="Calibri"/>
              <a:buNone/>
            </a:pPr>
            <a:r>
              <a:rPr b="0" i="0" lang="en-US" sz="1400" u="none" cap="none" strike="noStrike">
                <a:solidFill>
                  <a:srgbClr val="6B7F85"/>
                </a:solidFill>
                <a:latin typeface="Calibri"/>
                <a:ea typeface="Calibri"/>
                <a:cs typeface="Calibri"/>
                <a:sym typeface="Calibri"/>
              </a:rPr>
              <a:t>final output</a:t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3f9c857b24b_0_274"/>
          <p:cNvSpPr txBox="1"/>
          <p:nvPr/>
        </p:nvSpPr>
        <p:spPr>
          <a:xfrm>
            <a:off x="2337225" y="3090672"/>
            <a:ext cx="12390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highlight>
                  <a:srgbClr val="FFFF00"/>
                </a:highlight>
              </a:rPr>
              <a:t>Bo Shishi</a:t>
            </a:r>
            <a:endParaRPr sz="1400">
              <a:highlight>
                <a:srgbClr val="FFFF00"/>
              </a:highlight>
            </a:endParaRPr>
          </a:p>
        </p:txBody>
      </p:sp>
      <p:sp>
        <p:nvSpPr>
          <p:cNvPr id="150" name="Google Shape;150;g3f9c857b24b_0_274"/>
          <p:cNvSpPr txBox="1"/>
          <p:nvPr/>
        </p:nvSpPr>
        <p:spPr>
          <a:xfrm>
            <a:off x="6458488" y="2258568"/>
            <a:ext cx="1239000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highlight>
                  <a:srgbClr val="FFFF00"/>
                </a:highlight>
              </a:rPr>
              <a:t>Li Yuajia</a:t>
            </a:r>
            <a:endParaRPr sz="140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2026-08-31T08:34:55Z</dcterms:created>
  <dc:creator>Literature walkthrough</dc:creator>
</cp:coreProperties>
</file>