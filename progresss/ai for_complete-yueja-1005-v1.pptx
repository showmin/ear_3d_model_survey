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2.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slideLayouts/slideLayout1.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 name="PlaceHolder 1"/>
          <p:cNvSpPr>
            <a:spLocks noGrp="1"/>
          </p:cNvSpPr>
          <p:nvPr>
            <p:ph type="sldImg"/>
          </p:nvPr>
        </p:nvSpPr>
        <p:spPr>
          <a:xfrm>
            <a:off x="533520" y="764280"/>
            <a:ext cx="6704640" cy="3771360"/>
          </a:xfrm>
          <a:prstGeom prst="rect">
            <a:avLst/>
          </a:prstGeom>
          <a:noFill/>
          <a:ln w="0">
            <a:noFill/>
          </a:ln>
        </p:spPr>
        <p:txBody>
          <a:bodyPr lIns="0" tIns="0" rIns="0" bIns="0" anchor="ctr">
            <a:noAutofit/>
          </a:bodyPr>
          <a:p>
            <a:r>
              <a:rPr lang="en-US" sz="1800" b="0" u="none" strike="noStrike">
                <a:solidFill>
                  <a:schemeClr val="dk1"/>
                </a:solidFill>
                <a:effectLst/>
                <a:uFillTx/>
                <a:latin typeface="Arial"/>
              </a:rPr>
              <a:t>Click to move the slide</a:t>
            </a:r>
            <a:endParaRPr lang="en-US" sz="1800" b="0" u="none" strike="noStrike">
              <a:solidFill>
                <a:schemeClr val="dk1"/>
              </a:solidFill>
              <a:effectLst/>
              <a:uFillTx/>
              <a:latin typeface="Arial"/>
            </a:endParaRPr>
          </a:p>
        </p:txBody>
      </p:sp>
      <p:sp>
        <p:nvSpPr>
          <p:cNvPr id="8"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9"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10" name="PlaceHolder 4"/>
          <p:cNvSpPr>
            <a:spLocks noGrp="1"/>
          </p:cNvSpPr>
          <p:nvPr>
            <p:ph type="dt" idx="4"/>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11" name="PlaceHolder 5"/>
          <p:cNvSpPr>
            <a:spLocks noGrp="1"/>
          </p:cNvSpPr>
          <p:nvPr>
            <p:ph type="ftr" idx="5"/>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12" name="PlaceHolder 6"/>
          <p:cNvSpPr>
            <a:spLocks noGrp="1"/>
          </p:cNvSpPr>
          <p:nvPr>
            <p:ph type="sldNum" idx="6"/>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9CD4AD62-8534-47C2-B00F-9730D7E3243E}"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5" name="PlaceHolder 1"/>
          <p:cNvSpPr>
            <a:spLocks noGrp="1"/>
          </p:cNvSpPr>
          <p:nvPr>
            <p:ph type="sldImg"/>
          </p:nvPr>
        </p:nvSpPr>
        <p:spPr>
          <a:xfrm>
            <a:off x="1143000" y="685800"/>
            <a:ext cx="4571640" cy="3428640"/>
          </a:xfrm>
          <a:prstGeom prst="rect">
            <a:avLst/>
          </a:prstGeom>
          <a:ln w="0">
            <a:noFill/>
          </a:ln>
        </p:spPr>
      </p:sp>
      <p:sp>
        <p:nvSpPr>
          <p:cNvPr id="506" name="PlaceHolder 2"/>
          <p:cNvSpPr>
            <a:spLocks noGrp="1"/>
          </p:cNvSpPr>
          <p:nvPr>
            <p:ph type="body"/>
          </p:nvPr>
        </p:nvSpPr>
        <p:spPr>
          <a:xfrm>
            <a:off x="685800" y="4343400"/>
            <a:ext cx="5486040" cy="411444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We use a product design case to study how AI takes part in design tasks, and what reusable method each revision left behind. The case covers the earliest trial through the current candidate, organized in five stages. Knowledge retrieval supplies references, generation tools help compare concepts, execution tools perform the operations, and people together with check tools review the results. Design review and lesson write-back run through all of these steps. The report focuses on how AI participates, how the process changed, and what was verified.</a:t>
            </a:r>
            <a:endParaRPr lang="en-US" sz="2000" b="0" u="none" strike="noStrike">
              <a:solidFill>
                <a:srgbClr val="000000"/>
              </a:solidFill>
              <a:effectLst/>
              <a:uFillTx/>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7" name="PlaceHolder 1"/>
          <p:cNvSpPr>
            <a:spLocks noGrp="1"/>
          </p:cNvSpPr>
          <p:nvPr>
            <p:ph type="sldImg"/>
          </p:nvPr>
        </p:nvSpPr>
        <p:spPr>
          <a:xfrm>
            <a:off x="1143000" y="685800"/>
            <a:ext cx="4571640" cy="3428640"/>
          </a:xfrm>
          <a:prstGeom prst="rect">
            <a:avLst/>
          </a:prstGeom>
          <a:ln w="0">
            <a:noFill/>
          </a:ln>
        </p:spPr>
      </p:sp>
      <p:sp>
        <p:nvSpPr>
          <p:cNvPr id="508" name="PlaceHolder 2"/>
          <p:cNvSpPr>
            <a:spLocks noGrp="1"/>
          </p:cNvSpPr>
          <p:nvPr>
            <p:ph type="body"/>
          </p:nvPr>
        </p:nvSpPr>
        <p:spPr>
          <a:xfrm>
            <a:off x="685800" y="4343400"/>
            <a:ext cx="5486040" cy="411444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This study is organized around four questions: can design evidence be traced, can AI operate real tools, can it locate and fix errors, and can existing lessons be read by the next round. We use feedback, changes, and reviews as the unit of observation, and compare them against the history images, operation logs, rules, and code left by knowledge retrieval, concept-first work, and tool connections. Result checks include reopening after save, shape checks, and user review. Lesson reuse requires updating the workflow and the run entry points, then running regression tests. So far we have process records from a single case. Control groups, efficiency metrics, and wear tests are still pending, and any gains need later controlled validation.</a:t>
            </a:r>
            <a:endParaRPr lang="en-US" sz="2000" b="0" u="none" strike="noStrike">
              <a:solidFill>
                <a:srgbClr val="000000"/>
              </a:solidFill>
              <a:effectLst/>
              <a:uFillTx/>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9" name="PlaceHolder 1"/>
          <p:cNvSpPr>
            <a:spLocks noGrp="1"/>
          </p:cNvSpPr>
          <p:nvPr>
            <p:ph type="sldImg"/>
          </p:nvPr>
        </p:nvSpPr>
        <p:spPr>
          <a:xfrm>
            <a:off x="1143000" y="685800"/>
            <a:ext cx="4571640" cy="3428640"/>
          </a:xfrm>
          <a:prstGeom prst="rect">
            <a:avLst/>
          </a:prstGeom>
          <a:ln w="0">
            <a:noFill/>
          </a:ln>
        </p:spPr>
      </p:sp>
      <p:sp>
        <p:nvSpPr>
          <p:cNvPr id="510" name="PlaceHolder 2"/>
          <p:cNvSpPr>
            <a:spLocks noGrp="1"/>
          </p:cNvSpPr>
          <p:nvPr>
            <p:ph type="body"/>
          </p:nvPr>
        </p:nvSpPr>
        <p:spPr>
          <a:xfrm>
            <a:off x="685800" y="4343400"/>
            <a:ext cx="5486040" cy="411444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A design task starts from the user description, confirmed constraints, and the existing project state. AI organizes features, conflicts, and unknowns into a needs table, then retrieves references that carry their source and applicable limits, and generates several comparable concept directions. After a person confirms the concept, side, and views, AI analyzes parts, proportions, and attachment, then performs modeling, saving, and an independent reopen. Geometry and visual review produce an issue list and a receipt, and a person accepts the results within that scope. Failed items are traced to a specific step, fixed, and rechecked; release happens only after acceptance. Each round first verifies the current tool connection, and general lessons are updated when the task closes.</a:t>
            </a:r>
            <a:endParaRPr lang="en-US" sz="2000" b="0" u="none" strike="noStrike">
              <a:solidFill>
                <a:srgbClr val="000000"/>
              </a:solidFill>
              <a:effectLst/>
              <a:uFillTx/>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1" name="PlaceHolder 1"/>
          <p:cNvSpPr>
            <a:spLocks noGrp="1"/>
          </p:cNvSpPr>
          <p:nvPr>
            <p:ph type="sldImg"/>
          </p:nvPr>
        </p:nvSpPr>
        <p:spPr>
          <a:xfrm>
            <a:off x="1143000" y="685800"/>
            <a:ext cx="4571640" cy="3428640"/>
          </a:xfrm>
          <a:prstGeom prst="rect">
            <a:avLst/>
          </a:prstGeom>
          <a:ln w="0">
            <a:noFill/>
          </a:ln>
        </p:spPr>
      </p:sp>
      <p:sp>
        <p:nvSpPr>
          <p:cNvPr id="512" name="PlaceHolder 2"/>
          <p:cNvSpPr>
            <a:spLocks noGrp="1"/>
          </p:cNvSpPr>
          <p:nvPr>
            <p:ph type="body"/>
          </p:nvPr>
        </p:nvSpPr>
        <p:spPr>
          <a:xfrm>
            <a:off x="685800" y="4343400"/>
            <a:ext cx="5486040" cy="411444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RAG stands for retrieval-augmented generation. It brings retrieved material into the current task so that AI can make design suggestions with sources. Here we use three separate knowledge bases: product design, ear anatomy, and tools. Product cases, image observations, and user feedback provide references for structural trade-offs, support methods, and material expression. Ear data provides position, size meaning, and contact constraints. FreeCAD documentation helps choose modeling and check operations. In this case, small-volume products supported function and structure trade-offs, soft-support cases helped separate the hard shell from contact parts, and user feedback added charging, control, and long-term use issues. References include QuietOn, Kokoon, Ozlo, and Nothing Ear, and each suggestion keeps its source type, applicable limits, and open items. Retrieval relevance and source credibility are judged separately, and real comfort still needs wear trials.</a:t>
            </a:r>
            <a:endParaRPr lang="en-US" sz="2000" b="0" u="none" strike="noStrike">
              <a:solidFill>
                <a:srgbClr val="000000"/>
              </a:solidFill>
              <a:effectLst/>
              <a:uFillTx/>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3" name="PlaceHolder 1"/>
          <p:cNvSpPr>
            <a:spLocks noGrp="1"/>
          </p:cNvSpPr>
          <p:nvPr>
            <p:ph type="sldImg"/>
          </p:nvPr>
        </p:nvSpPr>
        <p:spPr>
          <a:xfrm>
            <a:off x="1143000" y="685800"/>
            <a:ext cx="4571640" cy="3428640"/>
          </a:xfrm>
          <a:prstGeom prst="rect">
            <a:avLst/>
          </a:prstGeom>
          <a:ln w="0">
            <a:noFill/>
          </a:ln>
        </p:spPr>
      </p:sp>
      <p:sp>
        <p:nvSpPr>
          <p:cNvPr id="514" name="PlaceHolder 2"/>
          <p:cNvSpPr>
            <a:spLocks noGrp="1"/>
          </p:cNvSpPr>
          <p:nvPr>
            <p:ph type="body"/>
          </p:nvPr>
        </p:nvSpPr>
        <p:spPr>
          <a:xfrm>
            <a:off x="685800" y="4343400"/>
            <a:ext cx="5486040" cy="411444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Feature extraction works from the user description, and the input can be swapped for other needs or product tasks. In-ear, stable in sport, stays in during sleep, and youthful colors is a demo input, where in-ear describes form and sleep describes a scene. AI splits the needs by form, scene, function, and appearance preference, marks hard constraints, soft preferences, conflicts, and items to clarify, and asks for confirmation when sizes or priorities are missing. Retrieval queries by dimension, combines complementary references, deduplicates products, and records uncovered items. Both lexical and semantic retrieval keep their sources. An independent trial used deduplication to choose two different products that cover more needs. Dimension splitting and coverage selection are not yet automatically integrated into the main project. Wear performance is untested, and constraint strength and priorities are still confirmed by the user.</a:t>
            </a:r>
            <a:endParaRPr lang="en-US" sz="2000" b="0" u="none" strike="noStrike">
              <a:solidFill>
                <a:srgbClr val="000000"/>
              </a:solidFill>
              <a:effectLst/>
              <a:uFillTx/>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5" name="PlaceHolder 1"/>
          <p:cNvSpPr>
            <a:spLocks noGrp="1"/>
          </p:cNvSpPr>
          <p:nvPr>
            <p:ph type="sldImg"/>
          </p:nvPr>
        </p:nvSpPr>
        <p:spPr>
          <a:xfrm>
            <a:off x="1143000" y="685800"/>
            <a:ext cx="4571640" cy="3428640"/>
          </a:xfrm>
          <a:prstGeom prst="rect">
            <a:avLst/>
          </a:prstGeom>
          <a:ln w="0">
            <a:noFill/>
          </a:ln>
        </p:spPr>
      </p:sp>
      <p:sp>
        <p:nvSpPr>
          <p:cNvPr id="516" name="PlaceHolder 2"/>
          <p:cNvSpPr>
            <a:spLocks noGrp="1"/>
          </p:cNvSpPr>
          <p:nvPr>
            <p:ph type="body"/>
          </p:nvPr>
        </p:nvSpPr>
        <p:spPr>
          <a:xfrm>
            <a:off x="685800" y="4343400"/>
            <a:ext cx="5486040" cy="411444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Evidence review records sources, image observations, and AI inferences separately. Vendor notes, independent reviews, and user feedback keep the author and source category. Images can support observations of outline, material zones, and accessory relations, while sizes and use effects need matching evidence. Before data enters the design, we verify the original text and image source and record the applicable conditions, then separate shape references from support data by purpose, and sizes must map to a specific part. Inferences are filed apart from the source text, and conclusions without evidence are marked as open and not yet used for modeling. An independent trial reviewed 166 images one by one: 119 were classed as shape references and 47 as support data. Comfort, sport stability, and retrieval quality gains still need separate validation.</a:t>
            </a:r>
            <a:endParaRPr lang="en-US" sz="2000" b="0" u="none" strike="noStrike">
              <a:solidFill>
                <a:srgbClr val="000000"/>
              </a:solidFill>
              <a:effectLst/>
              <a:uFillTx/>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7" name="PlaceHolder 1"/>
          <p:cNvSpPr>
            <a:spLocks noGrp="1"/>
          </p:cNvSpPr>
          <p:nvPr>
            <p:ph type="sldImg"/>
          </p:nvPr>
        </p:nvSpPr>
        <p:spPr>
          <a:xfrm>
            <a:off x="1143000" y="685800"/>
            <a:ext cx="4571640" cy="3428640"/>
          </a:xfrm>
          <a:prstGeom prst="rect">
            <a:avLst/>
          </a:prstGeom>
          <a:ln w="0">
            <a:noFill/>
          </a:ln>
        </p:spPr>
      </p:sp>
      <p:sp>
        <p:nvSpPr>
          <p:cNvPr id="518" name="PlaceHolder 2"/>
          <p:cNvSpPr>
            <a:spLocks noGrp="1"/>
          </p:cNvSpPr>
          <p:nvPr>
            <p:ph type="body"/>
          </p:nvPr>
        </p:nvSpPr>
        <p:spPr>
          <a:xfrm>
            <a:off x="685800" y="4343400"/>
            <a:ext cx="5486040" cy="411444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MCP connects the tools, RAG provides design evidence, and people review the execution scope and results. AI combines the confirmed project state to organize tasks, choose tools, and check receipts. Tool paths include headless document, script, and export operations, plus the existing CAD GUI bridge; the GUI prototype supports only its verified operations, and the current task still confirms the actual window and document. Scripts are checked before execution, run in an isolated process, and their results are verified afterwards; if the connection fails, it is restored first. After a file is saved it is reopened independently, geometry and visuals are checked, and a comparison receipt is produced for human review. Failed checks return to execution, major design trade-offs return to design review, and a person accepts the final result. Different interfaces divide the work by their own verified capabilities.</a:t>
            </a:r>
            <a:endParaRPr lang="en-US" sz="2000" b="0" u="none" strike="noStrike">
              <a:solidFill>
                <a:srgbClr val="000000"/>
              </a:solidFill>
              <a:effectLst/>
              <a:uFillTx/>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9" name="PlaceHolder 1"/>
          <p:cNvSpPr>
            <a:spLocks noGrp="1"/>
          </p:cNvSpPr>
          <p:nvPr>
            <p:ph type="sldImg"/>
          </p:nvPr>
        </p:nvSpPr>
        <p:spPr>
          <a:xfrm>
            <a:off x="1143000" y="685800"/>
            <a:ext cx="4571640" cy="3428640"/>
          </a:xfrm>
          <a:prstGeom prst="rect">
            <a:avLst/>
          </a:prstGeom>
          <a:ln w="0">
            <a:noFill/>
          </a:ln>
        </p:spPr>
      </p:sp>
      <p:sp>
        <p:nvSpPr>
          <p:cNvPr id="520" name="PlaceHolder 2"/>
          <p:cNvSpPr>
            <a:spLocks noGrp="1"/>
          </p:cNvSpPr>
          <p:nvPr>
            <p:ph type="body"/>
          </p:nvPr>
        </p:nvSpPr>
        <p:spPr>
          <a:xfrm>
            <a:off x="685800" y="4343400"/>
            <a:ext cx="5486040" cy="411444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The same needs can generate several concept strategies for people to compare outlines, support methods, and hard/soft splits. The six left-ear concepts are Seed Pod with a shallow saddle soft support, Pebble with a rounded low profile, Fin Wing with a short wide soft fin, Spiral with a shallow curled surface, Bloom with a soft-gel petal wrap, and Twin Petal with overlapping twin shells. They demonstrate this round's generation flow and have not yet been selected. Volume, comfort, and stability have not been tested, and later selection must keep checking these requirements. Other input features can produce other concept directions.</a:t>
            </a:r>
            <a:endParaRPr lang="en-US" sz="2000" b="0" u="none" strike="noStrike">
              <a:solidFill>
                <a:srgbClr val="000000"/>
              </a:solidFill>
              <a:effectLst/>
              <a:uFillTx/>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1" name="PlaceHolder 1"/>
          <p:cNvSpPr>
            <a:spLocks noGrp="1"/>
          </p:cNvSpPr>
          <p:nvPr>
            <p:ph type="sldImg"/>
          </p:nvPr>
        </p:nvSpPr>
        <p:spPr>
          <a:xfrm>
            <a:off x="1143000" y="685800"/>
            <a:ext cx="4571640" cy="3428640"/>
          </a:xfrm>
          <a:prstGeom prst="rect">
            <a:avLst/>
          </a:prstGeom>
          <a:ln w="0">
            <a:noFill/>
          </a:ln>
        </p:spPr>
      </p:sp>
      <p:sp>
        <p:nvSpPr>
          <p:cNvPr id="522" name="PlaceHolder 2"/>
          <p:cNvSpPr>
            <a:spLocks noGrp="1"/>
          </p:cNvSpPr>
          <p:nvPr>
            <p:ph type="body"/>
          </p:nvPr>
        </p:nvSpPr>
        <p:spPr>
          <a:xfrm>
            <a:off x="685800" y="4343400"/>
            <a:ext cx="5486040" cy="411444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Side, layout, and shared part relations are written into the concept-image generation spec, which is read by the template, the current reference list, RAG prompts, and tests. The current case uses the left ear only and keeps the original orientation, with a six-panel layout: worn view on the left, four views in the center, and the hero image on the right. The four views are side, front, rear, and an angled top view, and only these panels are shown. All views share proportion, joints, and material split, and the review checks each item for consistency. New tasks reuse the consistency check method; form, color, and material are decided by the task, and if the user chooses another side, the new choice applies.</a:t>
            </a:r>
            <a:endParaRPr lang="en-US" sz="2000" b="0" u="none" strike="noStrike">
              <a:solidFill>
                <a:srgbClr val="000000"/>
              </a:solidFill>
              <a:effectLst/>
              <a:uFillTx/>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3" name="PlaceHolder 1"/>
          <p:cNvSpPr>
            <a:spLocks noGrp="1"/>
          </p:cNvSpPr>
          <p:nvPr>
            <p:ph type="sldImg"/>
          </p:nvPr>
        </p:nvSpPr>
        <p:spPr>
          <a:xfrm>
            <a:off x="1143000" y="685800"/>
            <a:ext cx="4571640" cy="3428640"/>
          </a:xfrm>
          <a:prstGeom prst="rect">
            <a:avLst/>
          </a:prstGeom>
          <a:ln w="0">
            <a:noFill/>
          </a:ln>
        </p:spPr>
      </p:sp>
      <p:sp>
        <p:nvSpPr>
          <p:cNvPr id="524" name="PlaceHolder 2"/>
          <p:cNvSpPr>
            <a:spLocks noGrp="1"/>
          </p:cNvSpPr>
          <p:nvPr>
            <p:ph type="body"/>
          </p:nvPr>
        </p:nvSpPr>
        <p:spPr>
          <a:xfrm>
            <a:off x="685800" y="4343400"/>
            <a:ext cx="5486040" cy="411444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Early on, AI could turn need words into rough geometry, and direct modeling exposed the lack of form evidence. Concept-first put ideation, 2D expression, and human selection before modeling, locking the design intent first. The gap at the second node was an editable 3D model, so the next stage had to turn the chosen concept into editable CAD geometry. Once the model existed, the concept and the saved model could be checked item by item, while occlusion ambiguity in circled feedback still needed later spatial diagnosis. The early 2D outlines come from the real archive; the later joint-review image is an example of a newer method, and the candidate still awaits review.</a:t>
            </a:r>
            <a:endParaRPr lang="en-US" sz="2000" b="0" u="none" strike="noStrike">
              <a:solidFill>
                <a:srgbClr val="000000"/>
              </a:solidFill>
              <a:effectLst/>
              <a:uFillTx/>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5" name="PlaceHolder 1"/>
          <p:cNvSpPr>
            <a:spLocks noGrp="1"/>
          </p:cNvSpPr>
          <p:nvPr>
            <p:ph type="sldImg"/>
          </p:nvPr>
        </p:nvSpPr>
        <p:spPr>
          <a:xfrm>
            <a:off x="1143000" y="685800"/>
            <a:ext cx="4571640" cy="3428640"/>
          </a:xfrm>
          <a:prstGeom prst="rect">
            <a:avLst/>
          </a:prstGeom>
          <a:ln w="0">
            <a:noFill/>
          </a:ln>
        </p:spPr>
      </p:sp>
      <p:sp>
        <p:nvSpPr>
          <p:cNvPr id="526" name="PlaceHolder 2"/>
          <p:cNvSpPr>
            <a:spLocks noGrp="1"/>
          </p:cNvSpPr>
          <p:nvPr>
            <p:ph type="body"/>
          </p:nvPr>
        </p:nvSpPr>
        <p:spPr>
          <a:xfrm>
            <a:off x="685800" y="4343400"/>
            <a:ext cx="5486040" cy="411444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Real sections help verify part layers and distances; the two images excerpt 635 independent section lines, each shown at equal scale. Once the ear-region names in Chinese and English, the map, and the real source faces are bound together, feedback can be placed on the model. When the overall pose is wrong, the whole unit and its parts move together, so local deformation stops compensating for layout errors. The saved-state A/B in the image keeps the same camera; the partial confirmation of the unit direction covers only that judgment, and joint, support, and real wear still need validation. Methods that pass review, failure causes, and applicable limits are written back to the workflow and the execution entry points, and cross-task effects keep being checked.</a:t>
            </a:r>
            <a:endParaRPr lang="en-US" sz="2000" b="0" u="none" strike="noStrike">
              <a:solidFill>
                <a:srgbClr val="000000"/>
              </a:solidFill>
              <a:effectLst/>
              <a:uFillTx/>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7" name="PlaceHolder 1"/>
          <p:cNvSpPr>
            <a:spLocks noGrp="1"/>
          </p:cNvSpPr>
          <p:nvPr>
            <p:ph type="sldImg"/>
          </p:nvPr>
        </p:nvSpPr>
        <p:spPr>
          <a:xfrm>
            <a:off x="1143000" y="685800"/>
            <a:ext cx="4571640" cy="3428640"/>
          </a:xfrm>
          <a:prstGeom prst="rect">
            <a:avLst/>
          </a:prstGeom>
          <a:ln w="0">
            <a:noFill/>
          </a:ln>
        </p:spPr>
      </p:sp>
      <p:sp>
        <p:nvSpPr>
          <p:cNvPr id="528" name="PlaceHolder 2"/>
          <p:cNvSpPr>
            <a:spLocks noGrp="1"/>
          </p:cNvSpPr>
          <p:nvPr>
            <p:ph type="body"/>
          </p:nvPr>
        </p:nvSpPr>
        <p:spPr>
          <a:xfrm>
            <a:off x="685800" y="4343400"/>
            <a:ext cx="5486040" cy="411444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After each task closes, the process writes useful lessons as rules that the next round can read. Side and views kept changing, which led the template and generation prompt to fix the display rules and verify identity. Fix results were hard to review objectively, which led the execution spec to require save-and-reopen and same-condition comparison, written into receipts and RAG output. One-off diagnostic scripts were hard to reuse, so section lines, sources, and parameters are stored separately, with a diagnostic spec, a viewer tool, and negative cases. A full-period audit covered 28 lesson types, filled known entry-point gaps, and recorded tool implementation, test, and migration progress separately; outdated rules are kept as history. Project memory stores local rules for later tasks; this write-back is limited to local files, and model training and account-level memory are not part of the process. Regression tests currently check known errors, while cross-project migration, design quality, and user acceptance are validated separately.</a:t>
            </a:r>
            <a:endParaRPr lang="en-US" sz="2000" b="0" u="none" strike="noStrike">
              <a:solidFill>
                <a:srgbClr val="000000"/>
              </a:solidFill>
              <a:effectLst/>
              <a:uFillTx/>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9" name="PlaceHolder 1"/>
          <p:cNvSpPr>
            <a:spLocks noGrp="1"/>
          </p:cNvSpPr>
          <p:nvPr>
            <p:ph type="sldImg"/>
          </p:nvPr>
        </p:nvSpPr>
        <p:spPr>
          <a:xfrm>
            <a:off x="1143000" y="685800"/>
            <a:ext cx="4571640" cy="3428640"/>
          </a:xfrm>
          <a:prstGeom prst="rect">
            <a:avLst/>
          </a:prstGeom>
          <a:ln w="0">
            <a:noFill/>
          </a:ln>
        </p:spPr>
      </p:sp>
      <p:sp>
        <p:nvSpPr>
          <p:cNvPr id="530" name="PlaceHolder 2"/>
          <p:cNvSpPr>
            <a:spLocks noGrp="1"/>
          </p:cNvSpPr>
          <p:nvPr>
            <p:ph type="body"/>
          </p:nvPr>
        </p:nvSpPr>
        <p:spPr>
          <a:xfrm>
            <a:off x="685800" y="4343400"/>
            <a:ext cx="5486040" cy="411444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The main project already uses RAG retrieval, concept-first work, tool execution, save-and-reopen, review receipts, and lesson write-back, and the process records can be checked. Form and scene splitting, need-coverage selection, and the review of image purpose and size attribution have independent trial results but are not yet fully on the main project's automatic path. Causal gains in efficiency and design quality, plus real comfort, stability, material, and manufacturing performance, still need validation. The next round can switch the needs and product task, check feature extraction and rule reuse, log errors, rework, and data gaps, track rule reads and failures, run controls with one standard, and then run wear and engineering tests separately. Pose refinement is paused for now, the joint candidate awaits review, later multi-view and form regression are pending, and earlier gaps are kept. Method use, content acceptance, product performance, and cross-task validation each record their own results.</a:t>
            </a:r>
            <a:endParaRPr lang="en-US" sz="2000" b="0" u="none" strike="noStrik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ai-workflow-report — Blank">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F985DC5E-A554-4DC6-B690-16C816036F45}" type="slidenum">
              <a:t>&lt;#&gt;</a:t>
            </a:fld>
          </a:p>
        </p:txBody>
      </p:sp>
      <p:sp>
        <p:nvSpPr>
          <p:cNvPr id="4" name="PlaceHolder 3"/>
          <p:cNvSpPr>
            <a:spLocks noGrp="1"/>
          </p:cNvSpPr>
          <p:nvPr>
            <p:ph type="dt" idx="1"/>
          </p:nvPr>
        </p:nvSpPr>
        <p:spPr/>
        <p:txBody>
          <a:bodyPr/>
          <a:p>
            <a:r>
              <a:rPr lang="en-US"/>
              <a:t/>
            </a:r>
          </a:p>
        </p:txBody>
      </p:sp>
    </p:spTree>
  </p:cSld>
  <p:clrMapOvr>
    <a:masterClrMapping/>
  </p:clrMapOvr>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3" name="PlaceHolder 2"/>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 name="PlaceHolder 3"/>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a:endParaRPr>
          </a:p>
        </p:txBody>
      </p:sp>
      <p:sp>
        <p:nvSpPr>
          <p:cNvPr id="5"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Arial"/>
              </a:defRPr>
            </a:lvl1pPr>
          </a:lstStyle>
          <a:p>
            <a:pPr indent="0" algn="l">
              <a:buNone/>
            </a:pPr>
            <a:r>
              <a:rPr lang="en-US" sz="1800" b="0" u="none" strike="noStrike">
                <a:solidFill>
                  <a:schemeClr val="dk1"/>
                </a:solidFill>
                <a:effectLst/>
                <a:uFillTx/>
                <a:latin typeface="Arial"/>
              </a:rPr>
              <a:t>Click to edit the title text format</a:t>
            </a:r>
            <a:endParaRPr lang="en-US" sz="1800" b="0" u="none" strike="noStrike">
              <a:solidFill>
                <a:schemeClr val="dk1"/>
              </a:solidFill>
              <a:effectLst/>
              <a:uFillTx/>
              <a:latin typeface="Arial"/>
            </a:endParaRPr>
          </a:p>
        </p:txBody>
      </p:sp>
      <p:sp>
        <p:nvSpPr>
          <p:cNvPr id="6"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1950" b="0" u="none" strike="noStrike">
                <a:solidFill>
                  <a:schemeClr val="dk1"/>
                </a:solidFill>
                <a:effectLst/>
                <a:uFillTx/>
                <a:latin typeface="Arial"/>
              </a:defRPr>
            </a:lvl1pPr>
            <a:lvl2pPr lvl="1" algn="l">
              <a:spcBef>
                <a:spcPts val="1134"/>
              </a:spcBef>
              <a:buClr>
                <a:srgbClr val="000000"/>
              </a:buClr>
              <a:buSzPct val="75000"/>
              <a:buFont typeface="Symbol" charset="2"/>
              <a:buChar char=""/>
              <a:defRPr lang="en-US" sz="1700" b="0" u="none" strike="noStrike">
                <a:solidFill>
                  <a:schemeClr val="dk1"/>
                </a:solidFill>
                <a:effectLst/>
                <a:uFillTx/>
                <a:latin typeface="Arial"/>
              </a:defRPr>
            </a:lvl2pPr>
            <a:lvl3pPr lvl="2" algn="l">
              <a:spcBef>
                <a:spcPts val="850"/>
              </a:spcBef>
              <a:buClr>
                <a:srgbClr val="000000"/>
              </a:buClr>
              <a:buSzPct val="45000"/>
              <a:buFont typeface="Wingdings" charset="2"/>
              <a:buChar char=""/>
              <a:defRPr lang="en-US" sz="1600" b="0" u="none" strike="noStrike">
                <a:solidFill>
                  <a:schemeClr val="dk1"/>
                </a:solidFill>
                <a:effectLst/>
                <a:uFillTx/>
                <a:latin typeface="Arial"/>
              </a:defRPr>
            </a:lvl3pPr>
            <a:lvl4pPr lvl="3" algn="l">
              <a:spcBef>
                <a:spcPts val="567"/>
              </a:spcBef>
              <a:buClr>
                <a:srgbClr val="000000"/>
              </a:buClr>
              <a:buSzPct val="75000"/>
              <a:buFont typeface="Symbol" charset="2"/>
              <a:buChar char=""/>
              <a:defRPr lang="en-US" sz="1450" b="0" u="none" strike="noStrike">
                <a:solidFill>
                  <a:schemeClr val="dk1"/>
                </a:solidFill>
                <a:effectLst/>
                <a:uFillTx/>
                <a:latin typeface="Arial"/>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Arial"/>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Arial"/>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Arial"/>
              </a:defRPr>
            </a:lvl7pPr>
          </a:lstStyle>
          <a:p>
            <a:pPr marL="432000" indent="-324000" algn="l">
              <a:spcBef>
                <a:spcPts val="1417"/>
              </a:spcBef>
              <a:buClr>
                <a:srgbClr val="000000"/>
              </a:buClr>
              <a:buSzPct val="45000"/>
              <a:buFont typeface="Wingdings" charset="2"/>
              <a:buChar char=""/>
            </a:pPr>
            <a:r>
              <a:rPr lang="en-US" sz="1950" b="0" u="none" strike="noStrike">
                <a:solidFill>
                  <a:schemeClr val="dk1"/>
                </a:solidFill>
                <a:effectLst/>
                <a:uFillTx/>
                <a:latin typeface="Arial"/>
              </a:rPr>
              <a:t>Click to edit the outline text format</a:t>
            </a:r>
            <a:endParaRPr lang="en-US" sz="1950" b="0" u="none" strike="noStrike">
              <a:solidFill>
                <a:schemeClr val="dk1"/>
              </a:solidFill>
              <a:effectLst/>
              <a:uFillTx/>
              <a:latin typeface="Arial"/>
            </a:endParaRPr>
          </a:p>
          <a:p>
            <a:pPr marL="864000" lvl="1" indent="-324000" algn="l">
              <a:spcBef>
                <a:spcPts val="1134"/>
              </a:spcBef>
              <a:buClr>
                <a:srgbClr val="000000"/>
              </a:buClr>
              <a:buSzPct val="75000"/>
              <a:buFont typeface="Symbol" charset="2"/>
              <a:buChar char=""/>
            </a:pPr>
            <a:r>
              <a:rPr lang="en-US" sz="1700" b="0" u="none" strike="noStrike">
                <a:solidFill>
                  <a:schemeClr val="dk1"/>
                </a:solidFill>
                <a:effectLst/>
                <a:uFillTx/>
                <a:latin typeface="Arial"/>
              </a:rPr>
              <a:t>Second Outline Level</a:t>
            </a:r>
            <a:endParaRPr lang="en-US" sz="1700" b="0" u="none" strike="noStrike">
              <a:solidFill>
                <a:schemeClr val="dk1"/>
              </a:solidFill>
              <a:effectLst/>
              <a:uFillTx/>
              <a:latin typeface="Arial"/>
            </a:endParaRPr>
          </a:p>
          <a:p>
            <a:pPr marL="1296000" lvl="2" indent="-288000" algn="l">
              <a:spcBef>
                <a:spcPts val="850"/>
              </a:spcBef>
              <a:buClr>
                <a:srgbClr val="000000"/>
              </a:buClr>
              <a:buSzPct val="45000"/>
              <a:buFont typeface="Wingdings" charset="2"/>
              <a:buChar char=""/>
            </a:pPr>
            <a:r>
              <a:rPr lang="en-US" sz="1600" b="0" u="none" strike="noStrike">
                <a:solidFill>
                  <a:schemeClr val="dk1"/>
                </a:solidFill>
                <a:effectLst/>
                <a:uFillTx/>
                <a:latin typeface="Arial"/>
              </a:rPr>
              <a:t>Third Outline Level</a:t>
            </a:r>
            <a:endParaRPr lang="en-US" sz="1600" b="0" u="none" strike="noStrike">
              <a:solidFill>
                <a:schemeClr val="dk1"/>
              </a:solidFill>
              <a:effectLst/>
              <a:uFillTx/>
              <a:latin typeface="Arial"/>
            </a:endParaRPr>
          </a:p>
          <a:p>
            <a:pPr marL="1728000" lvl="3" indent="-216000" algn="l">
              <a:spcBef>
                <a:spcPts val="567"/>
              </a:spcBef>
              <a:buClr>
                <a:srgbClr val="000000"/>
              </a:buClr>
              <a:buSzPct val="75000"/>
              <a:buFont typeface="Symbol" charset="2"/>
              <a:buChar char=""/>
            </a:pPr>
            <a:r>
              <a:rPr lang="en-US" sz="1450" b="0" u="none" strike="noStrike">
                <a:solidFill>
                  <a:schemeClr val="dk1"/>
                </a:solidFill>
                <a:effectLst/>
                <a:uFillTx/>
                <a:latin typeface="Arial"/>
              </a:rPr>
              <a:t>Fourth Outline Level</a:t>
            </a:r>
            <a:endParaRPr lang="en-US" sz="1450" b="0" u="none" strike="noStrike">
              <a:solidFill>
                <a:schemeClr val="dk1"/>
              </a:solidFill>
              <a:effectLst/>
              <a:uFillTx/>
              <a:latin typeface="Arial"/>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Arial"/>
              </a:rPr>
              <a:t>Fifth Outline Level</a:t>
            </a:r>
            <a:endParaRPr lang="en-US" sz="2000" b="0" u="none" strike="noStrike">
              <a:solidFill>
                <a:schemeClr val="dk1"/>
              </a:solidFill>
              <a:effectLst/>
              <a:uFillTx/>
              <a:latin typeface="Arial"/>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Arial"/>
              </a:rPr>
              <a:t>Sixth Outline Level</a:t>
            </a:r>
            <a:endParaRPr lang="en-US" sz="2000" b="0" u="none" strike="noStrike">
              <a:solidFill>
                <a:schemeClr val="dk1"/>
              </a:solidFill>
              <a:effectLst/>
              <a:uFillTx/>
              <a:latin typeface="Arial"/>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Arial"/>
              </a:rPr>
              <a:t>Seventh Outline Level</a:t>
            </a:r>
            <a:endParaRPr lang="en-US" sz="2000" b="0" u="none" strike="noStrike">
              <a:solidFill>
                <a:schemeClr val="dk1"/>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slideLayout" Target="../slideLayouts/slideLayout1.xml"/><Relationship Id="rId8"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7.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slideLayout" Target="../slideLayouts/slideLayout1.xml"/><Relationship Id="rId6"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13" name="research-title"/>
          <p:cNvGrpSpPr/>
          <p:nvPr/>
        </p:nvGrpSpPr>
        <p:grpSpPr>
          <a:xfrm>
            <a:off x="590400" y="743040"/>
            <a:ext cx="6766200" cy="4163040"/>
            <a:chOff x="590400" y="743040"/>
            <a:chExt cx="6766200" cy="4163040"/>
          </a:xfrm>
        </p:grpSpPr>
        <p:sp>
          <p:nvSpPr>
            <p:cNvPr id="14" name="Rectangle 2"/>
            <p:cNvSpPr/>
            <p:nvPr/>
          </p:nvSpPr>
          <p:spPr>
            <a:xfrm>
              <a:off x="609480" y="743040"/>
              <a:ext cx="533160" cy="47160"/>
            </a:xfrm>
            <a:prstGeom prst="rect">
              <a:avLst/>
            </a:prstGeom>
            <a:solidFill>
              <a:schemeClr val="accent2"/>
            </a:solidFill>
            <a:ln w="0">
              <a:noFill/>
            </a:ln>
          </p:spPr>
          <p:style>
            <a:lnRef idx="0"/>
            <a:fillRef idx="0"/>
            <a:effectRef idx="0"/>
            <a:fontRef idx="minor"/>
          </p:style>
          <p:txBody>
            <a:bodyPr lIns="90000" tIns="2520" rIns="90000" bIns="2520" anchor="t">
              <a:noAutofit/>
            </a:bodyPr>
            <a:p>
              <a:pPr/>
              <a:endParaRPr lang="en-US" sz="1800" b="0" u="none" strike="noStrike">
                <a:solidFill>
                  <a:srgbClr val="FFFFFF"/>
                </a:solidFill>
                <a:effectLst/>
                <a:uFillTx/>
                <a:latin typeface="Arial"/>
              </a:endParaRPr>
            </a:p>
          </p:txBody>
        </p:sp>
        <p:sp>
          <p:nvSpPr>
            <p:cNvPr id="15" name="TextBox 3"/>
            <p:cNvSpPr/>
            <p:nvPr/>
          </p:nvSpPr>
          <p:spPr>
            <a:xfrm>
              <a:off x="601200" y="996840"/>
              <a:ext cx="244872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endParaRPr lang="en-US" sz="1800" b="0" u="none" strike="noStrike">
                <a:solidFill>
                  <a:srgbClr val="000000"/>
                </a:solidFill>
                <a:effectLst/>
                <a:uFillTx/>
                <a:latin typeface="Arial"/>
              </a:endParaRPr>
            </a:p>
          </p:txBody>
        </p:sp>
        <p:sp>
          <p:nvSpPr>
            <p:cNvPr id="16" name="TextBox 4"/>
            <p:cNvSpPr/>
            <p:nvPr/>
          </p:nvSpPr>
          <p:spPr>
            <a:xfrm>
              <a:off x="590400" y="1692360"/>
              <a:ext cx="6766200" cy="6706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4400" b="1" u="none" strike="noStrike">
                  <a:solidFill>
                    <a:srgbClr val="13243A"/>
                  </a:solidFill>
                  <a:effectLst/>
                  <a:uFillTx/>
                  <a:latin typeface="Arial"/>
                  <a:ea typeface="Microsoft YaHei"/>
                </a:rPr>
                <a:t>AI for Shape Design</a:t>
              </a:r>
              <a:endParaRPr lang="en-US" sz="4400" b="0" u="none" strike="noStrike">
                <a:solidFill>
                  <a:srgbClr val="000000"/>
                </a:solidFill>
                <a:effectLst/>
                <a:uFillTx/>
                <a:latin typeface="Arial"/>
              </a:endParaRPr>
            </a:p>
          </p:txBody>
        </p:sp>
        <p:sp>
          <p:nvSpPr>
            <p:cNvPr id="17" name="TextBox 5"/>
            <p:cNvSpPr/>
            <p:nvPr/>
          </p:nvSpPr>
          <p:spPr>
            <a:xfrm>
              <a:off x="597240" y="3022560"/>
              <a:ext cx="4951800" cy="926280"/>
            </a:xfrm>
            <a:prstGeom prst="rect">
              <a:avLst/>
            </a:prstGeom>
            <a:noFill/>
            <a:ln w="0">
              <a:noFill/>
            </a:ln>
          </p:spPr>
          <p:style>
            <a:lnRef idx="0"/>
            <a:fillRef idx="0"/>
            <a:effectRef idx="0"/>
            <a:fontRef idx="minor"/>
          </p:style>
          <p:txBody>
            <a:bodyPr wrap="none" lIns="0" tIns="0" rIns="0" bIns="0" anchor="t">
              <a:spAutoFit/>
            </a:bodyPr>
            <a:p>
              <a:pPr defTabSz="457200">
                <a:lnSpc>
                  <a:spcPts val="3600"/>
                </a:lnSpc>
              </a:pPr>
              <a:r>
                <a:rPr lang="en-US" sz="2400" b="0" u="none" strike="noStrike">
                  <a:solidFill>
                    <a:srgbClr val="24364C"/>
                  </a:solidFill>
                  <a:effectLst/>
                  <a:uFillTx/>
                  <a:latin typeface="Arial"/>
                  <a:ea typeface="Microsoft YaHei"/>
                </a:rPr>
                <a:t>Knowledge and tools join the task</a:t>
              </a:r>
              <a:br>
                <a:rPr sz="2400"/>
              </a:br>
              <a:r>
                <a:rPr lang="en-US" sz="2400" b="0" u="none" strike="noStrike">
                  <a:solidFill>
                    <a:srgbClr val="24364C"/>
                  </a:solidFill>
                  <a:effectLst/>
                  <a:uFillTx/>
                  <a:latin typeface="Arial"/>
                  <a:ea typeface="Microsoft YaHei"/>
                </a:rPr>
                <a:t>Review and write-back in every loop</a:t>
              </a:r>
              <a:endParaRPr lang="en-US" sz="2400" b="0" u="none" strike="noStrike">
                <a:solidFill>
                  <a:srgbClr val="000000"/>
                </a:solidFill>
                <a:effectLst/>
                <a:uFillTx/>
                <a:latin typeface="Arial"/>
              </a:endParaRPr>
            </a:p>
          </p:txBody>
        </p:sp>
        <p:sp>
          <p:nvSpPr>
            <p:cNvPr id="18" name="TextBox 6"/>
            <p:cNvSpPr/>
            <p:nvPr/>
          </p:nvSpPr>
          <p:spPr>
            <a:xfrm>
              <a:off x="599760" y="4168800"/>
              <a:ext cx="538596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endParaRPr lang="en-US" sz="1800" b="0" u="none" strike="noStrike">
                <a:solidFill>
                  <a:srgbClr val="000000"/>
                </a:solidFill>
                <a:effectLst/>
                <a:uFillTx/>
                <a:latin typeface="Arial"/>
              </a:endParaRPr>
            </a:p>
          </p:txBody>
        </p:sp>
        <p:sp>
          <p:nvSpPr>
            <p:cNvPr id="19" name="TextBox 7"/>
            <p:cNvSpPr/>
            <p:nvPr/>
          </p:nvSpPr>
          <p:spPr>
            <a:xfrm>
              <a:off x="601200" y="4654440"/>
              <a:ext cx="5873040" cy="25164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endParaRPr lang="en-US" sz="1800" b="0" u="none" strike="noStrike">
                <a:solidFill>
                  <a:srgbClr val="000000"/>
                </a:solidFill>
                <a:effectLst/>
                <a:uFillTx/>
                <a:latin typeface="Arial"/>
              </a:endParaRPr>
            </a:p>
          </p:txBody>
        </p:sp>
      </p:grpSp>
      <p:grpSp>
        <p:nvGrpSpPr>
          <p:cNvPr id="20" name="capability-loop"/>
          <p:cNvGrpSpPr/>
          <p:nvPr/>
        </p:nvGrpSpPr>
        <p:grpSpPr>
          <a:xfrm>
            <a:off x="7915320" y="1324080"/>
            <a:ext cx="3580920" cy="3961800"/>
            <a:chOff x="7915320" y="1324080"/>
            <a:chExt cx="3580920" cy="3961800"/>
          </a:xfrm>
        </p:grpSpPr>
        <p:sp>
          <p:nvSpPr>
            <p:cNvPr id="21" name="Line 9"/>
            <p:cNvSpPr/>
            <p:nvPr/>
          </p:nvSpPr>
          <p:spPr>
            <a:xfrm>
              <a:off x="9524880" y="2295360"/>
              <a:ext cx="1276200" cy="809640"/>
            </a:xfrm>
            <a:prstGeom prst="line">
              <a:avLst/>
            </a:prstGeom>
            <a:ln w="19050">
              <a:solidFill>
                <a:srgbClr val="C5CEDB"/>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22" name="Line 10"/>
            <p:cNvSpPr/>
            <p:nvPr/>
          </p:nvSpPr>
          <p:spPr>
            <a:xfrm flipH="1">
              <a:off x="9524880" y="3504960"/>
              <a:ext cx="1276200" cy="809640"/>
            </a:xfrm>
            <a:prstGeom prst="line">
              <a:avLst/>
            </a:prstGeom>
            <a:ln w="19050">
              <a:solidFill>
                <a:srgbClr val="C5CEDB"/>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23" name="Line 11"/>
            <p:cNvSpPr/>
            <p:nvPr/>
          </p:nvSpPr>
          <p:spPr>
            <a:xfrm flipH="1" flipV="1">
              <a:off x="8258040" y="3504960"/>
              <a:ext cx="866880" cy="809640"/>
            </a:xfrm>
            <a:prstGeom prst="line">
              <a:avLst/>
            </a:prstGeom>
            <a:ln w="19050">
              <a:solidFill>
                <a:srgbClr val="C5CEDB"/>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24" name="Line 12"/>
            <p:cNvSpPr/>
            <p:nvPr/>
          </p:nvSpPr>
          <p:spPr>
            <a:xfrm flipV="1">
              <a:off x="8258040" y="2295360"/>
              <a:ext cx="866880" cy="809640"/>
            </a:xfrm>
            <a:prstGeom prst="line">
              <a:avLst/>
            </a:prstGeom>
            <a:ln w="19050">
              <a:solidFill>
                <a:srgbClr val="C5CEDB"/>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25" name="Ellipse 13"/>
            <p:cNvSpPr/>
            <p:nvPr/>
          </p:nvSpPr>
          <p:spPr>
            <a:xfrm>
              <a:off x="8744040" y="1324080"/>
              <a:ext cx="1161720" cy="1161720"/>
            </a:xfrm>
            <a:prstGeom prst="ellipse">
              <a:avLst/>
            </a:prstGeom>
            <a:solidFill>
              <a:schemeClr val="accent2"/>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6" name="TextBox 14"/>
            <p:cNvSpPr/>
            <p:nvPr/>
          </p:nvSpPr>
          <p:spPr>
            <a:xfrm>
              <a:off x="8780400" y="1616040"/>
              <a:ext cx="1089000" cy="380880"/>
            </a:xfrm>
            <a:prstGeom prst="rect">
              <a:avLst/>
            </a:prstGeom>
            <a:noFill/>
            <a:ln w="0">
              <a:noFill/>
            </a:ln>
          </p:spPr>
          <p:style>
            <a:lnRef idx="0"/>
            <a:fillRef idx="0"/>
            <a:effectRef idx="0"/>
            <a:fontRef idx="minor"/>
          </p:style>
          <p:txBody>
            <a:bodyPr wrap="none" lIns="0" tIns="0" rIns="0" bIns="0" anchor="t">
              <a:spAutoFit/>
            </a:bodyPr>
            <a:p>
              <a:pPr algn="ctr" defTabSz="457200">
                <a:lnSpc>
                  <a:spcPct val="100000"/>
                </a:lnSpc>
              </a:pPr>
              <a:r>
                <a:rPr lang="en-US" sz="1500" b="1" u="none" strike="noStrike">
                  <a:solidFill>
                    <a:srgbClr val="FFFFFF"/>
                  </a:solidFill>
                  <a:effectLst/>
                  <a:uFillTx/>
                  <a:latin typeface="Arial"/>
                  <a:ea typeface="Microsoft YaHei"/>
                </a:rPr>
                <a:t>Knowledge</a:t>
              </a:r>
              <a:endParaRPr lang="en-US" sz="1500" b="0" u="none" strike="noStrike">
                <a:solidFill>
                  <a:srgbClr val="000000"/>
                </a:solidFill>
                <a:effectLst/>
                <a:uFillTx/>
                <a:latin typeface="Arial"/>
              </a:endParaRPr>
            </a:p>
          </p:txBody>
        </p:sp>
        <p:sp>
          <p:nvSpPr>
            <p:cNvPr id="27" name="TextBox 15"/>
            <p:cNvSpPr/>
            <p:nvPr/>
          </p:nvSpPr>
          <p:spPr>
            <a:xfrm>
              <a:off x="8839080" y="1978200"/>
              <a:ext cx="971280" cy="263520"/>
            </a:xfrm>
            <a:prstGeom prst="rect">
              <a:avLst/>
            </a:prstGeom>
            <a:noFill/>
            <a:ln w="0">
              <a:noFill/>
            </a:ln>
          </p:spPr>
          <p:style>
            <a:lnRef idx="0"/>
            <a:fillRef idx="0"/>
            <a:effectRef idx="0"/>
            <a:fontRef idx="minor"/>
          </p:style>
          <p:txBody>
            <a:bodyPr wrap="none" lIns="0" tIns="0" rIns="0" bIns="0" anchor="t">
              <a:spAutoFit/>
            </a:bodyPr>
            <a:p>
              <a:pPr algn="ctr" defTabSz="457200">
                <a:lnSpc>
                  <a:spcPct val="100000"/>
                </a:lnSpc>
              </a:pPr>
              <a:r>
                <a:rPr lang="en-US" sz="1200" b="0" u="none" strike="noStrike">
                  <a:solidFill>
                    <a:srgbClr val="FFFFFF"/>
                  </a:solidFill>
                  <a:effectLst/>
                  <a:uFillTx/>
                  <a:latin typeface="Arial"/>
                  <a:ea typeface="Microsoft YaHei"/>
                </a:rPr>
                <a:t>find evidence</a:t>
              </a:r>
              <a:endParaRPr lang="en-US" sz="1200" b="0" u="none" strike="noStrike">
                <a:solidFill>
                  <a:srgbClr val="000000"/>
                </a:solidFill>
                <a:effectLst/>
                <a:uFillTx/>
                <a:latin typeface="Arial"/>
              </a:endParaRPr>
            </a:p>
          </p:txBody>
        </p:sp>
        <p:sp>
          <p:nvSpPr>
            <p:cNvPr id="28" name="Ellipse 16"/>
            <p:cNvSpPr/>
            <p:nvPr/>
          </p:nvSpPr>
          <p:spPr>
            <a:xfrm>
              <a:off x="10334520" y="2724120"/>
              <a:ext cx="1161720" cy="1161720"/>
            </a:xfrm>
            <a:prstGeom prst="ellipse">
              <a:avLst/>
            </a:prstGeom>
            <a:solidFill>
              <a:schemeClr val="accent6"/>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9" name="TextBox 17"/>
            <p:cNvSpPr/>
            <p:nvPr/>
          </p:nvSpPr>
          <p:spPr>
            <a:xfrm>
              <a:off x="10465920" y="3016080"/>
              <a:ext cx="898920" cy="380880"/>
            </a:xfrm>
            <a:prstGeom prst="rect">
              <a:avLst/>
            </a:prstGeom>
            <a:noFill/>
            <a:ln w="0">
              <a:noFill/>
            </a:ln>
          </p:spPr>
          <p:style>
            <a:lnRef idx="0"/>
            <a:fillRef idx="0"/>
            <a:effectRef idx="0"/>
            <a:fontRef idx="minor"/>
          </p:style>
          <p:txBody>
            <a:bodyPr wrap="none" lIns="0" tIns="0" rIns="0" bIns="0" anchor="t">
              <a:spAutoFit/>
            </a:bodyPr>
            <a:p>
              <a:pPr algn="ctr" defTabSz="457200">
                <a:lnSpc>
                  <a:spcPct val="100000"/>
                </a:lnSpc>
              </a:pPr>
              <a:r>
                <a:rPr lang="en-US" sz="1500" b="1" u="none" strike="noStrike">
                  <a:solidFill>
                    <a:srgbClr val="FFFFFF"/>
                  </a:solidFill>
                  <a:effectLst/>
                  <a:uFillTx/>
                  <a:latin typeface="Arial"/>
                  <a:ea typeface="Microsoft YaHei"/>
                </a:rPr>
                <a:t>Generate</a:t>
              </a:r>
              <a:endParaRPr lang="en-US" sz="1500" b="0" u="none" strike="noStrike">
                <a:solidFill>
                  <a:srgbClr val="000000"/>
                </a:solidFill>
                <a:effectLst/>
                <a:uFillTx/>
                <a:latin typeface="Arial"/>
              </a:endParaRPr>
            </a:p>
          </p:txBody>
        </p:sp>
        <p:sp>
          <p:nvSpPr>
            <p:cNvPr id="30" name="TextBox 18"/>
            <p:cNvSpPr/>
            <p:nvPr/>
          </p:nvSpPr>
          <p:spPr>
            <a:xfrm>
              <a:off x="10425600" y="3378240"/>
              <a:ext cx="979560" cy="263520"/>
            </a:xfrm>
            <a:prstGeom prst="rect">
              <a:avLst/>
            </a:prstGeom>
            <a:noFill/>
            <a:ln w="0">
              <a:noFill/>
            </a:ln>
          </p:spPr>
          <p:style>
            <a:lnRef idx="0"/>
            <a:fillRef idx="0"/>
            <a:effectRef idx="0"/>
            <a:fontRef idx="minor"/>
          </p:style>
          <p:txBody>
            <a:bodyPr wrap="none" lIns="0" tIns="0" rIns="0" bIns="0" anchor="t">
              <a:spAutoFit/>
            </a:bodyPr>
            <a:p>
              <a:pPr algn="ctr" defTabSz="457200">
                <a:lnSpc>
                  <a:spcPct val="100000"/>
                </a:lnSpc>
              </a:pPr>
              <a:r>
                <a:rPr lang="en-US" sz="1200" b="0" u="none" strike="noStrike">
                  <a:solidFill>
                    <a:srgbClr val="FFFFFF"/>
                  </a:solidFill>
                  <a:effectLst/>
                  <a:uFillTx/>
                  <a:latin typeface="Arial"/>
                  <a:ea typeface="Microsoft YaHei"/>
                </a:rPr>
                <a:t>explore ideas</a:t>
              </a:r>
              <a:endParaRPr lang="en-US" sz="1200" b="0" u="none" strike="noStrike">
                <a:solidFill>
                  <a:srgbClr val="000000"/>
                </a:solidFill>
                <a:effectLst/>
                <a:uFillTx/>
                <a:latin typeface="Arial"/>
              </a:endParaRPr>
            </a:p>
          </p:txBody>
        </p:sp>
        <p:sp>
          <p:nvSpPr>
            <p:cNvPr id="31" name="Ellipse 19"/>
            <p:cNvSpPr/>
            <p:nvPr/>
          </p:nvSpPr>
          <p:spPr>
            <a:xfrm>
              <a:off x="8744040" y="4124160"/>
              <a:ext cx="1161720" cy="1161720"/>
            </a:xfrm>
            <a:prstGeom prst="ellipse">
              <a:avLst/>
            </a:prstGeom>
            <a:solidFill>
              <a:srgbClr val="069B8A"/>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2" name="TextBox 20"/>
            <p:cNvSpPr/>
            <p:nvPr/>
          </p:nvSpPr>
          <p:spPr>
            <a:xfrm>
              <a:off x="8922960" y="4416480"/>
              <a:ext cx="803520" cy="380880"/>
            </a:xfrm>
            <a:prstGeom prst="rect">
              <a:avLst/>
            </a:prstGeom>
            <a:noFill/>
            <a:ln w="0">
              <a:noFill/>
            </a:ln>
          </p:spPr>
          <p:style>
            <a:lnRef idx="0"/>
            <a:fillRef idx="0"/>
            <a:effectRef idx="0"/>
            <a:fontRef idx="minor"/>
          </p:style>
          <p:txBody>
            <a:bodyPr wrap="none" lIns="0" tIns="0" rIns="0" bIns="0" anchor="t">
              <a:spAutoFit/>
            </a:bodyPr>
            <a:p>
              <a:pPr algn="ctr" defTabSz="457200">
                <a:lnSpc>
                  <a:spcPct val="100000"/>
                </a:lnSpc>
              </a:pPr>
              <a:r>
                <a:rPr lang="en-US" sz="1500" b="1" u="none" strike="noStrike">
                  <a:solidFill>
                    <a:srgbClr val="FFFFFF"/>
                  </a:solidFill>
                  <a:effectLst/>
                  <a:uFillTx/>
                  <a:latin typeface="Arial"/>
                  <a:ea typeface="Microsoft YaHei"/>
                </a:rPr>
                <a:t>Execute</a:t>
              </a:r>
              <a:endParaRPr lang="en-US" sz="1500" b="0" u="none" strike="noStrike">
                <a:solidFill>
                  <a:srgbClr val="000000"/>
                </a:solidFill>
                <a:effectLst/>
                <a:uFillTx/>
                <a:latin typeface="Arial"/>
              </a:endParaRPr>
            </a:p>
          </p:txBody>
        </p:sp>
        <p:sp>
          <p:nvSpPr>
            <p:cNvPr id="33" name="TextBox 21"/>
            <p:cNvSpPr/>
            <p:nvPr/>
          </p:nvSpPr>
          <p:spPr>
            <a:xfrm>
              <a:off x="8847720" y="4778280"/>
              <a:ext cx="954360" cy="263520"/>
            </a:xfrm>
            <a:prstGeom prst="rect">
              <a:avLst/>
            </a:prstGeom>
            <a:noFill/>
            <a:ln w="0">
              <a:noFill/>
            </a:ln>
          </p:spPr>
          <p:style>
            <a:lnRef idx="0"/>
            <a:fillRef idx="0"/>
            <a:effectRef idx="0"/>
            <a:fontRef idx="minor"/>
          </p:style>
          <p:txBody>
            <a:bodyPr wrap="none" lIns="0" tIns="0" rIns="0" bIns="0" anchor="t">
              <a:spAutoFit/>
            </a:bodyPr>
            <a:p>
              <a:pPr algn="ctr" defTabSz="457200">
                <a:lnSpc>
                  <a:spcPct val="100000"/>
                </a:lnSpc>
              </a:pPr>
              <a:r>
                <a:rPr lang="en-US" sz="1200" b="0" u="none" strike="noStrike">
                  <a:solidFill>
                    <a:srgbClr val="FFFFFF"/>
                  </a:solidFill>
                  <a:effectLst/>
                  <a:uFillTx/>
                  <a:latin typeface="Arial"/>
                  <a:ea typeface="Microsoft YaHei"/>
                </a:rPr>
                <a:t>operate tools</a:t>
              </a:r>
              <a:endParaRPr lang="en-US" sz="1200" b="0" u="none" strike="noStrike">
                <a:solidFill>
                  <a:srgbClr val="000000"/>
                </a:solidFill>
                <a:effectLst/>
                <a:uFillTx/>
                <a:latin typeface="Arial"/>
              </a:endParaRPr>
            </a:p>
          </p:txBody>
        </p:sp>
        <p:sp>
          <p:nvSpPr>
            <p:cNvPr id="34" name="Ellipse 22"/>
            <p:cNvSpPr/>
            <p:nvPr/>
          </p:nvSpPr>
          <p:spPr>
            <a:xfrm>
              <a:off x="7915320" y="2724120"/>
              <a:ext cx="1161720" cy="1161720"/>
            </a:xfrm>
            <a:prstGeom prst="ellipse">
              <a:avLst/>
            </a:prstGeom>
            <a:solidFill>
              <a:srgbClr val="D98D2B"/>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5" name="TextBox 23"/>
            <p:cNvSpPr/>
            <p:nvPr/>
          </p:nvSpPr>
          <p:spPr>
            <a:xfrm>
              <a:off x="8131320" y="3016080"/>
              <a:ext cx="729360" cy="380880"/>
            </a:xfrm>
            <a:prstGeom prst="rect">
              <a:avLst/>
            </a:prstGeom>
            <a:noFill/>
            <a:ln w="0">
              <a:noFill/>
            </a:ln>
          </p:spPr>
          <p:style>
            <a:lnRef idx="0"/>
            <a:fillRef idx="0"/>
            <a:effectRef idx="0"/>
            <a:fontRef idx="minor"/>
          </p:style>
          <p:txBody>
            <a:bodyPr wrap="none" lIns="0" tIns="0" rIns="0" bIns="0" anchor="t">
              <a:spAutoFit/>
            </a:bodyPr>
            <a:p>
              <a:pPr algn="ctr" defTabSz="457200">
                <a:lnSpc>
                  <a:spcPct val="100000"/>
                </a:lnSpc>
              </a:pPr>
              <a:r>
                <a:rPr lang="en-US" sz="1500" b="1" u="none" strike="noStrike">
                  <a:solidFill>
                    <a:srgbClr val="FFFFFF"/>
                  </a:solidFill>
                  <a:effectLst/>
                  <a:uFillTx/>
                  <a:latin typeface="Arial"/>
                  <a:ea typeface="Microsoft YaHei"/>
                </a:rPr>
                <a:t>Review</a:t>
              </a:r>
              <a:endParaRPr lang="en-US" sz="1500" b="0" u="none" strike="noStrike">
                <a:solidFill>
                  <a:srgbClr val="000000"/>
                </a:solidFill>
                <a:effectLst/>
                <a:uFillTx/>
                <a:latin typeface="Arial"/>
              </a:endParaRPr>
            </a:p>
          </p:txBody>
        </p:sp>
        <p:sp>
          <p:nvSpPr>
            <p:cNvPr id="36" name="TextBox 24"/>
            <p:cNvSpPr/>
            <p:nvPr/>
          </p:nvSpPr>
          <p:spPr>
            <a:xfrm>
              <a:off x="7964280" y="3378240"/>
              <a:ext cx="1064160" cy="263520"/>
            </a:xfrm>
            <a:prstGeom prst="rect">
              <a:avLst/>
            </a:prstGeom>
            <a:noFill/>
            <a:ln w="0">
              <a:noFill/>
            </a:ln>
          </p:spPr>
          <p:style>
            <a:lnRef idx="0"/>
            <a:fillRef idx="0"/>
            <a:effectRef idx="0"/>
            <a:fontRef idx="minor"/>
          </p:style>
          <p:txBody>
            <a:bodyPr wrap="none" lIns="0" tIns="0" rIns="0" bIns="0" anchor="t">
              <a:spAutoFit/>
            </a:bodyPr>
            <a:p>
              <a:pPr algn="ctr" defTabSz="457200">
                <a:lnSpc>
                  <a:spcPct val="100000"/>
                </a:lnSpc>
              </a:pPr>
              <a:r>
                <a:rPr lang="en-US" sz="1200" b="0" u="none" strike="noStrike">
                  <a:solidFill>
                    <a:srgbClr val="FFFFFF"/>
                  </a:solidFill>
                  <a:effectLst/>
                  <a:uFillTx/>
                  <a:latin typeface="Arial"/>
                  <a:ea typeface="Microsoft YaHei"/>
                </a:rPr>
                <a:t>record lessons</a:t>
              </a:r>
              <a:endParaRPr lang="en-US" sz="1200" b="0" u="none" strike="noStrike">
                <a:solidFill>
                  <a:srgbClr val="000000"/>
                </a:solidFill>
                <a:effectLst/>
                <a:uFillTx/>
                <a:latin typeface="Arial"/>
              </a:endParaRPr>
            </a:p>
          </p:txBody>
        </p:sp>
      </p:grpSp>
      <p:sp>
        <p:nvSpPr>
          <p:cNvPr id="37" name="Line 26"/>
          <p:cNvSpPr/>
          <p:nvPr/>
        </p:nvSpPr>
        <p:spPr>
          <a:xfrm>
            <a:off x="609480" y="6048360"/>
            <a:ext cx="10972440" cy="9000"/>
          </a:xfrm>
          <a:custGeom>
            <a:avLst/>
            <a:gdLst>
              <a:gd name="textAreaLeft" fmla="*/ 0 w 10972440"/>
              <a:gd name="textAreaRight" fmla="*/ 10972800 w 10972440"/>
              <a:gd name="textAreaTop" fmla="*/ 0 h 9000"/>
              <a:gd name="textAreaBottom" fmla="*/ 9360 h 9000"/>
            </a:gdLst>
            <a:ahLst/>
            <a:cxnLst/>
            <a:rect l="textAreaLeft" t="textAreaTop" r="textAreaRight" b="textAreaBottom"/>
            <a:pathLst>
              <a:path w="10972800" h="9525">
                <a:moveTo>
                  <a:pt x="0" y="0"/>
                </a:moveTo>
                <a:lnTo>
                  <a:pt x="10972800" y="0"/>
                </a:lnTo>
              </a:path>
            </a:pathLst>
          </a:custGeom>
          <a:noFill/>
          <a:ln w="9525">
            <a:solidFill>
              <a:srgbClr val="DCE3EF"/>
            </a:solidFill>
            <a:round/>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
        <p:nvSpPr>
          <p:cNvPr id="38" name="footer-label"/>
          <p:cNvSpPr/>
          <p:nvPr/>
        </p:nvSpPr>
        <p:spPr>
          <a:xfrm>
            <a:off x="602640" y="6388200"/>
            <a:ext cx="451368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Focus: AI participation, process iteration, and lesson reuse</a:t>
            </a:r>
            <a:endParaRPr lang="en-US" sz="1350" b="0" u="none" strike="noStrike">
              <a:solidFill>
                <a:srgbClr val="000000"/>
              </a:solidFill>
              <a:effectLst/>
              <a:uFillTx/>
              <a:latin typeface="Arial"/>
            </a:endParaRPr>
          </a:p>
        </p:txBody>
      </p:sp>
      <p:sp>
        <p:nvSpPr>
          <p:cNvPr id="39" name="page-number"/>
          <p:cNvSpPr/>
          <p:nvPr/>
        </p:nvSpPr>
        <p:spPr>
          <a:xfrm>
            <a:off x="11325240" y="6388200"/>
            <a:ext cx="263520" cy="263520"/>
          </a:xfrm>
          <a:prstGeom prst="rect">
            <a:avLst/>
          </a:prstGeom>
          <a:noFill/>
          <a:ln w="0">
            <a:noFill/>
          </a:ln>
        </p:spPr>
        <p:style>
          <a:lnRef idx="0"/>
          <a:fillRef idx="0"/>
          <a:effectRef idx="0"/>
          <a:fontRef idx="minor"/>
        </p:style>
        <p:txBody>
          <a:bodyPr wrap="none" lIns="0" tIns="0" rIns="0" bIns="0" anchor="t" anchorCtr="1">
            <a:spAutoFit/>
          </a:bodyPr>
          <a:p>
            <a:pPr algn="r" defTabSz="457200">
              <a:lnSpc>
                <a:spcPct val="100000"/>
              </a:lnSpc>
            </a:pPr>
            <a:r>
              <a:rPr lang="en-US" sz="1350" b="0" u="none" strike="noStrike">
                <a:solidFill>
                  <a:srgbClr val="66758A"/>
                </a:solidFill>
                <a:effectLst/>
                <a:uFillTx/>
                <a:latin typeface="Arial"/>
                <a:ea typeface="Microsoft YaHei"/>
              </a:rPr>
              <a:t>01</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40" name="header"/>
          <p:cNvGrpSpPr/>
          <p:nvPr/>
        </p:nvGrpSpPr>
        <p:grpSpPr>
          <a:xfrm>
            <a:off x="478440" y="422280"/>
            <a:ext cx="8091000" cy="973080"/>
            <a:chOff x="478440" y="422280"/>
            <a:chExt cx="8091000" cy="973080"/>
          </a:xfrm>
        </p:grpSpPr>
        <p:sp>
          <p:nvSpPr>
            <p:cNvPr id="41" name="TextBox 2"/>
            <p:cNvSpPr/>
            <p:nvPr/>
          </p:nvSpPr>
          <p:spPr>
            <a:xfrm>
              <a:off x="478440" y="422280"/>
              <a:ext cx="8091000" cy="6451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3300" b="1" u="none" strike="noStrike">
                  <a:solidFill>
                    <a:schemeClr val="accent1"/>
                  </a:solidFill>
                  <a:effectLst/>
                  <a:uFillTx/>
                  <a:latin typeface="Arial"/>
                  <a:ea typeface="Microsoft YaHei"/>
                </a:rPr>
                <a:t>Research Questions on AI Collaboration</a:t>
              </a:r>
              <a:endParaRPr lang="en-US" sz="3300" b="0" u="none" strike="noStrike">
                <a:solidFill>
                  <a:srgbClr val="000000"/>
                </a:solidFill>
                <a:effectLst/>
                <a:uFillTx/>
                <a:latin typeface="Arial"/>
              </a:endParaRPr>
            </a:p>
          </p:txBody>
        </p:sp>
        <p:sp>
          <p:nvSpPr>
            <p:cNvPr id="42" name="TextBox 3"/>
            <p:cNvSpPr/>
            <p:nvPr/>
          </p:nvSpPr>
          <p:spPr>
            <a:xfrm>
              <a:off x="487080" y="1073160"/>
              <a:ext cx="742176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66758A"/>
                  </a:solidFill>
                  <a:effectLst/>
                  <a:uFillTx/>
                  <a:latin typeface="Arial"/>
                  <a:ea typeface="Microsoft YaHei"/>
                </a:rPr>
                <a:t>A continuous design task records AI participation, change feedback, and review results.</a:t>
              </a:r>
              <a:endParaRPr lang="en-US" sz="1500" b="0" u="none" strike="noStrike">
                <a:solidFill>
                  <a:srgbClr val="000000"/>
                </a:solidFill>
                <a:effectLst/>
                <a:uFillTx/>
                <a:latin typeface="Arial"/>
              </a:endParaRPr>
            </a:p>
          </p:txBody>
        </p:sp>
      </p:grpSp>
      <p:grpSp>
        <p:nvGrpSpPr>
          <p:cNvPr id="43" name="question"/>
          <p:cNvGrpSpPr/>
          <p:nvPr/>
        </p:nvGrpSpPr>
        <p:grpSpPr>
          <a:xfrm>
            <a:off x="483120" y="1860480"/>
            <a:ext cx="3783240" cy="4006800"/>
            <a:chOff x="483120" y="1860480"/>
            <a:chExt cx="3783240" cy="4006800"/>
          </a:xfrm>
        </p:grpSpPr>
        <p:sp>
          <p:nvSpPr>
            <p:cNvPr id="44" name="TextBox 5"/>
            <p:cNvSpPr/>
            <p:nvPr/>
          </p:nvSpPr>
          <p:spPr>
            <a:xfrm>
              <a:off x="483120" y="1860480"/>
              <a:ext cx="3781440" cy="4690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400" b="1" u="none" strike="noStrike">
                  <a:solidFill>
                    <a:schemeClr val="accent1"/>
                  </a:solidFill>
                  <a:effectLst/>
                  <a:uFillTx/>
                  <a:latin typeface="Arial"/>
                  <a:ea typeface="Microsoft YaHei"/>
                </a:rPr>
                <a:t>Four questions to answer</a:t>
              </a:r>
              <a:endParaRPr lang="en-US" sz="2400" b="0" u="none" strike="noStrike">
                <a:solidFill>
                  <a:srgbClr val="000000"/>
                </a:solidFill>
                <a:effectLst/>
                <a:uFillTx/>
                <a:latin typeface="Arial"/>
              </a:endParaRPr>
            </a:p>
          </p:txBody>
        </p:sp>
        <p:sp>
          <p:nvSpPr>
            <p:cNvPr id="45" name="TextBox 6"/>
            <p:cNvSpPr/>
            <p:nvPr/>
          </p:nvSpPr>
          <p:spPr>
            <a:xfrm>
              <a:off x="485280" y="2502000"/>
              <a:ext cx="278496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700" b="0" u="none" strike="noStrike">
                  <a:solidFill>
                    <a:schemeClr val="dk1"/>
                  </a:solidFill>
                  <a:effectLst/>
                  <a:uFillTx/>
                  <a:latin typeface="Arial"/>
                  <a:ea typeface="Microsoft YaHei"/>
                </a:rPr>
                <a:t>Is there traceable evidence?</a:t>
              </a:r>
              <a:endParaRPr lang="en-US" sz="1700" b="0" u="none" strike="noStrike">
                <a:solidFill>
                  <a:srgbClr val="000000"/>
                </a:solidFill>
                <a:effectLst/>
                <a:uFillTx/>
                <a:latin typeface="Arial"/>
              </a:endParaRPr>
            </a:p>
          </p:txBody>
        </p:sp>
        <p:sp>
          <p:nvSpPr>
            <p:cNvPr id="46" name="TextBox 7"/>
            <p:cNvSpPr/>
            <p:nvPr/>
          </p:nvSpPr>
          <p:spPr>
            <a:xfrm>
              <a:off x="485280" y="3044880"/>
              <a:ext cx="302508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700" b="0" u="none" strike="noStrike">
                  <a:solidFill>
                    <a:schemeClr val="dk1"/>
                  </a:solidFill>
                  <a:effectLst/>
                  <a:uFillTx/>
                  <a:latin typeface="Arial"/>
                  <a:ea typeface="Microsoft YaHei"/>
                </a:rPr>
                <a:t>Can it run real tool operations?</a:t>
              </a:r>
              <a:endParaRPr lang="en-US" sz="1700" b="0" u="none" strike="noStrike">
                <a:solidFill>
                  <a:srgbClr val="000000"/>
                </a:solidFill>
                <a:effectLst/>
                <a:uFillTx/>
                <a:latin typeface="Arial"/>
              </a:endParaRPr>
            </a:p>
          </p:txBody>
        </p:sp>
        <p:sp>
          <p:nvSpPr>
            <p:cNvPr id="47" name="TextBox 8"/>
            <p:cNvSpPr/>
            <p:nvPr/>
          </p:nvSpPr>
          <p:spPr>
            <a:xfrm>
              <a:off x="485280" y="3587760"/>
              <a:ext cx="325260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700" b="0" u="none" strike="noStrike">
                  <a:solidFill>
                    <a:schemeClr val="dk1"/>
                  </a:solidFill>
                  <a:effectLst/>
                  <a:uFillTx/>
                  <a:latin typeface="Arial"/>
                  <a:ea typeface="Microsoft YaHei"/>
                </a:rPr>
                <a:t>Can it locate errors and fix them?</a:t>
              </a:r>
              <a:endParaRPr lang="en-US" sz="1700" b="0" u="none" strike="noStrike">
                <a:solidFill>
                  <a:srgbClr val="000000"/>
                </a:solidFill>
                <a:effectLst/>
                <a:uFillTx/>
                <a:latin typeface="Arial"/>
              </a:endParaRPr>
            </a:p>
          </p:txBody>
        </p:sp>
        <p:sp>
          <p:nvSpPr>
            <p:cNvPr id="48" name="TextBox 9"/>
            <p:cNvSpPr/>
            <p:nvPr/>
          </p:nvSpPr>
          <p:spPr>
            <a:xfrm>
              <a:off x="485280" y="4130640"/>
              <a:ext cx="378108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700" b="0" u="none" strike="noStrike">
                  <a:solidFill>
                    <a:schemeClr val="dk1"/>
                  </a:solidFill>
                  <a:effectLst/>
                  <a:uFillTx/>
                  <a:latin typeface="Arial"/>
                  <a:ea typeface="Microsoft YaHei"/>
                </a:rPr>
                <a:t>Can the next round read past lessons?</a:t>
              </a:r>
              <a:endParaRPr lang="en-US" sz="1700" b="0" u="none" strike="noStrike">
                <a:solidFill>
                  <a:srgbClr val="000000"/>
                </a:solidFill>
                <a:effectLst/>
                <a:uFillTx/>
                <a:latin typeface="Arial"/>
              </a:endParaRPr>
            </a:p>
          </p:txBody>
        </p:sp>
        <p:sp>
          <p:nvSpPr>
            <p:cNvPr id="49" name="Rectangle 10"/>
            <p:cNvSpPr/>
            <p:nvPr/>
          </p:nvSpPr>
          <p:spPr>
            <a:xfrm>
              <a:off x="495360" y="4981680"/>
              <a:ext cx="3714480" cy="885600"/>
            </a:xfrm>
            <a:prstGeom prst="roundRect">
              <a:avLst>
                <a:gd name="adj" fmla="val 10753"/>
              </a:avLst>
            </a:prstGeom>
            <a:solidFill>
              <a:schemeClr val="accent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50" name="TextBox 11"/>
            <p:cNvSpPr/>
            <p:nvPr/>
          </p:nvSpPr>
          <p:spPr>
            <a:xfrm>
              <a:off x="705960" y="5121360"/>
              <a:ext cx="166104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FFFFFF"/>
                  </a:solidFill>
                  <a:effectLst/>
                  <a:uFillTx/>
                  <a:latin typeface="Arial"/>
                  <a:ea typeface="Microsoft YaHei"/>
                </a:rPr>
                <a:t>Unit of observation</a:t>
              </a:r>
              <a:endParaRPr lang="en-US" sz="1500" b="0" u="none" strike="noStrike">
                <a:solidFill>
                  <a:srgbClr val="000000"/>
                </a:solidFill>
                <a:effectLst/>
                <a:uFillTx/>
                <a:latin typeface="Arial"/>
              </a:endParaRPr>
            </a:p>
          </p:txBody>
        </p:sp>
        <p:sp>
          <p:nvSpPr>
            <p:cNvPr id="51" name="TextBox 12"/>
            <p:cNvSpPr/>
            <p:nvPr/>
          </p:nvSpPr>
          <p:spPr>
            <a:xfrm>
              <a:off x="704520" y="5416560"/>
              <a:ext cx="297684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700" b="1" u="none" strike="noStrike">
                  <a:solidFill>
                    <a:srgbClr val="FFFFFF"/>
                  </a:solidFill>
                  <a:effectLst/>
                  <a:uFillTx/>
                  <a:latin typeface="Arial"/>
                  <a:ea typeface="Microsoft YaHei"/>
                </a:rPr>
                <a:t>Feedback, changes, reviews</a:t>
              </a:r>
              <a:endParaRPr lang="en-US" sz="1700" b="0" u="none" strike="noStrike">
                <a:solidFill>
                  <a:srgbClr val="000000"/>
                </a:solidFill>
                <a:effectLst/>
                <a:uFillTx/>
                <a:latin typeface="Arial"/>
              </a:endParaRPr>
            </a:p>
          </p:txBody>
        </p:sp>
      </p:grpSp>
      <p:sp>
        <p:nvSpPr>
          <p:cNvPr id="52" name="Line 14"/>
          <p:cNvSpPr/>
          <p:nvPr/>
        </p:nvSpPr>
        <p:spPr>
          <a:xfrm>
            <a:off x="4524480" y="1752480"/>
            <a:ext cx="9000" cy="4200120"/>
          </a:xfrm>
          <a:custGeom>
            <a:avLst/>
            <a:gdLst>
              <a:gd name="textAreaLeft" fmla="*/ 0 w 9000"/>
              <a:gd name="textAreaRight" fmla="*/ 9360 w 9000"/>
              <a:gd name="textAreaTop" fmla="*/ 0 h 4200120"/>
              <a:gd name="textAreaBottom" fmla="*/ 4200480 h 4200120"/>
            </a:gdLst>
            <a:ahLst/>
            <a:cxnLst/>
            <a:rect l="textAreaLeft" t="textAreaTop" r="textAreaRight" b="textAreaBottom"/>
            <a:pathLst>
              <a:path w="9525" h="4200525">
                <a:moveTo>
                  <a:pt x="0" y="0"/>
                </a:moveTo>
                <a:lnTo>
                  <a:pt x="0" y="4200525"/>
                </a:lnTo>
              </a:path>
            </a:pathLst>
          </a:custGeom>
          <a:noFill/>
          <a:ln w="9525">
            <a:solidFill>
              <a:srgbClr val="DCE3EF"/>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grpSp>
        <p:nvGrpSpPr>
          <p:cNvPr id="53" name="study-design"/>
          <p:cNvGrpSpPr/>
          <p:nvPr/>
        </p:nvGrpSpPr>
        <p:grpSpPr>
          <a:xfrm>
            <a:off x="4883760" y="1755720"/>
            <a:ext cx="6851160" cy="4145040"/>
            <a:chOff x="4883760" y="1755720"/>
            <a:chExt cx="6851160" cy="4145040"/>
          </a:xfrm>
        </p:grpSpPr>
        <p:sp>
          <p:nvSpPr>
            <p:cNvPr id="54" name="TextBox 15"/>
            <p:cNvSpPr/>
            <p:nvPr/>
          </p:nvSpPr>
          <p:spPr>
            <a:xfrm>
              <a:off x="4883760" y="1755720"/>
              <a:ext cx="4086720" cy="4690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400" b="1" u="none" strike="noStrike">
                  <a:solidFill>
                    <a:schemeClr val="accent1"/>
                  </a:solidFill>
                  <a:effectLst/>
                  <a:uFillTx/>
                  <a:latin typeface="Arial"/>
                  <a:ea typeface="Microsoft YaHei"/>
                </a:rPr>
                <a:t>Methods and their evidence</a:t>
              </a:r>
              <a:endParaRPr lang="en-US" sz="2400" b="0" u="none" strike="noStrike">
                <a:solidFill>
                  <a:srgbClr val="000000"/>
                </a:solidFill>
                <a:effectLst/>
                <a:uFillTx/>
                <a:latin typeface="Arial"/>
              </a:endParaRPr>
            </a:p>
          </p:txBody>
        </p:sp>
        <p:sp>
          <p:nvSpPr>
            <p:cNvPr id="55" name="Ellipse 16"/>
            <p:cNvSpPr/>
            <p:nvPr/>
          </p:nvSpPr>
          <p:spPr>
            <a:xfrm>
              <a:off x="4915080" y="2438280"/>
              <a:ext cx="361440" cy="361440"/>
            </a:xfrm>
            <a:prstGeom prst="ellipse">
              <a:avLst/>
            </a:prstGeom>
            <a:solidFill>
              <a:schemeClr val="accent2"/>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56" name="TextBox 17"/>
            <p:cNvSpPr/>
            <p:nvPr/>
          </p:nvSpPr>
          <p:spPr>
            <a:xfrm>
              <a:off x="5466960" y="2473200"/>
              <a:ext cx="165600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700" b="1" u="none" strike="noStrike">
                  <a:solidFill>
                    <a:schemeClr val="accent1"/>
                  </a:solidFill>
                  <a:effectLst/>
                  <a:uFillTx/>
                  <a:latin typeface="Arial"/>
                  <a:ea typeface="Microsoft YaHei"/>
                </a:rPr>
                <a:t>Methods added</a:t>
              </a:r>
              <a:endParaRPr lang="en-US" sz="1700" b="0" u="none" strike="noStrike">
                <a:solidFill>
                  <a:srgbClr val="000000"/>
                </a:solidFill>
                <a:effectLst/>
                <a:uFillTx/>
                <a:latin typeface="Arial"/>
              </a:endParaRPr>
            </a:p>
          </p:txBody>
        </p:sp>
        <p:sp>
          <p:nvSpPr>
            <p:cNvPr id="57" name="TextBox 18"/>
            <p:cNvSpPr/>
            <p:nvPr/>
          </p:nvSpPr>
          <p:spPr>
            <a:xfrm>
              <a:off x="7468920" y="2511360"/>
              <a:ext cx="373644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chemeClr val="dk1"/>
                  </a:solidFill>
                  <a:effectLst/>
                  <a:uFillTx/>
                  <a:latin typeface="Arial"/>
                  <a:ea typeface="Microsoft YaHei"/>
                </a:rPr>
                <a:t>Knowledge retrieval, concept-first, tool links</a:t>
              </a:r>
              <a:endParaRPr lang="en-US" sz="1500" b="0" u="none" strike="noStrike">
                <a:solidFill>
                  <a:srgbClr val="000000"/>
                </a:solidFill>
                <a:effectLst/>
                <a:uFillTx/>
                <a:latin typeface="Arial"/>
              </a:endParaRPr>
            </a:p>
          </p:txBody>
        </p:sp>
        <p:sp>
          <p:nvSpPr>
            <p:cNvPr id="58" name="Line 19"/>
            <p:cNvSpPr/>
            <p:nvPr/>
          </p:nvSpPr>
          <p:spPr>
            <a:xfrm>
              <a:off x="5095800" y="2828880"/>
              <a:ext cx="9000" cy="352080"/>
            </a:xfrm>
            <a:custGeom>
              <a:avLst/>
              <a:gdLst>
                <a:gd name="textAreaLeft" fmla="*/ 0 w 9000"/>
                <a:gd name="textAreaRight" fmla="*/ 9360 w 9000"/>
                <a:gd name="textAreaTop" fmla="*/ 0 h 352080"/>
                <a:gd name="textAreaBottom" fmla="*/ 352440 h 352080"/>
              </a:gdLst>
              <a:ahLst/>
              <a:cxnLst/>
              <a:rect l="textAreaLeft" t="textAreaTop" r="textAreaRight" b="textAreaBottom"/>
              <a:pathLst>
                <a:path w="9525" h="352425">
                  <a:moveTo>
                    <a:pt x="0" y="0"/>
                  </a:moveTo>
                  <a:lnTo>
                    <a:pt x="0" y="352425"/>
                  </a:lnTo>
                </a:path>
              </a:pathLst>
            </a:custGeom>
            <a:noFill/>
            <a:ln w="28575">
              <a:solidFill>
                <a:srgbClr val="DCE3EF"/>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9" name="Ellipse 20"/>
            <p:cNvSpPr/>
            <p:nvPr/>
          </p:nvSpPr>
          <p:spPr>
            <a:xfrm>
              <a:off x="4915080" y="3209760"/>
              <a:ext cx="361440" cy="361440"/>
            </a:xfrm>
            <a:prstGeom prst="ellipse">
              <a:avLst/>
            </a:prstGeom>
            <a:solidFill>
              <a:schemeClr val="accent6"/>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60" name="TextBox 21"/>
            <p:cNvSpPr/>
            <p:nvPr/>
          </p:nvSpPr>
          <p:spPr>
            <a:xfrm>
              <a:off x="5466960" y="3244680"/>
              <a:ext cx="189684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700" b="1" u="none" strike="noStrike">
                  <a:solidFill>
                    <a:schemeClr val="accent1"/>
                  </a:solidFill>
                  <a:effectLst/>
                  <a:uFillTx/>
                  <a:latin typeface="Arial"/>
                  <a:ea typeface="Microsoft YaHei"/>
                </a:rPr>
                <a:t>Process evidence</a:t>
              </a:r>
              <a:endParaRPr lang="en-US" sz="1700" b="0" u="none" strike="noStrike">
                <a:solidFill>
                  <a:srgbClr val="000000"/>
                </a:solidFill>
                <a:effectLst/>
                <a:uFillTx/>
                <a:latin typeface="Arial"/>
              </a:endParaRPr>
            </a:p>
          </p:txBody>
        </p:sp>
        <p:sp>
          <p:nvSpPr>
            <p:cNvPr id="61" name="TextBox 22"/>
            <p:cNvSpPr/>
            <p:nvPr/>
          </p:nvSpPr>
          <p:spPr>
            <a:xfrm>
              <a:off x="7468920" y="3282840"/>
              <a:ext cx="367272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chemeClr val="dk1"/>
                  </a:solidFill>
                  <a:effectLst/>
                  <a:uFillTx/>
                  <a:latin typeface="Arial"/>
                  <a:ea typeface="Microsoft YaHei"/>
                </a:rPr>
                <a:t>History images, operation logs, rules, code</a:t>
              </a:r>
              <a:endParaRPr lang="en-US" sz="1500" b="0" u="none" strike="noStrike">
                <a:solidFill>
                  <a:srgbClr val="000000"/>
                </a:solidFill>
                <a:effectLst/>
                <a:uFillTx/>
                <a:latin typeface="Arial"/>
              </a:endParaRPr>
            </a:p>
          </p:txBody>
        </p:sp>
        <p:sp>
          <p:nvSpPr>
            <p:cNvPr id="62" name="Line 23"/>
            <p:cNvSpPr/>
            <p:nvPr/>
          </p:nvSpPr>
          <p:spPr>
            <a:xfrm>
              <a:off x="5095800" y="3600360"/>
              <a:ext cx="9000" cy="352080"/>
            </a:xfrm>
            <a:custGeom>
              <a:avLst/>
              <a:gdLst>
                <a:gd name="textAreaLeft" fmla="*/ 0 w 9000"/>
                <a:gd name="textAreaRight" fmla="*/ 9360 w 9000"/>
                <a:gd name="textAreaTop" fmla="*/ 0 h 352080"/>
                <a:gd name="textAreaBottom" fmla="*/ 352440 h 352080"/>
              </a:gdLst>
              <a:ahLst/>
              <a:cxnLst/>
              <a:rect l="textAreaLeft" t="textAreaTop" r="textAreaRight" b="textAreaBottom"/>
              <a:pathLst>
                <a:path w="9525" h="352425">
                  <a:moveTo>
                    <a:pt x="0" y="0"/>
                  </a:moveTo>
                  <a:lnTo>
                    <a:pt x="0" y="352425"/>
                  </a:lnTo>
                </a:path>
              </a:pathLst>
            </a:custGeom>
            <a:noFill/>
            <a:ln w="28575">
              <a:solidFill>
                <a:srgbClr val="DCE3EF"/>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63" name="Ellipse 24"/>
            <p:cNvSpPr/>
            <p:nvPr/>
          </p:nvSpPr>
          <p:spPr>
            <a:xfrm>
              <a:off x="4915080" y="3981600"/>
              <a:ext cx="361440" cy="361440"/>
            </a:xfrm>
            <a:prstGeom prst="ellipse">
              <a:avLst/>
            </a:prstGeom>
            <a:solidFill>
              <a:srgbClr val="069B8A"/>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64" name="TextBox 25"/>
            <p:cNvSpPr/>
            <p:nvPr/>
          </p:nvSpPr>
          <p:spPr>
            <a:xfrm>
              <a:off x="5466960" y="4016520"/>
              <a:ext cx="152460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700" b="1" u="none" strike="noStrike">
                  <a:solidFill>
                    <a:schemeClr val="accent1"/>
                  </a:solidFill>
                  <a:effectLst/>
                  <a:uFillTx/>
                  <a:latin typeface="Arial"/>
                  <a:ea typeface="Microsoft YaHei"/>
                </a:rPr>
                <a:t>Result checks</a:t>
              </a:r>
              <a:endParaRPr lang="en-US" sz="1700" b="0" u="none" strike="noStrike">
                <a:solidFill>
                  <a:srgbClr val="000000"/>
                </a:solidFill>
                <a:effectLst/>
                <a:uFillTx/>
                <a:latin typeface="Arial"/>
              </a:endParaRPr>
            </a:p>
          </p:txBody>
        </p:sp>
        <p:sp>
          <p:nvSpPr>
            <p:cNvPr id="65" name="TextBox 26"/>
            <p:cNvSpPr/>
            <p:nvPr/>
          </p:nvSpPr>
          <p:spPr>
            <a:xfrm>
              <a:off x="7468920" y="4054320"/>
              <a:ext cx="387432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chemeClr val="dk1"/>
                  </a:solidFill>
                  <a:effectLst/>
                  <a:uFillTx/>
                  <a:latin typeface="Arial"/>
                  <a:ea typeface="Microsoft YaHei"/>
                </a:rPr>
                <a:t>Save and reopen, shape checks, user review</a:t>
              </a:r>
              <a:endParaRPr lang="en-US" sz="1500" b="0" u="none" strike="noStrike">
                <a:solidFill>
                  <a:srgbClr val="000000"/>
                </a:solidFill>
                <a:effectLst/>
                <a:uFillTx/>
                <a:latin typeface="Arial"/>
              </a:endParaRPr>
            </a:p>
          </p:txBody>
        </p:sp>
        <p:sp>
          <p:nvSpPr>
            <p:cNvPr id="66" name="Line 27"/>
            <p:cNvSpPr/>
            <p:nvPr/>
          </p:nvSpPr>
          <p:spPr>
            <a:xfrm>
              <a:off x="5095800" y="4371840"/>
              <a:ext cx="9000" cy="352080"/>
            </a:xfrm>
            <a:custGeom>
              <a:avLst/>
              <a:gdLst>
                <a:gd name="textAreaLeft" fmla="*/ 0 w 9000"/>
                <a:gd name="textAreaRight" fmla="*/ 9360 w 9000"/>
                <a:gd name="textAreaTop" fmla="*/ 0 h 352080"/>
                <a:gd name="textAreaBottom" fmla="*/ 352440 h 352080"/>
              </a:gdLst>
              <a:ahLst/>
              <a:cxnLst/>
              <a:rect l="textAreaLeft" t="textAreaTop" r="textAreaRight" b="textAreaBottom"/>
              <a:pathLst>
                <a:path w="9525" h="352425">
                  <a:moveTo>
                    <a:pt x="0" y="0"/>
                  </a:moveTo>
                  <a:lnTo>
                    <a:pt x="0" y="352425"/>
                  </a:lnTo>
                </a:path>
              </a:pathLst>
            </a:custGeom>
            <a:noFill/>
            <a:ln w="28575">
              <a:solidFill>
                <a:srgbClr val="DCE3EF"/>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67" name="Ellipse 28"/>
            <p:cNvSpPr/>
            <p:nvPr/>
          </p:nvSpPr>
          <p:spPr>
            <a:xfrm>
              <a:off x="4915080" y="4753080"/>
              <a:ext cx="361440" cy="361440"/>
            </a:xfrm>
            <a:prstGeom prst="ellipse">
              <a:avLst/>
            </a:prstGeom>
            <a:solidFill>
              <a:srgbClr val="D98D2B"/>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68" name="TextBox 29"/>
            <p:cNvSpPr/>
            <p:nvPr/>
          </p:nvSpPr>
          <p:spPr>
            <a:xfrm>
              <a:off x="5466960" y="4788000"/>
              <a:ext cx="146448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700" b="1" u="none" strike="noStrike">
                  <a:solidFill>
                    <a:schemeClr val="accent1"/>
                  </a:solidFill>
                  <a:effectLst/>
                  <a:uFillTx/>
                  <a:latin typeface="Arial"/>
                  <a:ea typeface="Microsoft YaHei"/>
                </a:rPr>
                <a:t>Lesson reuse</a:t>
              </a:r>
              <a:endParaRPr lang="en-US" sz="1700" b="0" u="none" strike="noStrike">
                <a:solidFill>
                  <a:srgbClr val="000000"/>
                </a:solidFill>
                <a:effectLst/>
                <a:uFillTx/>
                <a:latin typeface="Arial"/>
              </a:endParaRPr>
            </a:p>
          </p:txBody>
        </p:sp>
        <p:sp>
          <p:nvSpPr>
            <p:cNvPr id="69" name="TextBox 30"/>
            <p:cNvSpPr/>
            <p:nvPr/>
          </p:nvSpPr>
          <p:spPr>
            <a:xfrm>
              <a:off x="7468920" y="4826160"/>
              <a:ext cx="426600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chemeClr val="dk1"/>
                  </a:solidFill>
                  <a:effectLst/>
                  <a:uFillTx/>
                  <a:latin typeface="Arial"/>
                  <a:ea typeface="Microsoft YaHei"/>
                </a:rPr>
                <a:t>Update workflow and entries, then regression-test</a:t>
              </a:r>
              <a:endParaRPr lang="en-US" sz="1500" b="0" u="none" strike="noStrike">
                <a:solidFill>
                  <a:srgbClr val="000000"/>
                </a:solidFill>
                <a:effectLst/>
                <a:uFillTx/>
                <a:latin typeface="Arial"/>
              </a:endParaRPr>
            </a:p>
          </p:txBody>
        </p:sp>
        <p:sp>
          <p:nvSpPr>
            <p:cNvPr id="70" name="TextBox 31"/>
            <p:cNvSpPr/>
            <p:nvPr/>
          </p:nvSpPr>
          <p:spPr>
            <a:xfrm>
              <a:off x="4887360" y="5578560"/>
              <a:ext cx="632736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66758A"/>
                  </a:solidFill>
                  <a:effectLst/>
                  <a:uFillTx/>
                  <a:latin typeface="Arial"/>
                  <a:ea typeface="Microsoft YaHei"/>
                </a:rPr>
                <a:t>Scope: one case. Controls, efficiency metrics, and wear tests are pending.</a:t>
              </a:r>
              <a:endParaRPr lang="en-US" sz="1500" b="0" u="none" strike="noStrike">
                <a:solidFill>
                  <a:srgbClr val="000000"/>
                </a:solidFill>
                <a:effectLst/>
                <a:uFillTx/>
                <a:latin typeface="Arial"/>
              </a:endParaRPr>
            </a:p>
          </p:txBody>
        </p:sp>
      </p:grpSp>
      <p:sp>
        <p:nvSpPr>
          <p:cNvPr id="71" name="footer-label"/>
          <p:cNvSpPr/>
          <p:nvPr/>
        </p:nvSpPr>
        <p:spPr>
          <a:xfrm>
            <a:off x="488520" y="6407280"/>
            <a:ext cx="580032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Case observation checks the process. Gains still need controlled validation.</a:t>
            </a:r>
            <a:endParaRPr lang="en-US" sz="1350" b="0" u="none" strike="noStrike">
              <a:solidFill>
                <a:srgbClr val="000000"/>
              </a:solidFill>
              <a:effectLst/>
              <a:uFillTx/>
              <a:latin typeface="Arial"/>
            </a:endParaRPr>
          </a:p>
        </p:txBody>
      </p:sp>
      <p:sp>
        <p:nvSpPr>
          <p:cNvPr id="72" name="page-number"/>
          <p:cNvSpPr/>
          <p:nvPr/>
        </p:nvSpPr>
        <p:spPr>
          <a:xfrm>
            <a:off x="11439720" y="6407280"/>
            <a:ext cx="263520" cy="263520"/>
          </a:xfrm>
          <a:prstGeom prst="rect">
            <a:avLst/>
          </a:prstGeom>
          <a:noFill/>
          <a:ln w="0">
            <a:noFill/>
          </a:ln>
        </p:spPr>
        <p:style>
          <a:lnRef idx="0"/>
          <a:fillRef idx="0"/>
          <a:effectRef idx="0"/>
          <a:fontRef idx="minor"/>
        </p:style>
        <p:txBody>
          <a:bodyPr wrap="none" lIns="0" tIns="0" rIns="0" bIns="0" anchor="t" anchorCtr="1">
            <a:spAutoFit/>
          </a:bodyPr>
          <a:p>
            <a:pPr algn="r" defTabSz="457200">
              <a:lnSpc>
                <a:spcPct val="100000"/>
              </a:lnSpc>
            </a:pPr>
            <a:r>
              <a:rPr lang="en-US" sz="1350" b="0" u="none" strike="noStrike">
                <a:solidFill>
                  <a:srgbClr val="66758A"/>
                </a:solidFill>
                <a:effectLst/>
                <a:uFillTx/>
                <a:latin typeface="Arial"/>
                <a:ea typeface="Microsoft YaHei"/>
              </a:rPr>
              <a:t>02</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73" name="header"/>
          <p:cNvGrpSpPr/>
          <p:nvPr/>
        </p:nvGrpSpPr>
        <p:grpSpPr>
          <a:xfrm>
            <a:off x="478440" y="422280"/>
            <a:ext cx="8122680" cy="973080"/>
            <a:chOff x="478440" y="422280"/>
            <a:chExt cx="8122680" cy="973080"/>
          </a:xfrm>
        </p:grpSpPr>
        <p:sp>
          <p:nvSpPr>
            <p:cNvPr id="74" name="TextBox 2"/>
            <p:cNvSpPr/>
            <p:nvPr/>
          </p:nvSpPr>
          <p:spPr>
            <a:xfrm>
              <a:off x="478440" y="422280"/>
              <a:ext cx="8122680" cy="6451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3300" b="1" u="none" strike="noStrike">
                  <a:solidFill>
                    <a:schemeClr val="accent1"/>
                  </a:solidFill>
                  <a:effectLst/>
                  <a:uFillTx/>
                  <a:latin typeface="Arial"/>
                  <a:ea typeface="Microsoft YaHei"/>
                </a:rPr>
                <a:t>Design Task Execution and Review Flow</a:t>
              </a:r>
              <a:endParaRPr lang="en-US" sz="3300" b="0" u="none" strike="noStrike">
                <a:solidFill>
                  <a:srgbClr val="000000"/>
                </a:solidFill>
                <a:effectLst/>
                <a:uFillTx/>
                <a:latin typeface="Arial"/>
              </a:endParaRPr>
            </a:p>
          </p:txBody>
        </p:sp>
        <p:sp>
          <p:nvSpPr>
            <p:cNvPr id="75" name="TextBox 3"/>
            <p:cNvSpPr/>
            <p:nvPr/>
          </p:nvSpPr>
          <p:spPr>
            <a:xfrm>
              <a:off x="487080" y="1073160"/>
              <a:ext cx="789336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450" b="0" u="none" strike="noStrike">
                  <a:solidFill>
                    <a:srgbClr val="66758A"/>
                  </a:solidFill>
                  <a:effectLst/>
                  <a:uFillTx/>
                  <a:latin typeface="Arial"/>
                  <a:ea typeface="Microsoft YaHei"/>
                </a:rPr>
                <a:t>AI analyzes needs and runs the task. People review concepts, major changes, and deliverables.</a:t>
              </a:r>
              <a:endParaRPr lang="en-US" sz="1450" b="0" u="none" strike="noStrike">
                <a:solidFill>
                  <a:srgbClr val="000000"/>
                </a:solidFill>
                <a:effectLst/>
                <a:uFillTx/>
                <a:latin typeface="Arial"/>
              </a:endParaRPr>
            </a:p>
          </p:txBody>
        </p:sp>
      </p:grpSp>
      <p:grpSp>
        <p:nvGrpSpPr>
          <p:cNvPr id="76" name="concept-chain"/>
          <p:cNvGrpSpPr/>
          <p:nvPr/>
        </p:nvGrpSpPr>
        <p:grpSpPr>
          <a:xfrm>
            <a:off x="488520" y="1749600"/>
            <a:ext cx="11207880" cy="1787400"/>
            <a:chOff x="488520" y="1749600"/>
            <a:chExt cx="11207880" cy="1787400"/>
          </a:xfrm>
        </p:grpSpPr>
        <p:sp>
          <p:nvSpPr>
            <p:cNvPr id="77" name="TextBox 5"/>
            <p:cNvSpPr/>
            <p:nvPr/>
          </p:nvSpPr>
          <p:spPr>
            <a:xfrm>
              <a:off x="488520" y="1749600"/>
              <a:ext cx="453672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Microsoft YaHei"/>
                </a:rPr>
                <a:t>Input: user description, confirmed constraints, current project state</a:t>
              </a:r>
              <a:endParaRPr lang="en-US" sz="1200" b="0" u="none" strike="noStrike">
                <a:solidFill>
                  <a:srgbClr val="000000"/>
                </a:solidFill>
                <a:effectLst/>
                <a:uFillTx/>
                <a:latin typeface="Arial"/>
              </a:endParaRPr>
            </a:p>
          </p:txBody>
        </p:sp>
        <p:sp>
          <p:nvSpPr>
            <p:cNvPr id="78" name="Rectangle 6"/>
            <p:cNvSpPr/>
            <p:nvPr/>
          </p:nvSpPr>
          <p:spPr>
            <a:xfrm>
              <a:off x="495360" y="2190600"/>
              <a:ext cx="2142720" cy="875880"/>
            </a:xfrm>
            <a:prstGeom prst="roundRect">
              <a:avLst>
                <a:gd name="adj" fmla="val 9783"/>
              </a:avLst>
            </a:prstGeom>
            <a:solidFill>
              <a:srgbClr val="EEF2FF"/>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79" name="TextBox 7"/>
            <p:cNvSpPr/>
            <p:nvPr/>
          </p:nvSpPr>
          <p:spPr>
            <a:xfrm>
              <a:off x="723600" y="2311560"/>
              <a:ext cx="176472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750" b="1" u="none" strike="noStrike">
                  <a:solidFill>
                    <a:schemeClr val="accent2"/>
                  </a:solidFill>
                  <a:effectLst/>
                  <a:uFillTx/>
                  <a:latin typeface="Arial"/>
                  <a:ea typeface="Microsoft YaHei"/>
                </a:rPr>
                <a:t>Structure needs</a:t>
              </a:r>
              <a:endParaRPr lang="en-US" sz="1750" b="0" u="none" strike="noStrike">
                <a:solidFill>
                  <a:srgbClr val="000000"/>
                </a:solidFill>
                <a:effectLst/>
                <a:uFillTx/>
                <a:latin typeface="Arial"/>
              </a:endParaRPr>
            </a:p>
          </p:txBody>
        </p:sp>
        <p:sp>
          <p:nvSpPr>
            <p:cNvPr id="80" name="TextBox 8"/>
            <p:cNvSpPr/>
            <p:nvPr/>
          </p:nvSpPr>
          <p:spPr>
            <a:xfrm>
              <a:off x="725040" y="2664000"/>
              <a:ext cx="208224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450" b="0" u="none" strike="noStrike">
                  <a:solidFill>
                    <a:schemeClr val="dk1"/>
                  </a:solidFill>
                  <a:effectLst/>
                  <a:uFillTx/>
                  <a:latin typeface="Arial"/>
                  <a:ea typeface="Microsoft YaHei"/>
                </a:rPr>
                <a:t>Traits / conflicts / gaps</a:t>
              </a:r>
              <a:endParaRPr lang="en-US" sz="1450" b="0" u="none" strike="noStrike">
                <a:solidFill>
                  <a:srgbClr val="000000"/>
                </a:solidFill>
                <a:effectLst/>
                <a:uFillTx/>
                <a:latin typeface="Arial"/>
              </a:endParaRPr>
            </a:p>
          </p:txBody>
        </p:sp>
        <p:sp>
          <p:nvSpPr>
            <p:cNvPr id="81" name="Line 9"/>
            <p:cNvSpPr/>
            <p:nvPr/>
          </p:nvSpPr>
          <p:spPr>
            <a:xfrm>
              <a:off x="2695320" y="2628720"/>
              <a:ext cx="457200" cy="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82" name="Rectangle 10"/>
            <p:cNvSpPr/>
            <p:nvPr/>
          </p:nvSpPr>
          <p:spPr>
            <a:xfrm>
              <a:off x="3219480" y="2190600"/>
              <a:ext cx="2142720" cy="875880"/>
            </a:xfrm>
            <a:prstGeom prst="roundRect">
              <a:avLst>
                <a:gd name="adj" fmla="val 9783"/>
              </a:avLst>
            </a:prstGeom>
            <a:solidFill>
              <a:srgbClr val="EEF2FF"/>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83" name="TextBox 11"/>
            <p:cNvSpPr/>
            <p:nvPr/>
          </p:nvSpPr>
          <p:spPr>
            <a:xfrm>
              <a:off x="3447720" y="2311560"/>
              <a:ext cx="159444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750" b="1" u="none" strike="noStrike">
                  <a:solidFill>
                    <a:schemeClr val="accent2"/>
                  </a:solidFill>
                  <a:effectLst/>
                  <a:uFillTx/>
                  <a:latin typeface="Arial"/>
                  <a:ea typeface="Microsoft YaHei"/>
                </a:rPr>
                <a:t>Find evidence</a:t>
              </a:r>
              <a:endParaRPr lang="en-US" sz="1750" b="0" u="none" strike="noStrike">
                <a:solidFill>
                  <a:srgbClr val="000000"/>
                </a:solidFill>
                <a:effectLst/>
                <a:uFillTx/>
                <a:latin typeface="Arial"/>
              </a:endParaRPr>
            </a:p>
          </p:txBody>
        </p:sp>
        <p:sp>
          <p:nvSpPr>
            <p:cNvPr id="84" name="TextBox 12"/>
            <p:cNvSpPr/>
            <p:nvPr/>
          </p:nvSpPr>
          <p:spPr>
            <a:xfrm>
              <a:off x="3449160" y="2664000"/>
              <a:ext cx="179352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450" b="0" u="none" strike="noStrike">
                  <a:solidFill>
                    <a:schemeClr val="dk1"/>
                  </a:solidFill>
                  <a:effectLst/>
                  <a:uFillTx/>
                  <a:latin typeface="Arial"/>
                  <a:ea typeface="Microsoft YaHei"/>
                </a:rPr>
                <a:t>Sources and limits</a:t>
              </a:r>
              <a:endParaRPr lang="en-US" sz="1450" b="0" u="none" strike="noStrike">
                <a:solidFill>
                  <a:srgbClr val="000000"/>
                </a:solidFill>
                <a:effectLst/>
                <a:uFillTx/>
                <a:latin typeface="Arial"/>
              </a:endParaRPr>
            </a:p>
          </p:txBody>
        </p:sp>
        <p:sp>
          <p:nvSpPr>
            <p:cNvPr id="85" name="Line 13"/>
            <p:cNvSpPr/>
            <p:nvPr/>
          </p:nvSpPr>
          <p:spPr>
            <a:xfrm>
              <a:off x="5419440" y="2628720"/>
              <a:ext cx="457200" cy="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86" name="Rectangle 14"/>
            <p:cNvSpPr/>
            <p:nvPr/>
          </p:nvSpPr>
          <p:spPr>
            <a:xfrm>
              <a:off x="5943600" y="2190600"/>
              <a:ext cx="2142720" cy="875880"/>
            </a:xfrm>
            <a:prstGeom prst="roundRect">
              <a:avLst>
                <a:gd name="adj" fmla="val 9783"/>
              </a:avLst>
            </a:prstGeom>
            <a:solidFill>
              <a:srgbClr val="F3EEFF"/>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87" name="TextBox 15"/>
            <p:cNvSpPr/>
            <p:nvPr/>
          </p:nvSpPr>
          <p:spPr>
            <a:xfrm>
              <a:off x="6171840" y="2311560"/>
              <a:ext cx="446040" cy="2667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750" b="1" u="none" strike="noStrike">
                  <a:solidFill>
                    <a:schemeClr val="accent6"/>
                  </a:solidFill>
                  <a:effectLst/>
                  <a:uFillTx/>
                  <a:latin typeface="Arial"/>
                  <a:ea typeface="Microsoft YaHei"/>
                </a:rPr>
                <a:t>Idea</a:t>
              </a:r>
              <a:endParaRPr lang="en-US" sz="1750" b="0" u="none" strike="noStrike">
                <a:solidFill>
                  <a:srgbClr val="000000"/>
                </a:solidFill>
                <a:effectLst/>
                <a:uFillTx/>
                <a:latin typeface="Arial"/>
              </a:endParaRPr>
            </a:p>
          </p:txBody>
        </p:sp>
        <p:sp>
          <p:nvSpPr>
            <p:cNvPr id="88" name="TextBox 16"/>
            <p:cNvSpPr/>
            <p:nvPr/>
          </p:nvSpPr>
          <p:spPr>
            <a:xfrm>
              <a:off x="6173280" y="2664000"/>
              <a:ext cx="179352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450" b="0" u="none" strike="noStrike">
                  <a:solidFill>
                    <a:schemeClr val="dk1"/>
                  </a:solidFill>
                  <a:effectLst/>
                  <a:uFillTx/>
                  <a:latin typeface="Arial"/>
                  <a:ea typeface="Microsoft YaHei"/>
                </a:rPr>
                <a:t>Comparable options</a:t>
              </a:r>
              <a:endParaRPr lang="en-US" sz="1450" b="0" u="none" strike="noStrike">
                <a:solidFill>
                  <a:srgbClr val="000000"/>
                </a:solidFill>
                <a:effectLst/>
                <a:uFillTx/>
                <a:latin typeface="Arial"/>
              </a:endParaRPr>
            </a:p>
          </p:txBody>
        </p:sp>
        <p:sp>
          <p:nvSpPr>
            <p:cNvPr id="89" name="Line 17"/>
            <p:cNvSpPr/>
            <p:nvPr/>
          </p:nvSpPr>
          <p:spPr>
            <a:xfrm>
              <a:off x="8143560" y="2628720"/>
              <a:ext cx="457200" cy="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90" name="Rectangle 18"/>
            <p:cNvSpPr/>
            <p:nvPr/>
          </p:nvSpPr>
          <p:spPr>
            <a:xfrm>
              <a:off x="8667720" y="2190600"/>
              <a:ext cx="3028680" cy="875880"/>
            </a:xfrm>
            <a:prstGeom prst="roundRect">
              <a:avLst>
                <a:gd name="adj" fmla="val 9783"/>
              </a:avLst>
            </a:prstGeom>
            <a:solidFill>
              <a:srgbClr val="FFF2DD"/>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91" name="TextBox 19"/>
            <p:cNvSpPr/>
            <p:nvPr/>
          </p:nvSpPr>
          <p:spPr>
            <a:xfrm>
              <a:off x="8895960" y="2311560"/>
              <a:ext cx="185688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750" b="1" u="none" strike="noStrike">
                  <a:solidFill>
                    <a:srgbClr val="A76813"/>
                  </a:solidFill>
                  <a:effectLst/>
                  <a:uFillTx/>
                  <a:latin typeface="Arial"/>
                  <a:ea typeface="Microsoft YaHei"/>
                </a:rPr>
                <a:t>Human: select</a:t>
              </a:r>
              <a:endParaRPr lang="en-US" sz="1750" b="0" u="none" strike="noStrike">
                <a:solidFill>
                  <a:srgbClr val="000000"/>
                </a:solidFill>
                <a:effectLst/>
                <a:uFillTx/>
                <a:latin typeface="Arial"/>
              </a:endParaRPr>
            </a:p>
          </p:txBody>
        </p:sp>
        <p:sp>
          <p:nvSpPr>
            <p:cNvPr id="92" name="TextBox 20"/>
            <p:cNvSpPr/>
            <p:nvPr/>
          </p:nvSpPr>
          <p:spPr>
            <a:xfrm>
              <a:off x="8897400" y="2664000"/>
              <a:ext cx="230436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450" b="0" u="none" strike="noStrike">
                  <a:solidFill>
                    <a:schemeClr val="dk1"/>
                  </a:solidFill>
                  <a:effectLst/>
                  <a:uFillTx/>
                  <a:latin typeface="Arial"/>
                  <a:ea typeface="Microsoft YaHei"/>
                </a:rPr>
                <a:t>Concept / side / views</a:t>
              </a:r>
              <a:endParaRPr lang="en-US" sz="1450" b="0" u="none" strike="noStrike">
                <a:solidFill>
                  <a:srgbClr val="000000"/>
                </a:solidFill>
                <a:effectLst/>
                <a:uFillTx/>
                <a:latin typeface="Arial"/>
              </a:endParaRPr>
            </a:p>
          </p:txBody>
        </p:sp>
        <p:sp>
          <p:nvSpPr>
            <p:cNvPr id="93" name="TextBox 21"/>
            <p:cNvSpPr/>
            <p:nvPr/>
          </p:nvSpPr>
          <p:spPr>
            <a:xfrm>
              <a:off x="488520" y="3273480"/>
              <a:ext cx="140292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Microsoft YaHei"/>
                </a:rPr>
                <a:t>Output: needs table</a:t>
              </a:r>
              <a:endParaRPr lang="en-US" sz="1200" b="0" u="none" strike="noStrike">
                <a:solidFill>
                  <a:srgbClr val="000000"/>
                </a:solidFill>
                <a:effectLst/>
                <a:uFillTx/>
                <a:latin typeface="Arial"/>
              </a:endParaRPr>
            </a:p>
          </p:txBody>
        </p:sp>
        <p:sp>
          <p:nvSpPr>
            <p:cNvPr id="94" name="TextBox 22"/>
            <p:cNvSpPr/>
            <p:nvPr/>
          </p:nvSpPr>
          <p:spPr>
            <a:xfrm>
              <a:off x="3212640" y="3273480"/>
              <a:ext cx="229212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Microsoft YaHei"/>
                </a:rPr>
                <a:t>Output: traceable reference pack</a:t>
              </a:r>
              <a:endParaRPr lang="en-US" sz="1200" b="0" u="none" strike="noStrike">
                <a:solidFill>
                  <a:srgbClr val="000000"/>
                </a:solidFill>
                <a:effectLst/>
                <a:uFillTx/>
                <a:latin typeface="Arial"/>
              </a:endParaRPr>
            </a:p>
          </p:txBody>
        </p:sp>
        <p:sp>
          <p:nvSpPr>
            <p:cNvPr id="95" name="TextBox 23"/>
            <p:cNvSpPr/>
            <p:nvPr/>
          </p:nvSpPr>
          <p:spPr>
            <a:xfrm>
              <a:off x="5936760" y="3273480"/>
              <a:ext cx="158076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Microsoft YaHei"/>
                </a:rPr>
                <a:t>Output: concept board</a:t>
              </a:r>
              <a:endParaRPr lang="en-US" sz="1200" b="0" u="none" strike="noStrike">
                <a:solidFill>
                  <a:srgbClr val="000000"/>
                </a:solidFill>
                <a:effectLst/>
                <a:uFillTx/>
                <a:latin typeface="Arial"/>
              </a:endParaRPr>
            </a:p>
          </p:txBody>
        </p:sp>
        <p:sp>
          <p:nvSpPr>
            <p:cNvPr id="96" name="TextBox 24"/>
            <p:cNvSpPr/>
            <p:nvPr/>
          </p:nvSpPr>
          <p:spPr>
            <a:xfrm>
              <a:off x="8660880" y="3273480"/>
              <a:ext cx="221580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Microsoft YaHei"/>
                </a:rPr>
                <a:t>Output: single current reference</a:t>
              </a:r>
              <a:endParaRPr lang="en-US" sz="1200" b="0" u="none" strike="noStrike">
                <a:solidFill>
                  <a:srgbClr val="000000"/>
                </a:solidFill>
                <a:effectLst/>
                <a:uFillTx/>
                <a:latin typeface="Arial"/>
              </a:endParaRPr>
            </a:p>
          </p:txBody>
        </p:sp>
      </p:grpSp>
      <p:grpSp>
        <p:nvGrpSpPr>
          <p:cNvPr id="97" name="execution-chain"/>
          <p:cNvGrpSpPr/>
          <p:nvPr/>
        </p:nvGrpSpPr>
        <p:grpSpPr>
          <a:xfrm>
            <a:off x="488520" y="3600360"/>
            <a:ext cx="11314440" cy="1908360"/>
            <a:chOff x="488520" y="3600360"/>
            <a:chExt cx="11314440" cy="1908360"/>
          </a:xfrm>
        </p:grpSpPr>
        <p:sp>
          <p:nvSpPr>
            <p:cNvPr id="98" name="Line 26"/>
            <p:cNvSpPr/>
            <p:nvPr/>
          </p:nvSpPr>
          <p:spPr>
            <a:xfrm>
              <a:off x="1638360" y="3762360"/>
              <a:ext cx="8648280" cy="9000"/>
            </a:xfrm>
            <a:custGeom>
              <a:avLst/>
              <a:gdLst>
                <a:gd name="textAreaLeft" fmla="*/ 0 w 8648280"/>
                <a:gd name="textAreaRight" fmla="*/ 8648640 w 8648280"/>
                <a:gd name="textAreaTop" fmla="*/ 0 h 9000"/>
                <a:gd name="textAreaBottom" fmla="*/ 9360 h 9000"/>
              </a:gdLst>
              <a:ahLst/>
              <a:cxnLst/>
              <a:rect l="textAreaLeft" t="textAreaTop" r="textAreaRight" b="textAreaBottom"/>
              <a:pathLst>
                <a:path w="8648700" h="9525">
                  <a:moveTo>
                    <a:pt x="8648700" y="0"/>
                  </a:moveTo>
                  <a:lnTo>
                    <a:pt x="0" y="0"/>
                  </a:lnTo>
                </a:path>
              </a:pathLst>
            </a:custGeom>
            <a:noFill/>
            <a:ln w="19050">
              <a:solidFill>
                <a:srgbClr val="66758A"/>
              </a:solidFill>
              <a:round/>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
          <p:nvSpPr>
            <p:cNvPr id="99" name="Line 27"/>
            <p:cNvSpPr/>
            <p:nvPr/>
          </p:nvSpPr>
          <p:spPr>
            <a:xfrm>
              <a:off x="10287000" y="3600360"/>
              <a:ext cx="9000" cy="161640"/>
            </a:xfrm>
            <a:custGeom>
              <a:avLst/>
              <a:gdLst>
                <a:gd name="textAreaLeft" fmla="*/ 0 w 9000"/>
                <a:gd name="textAreaRight" fmla="*/ 9360 w 9000"/>
                <a:gd name="textAreaTop" fmla="*/ 0 h 161640"/>
                <a:gd name="textAreaBottom" fmla="*/ 162000 h 161640"/>
              </a:gdLst>
              <a:ahLst/>
              <a:cxnLst/>
              <a:rect l="textAreaLeft" t="textAreaTop" r="textAreaRight" b="textAreaBottom"/>
              <a:pathLst>
                <a:path w="9525" h="161925">
                  <a:moveTo>
                    <a:pt x="0" y="0"/>
                  </a:moveTo>
                  <a:lnTo>
                    <a:pt x="0" y="161925"/>
                  </a:lnTo>
                </a:path>
              </a:pathLst>
            </a:custGeom>
            <a:noFill/>
            <a:ln w="19050">
              <a:solidFill>
                <a:srgbClr val="66758A"/>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00" name="Line 28"/>
            <p:cNvSpPr/>
            <p:nvPr/>
          </p:nvSpPr>
          <p:spPr>
            <a:xfrm>
              <a:off x="1638000" y="3762360"/>
              <a:ext cx="0" cy="30456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101" name="Rectangle 29"/>
            <p:cNvSpPr/>
            <p:nvPr/>
          </p:nvSpPr>
          <p:spPr>
            <a:xfrm>
              <a:off x="495360" y="4152960"/>
              <a:ext cx="2142720" cy="875880"/>
            </a:xfrm>
            <a:prstGeom prst="roundRect">
              <a:avLst>
                <a:gd name="adj" fmla="val 9783"/>
              </a:avLst>
            </a:prstGeom>
            <a:solidFill>
              <a:srgbClr val="E8F6F2"/>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02" name="TextBox 30"/>
            <p:cNvSpPr/>
            <p:nvPr/>
          </p:nvSpPr>
          <p:spPr>
            <a:xfrm>
              <a:off x="723600" y="4273560"/>
              <a:ext cx="185688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750" b="1" u="none" strike="noStrike">
                  <a:solidFill>
                    <a:srgbClr val="069B8A"/>
                  </a:solidFill>
                  <a:effectLst/>
                  <a:uFillTx/>
                  <a:latin typeface="Arial"/>
                  <a:ea typeface="Microsoft YaHei"/>
                </a:rPr>
                <a:t>Form and model</a:t>
              </a:r>
              <a:endParaRPr lang="en-US" sz="1750" b="0" u="none" strike="noStrike">
                <a:solidFill>
                  <a:srgbClr val="000000"/>
                </a:solidFill>
                <a:effectLst/>
                <a:uFillTx/>
                <a:latin typeface="Arial"/>
              </a:endParaRPr>
            </a:p>
          </p:txBody>
        </p:sp>
        <p:sp>
          <p:nvSpPr>
            <p:cNvPr id="103" name="TextBox 31"/>
            <p:cNvSpPr/>
            <p:nvPr/>
          </p:nvSpPr>
          <p:spPr>
            <a:xfrm>
              <a:off x="725040" y="4626000"/>
              <a:ext cx="186012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450" b="0" u="none" strike="noStrike">
                  <a:solidFill>
                    <a:schemeClr val="dk1"/>
                  </a:solidFill>
                  <a:effectLst/>
                  <a:uFillTx/>
                  <a:latin typeface="Arial"/>
                  <a:ea typeface="Microsoft YaHei"/>
                </a:rPr>
                <a:t>Parts / ratio / fit</a:t>
              </a:r>
              <a:endParaRPr lang="en-US" sz="1450" b="0" u="none" strike="noStrike">
                <a:solidFill>
                  <a:srgbClr val="000000"/>
                </a:solidFill>
                <a:effectLst/>
                <a:uFillTx/>
                <a:latin typeface="Arial"/>
              </a:endParaRPr>
            </a:p>
          </p:txBody>
        </p:sp>
        <p:sp>
          <p:nvSpPr>
            <p:cNvPr id="104" name="Line 32"/>
            <p:cNvSpPr/>
            <p:nvPr/>
          </p:nvSpPr>
          <p:spPr>
            <a:xfrm>
              <a:off x="2695320" y="4590720"/>
              <a:ext cx="457200" cy="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105" name="Rectangle 33"/>
            <p:cNvSpPr/>
            <p:nvPr/>
          </p:nvSpPr>
          <p:spPr>
            <a:xfrm>
              <a:off x="3219480" y="4152960"/>
              <a:ext cx="2142720" cy="875880"/>
            </a:xfrm>
            <a:prstGeom prst="roundRect">
              <a:avLst>
                <a:gd name="adj" fmla="val 9783"/>
              </a:avLst>
            </a:prstGeom>
            <a:solidFill>
              <a:srgbClr val="E8F6F2"/>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06" name="TextBox 34"/>
            <p:cNvSpPr/>
            <p:nvPr/>
          </p:nvSpPr>
          <p:spPr>
            <a:xfrm>
              <a:off x="3447720" y="4273560"/>
              <a:ext cx="159444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750" b="1" u="none" strike="noStrike">
                  <a:solidFill>
                    <a:srgbClr val="069B8A"/>
                  </a:solidFill>
                  <a:effectLst/>
                  <a:uFillTx/>
                  <a:latin typeface="Arial"/>
                  <a:ea typeface="Microsoft YaHei"/>
                </a:rPr>
                <a:t>Run real tools</a:t>
              </a:r>
              <a:endParaRPr lang="en-US" sz="1750" b="0" u="none" strike="noStrike">
                <a:solidFill>
                  <a:srgbClr val="000000"/>
                </a:solidFill>
                <a:effectLst/>
                <a:uFillTx/>
                <a:latin typeface="Arial"/>
              </a:endParaRPr>
            </a:p>
          </p:txBody>
        </p:sp>
        <p:sp>
          <p:nvSpPr>
            <p:cNvPr id="107" name="TextBox 35"/>
            <p:cNvSpPr/>
            <p:nvPr/>
          </p:nvSpPr>
          <p:spPr>
            <a:xfrm>
              <a:off x="3449160" y="4626000"/>
              <a:ext cx="186012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450" b="0" u="none" strike="noStrike">
                  <a:solidFill>
                    <a:schemeClr val="dk1"/>
                  </a:solidFill>
                  <a:effectLst/>
                  <a:uFillTx/>
                  <a:latin typeface="Arial"/>
                  <a:ea typeface="Microsoft YaHei"/>
                </a:rPr>
                <a:t>Model / save / reopen</a:t>
              </a:r>
              <a:endParaRPr lang="en-US" sz="1450" b="0" u="none" strike="noStrike">
                <a:solidFill>
                  <a:srgbClr val="000000"/>
                </a:solidFill>
                <a:effectLst/>
                <a:uFillTx/>
                <a:latin typeface="Arial"/>
              </a:endParaRPr>
            </a:p>
          </p:txBody>
        </p:sp>
        <p:sp>
          <p:nvSpPr>
            <p:cNvPr id="108" name="Line 36"/>
            <p:cNvSpPr/>
            <p:nvPr/>
          </p:nvSpPr>
          <p:spPr>
            <a:xfrm>
              <a:off x="5419440" y="4590720"/>
              <a:ext cx="457200" cy="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109" name="Rectangle 37"/>
            <p:cNvSpPr/>
            <p:nvPr/>
          </p:nvSpPr>
          <p:spPr>
            <a:xfrm>
              <a:off x="5943600" y="4152960"/>
              <a:ext cx="2514600" cy="875880"/>
            </a:xfrm>
            <a:prstGeom prst="roundRect">
              <a:avLst>
                <a:gd name="adj" fmla="val 9783"/>
              </a:avLst>
            </a:prstGeom>
            <a:solidFill>
              <a:srgbClr val="FFF2DD"/>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10" name="TextBox 38"/>
            <p:cNvSpPr/>
            <p:nvPr/>
          </p:nvSpPr>
          <p:spPr>
            <a:xfrm>
              <a:off x="6171840" y="4273560"/>
              <a:ext cx="186408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750" b="1" u="none" strike="noStrike">
                  <a:solidFill>
                    <a:srgbClr val="A76813"/>
                  </a:solidFill>
                  <a:effectLst/>
                  <a:uFillTx/>
                  <a:latin typeface="Arial"/>
                  <a:ea typeface="Microsoft YaHei"/>
                </a:rPr>
                <a:t>Geometry review</a:t>
              </a:r>
              <a:endParaRPr lang="en-US" sz="1750" b="0" u="none" strike="noStrike">
                <a:solidFill>
                  <a:srgbClr val="000000"/>
                </a:solidFill>
                <a:effectLst/>
                <a:uFillTx/>
                <a:latin typeface="Arial"/>
              </a:endParaRPr>
            </a:p>
          </p:txBody>
        </p:sp>
        <p:sp>
          <p:nvSpPr>
            <p:cNvPr id="111" name="TextBox 39"/>
            <p:cNvSpPr/>
            <p:nvPr/>
          </p:nvSpPr>
          <p:spPr>
            <a:xfrm>
              <a:off x="6173280" y="4626000"/>
              <a:ext cx="208224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450" b="0" u="none" strike="noStrike">
                  <a:solidFill>
                    <a:schemeClr val="dk1"/>
                  </a:solidFill>
                  <a:effectLst/>
                  <a:uFillTx/>
                  <a:latin typeface="Arial"/>
                  <a:ea typeface="Microsoft YaHei"/>
                </a:rPr>
                <a:t>Geometry / angle / limits</a:t>
              </a:r>
              <a:endParaRPr lang="en-US" sz="1450" b="0" u="none" strike="noStrike">
                <a:solidFill>
                  <a:srgbClr val="000000"/>
                </a:solidFill>
                <a:effectLst/>
                <a:uFillTx/>
                <a:latin typeface="Arial"/>
              </a:endParaRPr>
            </a:p>
          </p:txBody>
        </p:sp>
        <p:sp>
          <p:nvSpPr>
            <p:cNvPr id="112" name="Line 40"/>
            <p:cNvSpPr/>
            <p:nvPr/>
          </p:nvSpPr>
          <p:spPr>
            <a:xfrm>
              <a:off x="8458200" y="4590720"/>
              <a:ext cx="1257120" cy="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113" name="Freeform 41"/>
            <p:cNvSpPr/>
            <p:nvPr/>
          </p:nvSpPr>
          <p:spPr>
            <a:xfrm>
              <a:off x="9848880" y="4067280"/>
              <a:ext cx="1333080" cy="952200"/>
            </a:xfrm>
            <a:prstGeom prst="diamond">
              <a:avLst/>
            </a:prstGeom>
            <a:solidFill>
              <a:srgbClr val="FFF2DD"/>
            </a:solidFill>
            <a:ln w="19050">
              <a:solidFill>
                <a:srgbClr val="D98D2B"/>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14" name="TextBox 42"/>
            <p:cNvSpPr/>
            <p:nvPr/>
          </p:nvSpPr>
          <p:spPr>
            <a:xfrm>
              <a:off x="10172160" y="4406760"/>
              <a:ext cx="686880" cy="322200"/>
            </a:xfrm>
            <a:prstGeom prst="rect">
              <a:avLst/>
            </a:prstGeom>
            <a:noFill/>
            <a:ln w="0">
              <a:noFill/>
            </a:ln>
          </p:spPr>
          <p:style>
            <a:lnRef idx="0"/>
            <a:fillRef idx="0"/>
            <a:effectRef idx="0"/>
            <a:fontRef idx="minor"/>
          </p:style>
          <p:txBody>
            <a:bodyPr wrap="none" lIns="0" tIns="0" rIns="0" bIns="0" anchor="t">
              <a:spAutoFit/>
            </a:bodyPr>
            <a:p>
              <a:pPr algn="ctr" defTabSz="457200">
                <a:lnSpc>
                  <a:spcPct val="100000"/>
                </a:lnSpc>
              </a:pPr>
              <a:r>
                <a:rPr lang="en-US" sz="1450" b="1" u="none" strike="noStrike">
                  <a:solidFill>
                    <a:schemeClr val="accent1"/>
                  </a:solidFill>
                  <a:effectLst/>
                  <a:uFillTx/>
                  <a:latin typeface="Arial"/>
                  <a:ea typeface="Microsoft YaHei"/>
                </a:rPr>
                <a:t>Accept</a:t>
              </a:r>
              <a:endParaRPr lang="en-US" sz="1450" b="0" u="none" strike="noStrike">
                <a:solidFill>
                  <a:srgbClr val="000000"/>
                </a:solidFill>
                <a:effectLst/>
                <a:uFillTx/>
                <a:latin typeface="Arial"/>
              </a:endParaRPr>
            </a:p>
          </p:txBody>
        </p:sp>
        <p:sp>
          <p:nvSpPr>
            <p:cNvPr id="115" name="TextBox 43"/>
            <p:cNvSpPr/>
            <p:nvPr/>
          </p:nvSpPr>
          <p:spPr>
            <a:xfrm>
              <a:off x="488520" y="5245200"/>
              <a:ext cx="166536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Microsoft YaHei"/>
                </a:rPr>
                <a:t>Output: checkable CAD</a:t>
              </a:r>
              <a:endParaRPr lang="en-US" sz="1200" b="0" u="none" strike="noStrike">
                <a:solidFill>
                  <a:srgbClr val="000000"/>
                </a:solidFill>
                <a:effectLst/>
                <a:uFillTx/>
                <a:latin typeface="Arial"/>
              </a:endParaRPr>
            </a:p>
          </p:txBody>
        </p:sp>
        <p:sp>
          <p:nvSpPr>
            <p:cNvPr id="116" name="TextBox 44"/>
            <p:cNvSpPr/>
            <p:nvPr/>
          </p:nvSpPr>
          <p:spPr>
            <a:xfrm>
              <a:off x="3212640" y="5245200"/>
              <a:ext cx="190260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Microsoft YaHei"/>
                </a:rPr>
                <a:t>Output: saved-state receipt</a:t>
              </a:r>
              <a:endParaRPr lang="en-US" sz="1200" b="0" u="none" strike="noStrike">
                <a:solidFill>
                  <a:srgbClr val="000000"/>
                </a:solidFill>
                <a:effectLst/>
                <a:uFillTx/>
                <a:latin typeface="Arial"/>
              </a:endParaRPr>
            </a:p>
          </p:txBody>
        </p:sp>
        <p:sp>
          <p:nvSpPr>
            <p:cNvPr id="117" name="TextBox 45"/>
            <p:cNvSpPr/>
            <p:nvPr/>
          </p:nvSpPr>
          <p:spPr>
            <a:xfrm>
              <a:off x="5936760" y="5245200"/>
              <a:ext cx="214812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Microsoft YaHei"/>
                </a:rPr>
                <a:t>Output: issue list and evidence</a:t>
              </a:r>
              <a:endParaRPr lang="en-US" sz="1200" b="0" u="none" strike="noStrike">
                <a:solidFill>
                  <a:srgbClr val="000000"/>
                </a:solidFill>
                <a:effectLst/>
                <a:uFillTx/>
                <a:latin typeface="Arial"/>
              </a:endParaRPr>
            </a:p>
          </p:txBody>
        </p:sp>
        <p:sp>
          <p:nvSpPr>
            <p:cNvPr id="118" name="TextBox 46"/>
            <p:cNvSpPr/>
            <p:nvPr/>
          </p:nvSpPr>
          <p:spPr>
            <a:xfrm>
              <a:off x="10137240" y="5245200"/>
              <a:ext cx="166572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A76813"/>
                  </a:solidFill>
                  <a:effectLst/>
                  <a:uFillTx/>
                  <a:latin typeface="Arial"/>
                  <a:ea typeface="Microsoft YaHei"/>
                </a:rPr>
                <a:t>Release on acceptance</a:t>
              </a:r>
              <a:endParaRPr lang="en-US" sz="1200" b="0" u="none" strike="noStrike">
                <a:solidFill>
                  <a:srgbClr val="000000"/>
                </a:solidFill>
                <a:effectLst/>
                <a:uFillTx/>
                <a:latin typeface="Arial"/>
              </a:endParaRPr>
            </a:p>
          </p:txBody>
        </p:sp>
      </p:grpSp>
      <p:grpSp>
        <p:nvGrpSpPr>
          <p:cNvPr id="119" name="feedback-loop"/>
          <p:cNvGrpSpPr/>
          <p:nvPr/>
        </p:nvGrpSpPr>
        <p:grpSpPr>
          <a:xfrm>
            <a:off x="1638000" y="5667120"/>
            <a:ext cx="8886600" cy="447480"/>
            <a:chOff x="1638000" y="5667120"/>
            <a:chExt cx="8886600" cy="447480"/>
          </a:xfrm>
        </p:grpSpPr>
        <p:sp>
          <p:nvSpPr>
            <p:cNvPr id="120" name="Line 48"/>
            <p:cNvSpPr/>
            <p:nvPr/>
          </p:nvSpPr>
          <p:spPr>
            <a:xfrm>
              <a:off x="10515600" y="5667480"/>
              <a:ext cx="9000" cy="437760"/>
            </a:xfrm>
            <a:custGeom>
              <a:avLst/>
              <a:gdLst>
                <a:gd name="textAreaLeft" fmla="*/ 0 w 9000"/>
                <a:gd name="textAreaRight" fmla="*/ 9360 w 9000"/>
                <a:gd name="textAreaTop" fmla="*/ 0 h 437760"/>
                <a:gd name="textAreaBottom" fmla="*/ 438120 h 437760"/>
              </a:gdLst>
              <a:ahLst/>
              <a:cxnLst/>
              <a:rect l="textAreaLeft" t="textAreaTop" r="textAreaRight" b="textAreaBottom"/>
              <a:pathLst>
                <a:path w="9525" h="438150">
                  <a:moveTo>
                    <a:pt x="0" y="0"/>
                  </a:moveTo>
                  <a:lnTo>
                    <a:pt x="0" y="438150"/>
                  </a:lnTo>
                </a:path>
              </a:pathLst>
            </a:custGeom>
            <a:noFill/>
            <a:ln w="19050">
              <a:solidFill>
                <a:srgbClr val="D98D2B"/>
              </a:solidFill>
              <a:prstDash val="dash"/>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21" name="Line 49"/>
            <p:cNvSpPr/>
            <p:nvPr/>
          </p:nvSpPr>
          <p:spPr>
            <a:xfrm>
              <a:off x="1638360" y="6105600"/>
              <a:ext cx="8876880" cy="9000"/>
            </a:xfrm>
            <a:custGeom>
              <a:avLst/>
              <a:gdLst>
                <a:gd name="textAreaLeft" fmla="*/ 0 w 8876880"/>
                <a:gd name="textAreaRight" fmla="*/ 8877240 w 8876880"/>
                <a:gd name="textAreaTop" fmla="*/ 0 h 9000"/>
                <a:gd name="textAreaBottom" fmla="*/ 9360 h 9000"/>
              </a:gdLst>
              <a:ahLst/>
              <a:cxnLst/>
              <a:rect l="textAreaLeft" t="textAreaTop" r="textAreaRight" b="textAreaBottom"/>
              <a:pathLst>
                <a:path w="8877300" h="9525">
                  <a:moveTo>
                    <a:pt x="8877300" y="0"/>
                  </a:moveTo>
                  <a:lnTo>
                    <a:pt x="0" y="0"/>
                  </a:lnTo>
                </a:path>
              </a:pathLst>
            </a:custGeom>
            <a:noFill/>
            <a:ln w="19050">
              <a:solidFill>
                <a:srgbClr val="D98D2B"/>
              </a:solidFill>
              <a:prstDash val="dash"/>
              <a:round/>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
          <p:nvSpPr>
            <p:cNvPr id="122" name="Line 50"/>
            <p:cNvSpPr/>
            <p:nvPr/>
          </p:nvSpPr>
          <p:spPr>
            <a:xfrm flipV="1">
              <a:off x="1638000" y="5667120"/>
              <a:ext cx="0" cy="438120"/>
            </a:xfrm>
            <a:prstGeom prst="line">
              <a:avLst/>
            </a:prstGeom>
            <a:ln w="19050">
              <a:solidFill>
                <a:srgbClr val="D98D2B"/>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123" name="TextBox 51"/>
            <p:cNvSpPr/>
            <p:nvPr/>
          </p:nvSpPr>
          <p:spPr>
            <a:xfrm>
              <a:off x="3192120" y="5711760"/>
              <a:ext cx="629244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450" b="0" u="none" strike="noStrike">
                  <a:solidFill>
                    <a:srgbClr val="A76813"/>
                  </a:solidFill>
                  <a:effectLst/>
                  <a:uFillTx/>
                  <a:latin typeface="Arial"/>
                  <a:ea typeface="Microsoft YaHei"/>
                </a:rPr>
                <a:t>On a failed review, locate, fix, and recheck. Write back lessons at task close.</a:t>
              </a:r>
              <a:endParaRPr lang="en-US" sz="1450" b="0" u="none" strike="noStrike">
                <a:solidFill>
                  <a:srgbClr val="000000"/>
                </a:solidFill>
                <a:effectLst/>
                <a:uFillTx/>
                <a:latin typeface="Arial"/>
              </a:endParaRPr>
            </a:p>
          </p:txBody>
        </p:sp>
      </p:grpSp>
      <p:sp>
        <p:nvSpPr>
          <p:cNvPr id="124" name="footer-label"/>
          <p:cNvSpPr/>
          <p:nvPr/>
        </p:nvSpPr>
        <p:spPr>
          <a:xfrm>
            <a:off x="488520" y="6407280"/>
            <a:ext cx="516348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Microsoft YaHei"/>
              </a:rPr>
              <a:t>Each round first checks the tool connection and resumes after it is restored.</a:t>
            </a:r>
            <a:endParaRPr lang="en-US" sz="1200" b="0" u="none" strike="noStrike">
              <a:solidFill>
                <a:srgbClr val="000000"/>
              </a:solidFill>
              <a:effectLst/>
              <a:uFillTx/>
              <a:latin typeface="Arial"/>
            </a:endParaRPr>
          </a:p>
        </p:txBody>
      </p:sp>
      <p:sp>
        <p:nvSpPr>
          <p:cNvPr id="125" name="page-number"/>
          <p:cNvSpPr/>
          <p:nvPr/>
        </p:nvSpPr>
        <p:spPr>
          <a:xfrm>
            <a:off x="11460960" y="6407280"/>
            <a:ext cx="242280" cy="263520"/>
          </a:xfrm>
          <a:prstGeom prst="rect">
            <a:avLst/>
          </a:prstGeom>
          <a:noFill/>
          <a:ln w="0">
            <a:noFill/>
          </a:ln>
        </p:spPr>
        <p:style>
          <a:lnRef idx="0"/>
          <a:fillRef idx="0"/>
          <a:effectRef idx="0"/>
          <a:fontRef idx="minor"/>
        </p:style>
        <p:txBody>
          <a:bodyPr wrap="none" lIns="0" tIns="0" rIns="0" bIns="0" anchor="t" anchorCtr="1">
            <a:spAutoFit/>
          </a:bodyPr>
          <a:p>
            <a:pPr algn="r" defTabSz="457200">
              <a:lnSpc>
                <a:spcPct val="100000"/>
              </a:lnSpc>
            </a:pPr>
            <a:r>
              <a:rPr lang="en-US" sz="1200" b="0" u="none" strike="noStrike">
                <a:solidFill>
                  <a:srgbClr val="66758A"/>
                </a:solidFill>
                <a:effectLst/>
                <a:uFillTx/>
                <a:latin typeface="Arial"/>
                <a:ea typeface="Microsoft YaHei"/>
              </a:rPr>
              <a:t>04</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126" name="header"/>
          <p:cNvGrpSpPr/>
          <p:nvPr/>
        </p:nvGrpSpPr>
        <p:grpSpPr>
          <a:xfrm>
            <a:off x="478440" y="422280"/>
            <a:ext cx="9574200" cy="973080"/>
            <a:chOff x="478440" y="422280"/>
            <a:chExt cx="9574200" cy="973080"/>
          </a:xfrm>
        </p:grpSpPr>
        <p:sp>
          <p:nvSpPr>
            <p:cNvPr id="127" name="TextBox 2"/>
            <p:cNvSpPr/>
            <p:nvPr/>
          </p:nvSpPr>
          <p:spPr>
            <a:xfrm>
              <a:off x="478440" y="422280"/>
              <a:ext cx="9574200" cy="6451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3300" b="1" u="none" strike="noStrike">
                  <a:solidFill>
                    <a:schemeClr val="accent1"/>
                  </a:solidFill>
                  <a:effectLst/>
                  <a:uFillTx/>
                  <a:latin typeface="Arial"/>
                  <a:ea typeface="Microsoft YaHei"/>
                </a:rPr>
                <a:t>RAG Knowledge Retrieval and Design Evidence</a:t>
              </a:r>
              <a:endParaRPr lang="en-US" sz="3300" b="0" u="none" strike="noStrike">
                <a:solidFill>
                  <a:srgbClr val="000000"/>
                </a:solidFill>
                <a:effectLst/>
                <a:uFillTx/>
                <a:latin typeface="Arial"/>
              </a:endParaRPr>
            </a:p>
          </p:txBody>
        </p:sp>
        <p:sp>
          <p:nvSpPr>
            <p:cNvPr id="128" name="TextBox 3"/>
            <p:cNvSpPr/>
            <p:nvPr/>
          </p:nvSpPr>
          <p:spPr>
            <a:xfrm>
              <a:off x="487080" y="1073160"/>
              <a:ext cx="926460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rgbClr val="66758A"/>
                  </a:solidFill>
                  <a:effectLst/>
                  <a:uFillTx/>
                  <a:latin typeface="Arial"/>
                  <a:ea typeface="Microsoft YaHei"/>
                </a:rPr>
                <a:t>RAG (retrieval-augmented generation) reads product cases, ear data, and tool docs to ground the design.</a:t>
              </a:r>
              <a:endParaRPr lang="en-US" sz="1550" b="0" u="none" strike="noStrike">
                <a:solidFill>
                  <a:srgbClr val="000000"/>
                </a:solidFill>
                <a:effectLst/>
                <a:uFillTx/>
                <a:latin typeface="Arial"/>
              </a:endParaRPr>
            </a:p>
          </p:txBody>
        </p:sp>
      </p:grpSp>
      <p:grpSp>
        <p:nvGrpSpPr>
          <p:cNvPr id="129" name="knowledge-routing"/>
          <p:cNvGrpSpPr/>
          <p:nvPr/>
        </p:nvGrpSpPr>
        <p:grpSpPr>
          <a:xfrm>
            <a:off x="495360" y="1724040"/>
            <a:ext cx="11201040" cy="1771200"/>
            <a:chOff x="495360" y="1724040"/>
            <a:chExt cx="11201040" cy="1771200"/>
          </a:xfrm>
        </p:grpSpPr>
        <p:sp>
          <p:nvSpPr>
            <p:cNvPr id="130" name="Rectangle 5"/>
            <p:cNvSpPr/>
            <p:nvPr/>
          </p:nvSpPr>
          <p:spPr>
            <a:xfrm>
              <a:off x="495360" y="1724040"/>
              <a:ext cx="3504960" cy="1771200"/>
            </a:xfrm>
            <a:prstGeom prst="roundRect">
              <a:avLst>
                <a:gd name="adj" fmla="val 5376"/>
              </a:avLst>
            </a:prstGeom>
            <a:solidFill>
              <a:srgbClr val="EEF2FF"/>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31" name="TextBox 6"/>
            <p:cNvSpPr/>
            <p:nvPr/>
          </p:nvSpPr>
          <p:spPr>
            <a:xfrm>
              <a:off x="713880" y="1844640"/>
              <a:ext cx="276948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chemeClr val="accent2"/>
                  </a:solidFill>
                  <a:effectLst/>
                  <a:uFillTx/>
                  <a:latin typeface="Arial"/>
                  <a:ea typeface="Microsoft YaHei"/>
                </a:rPr>
                <a:t>Design data: trade-offs</a:t>
              </a:r>
              <a:endParaRPr lang="en-US" sz="1950" b="0" u="none" strike="noStrike">
                <a:solidFill>
                  <a:srgbClr val="000000"/>
                </a:solidFill>
                <a:effectLst/>
                <a:uFillTx/>
                <a:latin typeface="Arial"/>
              </a:endParaRPr>
            </a:p>
          </p:txBody>
        </p:sp>
        <p:sp>
          <p:nvSpPr>
            <p:cNvPr id="132" name="TextBox 7"/>
            <p:cNvSpPr/>
            <p:nvPr/>
          </p:nvSpPr>
          <p:spPr>
            <a:xfrm>
              <a:off x="715680" y="2311560"/>
              <a:ext cx="312624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chemeClr val="dk1"/>
                  </a:solidFill>
                  <a:effectLst/>
                  <a:uFillTx/>
                  <a:latin typeface="Arial"/>
                  <a:ea typeface="Microsoft YaHei"/>
                </a:rPr>
                <a:t>Product cases, images, feedback</a:t>
              </a:r>
              <a:endParaRPr lang="en-US" sz="1550" b="0" u="none" strike="noStrike">
                <a:solidFill>
                  <a:srgbClr val="000000"/>
                </a:solidFill>
                <a:effectLst/>
                <a:uFillTx/>
                <a:latin typeface="Arial"/>
              </a:endParaRPr>
            </a:p>
          </p:txBody>
        </p:sp>
        <p:sp>
          <p:nvSpPr>
            <p:cNvPr id="133" name="TextBox 8"/>
            <p:cNvSpPr/>
            <p:nvPr/>
          </p:nvSpPr>
          <p:spPr>
            <a:xfrm>
              <a:off x="715680" y="2701800"/>
              <a:ext cx="312624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chemeClr val="dk1"/>
                  </a:solidFill>
                  <a:effectLst/>
                  <a:uFillTx/>
                  <a:latin typeface="Arial"/>
                  <a:ea typeface="Microsoft YaHei"/>
                </a:rPr>
                <a:t>Structure, support, materials</a:t>
              </a:r>
              <a:endParaRPr lang="en-US" sz="1550" b="0" u="none" strike="noStrike">
                <a:solidFill>
                  <a:srgbClr val="000000"/>
                </a:solidFill>
                <a:effectLst/>
                <a:uFillTx/>
                <a:latin typeface="Arial"/>
              </a:endParaRPr>
            </a:p>
          </p:txBody>
        </p:sp>
        <p:sp>
          <p:nvSpPr>
            <p:cNvPr id="134" name="TextBox 9"/>
            <p:cNvSpPr/>
            <p:nvPr/>
          </p:nvSpPr>
          <p:spPr>
            <a:xfrm>
              <a:off x="717120" y="3139920"/>
              <a:ext cx="276156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00" b="0" u="none" strike="noStrike">
                  <a:solidFill>
                    <a:srgbClr val="66758A"/>
                  </a:solidFill>
                  <a:effectLst/>
                  <a:uFillTx/>
                  <a:latin typeface="Arial"/>
                  <a:ea typeface="Microsoft YaHei"/>
                </a:rPr>
                <a:t>Main evidence retrieved for this case</a:t>
              </a:r>
              <a:endParaRPr lang="en-US" sz="1300" b="0" u="none" strike="noStrike">
                <a:solidFill>
                  <a:srgbClr val="000000"/>
                </a:solidFill>
                <a:effectLst/>
                <a:uFillTx/>
                <a:latin typeface="Arial"/>
              </a:endParaRPr>
            </a:p>
          </p:txBody>
        </p:sp>
        <p:sp>
          <p:nvSpPr>
            <p:cNvPr id="135" name="Rectangle 10"/>
            <p:cNvSpPr/>
            <p:nvPr/>
          </p:nvSpPr>
          <p:spPr>
            <a:xfrm>
              <a:off x="4343400" y="1724040"/>
              <a:ext cx="3504960" cy="1771200"/>
            </a:xfrm>
            <a:prstGeom prst="roundRect">
              <a:avLst>
                <a:gd name="adj" fmla="val 5376"/>
              </a:avLst>
            </a:prstGeom>
            <a:solidFill>
              <a:srgbClr val="E8F6F2"/>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36" name="TextBox 11"/>
            <p:cNvSpPr/>
            <p:nvPr/>
          </p:nvSpPr>
          <p:spPr>
            <a:xfrm>
              <a:off x="4561920" y="1844640"/>
              <a:ext cx="264456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069B8A"/>
                  </a:solidFill>
                  <a:effectLst/>
                  <a:uFillTx/>
                  <a:latin typeface="Arial"/>
                  <a:ea typeface="Microsoft YaHei"/>
                </a:rPr>
                <a:t>Ear data: constraints</a:t>
              </a:r>
              <a:endParaRPr lang="en-US" sz="1950" b="0" u="none" strike="noStrike">
                <a:solidFill>
                  <a:srgbClr val="000000"/>
                </a:solidFill>
                <a:effectLst/>
                <a:uFillTx/>
                <a:latin typeface="Arial"/>
              </a:endParaRPr>
            </a:p>
          </p:txBody>
        </p:sp>
        <p:sp>
          <p:nvSpPr>
            <p:cNvPr id="137" name="TextBox 12"/>
            <p:cNvSpPr/>
            <p:nvPr/>
          </p:nvSpPr>
          <p:spPr>
            <a:xfrm>
              <a:off x="4563720" y="2311560"/>
              <a:ext cx="312624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chemeClr val="dk1"/>
                  </a:solidFill>
                  <a:effectLst/>
                  <a:uFillTx/>
                  <a:latin typeface="Arial"/>
                  <a:ea typeface="Microsoft YaHei"/>
                </a:rPr>
                <a:t>Ear regions, sizes, contact limits</a:t>
              </a:r>
              <a:endParaRPr lang="en-US" sz="1550" b="0" u="none" strike="noStrike">
                <a:solidFill>
                  <a:srgbClr val="000000"/>
                </a:solidFill>
                <a:effectLst/>
                <a:uFillTx/>
                <a:latin typeface="Arial"/>
              </a:endParaRPr>
            </a:p>
          </p:txBody>
        </p:sp>
        <p:sp>
          <p:nvSpPr>
            <p:cNvPr id="138" name="TextBox 13"/>
            <p:cNvSpPr/>
            <p:nvPr/>
          </p:nvSpPr>
          <p:spPr>
            <a:xfrm>
              <a:off x="4563720" y="2701800"/>
              <a:ext cx="321300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chemeClr val="dk1"/>
                  </a:solidFill>
                  <a:effectLst/>
                  <a:uFillTx/>
                  <a:latin typeface="Arial"/>
                  <a:ea typeface="Microsoft YaHei"/>
                </a:rPr>
                <a:t>Placement and fit. Comfort untested</a:t>
              </a:r>
              <a:endParaRPr lang="en-US" sz="1550" b="0" u="none" strike="noStrike">
                <a:solidFill>
                  <a:srgbClr val="000000"/>
                </a:solidFill>
                <a:effectLst/>
                <a:uFillTx/>
                <a:latin typeface="Arial"/>
              </a:endParaRPr>
            </a:p>
          </p:txBody>
        </p:sp>
        <p:sp>
          <p:nvSpPr>
            <p:cNvPr id="139" name="TextBox 14"/>
            <p:cNvSpPr/>
            <p:nvPr/>
          </p:nvSpPr>
          <p:spPr>
            <a:xfrm>
              <a:off x="4565160" y="3139920"/>
              <a:ext cx="323928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00" b="0" u="none" strike="noStrike">
                  <a:solidFill>
                    <a:srgbClr val="66758A"/>
                  </a:solidFill>
                  <a:effectLst/>
                  <a:uFillTx/>
                  <a:latin typeface="Arial"/>
                  <a:ea typeface="Microsoft YaHei"/>
                </a:rPr>
                <a:t>Separate knowledge base, chosen per task</a:t>
              </a:r>
              <a:endParaRPr lang="en-US" sz="1300" b="0" u="none" strike="noStrike">
                <a:solidFill>
                  <a:srgbClr val="000000"/>
                </a:solidFill>
                <a:effectLst/>
                <a:uFillTx/>
                <a:latin typeface="Arial"/>
              </a:endParaRPr>
            </a:p>
          </p:txBody>
        </p:sp>
        <p:sp>
          <p:nvSpPr>
            <p:cNvPr id="140" name="Rectangle 15"/>
            <p:cNvSpPr/>
            <p:nvPr/>
          </p:nvSpPr>
          <p:spPr>
            <a:xfrm>
              <a:off x="8191440" y="1724040"/>
              <a:ext cx="3504960" cy="1771200"/>
            </a:xfrm>
            <a:prstGeom prst="roundRect">
              <a:avLst>
                <a:gd name="adj" fmla="val 5376"/>
              </a:avLst>
            </a:prstGeom>
            <a:solidFill>
              <a:srgbClr val="F3EEFF"/>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41" name="TextBox 16"/>
            <p:cNvSpPr/>
            <p:nvPr/>
          </p:nvSpPr>
          <p:spPr>
            <a:xfrm>
              <a:off x="8410320" y="1844640"/>
              <a:ext cx="264456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chemeClr val="accent6"/>
                  </a:solidFill>
                  <a:effectLst/>
                  <a:uFillTx/>
                  <a:latin typeface="Arial"/>
                  <a:ea typeface="Microsoft YaHei"/>
                </a:rPr>
                <a:t>Tool data: operations</a:t>
              </a:r>
              <a:endParaRPr lang="en-US" sz="1950" b="0" u="none" strike="noStrike">
                <a:solidFill>
                  <a:srgbClr val="000000"/>
                </a:solidFill>
                <a:effectLst/>
                <a:uFillTx/>
                <a:latin typeface="Arial"/>
              </a:endParaRPr>
            </a:p>
          </p:txBody>
        </p:sp>
        <p:sp>
          <p:nvSpPr>
            <p:cNvPr id="142" name="TextBox 17"/>
            <p:cNvSpPr/>
            <p:nvPr/>
          </p:nvSpPr>
          <p:spPr>
            <a:xfrm>
              <a:off x="8411760" y="2311560"/>
              <a:ext cx="312048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chemeClr val="dk1"/>
                  </a:solidFill>
                  <a:effectLst/>
                  <a:uFillTx/>
                  <a:latin typeface="Arial"/>
                  <a:ea typeface="Microsoft YaHei"/>
                </a:rPr>
                <a:t>FreeCAD docs, modeling, checks</a:t>
              </a:r>
              <a:endParaRPr lang="en-US" sz="1550" b="0" u="none" strike="noStrike">
                <a:solidFill>
                  <a:srgbClr val="000000"/>
                </a:solidFill>
                <a:effectLst/>
                <a:uFillTx/>
                <a:latin typeface="Arial"/>
              </a:endParaRPr>
            </a:p>
          </p:txBody>
        </p:sp>
        <p:sp>
          <p:nvSpPr>
            <p:cNvPr id="143" name="TextBox 18"/>
            <p:cNvSpPr/>
            <p:nvPr/>
          </p:nvSpPr>
          <p:spPr>
            <a:xfrm>
              <a:off x="8411760" y="2701800"/>
              <a:ext cx="272088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chemeClr val="dk1"/>
                  </a:solidFill>
                  <a:effectLst/>
                  <a:uFillTx/>
                  <a:latin typeface="Arial"/>
                  <a:ea typeface="Microsoft YaHei"/>
                </a:rPr>
                <a:t>Guides operations and checks</a:t>
              </a:r>
              <a:endParaRPr lang="en-US" sz="1550" b="0" u="none" strike="noStrike">
                <a:solidFill>
                  <a:srgbClr val="000000"/>
                </a:solidFill>
                <a:effectLst/>
                <a:uFillTx/>
                <a:latin typeface="Arial"/>
              </a:endParaRPr>
            </a:p>
          </p:txBody>
        </p:sp>
        <p:sp>
          <p:nvSpPr>
            <p:cNvPr id="144" name="TextBox 19"/>
            <p:cNvSpPr/>
            <p:nvPr/>
          </p:nvSpPr>
          <p:spPr>
            <a:xfrm>
              <a:off x="8413200" y="3139920"/>
              <a:ext cx="307368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00" b="0" u="none" strike="noStrike">
                  <a:solidFill>
                    <a:srgbClr val="66758A"/>
                  </a:solidFill>
                  <a:effectLst/>
                  <a:uFillTx/>
                  <a:latin typeface="Arial"/>
                  <a:ea typeface="Microsoft YaHei"/>
                </a:rPr>
                <a:t>Retrieved apart from product design data</a:t>
              </a:r>
              <a:endParaRPr lang="en-US" sz="1300" b="0" u="none" strike="noStrike">
                <a:solidFill>
                  <a:srgbClr val="000000"/>
                </a:solidFill>
                <a:effectLst/>
                <a:uFillTx/>
                <a:latin typeface="Arial"/>
              </a:endParaRPr>
            </a:p>
          </p:txBody>
        </p:sp>
      </p:grpSp>
      <p:grpSp>
        <p:nvGrpSpPr>
          <p:cNvPr id="145" name="decision-example"/>
          <p:cNvGrpSpPr/>
          <p:nvPr/>
        </p:nvGrpSpPr>
        <p:grpSpPr>
          <a:xfrm>
            <a:off x="483120" y="3889440"/>
            <a:ext cx="11213280" cy="2343240"/>
            <a:chOff x="483120" y="3889440"/>
            <a:chExt cx="11213280" cy="2343240"/>
          </a:xfrm>
        </p:grpSpPr>
        <p:sp>
          <p:nvSpPr>
            <p:cNvPr id="146" name="TextBox 21"/>
            <p:cNvSpPr/>
            <p:nvPr/>
          </p:nvSpPr>
          <p:spPr>
            <a:xfrm>
              <a:off x="483120" y="3889440"/>
              <a:ext cx="6746040" cy="4690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400" b="1" u="none" strike="noStrike">
                  <a:solidFill>
                    <a:schemeClr val="accent1"/>
                  </a:solidFill>
                  <a:effectLst/>
                  <a:uFillTx/>
                  <a:latin typeface="Arial"/>
                  <a:ea typeface="Microsoft YaHei"/>
                </a:rPr>
                <a:t>How retrieved data supports design decisions</a:t>
              </a:r>
              <a:endParaRPr lang="en-US" sz="2400" b="0" u="none" strike="noStrike">
                <a:solidFill>
                  <a:srgbClr val="000000"/>
                </a:solidFill>
                <a:effectLst/>
                <a:uFillTx/>
                <a:latin typeface="Arial"/>
              </a:endParaRPr>
            </a:p>
          </p:txBody>
        </p:sp>
        <p:sp>
          <p:nvSpPr>
            <p:cNvPr id="147" name="TextBox 22"/>
            <p:cNvSpPr/>
            <p:nvPr/>
          </p:nvSpPr>
          <p:spPr>
            <a:xfrm>
              <a:off x="487080" y="4473720"/>
              <a:ext cx="483156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chemeClr val="dk1"/>
                  </a:solidFill>
                  <a:effectLst/>
                  <a:uFillTx/>
                  <a:latin typeface="Arial"/>
                  <a:ea typeface="Microsoft YaHei"/>
                </a:rPr>
                <a:t>Small-volume cases: fewer functions, simpler structure</a:t>
              </a:r>
              <a:endParaRPr lang="en-US" sz="1550" b="0" u="none" strike="noStrike">
                <a:solidFill>
                  <a:srgbClr val="000000"/>
                </a:solidFill>
                <a:effectLst/>
                <a:uFillTx/>
                <a:latin typeface="Arial"/>
              </a:endParaRPr>
            </a:p>
          </p:txBody>
        </p:sp>
        <p:sp>
          <p:nvSpPr>
            <p:cNvPr id="148" name="TextBox 23"/>
            <p:cNvSpPr/>
            <p:nvPr/>
          </p:nvSpPr>
          <p:spPr>
            <a:xfrm>
              <a:off x="487080" y="4873680"/>
              <a:ext cx="416484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chemeClr val="dk1"/>
                  </a:solidFill>
                  <a:effectLst/>
                  <a:uFillTx/>
                  <a:latin typeface="Arial"/>
                  <a:ea typeface="Microsoft YaHei"/>
                </a:rPr>
                <a:t>Soft-support cases: hard shell vs. contact parts</a:t>
              </a:r>
              <a:endParaRPr lang="en-US" sz="1550" b="0" u="none" strike="noStrike">
                <a:solidFill>
                  <a:srgbClr val="000000"/>
                </a:solidFill>
                <a:effectLst/>
                <a:uFillTx/>
                <a:latin typeface="Arial"/>
              </a:endParaRPr>
            </a:p>
          </p:txBody>
        </p:sp>
        <p:sp>
          <p:nvSpPr>
            <p:cNvPr id="149" name="TextBox 24"/>
            <p:cNvSpPr/>
            <p:nvPr/>
          </p:nvSpPr>
          <p:spPr>
            <a:xfrm>
              <a:off x="487080" y="5273640"/>
              <a:ext cx="482868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chemeClr val="dk1"/>
                  </a:solidFill>
                  <a:effectLst/>
                  <a:uFillTx/>
                  <a:latin typeface="Arial"/>
                  <a:ea typeface="Microsoft YaHei"/>
                </a:rPr>
                <a:t>User feedback: charging, controls, long-term trade-offs</a:t>
              </a:r>
              <a:endParaRPr lang="en-US" sz="1550" b="0" u="none" strike="noStrike">
                <a:solidFill>
                  <a:srgbClr val="000000"/>
                </a:solidFill>
                <a:effectLst/>
                <a:uFillTx/>
                <a:latin typeface="Arial"/>
              </a:endParaRPr>
            </a:p>
          </p:txBody>
        </p:sp>
        <p:sp>
          <p:nvSpPr>
            <p:cNvPr id="150" name="Line 25"/>
            <p:cNvSpPr/>
            <p:nvPr/>
          </p:nvSpPr>
          <p:spPr>
            <a:xfrm>
              <a:off x="5524200" y="5076720"/>
              <a:ext cx="762120" cy="0"/>
            </a:xfrm>
            <a:prstGeom prst="line">
              <a:avLst/>
            </a:prstGeom>
            <a:ln w="28575">
              <a:solidFill>
                <a:srgbClr val="3662E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151" name="Rectangle 26"/>
            <p:cNvSpPr/>
            <p:nvPr/>
          </p:nvSpPr>
          <p:spPr>
            <a:xfrm>
              <a:off x="6543720" y="4429080"/>
              <a:ext cx="5152680" cy="1371240"/>
            </a:xfrm>
            <a:prstGeom prst="roundRect">
              <a:avLst>
                <a:gd name="adj" fmla="val 6944"/>
              </a:avLst>
            </a:prstGeom>
            <a:solidFill>
              <a:schemeClr val="accent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52" name="TextBox 27"/>
            <p:cNvSpPr/>
            <p:nvPr/>
          </p:nvSpPr>
          <p:spPr>
            <a:xfrm>
              <a:off x="6781320" y="4578480"/>
              <a:ext cx="440820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FFFFFF"/>
                  </a:solidFill>
                  <a:effectLst/>
                  <a:uFillTx/>
                  <a:latin typeface="Arial"/>
                  <a:ea typeface="Microsoft YaHei"/>
                </a:rPr>
                <a:t>Record advice, evidence, open items</a:t>
              </a:r>
              <a:endParaRPr lang="en-US" sz="1950" b="0" u="none" strike="noStrike">
                <a:solidFill>
                  <a:srgbClr val="000000"/>
                </a:solidFill>
                <a:effectLst/>
                <a:uFillTx/>
                <a:latin typeface="Arial"/>
              </a:endParaRPr>
            </a:p>
          </p:txBody>
        </p:sp>
        <p:sp>
          <p:nvSpPr>
            <p:cNvPr id="153" name="TextBox 28"/>
            <p:cNvSpPr/>
            <p:nvPr/>
          </p:nvSpPr>
          <p:spPr>
            <a:xfrm>
              <a:off x="6783120" y="5025960"/>
              <a:ext cx="383688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rgbClr val="FFFFFF"/>
                  </a:solidFill>
                  <a:effectLst/>
                  <a:uFillTx/>
                  <a:latin typeface="Arial"/>
                  <a:ea typeface="Microsoft YaHei"/>
                </a:rPr>
                <a:t>Which features to borrow, and from where?</a:t>
              </a:r>
              <a:endParaRPr lang="en-US" sz="1550" b="0" u="none" strike="noStrike">
                <a:solidFill>
                  <a:srgbClr val="000000"/>
                </a:solidFill>
                <a:effectLst/>
                <a:uFillTx/>
                <a:latin typeface="Arial"/>
              </a:endParaRPr>
            </a:p>
          </p:txBody>
        </p:sp>
        <p:sp>
          <p:nvSpPr>
            <p:cNvPr id="154" name="TextBox 29"/>
            <p:cNvSpPr/>
            <p:nvPr/>
          </p:nvSpPr>
          <p:spPr>
            <a:xfrm>
              <a:off x="6783120" y="5369040"/>
              <a:ext cx="450396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rgbClr val="FFFFFF"/>
                  </a:solidFill>
                  <a:effectLst/>
                  <a:uFillTx/>
                  <a:latin typeface="Arial"/>
                  <a:ea typeface="Microsoft YaHei"/>
                </a:rPr>
                <a:t>Which sizes and wear performance lack evidence?</a:t>
              </a:r>
              <a:endParaRPr lang="en-US" sz="1550" b="0" u="none" strike="noStrike">
                <a:solidFill>
                  <a:srgbClr val="000000"/>
                </a:solidFill>
                <a:effectLst/>
                <a:uFillTx/>
                <a:latin typeface="Arial"/>
              </a:endParaRPr>
            </a:p>
          </p:txBody>
        </p:sp>
        <p:sp>
          <p:nvSpPr>
            <p:cNvPr id="155" name="TextBox 30"/>
            <p:cNvSpPr/>
            <p:nvPr/>
          </p:nvSpPr>
          <p:spPr>
            <a:xfrm>
              <a:off x="488520" y="5969160"/>
              <a:ext cx="777240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00" b="0" u="none" strike="noStrike">
                  <a:solidFill>
                    <a:srgbClr val="66758A"/>
                  </a:solidFill>
                  <a:effectLst/>
                  <a:uFillTx/>
                  <a:latin typeface="Arial"/>
                  <a:ea typeface="Microsoft YaHei"/>
                </a:rPr>
                <a:t>References include QuietOn, Kokoon, Ozlo, and Nothing Ear, each with source type and applicable limits.</a:t>
              </a:r>
              <a:endParaRPr lang="en-US" sz="1300" b="0" u="none" strike="noStrike">
                <a:solidFill>
                  <a:srgbClr val="000000"/>
                </a:solidFill>
                <a:effectLst/>
                <a:uFillTx/>
                <a:latin typeface="Arial"/>
              </a:endParaRPr>
            </a:p>
          </p:txBody>
        </p:sp>
      </p:grpSp>
      <p:sp>
        <p:nvSpPr>
          <p:cNvPr id="156" name="footer-label"/>
          <p:cNvSpPr/>
          <p:nvPr/>
        </p:nvSpPr>
        <p:spPr>
          <a:xfrm>
            <a:off x="488520" y="6407280"/>
            <a:ext cx="491796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00" b="0" u="none" strike="noStrike">
                <a:solidFill>
                  <a:srgbClr val="66758A"/>
                </a:solidFill>
                <a:effectLst/>
                <a:uFillTx/>
                <a:latin typeface="Arial"/>
                <a:ea typeface="Microsoft YaHei"/>
              </a:rPr>
              <a:t>Retrieval relevance and source credibility are assessed separately</a:t>
            </a:r>
            <a:endParaRPr lang="en-US" sz="1300" b="0" u="none" strike="noStrike">
              <a:solidFill>
                <a:srgbClr val="000000"/>
              </a:solidFill>
              <a:effectLst/>
              <a:uFillTx/>
              <a:latin typeface="Arial"/>
            </a:endParaRPr>
          </a:p>
        </p:txBody>
      </p:sp>
      <p:sp>
        <p:nvSpPr>
          <p:cNvPr id="157" name="page-number"/>
          <p:cNvSpPr/>
          <p:nvPr/>
        </p:nvSpPr>
        <p:spPr>
          <a:xfrm>
            <a:off x="11446920" y="6407280"/>
            <a:ext cx="256320" cy="263520"/>
          </a:xfrm>
          <a:prstGeom prst="rect">
            <a:avLst/>
          </a:prstGeom>
          <a:noFill/>
          <a:ln w="0">
            <a:noFill/>
          </a:ln>
        </p:spPr>
        <p:style>
          <a:lnRef idx="0"/>
          <a:fillRef idx="0"/>
          <a:effectRef idx="0"/>
          <a:fontRef idx="minor"/>
        </p:style>
        <p:txBody>
          <a:bodyPr wrap="none" lIns="0" tIns="0" rIns="0" bIns="0" anchor="t" anchorCtr="1">
            <a:spAutoFit/>
          </a:bodyPr>
          <a:p>
            <a:pPr algn="r" defTabSz="457200">
              <a:lnSpc>
                <a:spcPct val="100000"/>
              </a:lnSpc>
            </a:pPr>
            <a:r>
              <a:rPr lang="en-US" sz="1300" b="0" u="none" strike="noStrike">
                <a:solidFill>
                  <a:srgbClr val="66758A"/>
                </a:solidFill>
                <a:effectLst/>
                <a:uFillTx/>
                <a:latin typeface="Arial"/>
                <a:ea typeface="Microsoft YaHei"/>
              </a:rPr>
              <a:t>05</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158" name="header"/>
          <p:cNvGrpSpPr/>
          <p:nvPr/>
        </p:nvGrpSpPr>
        <p:grpSpPr>
          <a:xfrm>
            <a:off x="478440" y="422280"/>
            <a:ext cx="10227240" cy="973080"/>
            <a:chOff x="478440" y="422280"/>
            <a:chExt cx="10227240" cy="973080"/>
          </a:xfrm>
        </p:grpSpPr>
        <p:sp>
          <p:nvSpPr>
            <p:cNvPr id="159" name="TextBox 2"/>
            <p:cNvSpPr/>
            <p:nvPr/>
          </p:nvSpPr>
          <p:spPr>
            <a:xfrm>
              <a:off x="478440" y="422280"/>
              <a:ext cx="8503200" cy="6451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3300" b="1" u="none" strike="noStrike">
                  <a:solidFill>
                    <a:schemeClr val="accent1"/>
                  </a:solidFill>
                  <a:effectLst/>
                  <a:uFillTx/>
                  <a:latin typeface="Arial"/>
                  <a:ea typeface="Microsoft YaHei"/>
                </a:rPr>
                <a:t>Feature Extraction from User Descriptions</a:t>
              </a:r>
              <a:endParaRPr lang="en-US" sz="3300" b="0" u="none" strike="noStrike">
                <a:solidFill>
                  <a:srgbClr val="000000"/>
                </a:solidFill>
                <a:effectLst/>
                <a:uFillTx/>
                <a:latin typeface="Arial"/>
              </a:endParaRPr>
            </a:p>
          </p:txBody>
        </p:sp>
        <p:sp>
          <p:nvSpPr>
            <p:cNvPr id="160" name="TextBox 3"/>
            <p:cNvSpPr/>
            <p:nvPr/>
          </p:nvSpPr>
          <p:spPr>
            <a:xfrm>
              <a:off x="487080" y="1073160"/>
              <a:ext cx="1021860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rgbClr val="66758A"/>
                  </a:solidFill>
                  <a:effectLst/>
                  <a:uFillTx/>
                  <a:latin typeface="Arial"/>
                  <a:ea typeface="Microsoft YaHei"/>
                </a:rPr>
                <a:t>AI extracts design features from the description, retrieves data by need dimension, and organizes candidates.</a:t>
              </a:r>
              <a:endParaRPr lang="en-US" sz="1650" b="0" u="none" strike="noStrike">
                <a:solidFill>
                  <a:srgbClr val="000000"/>
                </a:solidFill>
                <a:effectLst/>
                <a:uFillTx/>
                <a:latin typeface="Arial"/>
              </a:endParaRPr>
            </a:p>
          </p:txBody>
        </p:sp>
      </p:grpSp>
      <p:grpSp>
        <p:nvGrpSpPr>
          <p:cNvPr id="161" name="feature-pipeline"/>
          <p:cNvGrpSpPr/>
          <p:nvPr/>
        </p:nvGrpSpPr>
        <p:grpSpPr>
          <a:xfrm>
            <a:off x="485280" y="1739880"/>
            <a:ext cx="11252160" cy="1783800"/>
            <a:chOff x="485280" y="1739880"/>
            <a:chExt cx="11252160" cy="1783800"/>
          </a:xfrm>
        </p:grpSpPr>
        <p:sp>
          <p:nvSpPr>
            <p:cNvPr id="162" name="TextBox 5"/>
            <p:cNvSpPr/>
            <p:nvPr/>
          </p:nvSpPr>
          <p:spPr>
            <a:xfrm>
              <a:off x="485280" y="1739880"/>
              <a:ext cx="349884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chemeClr val="accent1"/>
                  </a:solidFill>
                  <a:effectLst/>
                  <a:uFillTx/>
                  <a:latin typeface="Arial"/>
                  <a:ea typeface="Microsoft YaHei"/>
                </a:rPr>
                <a:t>Natural-language description</a:t>
              </a:r>
              <a:endParaRPr lang="en-US" sz="1950" b="0" u="none" strike="noStrike">
                <a:solidFill>
                  <a:srgbClr val="000000"/>
                </a:solidFill>
                <a:effectLst/>
                <a:uFillTx/>
                <a:latin typeface="Arial"/>
              </a:endParaRPr>
            </a:p>
          </p:txBody>
        </p:sp>
        <p:sp>
          <p:nvSpPr>
            <p:cNvPr id="163" name="TextBox 6"/>
            <p:cNvSpPr/>
            <p:nvPr/>
          </p:nvSpPr>
          <p:spPr>
            <a:xfrm>
              <a:off x="487080" y="2254320"/>
              <a:ext cx="286812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chemeClr val="dk1"/>
                  </a:solidFill>
                  <a:effectLst/>
                  <a:uFillTx/>
                  <a:latin typeface="Arial"/>
                  <a:ea typeface="Microsoft YaHei"/>
                </a:rPr>
                <a:t>Problem, context, preferences</a:t>
              </a:r>
              <a:endParaRPr lang="en-US" sz="1650" b="0" u="none" strike="noStrike">
                <a:solidFill>
                  <a:srgbClr val="000000"/>
                </a:solidFill>
                <a:effectLst/>
                <a:uFillTx/>
                <a:latin typeface="Arial"/>
              </a:endParaRPr>
            </a:p>
          </p:txBody>
        </p:sp>
        <p:sp>
          <p:nvSpPr>
            <p:cNvPr id="164" name="Rectangle 7"/>
            <p:cNvSpPr/>
            <p:nvPr/>
          </p:nvSpPr>
          <p:spPr>
            <a:xfrm>
              <a:off x="495360" y="2685960"/>
              <a:ext cx="3076200" cy="837720"/>
            </a:xfrm>
            <a:prstGeom prst="roundRect">
              <a:avLst>
                <a:gd name="adj" fmla="val 9091"/>
              </a:avLst>
            </a:prstGeom>
            <a:solidFill>
              <a:schemeClr val="lt1"/>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65" name="TextBox 8"/>
            <p:cNvSpPr/>
            <p:nvPr/>
          </p:nvSpPr>
          <p:spPr>
            <a:xfrm>
              <a:off x="650520" y="2778120"/>
              <a:ext cx="116496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00" b="0" u="none" strike="noStrike">
                  <a:solidFill>
                    <a:srgbClr val="66758A"/>
                  </a:solidFill>
                  <a:effectLst/>
                  <a:uFillTx/>
                  <a:latin typeface="Arial"/>
                  <a:ea typeface="Microsoft YaHei"/>
                </a:rPr>
                <a:t>Example input:</a:t>
              </a:r>
              <a:endParaRPr lang="en-US" sz="1300" b="0" u="none" strike="noStrike">
                <a:solidFill>
                  <a:srgbClr val="000000"/>
                </a:solidFill>
                <a:effectLst/>
                <a:uFillTx/>
                <a:latin typeface="Arial"/>
              </a:endParaRPr>
            </a:p>
          </p:txBody>
        </p:sp>
        <p:sp>
          <p:nvSpPr>
            <p:cNvPr id="166" name="TextBox 9"/>
            <p:cNvSpPr/>
            <p:nvPr/>
          </p:nvSpPr>
          <p:spPr>
            <a:xfrm>
              <a:off x="650520" y="3054240"/>
              <a:ext cx="352332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00" b="0" u="none" strike="noStrike">
                  <a:solidFill>
                    <a:schemeClr val="dk1"/>
                  </a:solidFill>
                  <a:effectLst/>
                  <a:uFillTx/>
                  <a:latin typeface="Arial"/>
                  <a:ea typeface="Microsoft YaHei"/>
                </a:rPr>
                <a:t>in-ear, stable in sport and sleep, youthful colors</a:t>
              </a:r>
              <a:endParaRPr lang="en-US" sz="1300" b="0" u="none" strike="noStrike">
                <a:solidFill>
                  <a:srgbClr val="000000"/>
                </a:solidFill>
                <a:effectLst/>
                <a:uFillTx/>
                <a:latin typeface="Arial"/>
              </a:endParaRPr>
            </a:p>
          </p:txBody>
        </p:sp>
        <p:sp>
          <p:nvSpPr>
            <p:cNvPr id="167" name="Line 10"/>
            <p:cNvSpPr/>
            <p:nvPr/>
          </p:nvSpPr>
          <p:spPr>
            <a:xfrm>
              <a:off x="3666960" y="2571480"/>
              <a:ext cx="399960" cy="0"/>
            </a:xfrm>
            <a:prstGeom prst="line">
              <a:avLst/>
            </a:prstGeom>
            <a:ln w="19050">
              <a:solidFill>
                <a:srgbClr val="3662E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168" name="TextBox 11"/>
            <p:cNvSpPr/>
            <p:nvPr/>
          </p:nvSpPr>
          <p:spPr>
            <a:xfrm>
              <a:off x="4333320" y="1739880"/>
              <a:ext cx="270072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chemeClr val="accent2"/>
                  </a:solidFill>
                  <a:effectLst/>
                  <a:uFillTx/>
                  <a:latin typeface="Arial"/>
                  <a:ea typeface="Microsoft YaHei"/>
                </a:rPr>
                <a:t>Split need dimensions</a:t>
              </a:r>
              <a:endParaRPr lang="en-US" sz="1950" b="0" u="none" strike="noStrike">
                <a:solidFill>
                  <a:srgbClr val="000000"/>
                </a:solidFill>
                <a:effectLst/>
                <a:uFillTx/>
                <a:latin typeface="Arial"/>
              </a:endParaRPr>
            </a:p>
          </p:txBody>
        </p:sp>
        <p:sp>
          <p:nvSpPr>
            <p:cNvPr id="169" name="TextBox 12"/>
            <p:cNvSpPr/>
            <p:nvPr/>
          </p:nvSpPr>
          <p:spPr>
            <a:xfrm>
              <a:off x="4335120" y="2254320"/>
              <a:ext cx="300384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chemeClr val="dk1"/>
                  </a:solidFill>
                  <a:effectLst/>
                  <a:uFillTx/>
                  <a:latin typeface="Arial"/>
                  <a:ea typeface="Microsoft YaHei"/>
                </a:rPr>
                <a:t>Form / scene / function / look</a:t>
              </a:r>
              <a:endParaRPr lang="en-US" sz="1650" b="0" u="none" strike="noStrike">
                <a:solidFill>
                  <a:srgbClr val="000000"/>
                </a:solidFill>
                <a:effectLst/>
                <a:uFillTx/>
                <a:latin typeface="Arial"/>
              </a:endParaRPr>
            </a:p>
          </p:txBody>
        </p:sp>
        <p:sp>
          <p:nvSpPr>
            <p:cNvPr id="170" name="TextBox 13"/>
            <p:cNvSpPr/>
            <p:nvPr/>
          </p:nvSpPr>
          <p:spPr>
            <a:xfrm>
              <a:off x="4335120" y="2692440"/>
              <a:ext cx="362484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chemeClr val="dk1"/>
                  </a:solidFill>
                  <a:effectLst/>
                  <a:uFillTx/>
                  <a:latin typeface="Arial"/>
                  <a:ea typeface="Microsoft YaHei"/>
                </a:rPr>
                <a:t>Mark constraints, conflicts, open items</a:t>
              </a:r>
              <a:endParaRPr lang="en-US" sz="1650" b="0" u="none" strike="noStrike">
                <a:solidFill>
                  <a:srgbClr val="000000"/>
                </a:solidFill>
                <a:effectLst/>
                <a:uFillTx/>
                <a:latin typeface="Arial"/>
              </a:endParaRPr>
            </a:p>
          </p:txBody>
        </p:sp>
        <p:sp>
          <p:nvSpPr>
            <p:cNvPr id="171" name="TextBox 14"/>
            <p:cNvSpPr/>
            <p:nvPr/>
          </p:nvSpPr>
          <p:spPr>
            <a:xfrm>
              <a:off x="4336560" y="3168720"/>
              <a:ext cx="248616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00" b="0" u="none" strike="noStrike">
                  <a:solidFill>
                    <a:srgbClr val="66758A"/>
                  </a:solidFill>
                  <a:effectLst/>
                  <a:uFillTx/>
                  <a:latin typeface="Arial"/>
                  <a:ea typeface="Microsoft YaHei"/>
                </a:rPr>
                <a:t>Sleep is a scene. In-ear is a form</a:t>
              </a:r>
              <a:endParaRPr lang="en-US" sz="1300" b="0" u="none" strike="noStrike">
                <a:solidFill>
                  <a:srgbClr val="000000"/>
                </a:solidFill>
                <a:effectLst/>
                <a:uFillTx/>
                <a:latin typeface="Arial"/>
              </a:endParaRPr>
            </a:p>
          </p:txBody>
        </p:sp>
        <p:sp>
          <p:nvSpPr>
            <p:cNvPr id="172" name="Line 15"/>
            <p:cNvSpPr/>
            <p:nvPr/>
          </p:nvSpPr>
          <p:spPr>
            <a:xfrm>
              <a:off x="7667280" y="2571480"/>
              <a:ext cx="400320" cy="0"/>
            </a:xfrm>
            <a:prstGeom prst="line">
              <a:avLst/>
            </a:prstGeom>
            <a:ln w="19050">
              <a:solidFill>
                <a:srgbClr val="3662E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173" name="TextBox 16"/>
            <p:cNvSpPr/>
            <p:nvPr/>
          </p:nvSpPr>
          <p:spPr>
            <a:xfrm>
              <a:off x="8343360" y="1739880"/>
              <a:ext cx="264636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chemeClr val="accent2"/>
                  </a:solidFill>
                  <a:effectLst/>
                  <a:uFillTx/>
                  <a:latin typeface="Arial"/>
                  <a:ea typeface="Microsoft YaHei"/>
                </a:rPr>
                <a:t>Retrieve and combine</a:t>
              </a:r>
              <a:endParaRPr lang="en-US" sz="1950" b="0" u="none" strike="noStrike">
                <a:solidFill>
                  <a:srgbClr val="000000"/>
                </a:solidFill>
                <a:effectLst/>
                <a:uFillTx/>
                <a:latin typeface="Arial"/>
              </a:endParaRPr>
            </a:p>
          </p:txBody>
        </p:sp>
        <p:sp>
          <p:nvSpPr>
            <p:cNvPr id="174" name="TextBox 17"/>
            <p:cNvSpPr/>
            <p:nvPr/>
          </p:nvSpPr>
          <p:spPr>
            <a:xfrm>
              <a:off x="8345160" y="2254320"/>
              <a:ext cx="339228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chemeClr val="dk1"/>
                  </a:solidFill>
                  <a:effectLst/>
                  <a:uFillTx/>
                  <a:latin typeface="Arial"/>
                  <a:ea typeface="Microsoft YaHei"/>
                </a:rPr>
                <a:t>Query per dimension, then combine</a:t>
              </a:r>
              <a:endParaRPr lang="en-US" sz="1650" b="0" u="none" strike="noStrike">
                <a:solidFill>
                  <a:srgbClr val="000000"/>
                </a:solidFill>
                <a:effectLst/>
                <a:uFillTx/>
                <a:latin typeface="Arial"/>
              </a:endParaRPr>
            </a:p>
          </p:txBody>
        </p:sp>
        <p:sp>
          <p:nvSpPr>
            <p:cNvPr id="175" name="TextBox 18"/>
            <p:cNvSpPr/>
            <p:nvPr/>
          </p:nvSpPr>
          <p:spPr>
            <a:xfrm>
              <a:off x="8345160" y="2692440"/>
              <a:ext cx="334584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chemeClr val="dk1"/>
                  </a:solidFill>
                  <a:effectLst/>
                  <a:uFillTx/>
                  <a:latin typeface="Arial"/>
                  <a:ea typeface="Microsoft YaHei"/>
                </a:rPr>
                <a:t>Deduplicate, keep uncovered items</a:t>
              </a:r>
              <a:endParaRPr lang="en-US" sz="1650" b="0" u="none" strike="noStrike">
                <a:solidFill>
                  <a:srgbClr val="000000"/>
                </a:solidFill>
                <a:effectLst/>
                <a:uFillTx/>
                <a:latin typeface="Arial"/>
              </a:endParaRPr>
            </a:p>
          </p:txBody>
        </p:sp>
        <p:sp>
          <p:nvSpPr>
            <p:cNvPr id="176" name="TextBox 19"/>
            <p:cNvSpPr/>
            <p:nvPr/>
          </p:nvSpPr>
          <p:spPr>
            <a:xfrm>
              <a:off x="8346600" y="3168720"/>
              <a:ext cx="318384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00" b="0" u="none" strike="noStrike">
                  <a:solidFill>
                    <a:srgbClr val="66758A"/>
                  </a:solidFill>
                  <a:effectLst/>
                  <a:uFillTx/>
                  <a:latin typeface="Arial"/>
                  <a:ea typeface="Microsoft YaHei"/>
                </a:rPr>
                <a:t>Lexical and semantic search keep sources</a:t>
              </a:r>
              <a:endParaRPr lang="en-US" sz="1300" b="0" u="none" strike="noStrike">
                <a:solidFill>
                  <a:srgbClr val="000000"/>
                </a:solidFill>
                <a:effectLst/>
                <a:uFillTx/>
                <a:latin typeface="Arial"/>
              </a:endParaRPr>
            </a:p>
          </p:txBody>
        </p:sp>
      </p:grpSp>
      <p:grpSp>
        <p:nvGrpSpPr>
          <p:cNvPr id="177" name="constraint-separation"/>
          <p:cNvGrpSpPr/>
          <p:nvPr/>
        </p:nvGrpSpPr>
        <p:grpSpPr>
          <a:xfrm>
            <a:off x="495360" y="3895560"/>
            <a:ext cx="11201040" cy="919440"/>
            <a:chOff x="495360" y="3895560"/>
            <a:chExt cx="11201040" cy="919440"/>
          </a:xfrm>
        </p:grpSpPr>
        <p:sp>
          <p:nvSpPr>
            <p:cNvPr id="178" name="Line 21"/>
            <p:cNvSpPr/>
            <p:nvPr/>
          </p:nvSpPr>
          <p:spPr>
            <a:xfrm>
              <a:off x="495360" y="3895560"/>
              <a:ext cx="11201040" cy="9000"/>
            </a:xfrm>
            <a:custGeom>
              <a:avLst/>
              <a:gdLst>
                <a:gd name="textAreaLeft" fmla="*/ 0 w 11201040"/>
                <a:gd name="textAreaRight" fmla="*/ 11201400 w 11201040"/>
                <a:gd name="textAreaTop" fmla="*/ 0 h 9000"/>
                <a:gd name="textAreaBottom" fmla="*/ 9360 h 9000"/>
              </a:gdLst>
              <a:ahLst/>
              <a:cxnLst/>
              <a:rect l="textAreaLeft" t="textAreaTop" r="textAreaRight" b="textAreaBottom"/>
              <a:pathLst>
                <a:path w="11201400" h="9525">
                  <a:moveTo>
                    <a:pt x="0" y="0"/>
                  </a:moveTo>
                  <a:lnTo>
                    <a:pt x="11201400" y="0"/>
                  </a:lnTo>
                </a:path>
              </a:pathLst>
            </a:custGeom>
            <a:noFill/>
            <a:ln w="9525">
              <a:solidFill>
                <a:srgbClr val="DCE3EF"/>
              </a:solidFill>
              <a:round/>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
          <p:nvSpPr>
            <p:cNvPr id="179" name="Ellipse 22"/>
            <p:cNvSpPr/>
            <p:nvPr/>
          </p:nvSpPr>
          <p:spPr>
            <a:xfrm>
              <a:off x="533520" y="4181400"/>
              <a:ext cx="361440" cy="361440"/>
            </a:xfrm>
            <a:prstGeom prst="ellipse">
              <a:avLst/>
            </a:prstGeom>
            <a:solidFill>
              <a:schemeClr val="accent2"/>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80" name="TextBox 23"/>
            <p:cNvSpPr/>
            <p:nvPr/>
          </p:nvSpPr>
          <p:spPr>
            <a:xfrm>
              <a:off x="1056960" y="4054320"/>
              <a:ext cx="204048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chemeClr val="accent1"/>
                  </a:solidFill>
                  <a:effectLst/>
                  <a:uFillTx/>
                  <a:latin typeface="Arial"/>
                  <a:ea typeface="Microsoft YaHei"/>
                </a:rPr>
                <a:t>Hard constraints</a:t>
              </a:r>
              <a:endParaRPr lang="en-US" sz="1950" b="0" u="none" strike="noStrike">
                <a:solidFill>
                  <a:srgbClr val="000000"/>
                </a:solidFill>
                <a:effectLst/>
                <a:uFillTx/>
                <a:latin typeface="Arial"/>
              </a:endParaRPr>
            </a:p>
          </p:txBody>
        </p:sp>
        <p:sp>
          <p:nvSpPr>
            <p:cNvPr id="181" name="TextBox 24"/>
            <p:cNvSpPr/>
            <p:nvPr/>
          </p:nvSpPr>
          <p:spPr>
            <a:xfrm>
              <a:off x="1058400" y="4492800"/>
              <a:ext cx="199440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chemeClr val="dk1"/>
                  </a:solidFill>
                  <a:effectLst/>
                  <a:uFillTx/>
                  <a:latin typeface="Arial"/>
                  <a:ea typeface="Microsoft YaHei"/>
                </a:rPr>
                <a:t>Limits that must hold</a:t>
              </a:r>
              <a:endParaRPr lang="en-US" sz="1650" b="0" u="none" strike="noStrike">
                <a:solidFill>
                  <a:srgbClr val="000000"/>
                </a:solidFill>
                <a:effectLst/>
                <a:uFillTx/>
                <a:latin typeface="Arial"/>
              </a:endParaRPr>
            </a:p>
          </p:txBody>
        </p:sp>
        <p:sp>
          <p:nvSpPr>
            <p:cNvPr id="182" name="Ellipse 25"/>
            <p:cNvSpPr/>
            <p:nvPr/>
          </p:nvSpPr>
          <p:spPr>
            <a:xfrm>
              <a:off x="4381560" y="4181400"/>
              <a:ext cx="361440" cy="361440"/>
            </a:xfrm>
            <a:prstGeom prst="ellipse">
              <a:avLst/>
            </a:prstGeom>
            <a:solidFill>
              <a:schemeClr val="accent6"/>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83" name="TextBox 26"/>
            <p:cNvSpPr/>
            <p:nvPr/>
          </p:nvSpPr>
          <p:spPr>
            <a:xfrm>
              <a:off x="4905000" y="4054320"/>
              <a:ext cx="202716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chemeClr val="accent1"/>
                  </a:solidFill>
                  <a:effectLst/>
                  <a:uFillTx/>
                  <a:latin typeface="Arial"/>
                  <a:ea typeface="Microsoft YaHei"/>
                </a:rPr>
                <a:t>Soft preferences</a:t>
              </a:r>
              <a:endParaRPr lang="en-US" sz="1950" b="0" u="none" strike="noStrike">
                <a:solidFill>
                  <a:srgbClr val="000000"/>
                </a:solidFill>
                <a:effectLst/>
                <a:uFillTx/>
                <a:latin typeface="Arial"/>
              </a:endParaRPr>
            </a:p>
          </p:txBody>
        </p:sp>
        <p:sp>
          <p:nvSpPr>
            <p:cNvPr id="184" name="TextBox 27"/>
            <p:cNvSpPr/>
            <p:nvPr/>
          </p:nvSpPr>
          <p:spPr>
            <a:xfrm>
              <a:off x="4906440" y="4492800"/>
              <a:ext cx="234432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chemeClr val="dk1"/>
                  </a:solidFill>
                  <a:effectLst/>
                  <a:uFillTx/>
                  <a:latin typeface="Arial"/>
                  <a:ea typeface="Microsoft YaHei"/>
                </a:rPr>
                <a:t>Used for ranking options</a:t>
              </a:r>
              <a:endParaRPr lang="en-US" sz="1650" b="0" u="none" strike="noStrike">
                <a:solidFill>
                  <a:srgbClr val="000000"/>
                </a:solidFill>
                <a:effectLst/>
                <a:uFillTx/>
                <a:latin typeface="Arial"/>
              </a:endParaRPr>
            </a:p>
          </p:txBody>
        </p:sp>
        <p:sp>
          <p:nvSpPr>
            <p:cNvPr id="185" name="Ellipse 28"/>
            <p:cNvSpPr/>
            <p:nvPr/>
          </p:nvSpPr>
          <p:spPr>
            <a:xfrm>
              <a:off x="8229600" y="4181400"/>
              <a:ext cx="361440" cy="361440"/>
            </a:xfrm>
            <a:prstGeom prst="ellipse">
              <a:avLst/>
            </a:prstGeom>
            <a:solidFill>
              <a:srgbClr val="D98D2B"/>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86" name="TextBox 29"/>
            <p:cNvSpPr/>
            <p:nvPr/>
          </p:nvSpPr>
          <p:spPr>
            <a:xfrm>
              <a:off x="8753040" y="4054320"/>
              <a:ext cx="115524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chemeClr val="accent1"/>
                  </a:solidFill>
                  <a:effectLst/>
                  <a:uFillTx/>
                  <a:latin typeface="Arial"/>
                  <a:ea typeface="Microsoft YaHei"/>
                </a:rPr>
                <a:t>To clarify</a:t>
              </a:r>
              <a:endParaRPr lang="en-US" sz="1950" b="0" u="none" strike="noStrike">
                <a:solidFill>
                  <a:srgbClr val="000000"/>
                </a:solidFill>
                <a:effectLst/>
                <a:uFillTx/>
                <a:latin typeface="Arial"/>
              </a:endParaRPr>
            </a:p>
          </p:txBody>
        </p:sp>
        <p:sp>
          <p:nvSpPr>
            <p:cNvPr id="187" name="TextBox 30"/>
            <p:cNvSpPr/>
            <p:nvPr/>
          </p:nvSpPr>
          <p:spPr>
            <a:xfrm>
              <a:off x="8754480" y="4492800"/>
              <a:ext cx="290412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chemeClr val="dk1"/>
                  </a:solidFill>
                  <a:effectLst/>
                  <a:uFillTx/>
                  <a:latin typeface="Arial"/>
                  <a:ea typeface="Microsoft YaHei"/>
                </a:rPr>
                <a:t>Ask when sizes are missing</a:t>
              </a:r>
              <a:endParaRPr lang="en-US" sz="1650" b="0" u="none" strike="noStrike">
                <a:solidFill>
                  <a:srgbClr val="000000"/>
                </a:solidFill>
                <a:effectLst/>
                <a:uFillTx/>
                <a:latin typeface="Arial"/>
              </a:endParaRPr>
            </a:p>
          </p:txBody>
        </p:sp>
      </p:grpSp>
      <p:grpSp>
        <p:nvGrpSpPr>
          <p:cNvPr id="188" name="retrieval-iteration"/>
          <p:cNvGrpSpPr/>
          <p:nvPr/>
        </p:nvGrpSpPr>
        <p:grpSpPr>
          <a:xfrm>
            <a:off x="495360" y="5229360"/>
            <a:ext cx="11201040" cy="923400"/>
            <a:chOff x="495360" y="5229360"/>
            <a:chExt cx="11201040" cy="923400"/>
          </a:xfrm>
        </p:grpSpPr>
        <p:sp>
          <p:nvSpPr>
            <p:cNvPr id="189" name="Rectangle 32"/>
            <p:cNvSpPr/>
            <p:nvPr/>
          </p:nvSpPr>
          <p:spPr>
            <a:xfrm>
              <a:off x="495360" y="5229360"/>
              <a:ext cx="11201040" cy="923400"/>
            </a:xfrm>
            <a:prstGeom prst="roundRect">
              <a:avLst>
                <a:gd name="adj" fmla="val 9278"/>
              </a:avLst>
            </a:prstGeom>
            <a:solidFill>
              <a:schemeClr val="accent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90" name="TextBox 33"/>
            <p:cNvSpPr/>
            <p:nvPr/>
          </p:nvSpPr>
          <p:spPr>
            <a:xfrm>
              <a:off x="713880" y="5349960"/>
              <a:ext cx="159444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FFFFFF"/>
                  </a:solidFill>
                  <a:effectLst/>
                  <a:uFillTx/>
                  <a:latin typeface="Arial"/>
                  <a:ea typeface="Microsoft YaHei"/>
                </a:rPr>
                <a:t>Trial result</a:t>
              </a:r>
              <a:endParaRPr lang="en-US" sz="1950" b="0" u="none" strike="noStrike">
                <a:solidFill>
                  <a:srgbClr val="000000"/>
                </a:solidFill>
                <a:effectLst/>
                <a:uFillTx/>
                <a:latin typeface="Arial"/>
              </a:endParaRPr>
            </a:p>
          </p:txBody>
        </p:sp>
        <p:sp>
          <p:nvSpPr>
            <p:cNvPr id="191" name="TextBox 34"/>
            <p:cNvSpPr/>
            <p:nvPr/>
          </p:nvSpPr>
          <p:spPr>
            <a:xfrm>
              <a:off x="3230280" y="5388120"/>
              <a:ext cx="566028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rgbClr val="FFFFFF"/>
                  </a:solidFill>
                  <a:effectLst/>
                  <a:uFillTx/>
                  <a:latin typeface="Arial"/>
                  <a:ea typeface="Microsoft YaHei"/>
                </a:rPr>
                <a:t>After deduplication, two different products cover more needs</a:t>
              </a:r>
              <a:endParaRPr lang="en-US" sz="1650" b="0" u="none" strike="noStrike">
                <a:solidFill>
                  <a:srgbClr val="000000"/>
                </a:solidFill>
                <a:effectLst/>
                <a:uFillTx/>
                <a:latin typeface="Arial"/>
              </a:endParaRPr>
            </a:p>
          </p:txBody>
        </p:sp>
        <p:sp>
          <p:nvSpPr>
            <p:cNvPr id="192" name="TextBox 35"/>
            <p:cNvSpPr/>
            <p:nvPr/>
          </p:nvSpPr>
          <p:spPr>
            <a:xfrm>
              <a:off x="717120" y="5797440"/>
              <a:ext cx="1011888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00" b="0" u="none" strike="noStrike">
                  <a:solidFill>
                    <a:srgbClr val="BAC9DE"/>
                  </a:solidFill>
                  <a:effectLst/>
                  <a:uFillTx/>
                  <a:latin typeface="Arial"/>
                  <a:ea typeface="Microsoft YaHei"/>
                </a:rPr>
                <a:t>Dimension split and coverage selection passed an independent trial. Not yet integrated into the main project. Wear performance untested.</a:t>
              </a:r>
              <a:endParaRPr lang="en-US" sz="1300" b="0" u="none" strike="noStrike">
                <a:solidFill>
                  <a:srgbClr val="000000"/>
                </a:solidFill>
                <a:effectLst/>
                <a:uFillTx/>
                <a:latin typeface="Arial"/>
              </a:endParaRPr>
            </a:p>
          </p:txBody>
        </p:sp>
      </p:grpSp>
      <p:sp>
        <p:nvSpPr>
          <p:cNvPr id="193" name="footer-label"/>
          <p:cNvSpPr/>
          <p:nvPr/>
        </p:nvSpPr>
        <p:spPr>
          <a:xfrm>
            <a:off x="488520" y="6407280"/>
            <a:ext cx="624816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00" b="0" u="none" strike="noStrike">
                <a:solidFill>
                  <a:srgbClr val="66758A"/>
                </a:solidFill>
                <a:effectLst/>
                <a:uFillTx/>
                <a:latin typeface="Arial"/>
                <a:ea typeface="Microsoft YaHei"/>
              </a:rPr>
              <a:t>The example shows the method. Users still confirm constraint strength and priorities.</a:t>
            </a:r>
            <a:endParaRPr lang="en-US" sz="1300" b="0" u="none" strike="noStrike">
              <a:solidFill>
                <a:srgbClr val="000000"/>
              </a:solidFill>
              <a:effectLst/>
              <a:uFillTx/>
              <a:latin typeface="Arial"/>
            </a:endParaRPr>
          </a:p>
        </p:txBody>
      </p:sp>
      <p:sp>
        <p:nvSpPr>
          <p:cNvPr id="194" name="page-number"/>
          <p:cNvSpPr/>
          <p:nvPr/>
        </p:nvSpPr>
        <p:spPr>
          <a:xfrm>
            <a:off x="11446920" y="6407280"/>
            <a:ext cx="256320" cy="263520"/>
          </a:xfrm>
          <a:prstGeom prst="rect">
            <a:avLst/>
          </a:prstGeom>
          <a:noFill/>
          <a:ln w="0">
            <a:noFill/>
          </a:ln>
        </p:spPr>
        <p:style>
          <a:lnRef idx="0"/>
          <a:fillRef idx="0"/>
          <a:effectRef idx="0"/>
          <a:fontRef idx="minor"/>
        </p:style>
        <p:txBody>
          <a:bodyPr wrap="none" lIns="0" tIns="0" rIns="0" bIns="0" anchor="t" anchorCtr="1">
            <a:spAutoFit/>
          </a:bodyPr>
          <a:p>
            <a:pPr algn="r" defTabSz="457200">
              <a:lnSpc>
                <a:spcPct val="100000"/>
              </a:lnSpc>
            </a:pPr>
            <a:r>
              <a:rPr lang="en-US" sz="1300" b="0" u="none" strike="noStrike">
                <a:solidFill>
                  <a:srgbClr val="66758A"/>
                </a:solidFill>
                <a:effectLst/>
                <a:uFillTx/>
                <a:latin typeface="Arial"/>
                <a:ea typeface="Microsoft YaHei"/>
              </a:rPr>
              <a:t>06</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195" name="header"/>
          <p:cNvGrpSpPr/>
          <p:nvPr/>
        </p:nvGrpSpPr>
        <p:grpSpPr>
          <a:xfrm>
            <a:off x="478440" y="422280"/>
            <a:ext cx="8425440" cy="973080"/>
            <a:chOff x="478440" y="422280"/>
            <a:chExt cx="8425440" cy="973080"/>
          </a:xfrm>
        </p:grpSpPr>
        <p:sp>
          <p:nvSpPr>
            <p:cNvPr id="196" name="TextBox 2"/>
            <p:cNvSpPr/>
            <p:nvPr/>
          </p:nvSpPr>
          <p:spPr>
            <a:xfrm>
              <a:off x="478440" y="422280"/>
              <a:ext cx="7036920" cy="6451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3300" b="1" u="none" strike="noStrike">
                  <a:solidFill>
                    <a:srgbClr val="13243A"/>
                  </a:solidFill>
                  <a:effectLst/>
                  <a:uFillTx/>
                  <a:latin typeface="Arial"/>
                  <a:ea typeface="Microsoft YaHei"/>
                </a:rPr>
                <a:t>Evidence Review of Retrieved Data</a:t>
              </a:r>
              <a:endParaRPr lang="en-US" sz="3300" b="0" u="none" strike="noStrike">
                <a:solidFill>
                  <a:srgbClr val="000000"/>
                </a:solidFill>
                <a:effectLst/>
                <a:uFillTx/>
                <a:latin typeface="Arial"/>
              </a:endParaRPr>
            </a:p>
          </p:txBody>
        </p:sp>
        <p:sp>
          <p:nvSpPr>
            <p:cNvPr id="197" name="TextBox 3"/>
            <p:cNvSpPr/>
            <p:nvPr/>
          </p:nvSpPr>
          <p:spPr>
            <a:xfrm>
              <a:off x="487080" y="1073160"/>
              <a:ext cx="841680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66758A"/>
                  </a:solidFill>
                  <a:effectLst/>
                  <a:uFillTx/>
                  <a:latin typeface="Arial"/>
                  <a:ea typeface="Microsoft YaHei"/>
                </a:rPr>
                <a:t>Review source, visible facts, and inference to decide which design conclusions each item supports.</a:t>
              </a:r>
              <a:endParaRPr lang="en-US" sz="1500" b="0" u="none" strike="noStrike">
                <a:solidFill>
                  <a:srgbClr val="000000"/>
                </a:solidFill>
                <a:effectLst/>
                <a:uFillTx/>
                <a:latin typeface="Arial"/>
              </a:endParaRPr>
            </a:p>
          </p:txBody>
        </p:sp>
      </p:grpSp>
      <p:grpSp>
        <p:nvGrpSpPr>
          <p:cNvPr id="198" name="evidence-classes"/>
          <p:cNvGrpSpPr/>
          <p:nvPr/>
        </p:nvGrpSpPr>
        <p:grpSpPr>
          <a:xfrm>
            <a:off x="485280" y="1863720"/>
            <a:ext cx="11355120" cy="1158840"/>
            <a:chOff x="485280" y="1863720"/>
            <a:chExt cx="11355120" cy="1158840"/>
          </a:xfrm>
        </p:grpSpPr>
        <p:sp>
          <p:nvSpPr>
            <p:cNvPr id="199" name="TextBox 5"/>
            <p:cNvSpPr/>
            <p:nvPr/>
          </p:nvSpPr>
          <p:spPr>
            <a:xfrm>
              <a:off x="485280" y="1863720"/>
              <a:ext cx="188964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3662EA"/>
                  </a:solidFill>
                  <a:effectLst/>
                  <a:uFillTx/>
                  <a:latin typeface="Arial"/>
                  <a:ea typeface="Microsoft YaHei"/>
                </a:rPr>
                <a:t>Source records</a:t>
              </a:r>
              <a:endParaRPr lang="en-US" sz="1950" b="0" u="none" strike="noStrike">
                <a:solidFill>
                  <a:srgbClr val="000000"/>
                </a:solidFill>
                <a:effectLst/>
                <a:uFillTx/>
                <a:latin typeface="Arial"/>
              </a:endParaRPr>
            </a:p>
          </p:txBody>
        </p:sp>
        <p:sp>
          <p:nvSpPr>
            <p:cNvPr id="200" name="TextBox 6"/>
            <p:cNvSpPr/>
            <p:nvPr/>
          </p:nvSpPr>
          <p:spPr>
            <a:xfrm>
              <a:off x="487080" y="2320920"/>
              <a:ext cx="324972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13243A"/>
                  </a:solidFill>
                  <a:effectLst/>
                  <a:uFillTx/>
                  <a:latin typeface="Arial"/>
                  <a:ea typeface="Microsoft YaHei"/>
                </a:rPr>
                <a:t>Vendor notes, reviews, user feedback</a:t>
              </a:r>
              <a:endParaRPr lang="en-US" sz="1500" b="0" u="none" strike="noStrike">
                <a:solidFill>
                  <a:srgbClr val="000000"/>
                </a:solidFill>
                <a:effectLst/>
                <a:uFillTx/>
                <a:latin typeface="Arial"/>
              </a:endParaRPr>
            </a:p>
          </p:txBody>
        </p:sp>
        <p:sp>
          <p:nvSpPr>
            <p:cNvPr id="201" name="TextBox 7"/>
            <p:cNvSpPr/>
            <p:nvPr/>
          </p:nvSpPr>
          <p:spPr>
            <a:xfrm>
              <a:off x="488520" y="2759040"/>
              <a:ext cx="260820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Keep author and source category</a:t>
              </a:r>
              <a:endParaRPr lang="en-US" sz="1350" b="0" u="none" strike="noStrike">
                <a:solidFill>
                  <a:srgbClr val="000000"/>
                </a:solidFill>
                <a:effectLst/>
                <a:uFillTx/>
                <a:latin typeface="Arial"/>
              </a:endParaRPr>
            </a:p>
          </p:txBody>
        </p:sp>
        <p:sp>
          <p:nvSpPr>
            <p:cNvPr id="202" name="TextBox 8"/>
            <p:cNvSpPr/>
            <p:nvPr/>
          </p:nvSpPr>
          <p:spPr>
            <a:xfrm>
              <a:off x="4524120" y="1863720"/>
              <a:ext cx="226080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8B5CF6"/>
                  </a:solidFill>
                  <a:effectLst/>
                  <a:uFillTx/>
                  <a:latin typeface="Arial"/>
                  <a:ea typeface="Microsoft YaHei"/>
                </a:rPr>
                <a:t>Image observation</a:t>
              </a:r>
              <a:endParaRPr lang="en-US" sz="1950" b="0" u="none" strike="noStrike">
                <a:solidFill>
                  <a:srgbClr val="000000"/>
                </a:solidFill>
                <a:effectLst/>
                <a:uFillTx/>
                <a:latin typeface="Arial"/>
              </a:endParaRPr>
            </a:p>
          </p:txBody>
        </p:sp>
        <p:sp>
          <p:nvSpPr>
            <p:cNvPr id="203" name="TextBox 9"/>
            <p:cNvSpPr/>
            <p:nvPr/>
          </p:nvSpPr>
          <p:spPr>
            <a:xfrm>
              <a:off x="4525560" y="2320920"/>
              <a:ext cx="375732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13243A"/>
                  </a:solidFill>
                  <a:effectLst/>
                  <a:uFillTx/>
                  <a:latin typeface="Arial"/>
                  <a:ea typeface="Microsoft YaHei"/>
                </a:rPr>
                <a:t>Outline, material zones, accessory relations</a:t>
              </a:r>
              <a:endParaRPr lang="en-US" sz="1500" b="0" u="none" strike="noStrike">
                <a:solidFill>
                  <a:srgbClr val="000000"/>
                </a:solidFill>
                <a:effectLst/>
                <a:uFillTx/>
                <a:latin typeface="Arial"/>
              </a:endParaRPr>
            </a:p>
          </p:txBody>
        </p:sp>
        <p:sp>
          <p:nvSpPr>
            <p:cNvPr id="204" name="TextBox 10"/>
            <p:cNvSpPr/>
            <p:nvPr/>
          </p:nvSpPr>
          <p:spPr>
            <a:xfrm>
              <a:off x="4527000" y="2759040"/>
              <a:ext cx="330084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Sizes and use effects need other evidence</a:t>
              </a:r>
              <a:endParaRPr lang="en-US" sz="1350" b="0" u="none" strike="noStrike">
                <a:solidFill>
                  <a:srgbClr val="000000"/>
                </a:solidFill>
                <a:effectLst/>
                <a:uFillTx/>
                <a:latin typeface="Arial"/>
              </a:endParaRPr>
            </a:p>
          </p:txBody>
        </p:sp>
        <p:sp>
          <p:nvSpPr>
            <p:cNvPr id="205" name="TextBox 11"/>
            <p:cNvSpPr/>
            <p:nvPr/>
          </p:nvSpPr>
          <p:spPr>
            <a:xfrm>
              <a:off x="8562600" y="1863720"/>
              <a:ext cx="215100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D98D2B"/>
                  </a:solidFill>
                  <a:effectLst/>
                  <a:uFillTx/>
                  <a:latin typeface="Arial"/>
                  <a:ea typeface="Microsoft YaHei"/>
                </a:rPr>
                <a:t>Inference records</a:t>
              </a:r>
              <a:endParaRPr lang="en-US" sz="1950" b="0" u="none" strike="noStrike">
                <a:solidFill>
                  <a:srgbClr val="000000"/>
                </a:solidFill>
                <a:effectLst/>
                <a:uFillTx/>
                <a:latin typeface="Arial"/>
              </a:endParaRPr>
            </a:p>
          </p:txBody>
        </p:sp>
        <p:sp>
          <p:nvSpPr>
            <p:cNvPr id="206" name="TextBox 12"/>
            <p:cNvSpPr/>
            <p:nvPr/>
          </p:nvSpPr>
          <p:spPr>
            <a:xfrm>
              <a:off x="8564040" y="2320920"/>
              <a:ext cx="292140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13243A"/>
                  </a:solidFill>
                  <a:effectLst/>
                  <a:uFillTx/>
                  <a:latin typeface="Arial"/>
                  <a:ea typeface="Microsoft YaHei"/>
                </a:rPr>
                <a:t>AI inferences recorded separately</a:t>
              </a:r>
              <a:endParaRPr lang="en-US" sz="1500" b="0" u="none" strike="noStrike">
                <a:solidFill>
                  <a:srgbClr val="000000"/>
                </a:solidFill>
                <a:effectLst/>
                <a:uFillTx/>
                <a:latin typeface="Arial"/>
              </a:endParaRPr>
            </a:p>
          </p:txBody>
        </p:sp>
        <p:sp>
          <p:nvSpPr>
            <p:cNvPr id="207" name="TextBox 13"/>
            <p:cNvSpPr/>
            <p:nvPr/>
          </p:nvSpPr>
          <p:spPr>
            <a:xfrm>
              <a:off x="8565480" y="2759040"/>
              <a:ext cx="327492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Unsupported conclusions marked as open</a:t>
              </a:r>
              <a:endParaRPr lang="en-US" sz="1350" b="0" u="none" strike="noStrike">
                <a:solidFill>
                  <a:srgbClr val="000000"/>
                </a:solidFill>
                <a:effectLst/>
                <a:uFillTx/>
                <a:latin typeface="Arial"/>
              </a:endParaRPr>
            </a:p>
          </p:txBody>
        </p:sp>
      </p:grpSp>
      <p:sp>
        <p:nvSpPr>
          <p:cNvPr id="208" name="Line 15"/>
          <p:cNvSpPr/>
          <p:nvPr/>
        </p:nvSpPr>
        <p:spPr>
          <a:xfrm>
            <a:off x="495360" y="3362400"/>
            <a:ext cx="11201040" cy="9000"/>
          </a:xfrm>
          <a:custGeom>
            <a:avLst/>
            <a:gdLst>
              <a:gd name="textAreaLeft" fmla="*/ 0 w 11201040"/>
              <a:gd name="textAreaRight" fmla="*/ 11201400 w 11201040"/>
              <a:gd name="textAreaTop" fmla="*/ 0 h 9000"/>
              <a:gd name="textAreaBottom" fmla="*/ 9360 h 9000"/>
            </a:gdLst>
            <a:ahLst/>
            <a:cxnLst/>
            <a:rect l="textAreaLeft" t="textAreaTop" r="textAreaRight" b="textAreaBottom"/>
            <a:pathLst>
              <a:path w="11201400" h="9525">
                <a:moveTo>
                  <a:pt x="0" y="0"/>
                </a:moveTo>
                <a:lnTo>
                  <a:pt x="11201400" y="0"/>
                </a:lnTo>
              </a:path>
            </a:pathLst>
          </a:custGeom>
          <a:noFill/>
          <a:ln w="9525">
            <a:solidFill>
              <a:srgbClr val="DCE3EF"/>
            </a:solidFill>
            <a:round/>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grpSp>
        <p:nvGrpSpPr>
          <p:cNvPr id="209" name="evidence-review-process"/>
          <p:cNvGrpSpPr/>
          <p:nvPr/>
        </p:nvGrpSpPr>
        <p:grpSpPr>
          <a:xfrm>
            <a:off x="483120" y="3670200"/>
            <a:ext cx="11298600" cy="1535040"/>
            <a:chOff x="483120" y="3670200"/>
            <a:chExt cx="11298600" cy="1535040"/>
          </a:xfrm>
        </p:grpSpPr>
        <p:sp>
          <p:nvSpPr>
            <p:cNvPr id="210" name="TextBox 16"/>
            <p:cNvSpPr/>
            <p:nvPr/>
          </p:nvSpPr>
          <p:spPr>
            <a:xfrm>
              <a:off x="483120" y="3670200"/>
              <a:ext cx="5611320" cy="4690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400" b="1" u="none" strike="noStrike">
                  <a:solidFill>
                    <a:srgbClr val="13243A"/>
                  </a:solidFill>
                  <a:effectLst/>
                  <a:uFillTx/>
                  <a:latin typeface="Arial"/>
                  <a:ea typeface="Microsoft YaHei"/>
                </a:rPr>
                <a:t>Review flow before data enters design</a:t>
              </a:r>
              <a:endParaRPr lang="en-US" sz="2400" b="0" u="none" strike="noStrike">
                <a:solidFill>
                  <a:srgbClr val="000000"/>
                </a:solidFill>
                <a:effectLst/>
                <a:uFillTx/>
                <a:latin typeface="Arial"/>
              </a:endParaRPr>
            </a:p>
          </p:txBody>
        </p:sp>
        <p:sp>
          <p:nvSpPr>
            <p:cNvPr id="211" name="TextBox 17"/>
            <p:cNvSpPr/>
            <p:nvPr/>
          </p:nvSpPr>
          <p:spPr>
            <a:xfrm>
              <a:off x="485280" y="4187880"/>
              <a:ext cx="197244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13243A"/>
                  </a:solidFill>
                  <a:effectLst/>
                  <a:uFillTx/>
                  <a:latin typeface="Arial"/>
                  <a:ea typeface="Microsoft YaHei"/>
                </a:rPr>
                <a:t>01 Verify source</a:t>
              </a:r>
              <a:endParaRPr lang="en-US" sz="1950" b="0" u="none" strike="noStrike">
                <a:solidFill>
                  <a:srgbClr val="000000"/>
                </a:solidFill>
                <a:effectLst/>
                <a:uFillTx/>
                <a:latin typeface="Arial"/>
              </a:endParaRPr>
            </a:p>
          </p:txBody>
        </p:sp>
        <p:sp>
          <p:nvSpPr>
            <p:cNvPr id="212" name="TextBox 18"/>
            <p:cNvSpPr/>
            <p:nvPr/>
          </p:nvSpPr>
          <p:spPr>
            <a:xfrm>
              <a:off x="487080" y="4578480"/>
              <a:ext cx="320724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66758A"/>
                  </a:solidFill>
                  <a:effectLst/>
                  <a:uFillTx/>
                  <a:latin typeface="Arial"/>
                  <a:ea typeface="Microsoft YaHei"/>
                </a:rPr>
                <a:t>Check original text and image source</a:t>
              </a:r>
              <a:endParaRPr lang="en-US" sz="1500" b="0" u="none" strike="noStrike">
                <a:solidFill>
                  <a:srgbClr val="000000"/>
                </a:solidFill>
                <a:effectLst/>
                <a:uFillTx/>
                <a:latin typeface="Arial"/>
              </a:endParaRPr>
            </a:p>
          </p:txBody>
        </p:sp>
        <p:sp>
          <p:nvSpPr>
            <p:cNvPr id="213" name="TextBox 19"/>
            <p:cNvSpPr/>
            <p:nvPr/>
          </p:nvSpPr>
          <p:spPr>
            <a:xfrm>
              <a:off x="487080" y="4883040"/>
              <a:ext cx="256140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66758A"/>
                  </a:solidFill>
                  <a:effectLst/>
                  <a:uFillTx/>
                  <a:latin typeface="Arial"/>
                  <a:ea typeface="Microsoft YaHei"/>
                </a:rPr>
                <a:t>Record author and conditions</a:t>
              </a:r>
              <a:endParaRPr lang="en-US" sz="1500" b="0" u="none" strike="noStrike">
                <a:solidFill>
                  <a:srgbClr val="000000"/>
                </a:solidFill>
                <a:effectLst/>
                <a:uFillTx/>
                <a:latin typeface="Arial"/>
              </a:endParaRPr>
            </a:p>
          </p:txBody>
        </p:sp>
        <p:sp>
          <p:nvSpPr>
            <p:cNvPr id="214" name="Line 20"/>
            <p:cNvSpPr/>
            <p:nvPr/>
          </p:nvSpPr>
          <p:spPr>
            <a:xfrm>
              <a:off x="4105080" y="4552920"/>
              <a:ext cx="619200" cy="0"/>
            </a:xfrm>
            <a:prstGeom prst="line">
              <a:avLst/>
            </a:prstGeom>
            <a:ln w="19050">
              <a:solidFill>
                <a:srgbClr val="D98D2B"/>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215" name="TextBox 21"/>
            <p:cNvSpPr/>
            <p:nvPr/>
          </p:nvSpPr>
          <p:spPr>
            <a:xfrm>
              <a:off x="5000400" y="4187880"/>
              <a:ext cx="217800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D98D2B"/>
                  </a:solidFill>
                  <a:effectLst/>
                  <a:uFillTx/>
                  <a:latin typeface="Arial"/>
                  <a:ea typeface="Microsoft YaHei"/>
                </a:rPr>
                <a:t>02 Match purpose</a:t>
              </a:r>
              <a:endParaRPr lang="en-US" sz="1950" b="0" u="none" strike="noStrike">
                <a:solidFill>
                  <a:srgbClr val="000000"/>
                </a:solidFill>
                <a:effectLst/>
                <a:uFillTx/>
                <a:latin typeface="Arial"/>
              </a:endParaRPr>
            </a:p>
          </p:txBody>
        </p:sp>
        <p:sp>
          <p:nvSpPr>
            <p:cNvPr id="216" name="TextBox 22"/>
            <p:cNvSpPr/>
            <p:nvPr/>
          </p:nvSpPr>
          <p:spPr>
            <a:xfrm>
              <a:off x="5001840" y="4578480"/>
              <a:ext cx="281556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66758A"/>
                  </a:solidFill>
                  <a:effectLst/>
                  <a:uFillTx/>
                  <a:latin typeface="Arial"/>
                  <a:ea typeface="Microsoft YaHei"/>
                </a:rPr>
                <a:t>Shape reference or support data</a:t>
              </a:r>
              <a:endParaRPr lang="en-US" sz="1500" b="0" u="none" strike="noStrike">
                <a:solidFill>
                  <a:srgbClr val="000000"/>
                </a:solidFill>
                <a:effectLst/>
                <a:uFillTx/>
                <a:latin typeface="Arial"/>
              </a:endParaRPr>
            </a:p>
          </p:txBody>
        </p:sp>
        <p:sp>
          <p:nvSpPr>
            <p:cNvPr id="217" name="TextBox 23"/>
            <p:cNvSpPr/>
            <p:nvPr/>
          </p:nvSpPr>
          <p:spPr>
            <a:xfrm>
              <a:off x="5001840" y="4883040"/>
              <a:ext cx="286812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66758A"/>
                  </a:solidFill>
                  <a:effectLst/>
                  <a:uFillTx/>
                  <a:latin typeface="Arial"/>
                  <a:ea typeface="Microsoft YaHei"/>
                </a:rPr>
                <a:t>Sizes must map to a specific part</a:t>
              </a:r>
              <a:endParaRPr lang="en-US" sz="1500" b="0" u="none" strike="noStrike">
                <a:solidFill>
                  <a:srgbClr val="000000"/>
                </a:solidFill>
                <a:effectLst/>
                <a:uFillTx/>
                <a:latin typeface="Arial"/>
              </a:endParaRPr>
            </a:p>
          </p:txBody>
        </p:sp>
        <p:sp>
          <p:nvSpPr>
            <p:cNvPr id="218" name="Line 24"/>
            <p:cNvSpPr/>
            <p:nvPr/>
          </p:nvSpPr>
          <p:spPr>
            <a:xfrm>
              <a:off x="7924680" y="4552920"/>
              <a:ext cx="476280" cy="0"/>
            </a:xfrm>
            <a:prstGeom prst="line">
              <a:avLst/>
            </a:prstGeom>
            <a:ln w="19050">
              <a:solidFill>
                <a:srgbClr val="D98D2B"/>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219" name="TextBox 25"/>
            <p:cNvSpPr/>
            <p:nvPr/>
          </p:nvSpPr>
          <p:spPr>
            <a:xfrm>
              <a:off x="8658000" y="4187880"/>
              <a:ext cx="239868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13243A"/>
                  </a:solidFill>
                  <a:effectLst/>
                  <a:uFillTx/>
                  <a:latin typeface="Arial"/>
                  <a:ea typeface="Microsoft YaHei"/>
                </a:rPr>
                <a:t>03 Keep open items</a:t>
              </a:r>
              <a:endParaRPr lang="en-US" sz="1950" b="0" u="none" strike="noStrike">
                <a:solidFill>
                  <a:srgbClr val="000000"/>
                </a:solidFill>
                <a:effectLst/>
                <a:uFillTx/>
                <a:latin typeface="Arial"/>
              </a:endParaRPr>
            </a:p>
          </p:txBody>
        </p:sp>
        <p:sp>
          <p:nvSpPr>
            <p:cNvPr id="220" name="TextBox 26"/>
            <p:cNvSpPr/>
            <p:nvPr/>
          </p:nvSpPr>
          <p:spPr>
            <a:xfrm>
              <a:off x="8659440" y="4578480"/>
              <a:ext cx="312228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66758A"/>
                  </a:solidFill>
                  <a:effectLst/>
                  <a:uFillTx/>
                  <a:latin typeface="Arial"/>
                  <a:ea typeface="Microsoft YaHei"/>
                </a:rPr>
                <a:t>File inference apart from source text</a:t>
              </a:r>
              <a:endParaRPr lang="en-US" sz="1500" b="0" u="none" strike="noStrike">
                <a:solidFill>
                  <a:srgbClr val="000000"/>
                </a:solidFill>
                <a:effectLst/>
                <a:uFillTx/>
                <a:latin typeface="Arial"/>
              </a:endParaRPr>
            </a:p>
          </p:txBody>
        </p:sp>
        <p:sp>
          <p:nvSpPr>
            <p:cNvPr id="221" name="TextBox 27"/>
            <p:cNvSpPr/>
            <p:nvPr/>
          </p:nvSpPr>
          <p:spPr>
            <a:xfrm>
              <a:off x="8659440" y="4883040"/>
              <a:ext cx="273060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66758A"/>
                  </a:solidFill>
                  <a:effectLst/>
                  <a:uFillTx/>
                  <a:latin typeface="Arial"/>
                  <a:ea typeface="Microsoft YaHei"/>
                </a:rPr>
                <a:t>Not modeled on weak evidence</a:t>
              </a:r>
              <a:endParaRPr lang="en-US" sz="1500" b="0" u="none" strike="noStrike">
                <a:solidFill>
                  <a:srgbClr val="000000"/>
                </a:solidFill>
                <a:effectLst/>
                <a:uFillTx/>
                <a:latin typeface="Arial"/>
              </a:endParaRPr>
            </a:p>
          </p:txBody>
        </p:sp>
      </p:grpSp>
      <p:grpSp>
        <p:nvGrpSpPr>
          <p:cNvPr id="222" name="audit-result"/>
          <p:cNvGrpSpPr/>
          <p:nvPr/>
        </p:nvGrpSpPr>
        <p:grpSpPr>
          <a:xfrm>
            <a:off x="495360" y="5467320"/>
            <a:ext cx="11201040" cy="694800"/>
            <a:chOff x="495360" y="5467320"/>
            <a:chExt cx="11201040" cy="694800"/>
          </a:xfrm>
        </p:grpSpPr>
        <p:sp>
          <p:nvSpPr>
            <p:cNvPr id="223" name="Rectangle 29"/>
            <p:cNvSpPr/>
            <p:nvPr/>
          </p:nvSpPr>
          <p:spPr>
            <a:xfrm>
              <a:off x="495360" y="5467320"/>
              <a:ext cx="11201040" cy="694800"/>
            </a:xfrm>
            <a:prstGeom prst="roundRect">
              <a:avLst>
                <a:gd name="adj" fmla="val 12329"/>
              </a:avLst>
            </a:prstGeom>
            <a:solidFill>
              <a:srgbClr val="F1F4FA"/>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24" name="TextBox 30"/>
            <p:cNvSpPr/>
            <p:nvPr/>
          </p:nvSpPr>
          <p:spPr>
            <a:xfrm>
              <a:off x="715680" y="5692680"/>
              <a:ext cx="754596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13243A"/>
                  </a:solidFill>
                  <a:effectLst/>
                  <a:uFillTx/>
                  <a:latin typeface="Arial"/>
                  <a:ea typeface="Microsoft YaHei"/>
                </a:rPr>
                <a:t>An independent trial reviewed 166 images: 119 as shape references, 47 as support data.</a:t>
              </a:r>
              <a:endParaRPr lang="en-US" sz="1500" b="0" u="none" strike="noStrike">
                <a:solidFill>
                  <a:srgbClr val="000000"/>
                </a:solidFill>
                <a:effectLst/>
                <a:uFillTx/>
                <a:latin typeface="Arial"/>
              </a:endParaRPr>
            </a:p>
          </p:txBody>
        </p:sp>
      </p:grpSp>
      <p:sp>
        <p:nvSpPr>
          <p:cNvPr id="225" name="footer-label"/>
          <p:cNvSpPr/>
          <p:nvPr/>
        </p:nvSpPr>
        <p:spPr>
          <a:xfrm>
            <a:off x="488520" y="6407280"/>
            <a:ext cx="601596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Comfort, sport stability, and retrieval quality gains still need separate validation</a:t>
            </a:r>
            <a:endParaRPr lang="en-US" sz="1350" b="0" u="none" strike="noStrike">
              <a:solidFill>
                <a:srgbClr val="000000"/>
              </a:solidFill>
              <a:effectLst/>
              <a:uFillTx/>
              <a:latin typeface="Arial"/>
            </a:endParaRPr>
          </a:p>
        </p:txBody>
      </p:sp>
      <p:sp>
        <p:nvSpPr>
          <p:cNvPr id="226" name="page-number"/>
          <p:cNvSpPr/>
          <p:nvPr/>
        </p:nvSpPr>
        <p:spPr>
          <a:xfrm>
            <a:off x="11439720" y="6407280"/>
            <a:ext cx="263520" cy="263520"/>
          </a:xfrm>
          <a:prstGeom prst="rect">
            <a:avLst/>
          </a:prstGeom>
          <a:noFill/>
          <a:ln w="0">
            <a:noFill/>
          </a:ln>
        </p:spPr>
        <p:style>
          <a:lnRef idx="0"/>
          <a:fillRef idx="0"/>
          <a:effectRef idx="0"/>
          <a:fontRef idx="minor"/>
        </p:style>
        <p:txBody>
          <a:bodyPr wrap="none" lIns="0" tIns="0" rIns="0" bIns="0" anchor="t" anchorCtr="1">
            <a:spAutoFit/>
          </a:bodyPr>
          <a:p>
            <a:pPr algn="r" defTabSz="457200">
              <a:lnSpc>
                <a:spcPct val="100000"/>
              </a:lnSpc>
            </a:pPr>
            <a:r>
              <a:rPr lang="en-US" sz="1350" b="0" u="none" strike="noStrike">
                <a:solidFill>
                  <a:srgbClr val="66758A"/>
                </a:solidFill>
                <a:effectLst/>
                <a:uFillTx/>
                <a:latin typeface="Arial"/>
                <a:ea typeface="Microsoft YaHei"/>
              </a:rPr>
              <a:t>07</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227" name="header"/>
          <p:cNvGrpSpPr/>
          <p:nvPr/>
        </p:nvGrpSpPr>
        <p:grpSpPr>
          <a:xfrm>
            <a:off x="478440" y="422280"/>
            <a:ext cx="7365240" cy="973080"/>
            <a:chOff x="478440" y="422280"/>
            <a:chExt cx="7365240" cy="973080"/>
          </a:xfrm>
        </p:grpSpPr>
        <p:sp>
          <p:nvSpPr>
            <p:cNvPr id="228" name="TextBox 2"/>
            <p:cNvSpPr/>
            <p:nvPr/>
          </p:nvSpPr>
          <p:spPr>
            <a:xfrm>
              <a:off x="478440" y="422280"/>
              <a:ext cx="6950160" cy="6451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3300" b="1" u="none" strike="noStrike">
                  <a:solidFill>
                    <a:schemeClr val="accent1"/>
                  </a:solidFill>
                  <a:effectLst/>
                  <a:uFillTx/>
                  <a:latin typeface="Arial"/>
                  <a:ea typeface="Microsoft YaHei"/>
                </a:rPr>
                <a:t>MCP Tool Calls and Result Checks</a:t>
              </a:r>
              <a:endParaRPr lang="en-US" sz="3300" b="0" u="none" strike="noStrike">
                <a:solidFill>
                  <a:srgbClr val="000000"/>
                </a:solidFill>
                <a:effectLst/>
                <a:uFillTx/>
                <a:latin typeface="Arial"/>
              </a:endParaRPr>
            </a:p>
          </p:txBody>
        </p:sp>
        <p:sp>
          <p:nvSpPr>
            <p:cNvPr id="229" name="TextBox 3"/>
            <p:cNvSpPr/>
            <p:nvPr/>
          </p:nvSpPr>
          <p:spPr>
            <a:xfrm>
              <a:off x="487080" y="1073160"/>
              <a:ext cx="735660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rgbClr val="66758A"/>
                  </a:solidFill>
                  <a:effectLst/>
                  <a:uFillTx/>
                  <a:latin typeface="Arial"/>
                  <a:ea typeface="Microsoft YaHei"/>
                </a:rPr>
                <a:t>MCP connects tools, RAG provides evidence, and people review scope and results.</a:t>
              </a:r>
              <a:endParaRPr lang="en-US" sz="1550" b="0" u="none" strike="noStrike">
                <a:solidFill>
                  <a:srgbClr val="000000"/>
                </a:solidFill>
                <a:effectLst/>
                <a:uFillTx/>
                <a:latin typeface="Arial"/>
              </a:endParaRPr>
            </a:p>
          </p:txBody>
        </p:sp>
      </p:grpSp>
      <p:grpSp>
        <p:nvGrpSpPr>
          <p:cNvPr id="230" name="actors-and-context"/>
          <p:cNvGrpSpPr/>
          <p:nvPr/>
        </p:nvGrpSpPr>
        <p:grpSpPr>
          <a:xfrm>
            <a:off x="657360" y="1825560"/>
            <a:ext cx="6819480" cy="2293920"/>
            <a:chOff x="657360" y="1825560"/>
            <a:chExt cx="6819480" cy="2293920"/>
          </a:xfrm>
        </p:grpSpPr>
        <p:sp>
          <p:nvSpPr>
            <p:cNvPr id="231" name="Ellipse 5"/>
            <p:cNvSpPr/>
            <p:nvPr/>
          </p:nvSpPr>
          <p:spPr>
            <a:xfrm>
              <a:off x="657360" y="2181240"/>
              <a:ext cx="1428480" cy="1428480"/>
            </a:xfrm>
            <a:prstGeom prst="ellipse">
              <a:avLst/>
            </a:prstGeom>
            <a:solidFill>
              <a:srgbClr val="FFF2DD"/>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32" name="TextBox 6"/>
            <p:cNvSpPr/>
            <p:nvPr/>
          </p:nvSpPr>
          <p:spPr>
            <a:xfrm>
              <a:off x="818640" y="2565360"/>
              <a:ext cx="1105920" cy="469080"/>
            </a:xfrm>
            <a:prstGeom prst="rect">
              <a:avLst/>
            </a:prstGeom>
            <a:noFill/>
            <a:ln w="0">
              <a:noFill/>
            </a:ln>
          </p:spPr>
          <p:style>
            <a:lnRef idx="0"/>
            <a:fillRef idx="0"/>
            <a:effectRef idx="0"/>
            <a:fontRef idx="minor"/>
          </p:style>
          <p:txBody>
            <a:bodyPr wrap="none" lIns="0" tIns="0" rIns="0" bIns="0" anchor="t">
              <a:spAutoFit/>
            </a:bodyPr>
            <a:p>
              <a:pPr algn="ctr" defTabSz="457200">
                <a:lnSpc>
                  <a:spcPct val="100000"/>
                </a:lnSpc>
              </a:pPr>
              <a:r>
                <a:rPr lang="en-US" sz="2400" b="1" u="none" strike="noStrike">
                  <a:solidFill>
                    <a:schemeClr val="accent1"/>
                  </a:solidFill>
                  <a:effectLst/>
                  <a:uFillTx/>
                  <a:latin typeface="Arial"/>
                  <a:ea typeface="Microsoft YaHei"/>
                </a:rPr>
                <a:t>Human</a:t>
              </a:r>
              <a:endParaRPr lang="en-US" sz="2400" b="0" u="none" strike="noStrike">
                <a:solidFill>
                  <a:srgbClr val="000000"/>
                </a:solidFill>
                <a:effectLst/>
                <a:uFillTx/>
                <a:latin typeface="Arial"/>
              </a:endParaRPr>
            </a:p>
          </p:txBody>
        </p:sp>
        <p:sp>
          <p:nvSpPr>
            <p:cNvPr id="233" name="TextBox 7"/>
            <p:cNvSpPr/>
            <p:nvPr/>
          </p:nvSpPr>
          <p:spPr>
            <a:xfrm>
              <a:off x="823320" y="3025800"/>
              <a:ext cx="1096200" cy="263520"/>
            </a:xfrm>
            <a:prstGeom prst="rect">
              <a:avLst/>
            </a:prstGeom>
            <a:noFill/>
            <a:ln w="0">
              <a:noFill/>
            </a:ln>
          </p:spPr>
          <p:style>
            <a:lnRef idx="0"/>
            <a:fillRef idx="0"/>
            <a:effectRef idx="0"/>
            <a:fontRef idx="minor"/>
          </p:style>
          <p:txBody>
            <a:bodyPr wrap="none" lIns="0" tIns="0" rIns="0" bIns="0" anchor="t">
              <a:spAutoFit/>
            </a:bodyPr>
            <a:p>
              <a:pPr algn="ctr" defTabSz="457200">
                <a:lnSpc>
                  <a:spcPct val="100000"/>
                </a:lnSpc>
              </a:pPr>
              <a:r>
                <a:rPr lang="en-US" sz="1250" b="0" u="none" strike="noStrike">
                  <a:solidFill>
                    <a:srgbClr val="A76813"/>
                  </a:solidFill>
                  <a:effectLst/>
                  <a:uFillTx/>
                  <a:latin typeface="Arial"/>
                  <a:ea typeface="Microsoft YaHei"/>
                </a:rPr>
                <a:t>needs / review</a:t>
              </a:r>
              <a:endParaRPr lang="en-US" sz="1250" b="0" u="none" strike="noStrike">
                <a:solidFill>
                  <a:srgbClr val="000000"/>
                </a:solidFill>
                <a:effectLst/>
                <a:uFillTx/>
                <a:latin typeface="Arial"/>
              </a:endParaRPr>
            </a:p>
          </p:txBody>
        </p:sp>
        <p:sp>
          <p:nvSpPr>
            <p:cNvPr id="234" name="Line 8"/>
            <p:cNvSpPr/>
            <p:nvPr/>
          </p:nvSpPr>
          <p:spPr>
            <a:xfrm>
              <a:off x="2190600" y="2895480"/>
              <a:ext cx="1857240" cy="0"/>
            </a:xfrm>
            <a:prstGeom prst="line">
              <a:avLst/>
            </a:prstGeom>
            <a:ln w="19050">
              <a:solidFill>
                <a:srgbClr val="069B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235" name="TextBox 9"/>
            <p:cNvSpPr/>
            <p:nvPr/>
          </p:nvSpPr>
          <p:spPr>
            <a:xfrm>
              <a:off x="2326680" y="2444760"/>
              <a:ext cx="165240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0" u="none" strike="noStrike">
                  <a:solidFill>
                    <a:srgbClr val="66758A"/>
                  </a:solidFill>
                  <a:effectLst/>
                  <a:uFillTx/>
                  <a:latin typeface="Arial"/>
                  <a:ea typeface="Microsoft YaHei"/>
                </a:rPr>
                <a:t>Scope and protections</a:t>
              </a:r>
              <a:endParaRPr lang="en-US" sz="1250" b="0" u="none" strike="noStrike">
                <a:solidFill>
                  <a:srgbClr val="000000"/>
                </a:solidFill>
                <a:effectLst/>
                <a:uFillTx/>
                <a:latin typeface="Arial"/>
              </a:endParaRPr>
            </a:p>
          </p:txBody>
        </p:sp>
        <p:sp>
          <p:nvSpPr>
            <p:cNvPr id="236" name="Freeform 10"/>
            <p:cNvSpPr/>
            <p:nvPr/>
          </p:nvSpPr>
          <p:spPr>
            <a:xfrm>
              <a:off x="4200480" y="2305080"/>
              <a:ext cx="3276360" cy="1142640"/>
            </a:xfrm>
            <a:prstGeom prst="hexagon">
              <a:avLst>
                <a:gd name="adj" fmla="val 25000"/>
                <a:gd name="vf" fmla="val 115470"/>
              </a:avLst>
            </a:prstGeom>
            <a:solidFill>
              <a:schemeClr val="accent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37" name="TextBox 11"/>
            <p:cNvSpPr/>
            <p:nvPr/>
          </p:nvSpPr>
          <p:spPr>
            <a:xfrm>
              <a:off x="4972320" y="2479680"/>
              <a:ext cx="1732680" cy="469080"/>
            </a:xfrm>
            <a:prstGeom prst="rect">
              <a:avLst/>
            </a:prstGeom>
            <a:noFill/>
            <a:ln w="0">
              <a:noFill/>
            </a:ln>
          </p:spPr>
          <p:style>
            <a:lnRef idx="0"/>
            <a:fillRef idx="0"/>
            <a:effectRef idx="0"/>
            <a:fontRef idx="minor"/>
          </p:style>
          <p:txBody>
            <a:bodyPr wrap="none" lIns="0" tIns="0" rIns="0" bIns="0" anchor="t">
              <a:spAutoFit/>
            </a:bodyPr>
            <a:p>
              <a:pPr algn="ctr" defTabSz="457200">
                <a:lnSpc>
                  <a:spcPct val="100000"/>
                </a:lnSpc>
              </a:pPr>
              <a:r>
                <a:rPr lang="en-US" sz="2400" b="1" u="none" strike="noStrike">
                  <a:solidFill>
                    <a:srgbClr val="FFFFFF"/>
                  </a:solidFill>
                  <a:effectLst/>
                  <a:uFillTx/>
                  <a:latin typeface="Arial"/>
                  <a:ea typeface="Microsoft YaHei"/>
                </a:rPr>
                <a:t>AI executor</a:t>
              </a:r>
              <a:endParaRPr lang="en-US" sz="2400" b="0" u="none" strike="noStrike">
                <a:solidFill>
                  <a:srgbClr val="000000"/>
                </a:solidFill>
                <a:effectLst/>
                <a:uFillTx/>
                <a:latin typeface="Arial"/>
              </a:endParaRPr>
            </a:p>
          </p:txBody>
        </p:sp>
        <p:sp>
          <p:nvSpPr>
            <p:cNvPr id="238" name="TextBox 12"/>
            <p:cNvSpPr/>
            <p:nvPr/>
          </p:nvSpPr>
          <p:spPr>
            <a:xfrm>
              <a:off x="4386600" y="2930400"/>
              <a:ext cx="2904120" cy="322200"/>
            </a:xfrm>
            <a:prstGeom prst="rect">
              <a:avLst/>
            </a:prstGeom>
            <a:noFill/>
            <a:ln w="0">
              <a:noFill/>
            </a:ln>
          </p:spPr>
          <p:style>
            <a:lnRef idx="0"/>
            <a:fillRef idx="0"/>
            <a:effectRef idx="0"/>
            <a:fontRef idx="minor"/>
          </p:style>
          <p:txBody>
            <a:bodyPr wrap="none" lIns="0" tIns="0" rIns="0" bIns="0" anchor="t">
              <a:spAutoFit/>
            </a:bodyPr>
            <a:p>
              <a:pPr algn="ctr" defTabSz="457200">
                <a:lnSpc>
                  <a:spcPct val="100000"/>
                </a:lnSpc>
              </a:pPr>
              <a:r>
                <a:rPr lang="en-US" sz="1550" b="0" u="none" strike="noStrike">
                  <a:solidFill>
                    <a:srgbClr val="FFFFFF"/>
                  </a:solidFill>
                  <a:effectLst/>
                  <a:uFillTx/>
                  <a:latin typeface="Arial"/>
                  <a:ea typeface="Microsoft YaHei"/>
                </a:rPr>
                <a:t>Plan tasks, pick tools, check</a:t>
              </a:r>
              <a:endParaRPr lang="en-US" sz="1550" b="0" u="none" strike="noStrike">
                <a:solidFill>
                  <a:srgbClr val="000000"/>
                </a:solidFill>
                <a:effectLst/>
                <a:uFillTx/>
                <a:latin typeface="Arial"/>
              </a:endParaRPr>
            </a:p>
          </p:txBody>
        </p:sp>
        <p:sp>
          <p:nvSpPr>
            <p:cNvPr id="239" name="TextBox 13"/>
            <p:cNvSpPr/>
            <p:nvPr/>
          </p:nvSpPr>
          <p:spPr>
            <a:xfrm>
              <a:off x="4325400" y="1825560"/>
              <a:ext cx="314748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chemeClr val="accent2"/>
                  </a:solidFill>
                  <a:effectLst/>
                  <a:uFillTx/>
                  <a:latin typeface="Arial"/>
                  <a:ea typeface="Microsoft YaHei"/>
                </a:rPr>
                <a:t>Knowledge, confirmed project state</a:t>
              </a:r>
              <a:endParaRPr lang="en-US" sz="1550" b="0" u="none" strike="noStrike">
                <a:solidFill>
                  <a:srgbClr val="000000"/>
                </a:solidFill>
                <a:effectLst/>
                <a:uFillTx/>
                <a:latin typeface="Arial"/>
              </a:endParaRPr>
            </a:p>
          </p:txBody>
        </p:sp>
        <p:sp>
          <p:nvSpPr>
            <p:cNvPr id="240" name="TextBox 14"/>
            <p:cNvSpPr/>
            <p:nvPr/>
          </p:nvSpPr>
          <p:spPr>
            <a:xfrm>
              <a:off x="4325400" y="3797280"/>
              <a:ext cx="268200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rgbClr val="66758A"/>
                  </a:solidFill>
                  <a:effectLst/>
                  <a:uFillTx/>
                  <a:latin typeface="Arial"/>
                  <a:ea typeface="Microsoft YaHei"/>
                </a:rPr>
                <a:t>Restore a failed tool link first</a:t>
              </a:r>
              <a:endParaRPr lang="en-US" sz="1550" b="0" u="none" strike="noStrike">
                <a:solidFill>
                  <a:srgbClr val="000000"/>
                </a:solidFill>
                <a:effectLst/>
                <a:uFillTx/>
                <a:latin typeface="Arial"/>
              </a:endParaRPr>
            </a:p>
          </p:txBody>
        </p:sp>
      </p:grpSp>
      <p:grpSp>
        <p:nvGrpSpPr>
          <p:cNvPr id="241" name="tool-boundaries"/>
          <p:cNvGrpSpPr/>
          <p:nvPr/>
        </p:nvGrpSpPr>
        <p:grpSpPr>
          <a:xfrm>
            <a:off x="7858080" y="1762200"/>
            <a:ext cx="3838320" cy="2695320"/>
            <a:chOff x="7858080" y="1762200"/>
            <a:chExt cx="3838320" cy="2695320"/>
          </a:xfrm>
        </p:grpSpPr>
        <p:sp>
          <p:nvSpPr>
            <p:cNvPr id="242" name="Rectangle 16"/>
            <p:cNvSpPr/>
            <p:nvPr/>
          </p:nvSpPr>
          <p:spPr>
            <a:xfrm>
              <a:off x="7858080" y="1762200"/>
              <a:ext cx="3838320" cy="2695320"/>
            </a:xfrm>
            <a:prstGeom prst="roundRect">
              <a:avLst>
                <a:gd name="adj" fmla="val 3534"/>
              </a:avLst>
            </a:prstGeom>
            <a:solidFill>
              <a:srgbClr val="E8F6F2"/>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43" name="TextBox 17"/>
            <p:cNvSpPr/>
            <p:nvPr/>
          </p:nvSpPr>
          <p:spPr>
            <a:xfrm>
              <a:off x="8086320" y="1892160"/>
              <a:ext cx="287568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1" u="none" strike="noStrike">
                  <a:solidFill>
                    <a:srgbClr val="069B8A"/>
                  </a:solidFill>
                  <a:effectLst/>
                  <a:uFillTx/>
                  <a:latin typeface="Arial"/>
                  <a:ea typeface="Microsoft YaHei"/>
                </a:rPr>
                <a:t>Tool interfaces and scope</a:t>
              </a:r>
              <a:endParaRPr lang="en-US" sz="1800" b="0" u="none" strike="noStrike">
                <a:solidFill>
                  <a:srgbClr val="000000"/>
                </a:solidFill>
                <a:effectLst/>
                <a:uFillTx/>
                <a:latin typeface="Arial"/>
              </a:endParaRPr>
            </a:p>
          </p:txBody>
        </p:sp>
        <p:sp>
          <p:nvSpPr>
            <p:cNvPr id="244" name="TextBox 18"/>
            <p:cNvSpPr/>
            <p:nvPr/>
          </p:nvSpPr>
          <p:spPr>
            <a:xfrm>
              <a:off x="8087760" y="2349360"/>
              <a:ext cx="312624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chemeClr val="accent1"/>
                  </a:solidFill>
                  <a:effectLst/>
                  <a:uFillTx/>
                  <a:latin typeface="Arial"/>
                  <a:ea typeface="Microsoft YaHei"/>
                </a:rPr>
                <a:t>Headless: docs, scripts, export</a:t>
              </a:r>
              <a:endParaRPr lang="en-US" sz="1550" b="0" u="none" strike="noStrike">
                <a:solidFill>
                  <a:srgbClr val="000000"/>
                </a:solidFill>
                <a:effectLst/>
                <a:uFillTx/>
                <a:latin typeface="Arial"/>
              </a:endParaRPr>
            </a:p>
          </p:txBody>
        </p:sp>
        <p:sp>
          <p:nvSpPr>
            <p:cNvPr id="245" name="TextBox 19"/>
            <p:cNvSpPr/>
            <p:nvPr/>
          </p:nvSpPr>
          <p:spPr>
            <a:xfrm>
              <a:off x="8089560" y="2701800"/>
              <a:ext cx="352260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0" u="none" strike="noStrike">
                  <a:solidFill>
                    <a:srgbClr val="66758A"/>
                  </a:solidFill>
                  <a:effectLst/>
                  <a:uFillTx/>
                  <a:latin typeface="Arial"/>
                  <a:ea typeface="Microsoft YaHei"/>
                </a:rPr>
                <a:t>Static script check, isolated process, result check</a:t>
              </a:r>
              <a:endParaRPr lang="en-US" sz="1250" b="0" u="none" strike="noStrike">
                <a:solidFill>
                  <a:srgbClr val="000000"/>
                </a:solidFill>
                <a:effectLst/>
                <a:uFillTx/>
                <a:latin typeface="Arial"/>
              </a:endParaRPr>
            </a:p>
          </p:txBody>
        </p:sp>
        <p:sp>
          <p:nvSpPr>
            <p:cNvPr id="246" name="Line 20"/>
            <p:cNvSpPr/>
            <p:nvPr/>
          </p:nvSpPr>
          <p:spPr>
            <a:xfrm>
              <a:off x="8096400" y="3105000"/>
              <a:ext cx="3362040" cy="9000"/>
            </a:xfrm>
            <a:custGeom>
              <a:avLst/>
              <a:gdLst>
                <a:gd name="textAreaLeft" fmla="*/ 0 w 3362040"/>
                <a:gd name="textAreaRight" fmla="*/ 3362400 w 3362040"/>
                <a:gd name="textAreaTop" fmla="*/ 0 h 9000"/>
                <a:gd name="textAreaBottom" fmla="*/ 9360 h 9000"/>
              </a:gdLst>
              <a:ahLst/>
              <a:cxnLst/>
              <a:rect l="textAreaLeft" t="textAreaTop" r="textAreaRight" b="textAreaBottom"/>
              <a:pathLst>
                <a:path w="3362325" h="9525">
                  <a:moveTo>
                    <a:pt x="0" y="0"/>
                  </a:moveTo>
                  <a:lnTo>
                    <a:pt x="3362325" y="0"/>
                  </a:lnTo>
                </a:path>
              </a:pathLst>
            </a:custGeom>
            <a:noFill/>
            <a:ln w="9525">
              <a:solidFill>
                <a:srgbClr val="B9DCD3"/>
              </a:solidFill>
              <a:round/>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
          <p:nvSpPr>
            <p:cNvPr id="247" name="TextBox 21"/>
            <p:cNvSpPr/>
            <p:nvPr/>
          </p:nvSpPr>
          <p:spPr>
            <a:xfrm>
              <a:off x="8087760" y="3273480"/>
              <a:ext cx="320184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chemeClr val="accent1"/>
                  </a:solidFill>
                  <a:effectLst/>
                  <a:uFillTx/>
                  <a:latin typeface="Arial"/>
                  <a:ea typeface="Microsoft YaHei"/>
                </a:rPr>
                <a:t>CAD GUI bridge: read / limited edits</a:t>
              </a:r>
              <a:endParaRPr lang="en-US" sz="1550" b="0" u="none" strike="noStrike">
                <a:solidFill>
                  <a:srgbClr val="000000"/>
                </a:solidFill>
                <a:effectLst/>
                <a:uFillTx/>
                <a:latin typeface="Arial"/>
              </a:endParaRPr>
            </a:p>
          </p:txBody>
        </p:sp>
        <p:sp>
          <p:nvSpPr>
            <p:cNvPr id="248" name="TextBox 22"/>
            <p:cNvSpPr/>
            <p:nvPr/>
          </p:nvSpPr>
          <p:spPr>
            <a:xfrm>
              <a:off x="8089560" y="3625920"/>
              <a:ext cx="339048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0" u="none" strike="noStrike">
                  <a:solidFill>
                    <a:srgbClr val="66758A"/>
                  </a:solidFill>
                  <a:effectLst/>
                  <a:uFillTx/>
                  <a:latin typeface="Arial"/>
                  <a:ea typeface="Microsoft YaHei"/>
                </a:rPr>
                <a:t>GUI prototype supports verified operations only</a:t>
              </a:r>
              <a:endParaRPr lang="en-US" sz="1250" b="0" u="none" strike="noStrike">
                <a:solidFill>
                  <a:srgbClr val="000000"/>
                </a:solidFill>
                <a:effectLst/>
                <a:uFillTx/>
                <a:latin typeface="Arial"/>
              </a:endParaRPr>
            </a:p>
          </p:txBody>
        </p:sp>
        <p:sp>
          <p:nvSpPr>
            <p:cNvPr id="249" name="TextBox 23"/>
            <p:cNvSpPr/>
            <p:nvPr/>
          </p:nvSpPr>
          <p:spPr>
            <a:xfrm>
              <a:off x="8089560" y="3997440"/>
              <a:ext cx="293184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0" u="none" strike="noStrike">
                  <a:solidFill>
                    <a:srgbClr val="66758A"/>
                  </a:solidFill>
                  <a:effectLst/>
                  <a:uFillTx/>
                  <a:latin typeface="Arial"/>
                  <a:ea typeface="Microsoft YaHei"/>
                </a:rPr>
                <a:t>Real window and document still checked</a:t>
              </a:r>
              <a:endParaRPr lang="en-US" sz="1250" b="0" u="none" strike="noStrike">
                <a:solidFill>
                  <a:srgbClr val="000000"/>
                </a:solidFill>
                <a:effectLst/>
                <a:uFillTx/>
                <a:latin typeface="Arial"/>
              </a:endParaRPr>
            </a:p>
          </p:txBody>
        </p:sp>
      </p:grpSp>
      <p:grpSp>
        <p:nvGrpSpPr>
          <p:cNvPr id="250" name="verification-feedback"/>
          <p:cNvGrpSpPr/>
          <p:nvPr/>
        </p:nvGrpSpPr>
        <p:grpSpPr>
          <a:xfrm>
            <a:off x="495360" y="2904840"/>
            <a:ext cx="11201040" cy="3133800"/>
            <a:chOff x="495360" y="2904840"/>
            <a:chExt cx="11201040" cy="3133800"/>
          </a:xfrm>
        </p:grpSpPr>
        <p:sp>
          <p:nvSpPr>
            <p:cNvPr id="251" name="Line 25"/>
            <p:cNvSpPr/>
            <p:nvPr/>
          </p:nvSpPr>
          <p:spPr>
            <a:xfrm>
              <a:off x="7515000" y="2904840"/>
              <a:ext cx="219240" cy="0"/>
            </a:xfrm>
            <a:prstGeom prst="line">
              <a:avLst/>
            </a:prstGeom>
            <a:ln w="19050">
              <a:solidFill>
                <a:srgbClr val="069B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252" name="Rectangle 26"/>
            <p:cNvSpPr/>
            <p:nvPr/>
          </p:nvSpPr>
          <p:spPr>
            <a:xfrm>
              <a:off x="495360" y="4791240"/>
              <a:ext cx="11201040" cy="1247400"/>
            </a:xfrm>
            <a:prstGeom prst="roundRect">
              <a:avLst>
                <a:gd name="adj" fmla="val 6870"/>
              </a:avLst>
            </a:prstGeom>
            <a:solidFill>
              <a:schemeClr val="accent5"/>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53" name="TextBox 27"/>
            <p:cNvSpPr/>
            <p:nvPr/>
          </p:nvSpPr>
          <p:spPr>
            <a:xfrm>
              <a:off x="723600" y="4902120"/>
              <a:ext cx="206712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1" u="none" strike="noStrike">
                  <a:solidFill>
                    <a:schemeClr val="accent1"/>
                  </a:solidFill>
                  <a:effectLst/>
                  <a:uFillTx/>
                  <a:latin typeface="Arial"/>
                  <a:ea typeface="Microsoft YaHei"/>
                </a:rPr>
                <a:t>Result review flow</a:t>
              </a:r>
              <a:endParaRPr lang="en-US" sz="1800" b="0" u="none" strike="noStrike">
                <a:solidFill>
                  <a:srgbClr val="000000"/>
                </a:solidFill>
                <a:effectLst/>
                <a:uFillTx/>
                <a:latin typeface="Arial"/>
              </a:endParaRPr>
            </a:p>
          </p:txBody>
        </p:sp>
        <p:sp>
          <p:nvSpPr>
            <p:cNvPr id="254" name="TextBox 28"/>
            <p:cNvSpPr/>
            <p:nvPr/>
          </p:nvSpPr>
          <p:spPr>
            <a:xfrm>
              <a:off x="2868120" y="4940280"/>
              <a:ext cx="90504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rgbClr val="069B8A"/>
                  </a:solidFill>
                  <a:effectLst/>
                  <a:uFillTx/>
                  <a:latin typeface="Arial"/>
                  <a:ea typeface="Microsoft YaHei"/>
                </a:rPr>
                <a:t>Save file</a:t>
              </a:r>
              <a:endParaRPr lang="en-US" sz="1550" b="0" u="none" strike="noStrike">
                <a:solidFill>
                  <a:srgbClr val="000000"/>
                </a:solidFill>
                <a:effectLst/>
                <a:uFillTx/>
                <a:latin typeface="Arial"/>
              </a:endParaRPr>
            </a:p>
          </p:txBody>
        </p:sp>
        <p:sp>
          <p:nvSpPr>
            <p:cNvPr id="255" name="Line 29"/>
            <p:cNvSpPr/>
            <p:nvPr/>
          </p:nvSpPr>
          <p:spPr>
            <a:xfrm>
              <a:off x="3971880" y="5076720"/>
              <a:ext cx="514080" cy="0"/>
            </a:xfrm>
            <a:prstGeom prst="line">
              <a:avLst/>
            </a:prstGeom>
            <a:ln w="19050">
              <a:solidFill>
                <a:srgbClr val="069B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256" name="TextBox 30"/>
            <p:cNvSpPr/>
            <p:nvPr/>
          </p:nvSpPr>
          <p:spPr>
            <a:xfrm>
              <a:off x="4658760" y="4940280"/>
              <a:ext cx="90504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rgbClr val="069B8A"/>
                  </a:solidFill>
                  <a:effectLst/>
                  <a:uFillTx/>
                  <a:latin typeface="Arial"/>
                  <a:ea typeface="Microsoft YaHei"/>
                </a:rPr>
                <a:t>Reopen</a:t>
              </a:r>
              <a:endParaRPr lang="en-US" sz="1550" b="0" u="none" strike="noStrike">
                <a:solidFill>
                  <a:srgbClr val="000000"/>
                </a:solidFill>
                <a:effectLst/>
                <a:uFillTx/>
                <a:latin typeface="Arial"/>
              </a:endParaRPr>
            </a:p>
          </p:txBody>
        </p:sp>
        <p:sp>
          <p:nvSpPr>
            <p:cNvPr id="257" name="Line 31"/>
            <p:cNvSpPr/>
            <p:nvPr/>
          </p:nvSpPr>
          <p:spPr>
            <a:xfrm>
              <a:off x="5762520" y="5076720"/>
              <a:ext cx="514440" cy="0"/>
            </a:xfrm>
            <a:prstGeom prst="line">
              <a:avLst/>
            </a:prstGeom>
            <a:ln w="19050">
              <a:solidFill>
                <a:srgbClr val="069B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258" name="TextBox 32"/>
            <p:cNvSpPr/>
            <p:nvPr/>
          </p:nvSpPr>
          <p:spPr>
            <a:xfrm>
              <a:off x="6449400" y="4940280"/>
              <a:ext cx="121104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rgbClr val="069B8A"/>
                  </a:solidFill>
                  <a:effectLst/>
                  <a:uFillTx/>
                  <a:latin typeface="Arial"/>
                  <a:ea typeface="Microsoft YaHei"/>
                </a:rPr>
                <a:t>Shape check</a:t>
              </a:r>
              <a:endParaRPr lang="en-US" sz="1550" b="0" u="none" strike="noStrike">
                <a:solidFill>
                  <a:srgbClr val="000000"/>
                </a:solidFill>
                <a:effectLst/>
                <a:uFillTx/>
                <a:latin typeface="Arial"/>
              </a:endParaRPr>
            </a:p>
          </p:txBody>
        </p:sp>
        <p:sp>
          <p:nvSpPr>
            <p:cNvPr id="259" name="Line 33"/>
            <p:cNvSpPr/>
            <p:nvPr/>
          </p:nvSpPr>
          <p:spPr>
            <a:xfrm>
              <a:off x="7743600" y="5076720"/>
              <a:ext cx="514440" cy="0"/>
            </a:xfrm>
            <a:prstGeom prst="line">
              <a:avLst/>
            </a:prstGeom>
            <a:ln w="19050">
              <a:solidFill>
                <a:srgbClr val="069B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260" name="TextBox 34"/>
            <p:cNvSpPr/>
            <p:nvPr/>
          </p:nvSpPr>
          <p:spPr>
            <a:xfrm>
              <a:off x="8430840" y="4940280"/>
              <a:ext cx="269892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rgbClr val="A76813"/>
                  </a:solidFill>
                  <a:effectLst/>
                  <a:uFillTx/>
                  <a:latin typeface="Arial"/>
                  <a:ea typeface="Microsoft YaHei"/>
                </a:rPr>
                <a:t>A/B receipt and human review</a:t>
              </a:r>
              <a:endParaRPr lang="en-US" sz="1550" b="0" u="none" strike="noStrike">
                <a:solidFill>
                  <a:srgbClr val="000000"/>
                </a:solidFill>
                <a:effectLst/>
                <a:uFillTx/>
                <a:latin typeface="Arial"/>
              </a:endParaRPr>
            </a:p>
          </p:txBody>
        </p:sp>
        <p:sp>
          <p:nvSpPr>
            <p:cNvPr id="261" name="TextBox 35"/>
            <p:cNvSpPr/>
            <p:nvPr/>
          </p:nvSpPr>
          <p:spPr>
            <a:xfrm>
              <a:off x="725040" y="5445000"/>
              <a:ext cx="917280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rgbClr val="66758A"/>
                  </a:solidFill>
                  <a:effectLst/>
                  <a:uFillTx/>
                  <a:latin typeface="Arial"/>
                  <a:ea typeface="Microsoft YaHei"/>
                </a:rPr>
                <a:t>Failed checks return to execution. Major trade-offs return to design review. People accept the final result.</a:t>
              </a:r>
              <a:endParaRPr lang="en-US" sz="1550" b="0" u="none" strike="noStrike">
                <a:solidFill>
                  <a:srgbClr val="000000"/>
                </a:solidFill>
                <a:effectLst/>
                <a:uFillTx/>
                <a:latin typeface="Arial"/>
              </a:endParaRPr>
            </a:p>
          </p:txBody>
        </p:sp>
        <p:sp>
          <p:nvSpPr>
            <p:cNvPr id="262" name="Line 36"/>
            <p:cNvSpPr/>
            <p:nvPr/>
          </p:nvSpPr>
          <p:spPr>
            <a:xfrm>
              <a:off x="5838840" y="4619520"/>
              <a:ext cx="5304960" cy="9000"/>
            </a:xfrm>
            <a:custGeom>
              <a:avLst/>
              <a:gdLst>
                <a:gd name="textAreaLeft" fmla="*/ 0 w 5304960"/>
                <a:gd name="textAreaRight" fmla="*/ 5305320 w 5304960"/>
                <a:gd name="textAreaTop" fmla="*/ 0 h 9000"/>
                <a:gd name="textAreaBottom" fmla="*/ 9360 h 9000"/>
              </a:gdLst>
              <a:ahLst/>
              <a:cxnLst/>
              <a:rect l="textAreaLeft" t="textAreaTop" r="textAreaRight" b="textAreaBottom"/>
              <a:pathLst>
                <a:path w="5305425" h="9525">
                  <a:moveTo>
                    <a:pt x="5305425" y="0"/>
                  </a:moveTo>
                  <a:lnTo>
                    <a:pt x="0" y="0"/>
                  </a:lnTo>
                </a:path>
              </a:pathLst>
            </a:custGeom>
            <a:noFill/>
            <a:ln w="19050">
              <a:solidFill>
                <a:srgbClr val="D98D2B"/>
              </a:solidFill>
              <a:prstDash val="dash"/>
              <a:round/>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
          <p:nvSpPr>
            <p:cNvPr id="263" name="Line 37"/>
            <p:cNvSpPr/>
            <p:nvPr/>
          </p:nvSpPr>
          <p:spPr>
            <a:xfrm flipV="1">
              <a:off x="5838480" y="4295520"/>
              <a:ext cx="0" cy="324000"/>
            </a:xfrm>
            <a:prstGeom prst="line">
              <a:avLst/>
            </a:prstGeom>
            <a:ln w="19050">
              <a:solidFill>
                <a:srgbClr val="D98D2B"/>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grpSp>
      <p:sp>
        <p:nvSpPr>
          <p:cNvPr id="264" name="footer-label"/>
          <p:cNvSpPr/>
          <p:nvPr/>
        </p:nvSpPr>
        <p:spPr>
          <a:xfrm>
            <a:off x="488520" y="6407280"/>
            <a:ext cx="619344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0" u="none" strike="noStrike">
                <a:solidFill>
                  <a:srgbClr val="66758A"/>
                </a:solidFill>
                <a:effectLst/>
                <a:uFillTx/>
                <a:latin typeface="Arial"/>
                <a:ea typeface="Microsoft YaHei"/>
              </a:rPr>
              <a:t>Interfaces split work by verified capability. Actual files are checked after each operation.</a:t>
            </a:r>
            <a:endParaRPr lang="en-US" sz="1250" b="0" u="none" strike="noStrike">
              <a:solidFill>
                <a:srgbClr val="000000"/>
              </a:solidFill>
              <a:effectLst/>
              <a:uFillTx/>
              <a:latin typeface="Arial"/>
            </a:endParaRPr>
          </a:p>
        </p:txBody>
      </p:sp>
      <p:sp>
        <p:nvSpPr>
          <p:cNvPr id="265" name="page-number"/>
          <p:cNvSpPr/>
          <p:nvPr/>
        </p:nvSpPr>
        <p:spPr>
          <a:xfrm>
            <a:off x="11453760" y="6407280"/>
            <a:ext cx="249480" cy="263520"/>
          </a:xfrm>
          <a:prstGeom prst="rect">
            <a:avLst/>
          </a:prstGeom>
          <a:noFill/>
          <a:ln w="0">
            <a:noFill/>
          </a:ln>
        </p:spPr>
        <p:style>
          <a:lnRef idx="0"/>
          <a:fillRef idx="0"/>
          <a:effectRef idx="0"/>
          <a:fontRef idx="minor"/>
        </p:style>
        <p:txBody>
          <a:bodyPr wrap="none" lIns="0" tIns="0" rIns="0" bIns="0" anchor="t" anchorCtr="1">
            <a:spAutoFit/>
          </a:bodyPr>
          <a:p>
            <a:pPr algn="r" defTabSz="457200">
              <a:lnSpc>
                <a:spcPct val="100000"/>
              </a:lnSpc>
            </a:pPr>
            <a:r>
              <a:rPr lang="en-US" sz="1250" b="0" u="none" strike="noStrike">
                <a:solidFill>
                  <a:srgbClr val="66758A"/>
                </a:solidFill>
                <a:effectLst/>
                <a:uFillTx/>
                <a:latin typeface="Arial"/>
                <a:ea typeface="Microsoft YaHei"/>
              </a:rPr>
              <a:t>08</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266" name="header"/>
          <p:cNvGrpSpPr/>
          <p:nvPr/>
        </p:nvGrpSpPr>
        <p:grpSpPr>
          <a:xfrm>
            <a:off x="424080" y="204480"/>
            <a:ext cx="11224440" cy="1665720"/>
            <a:chOff x="424080" y="204480"/>
            <a:chExt cx="11224440" cy="1665720"/>
          </a:xfrm>
        </p:grpSpPr>
        <p:sp>
          <p:nvSpPr>
            <p:cNvPr id="267" name="TextBox 2"/>
            <p:cNvSpPr/>
            <p:nvPr/>
          </p:nvSpPr>
          <p:spPr>
            <a:xfrm>
              <a:off x="424080" y="204480"/>
              <a:ext cx="6966000" cy="6451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3300" b="1" u="none" strike="noStrike">
                  <a:solidFill>
                    <a:schemeClr val="accent1"/>
                  </a:solidFill>
                  <a:effectLst/>
                  <a:uFillTx/>
                  <a:latin typeface="Arial"/>
                  <a:ea typeface="Microsoft YaHei"/>
                </a:rPr>
                <a:t>Design Features and Six Concepts</a:t>
              </a:r>
              <a:endParaRPr lang="en-US" sz="3300" b="0" u="none" strike="noStrike">
                <a:solidFill>
                  <a:srgbClr val="000000"/>
                </a:solidFill>
                <a:effectLst/>
                <a:uFillTx/>
                <a:latin typeface="Arial"/>
              </a:endParaRPr>
            </a:p>
          </p:txBody>
        </p:sp>
        <p:sp>
          <p:nvSpPr>
            <p:cNvPr id="268" name="TextBox 3"/>
            <p:cNvSpPr/>
            <p:nvPr/>
          </p:nvSpPr>
          <p:spPr>
            <a:xfrm>
              <a:off x="432360" y="855360"/>
              <a:ext cx="11216160" cy="10148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650" b="0" u="none" strike="noStrike">
                  <a:solidFill>
                    <a:srgbClr val="66758A"/>
                  </a:solidFill>
                  <a:effectLst/>
                  <a:uFillTx/>
                  <a:latin typeface="Arial"/>
                  <a:ea typeface="Microsoft YaHei"/>
                </a:rPr>
                <a:t>Same needs, different outlines, support methods, and hard/soft splits. A person picks the direction.</a:t>
              </a:r>
              <a:endParaRPr lang="en-US" sz="1650" b="0" u="none" strike="noStrike">
                <a:solidFill>
                  <a:srgbClr val="000000"/>
                </a:solidFill>
                <a:effectLst/>
                <a:uFillTx/>
                <a:latin typeface="Arial"/>
              </a:endParaRPr>
            </a:p>
            <a:p>
              <a:pPr defTabSz="457200">
                <a:lnSpc>
                  <a:spcPct val="100000"/>
                </a:lnSpc>
              </a:pPr>
              <a:r>
                <a:rPr lang="en-US" sz="1650" b="0" u="none" strike="noStrike">
                  <a:solidFill>
                    <a:srgbClr val="25372B"/>
                  </a:solidFill>
                  <a:effectLst/>
                  <a:uFillTx/>
                  <a:latin typeface="Arial"/>
                  <a:ea typeface="Arial"/>
                </a:rPr>
                <a:t>“</a:t>
              </a:r>
              <a:r>
                <a:rPr lang="en-US" sz="1650" b="0" u="none" strike="noStrike">
                  <a:solidFill>
                    <a:srgbClr val="66758A"/>
                  </a:solidFill>
                  <a:effectLst/>
                  <a:uFillTx/>
                  <a:latin typeface="Arial"/>
                  <a:ea typeface="Microsoft YaHei"/>
                </a:rPr>
                <a:t>Design an in-ear earbud that is comfortable, biomimetic and moderately sized. It should stay secure during exercise and sleep, with colors that appeal to young people.”</a:t>
              </a:r>
              <a:endParaRPr lang="en-US" sz="1650" b="0" u="none" strike="noStrike">
                <a:solidFill>
                  <a:srgbClr val="000000"/>
                </a:solidFill>
                <a:effectLst/>
                <a:uFillTx/>
                <a:latin typeface="Arial"/>
              </a:endParaRPr>
            </a:p>
            <a:p>
              <a:pPr defTabSz="457200">
                <a:lnSpc>
                  <a:spcPct val="100000"/>
                </a:lnSpc>
              </a:pPr>
              <a:endParaRPr lang="en-US" sz="1650" b="0" u="none" strike="noStrike">
                <a:solidFill>
                  <a:srgbClr val="000000"/>
                </a:solidFill>
                <a:effectLst/>
                <a:uFillTx/>
                <a:latin typeface="Arial"/>
              </a:endParaRPr>
            </a:p>
          </p:txBody>
        </p:sp>
      </p:grpSp>
      <p:grpSp>
        <p:nvGrpSpPr>
          <p:cNvPr id="269" name="concept-gallery"/>
          <p:cNvGrpSpPr/>
          <p:nvPr/>
        </p:nvGrpSpPr>
        <p:grpSpPr>
          <a:xfrm>
            <a:off x="495360" y="1647720"/>
            <a:ext cx="11201040" cy="4123800"/>
            <a:chOff x="495360" y="1647720"/>
            <a:chExt cx="11201040" cy="4123800"/>
          </a:xfrm>
        </p:grpSpPr>
        <p:sp>
          <p:nvSpPr>
            <p:cNvPr id="270" name="Rectangle 5"/>
            <p:cNvSpPr/>
            <p:nvPr/>
          </p:nvSpPr>
          <p:spPr>
            <a:xfrm>
              <a:off x="495360" y="1647720"/>
              <a:ext cx="3495240" cy="1980720"/>
            </a:xfrm>
            <a:prstGeom prst="roundRect">
              <a:avLst>
                <a:gd name="adj" fmla="val 3846"/>
              </a:avLst>
            </a:prstGeom>
            <a:solidFill>
              <a:schemeClr val="accent5"/>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271" name="Image 6"/>
            <p:cNvPicPr/>
            <p:nvPr/>
          </p:nvPicPr>
          <p:blipFill>
            <a:blip r:embed="rId1"/>
            <a:srcRect l="68006" t="30002" r="0" b="6002"/>
            <a:stretch/>
          </p:blipFill>
          <p:spPr>
            <a:xfrm>
              <a:off x="669240" y="1752480"/>
              <a:ext cx="1299960" cy="1733040"/>
            </a:xfrm>
            <a:prstGeom prst="rect">
              <a:avLst/>
            </a:prstGeom>
            <a:noFill/>
            <a:ln w="0">
              <a:noFill/>
            </a:ln>
          </p:spPr>
        </p:pic>
        <p:sp>
          <p:nvSpPr>
            <p:cNvPr id="272" name="TextBox 7"/>
            <p:cNvSpPr/>
            <p:nvPr/>
          </p:nvSpPr>
          <p:spPr>
            <a:xfrm>
              <a:off x="2245320" y="1917720"/>
              <a:ext cx="1461600" cy="4690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400" b="1" u="none" strike="noStrike">
                  <a:solidFill>
                    <a:schemeClr val="accent1"/>
                  </a:solidFill>
                  <a:effectLst/>
                  <a:uFillTx/>
                  <a:latin typeface="Arial"/>
                  <a:ea typeface="Microsoft YaHei"/>
                </a:rPr>
                <a:t>Seed Pod</a:t>
              </a:r>
              <a:endParaRPr lang="en-US" sz="2400" b="0" u="none" strike="noStrike">
                <a:solidFill>
                  <a:srgbClr val="000000"/>
                </a:solidFill>
                <a:effectLst/>
                <a:uFillTx/>
                <a:latin typeface="Arial"/>
              </a:endParaRPr>
            </a:p>
          </p:txBody>
        </p:sp>
        <p:sp>
          <p:nvSpPr>
            <p:cNvPr id="273" name="TextBox 8"/>
            <p:cNvSpPr/>
            <p:nvPr/>
          </p:nvSpPr>
          <p:spPr>
            <a:xfrm>
              <a:off x="2250720" y="2368440"/>
              <a:ext cx="85428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chemeClr val="accent6"/>
                  </a:solidFill>
                  <a:effectLst/>
                  <a:uFillTx/>
                  <a:latin typeface="Arial"/>
                  <a:ea typeface="Microsoft YaHei"/>
                </a:rPr>
                <a:t>Concept 1</a:t>
              </a:r>
              <a:endParaRPr lang="en-US" sz="1350" b="0" u="none" strike="noStrike">
                <a:solidFill>
                  <a:srgbClr val="000000"/>
                </a:solidFill>
                <a:effectLst/>
                <a:uFillTx/>
                <a:latin typeface="Arial"/>
              </a:endParaRPr>
            </a:p>
          </p:txBody>
        </p:sp>
        <p:sp>
          <p:nvSpPr>
            <p:cNvPr id="274" name="TextBox 9"/>
            <p:cNvSpPr/>
            <p:nvPr/>
          </p:nvSpPr>
          <p:spPr>
            <a:xfrm>
              <a:off x="2248920" y="2844720"/>
              <a:ext cx="1650240" cy="3222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650" b="0" u="none" strike="noStrike">
                  <a:solidFill>
                    <a:schemeClr val="dk1"/>
                  </a:solidFill>
                  <a:effectLst/>
                  <a:uFillTx/>
                  <a:latin typeface="Arial"/>
                  <a:ea typeface="Microsoft YaHei"/>
                </a:rPr>
                <a:t>Shallow saddle soft support</a:t>
              </a:r>
              <a:endParaRPr lang="en-US" sz="1650" b="0" u="none" strike="noStrike">
                <a:solidFill>
                  <a:srgbClr val="000000"/>
                </a:solidFill>
                <a:effectLst/>
                <a:uFillTx/>
                <a:latin typeface="Arial"/>
              </a:endParaRPr>
            </a:p>
          </p:txBody>
        </p:sp>
        <p:sp>
          <p:nvSpPr>
            <p:cNvPr id="275" name="Rectangle 10"/>
            <p:cNvSpPr/>
            <p:nvPr/>
          </p:nvSpPr>
          <p:spPr>
            <a:xfrm>
              <a:off x="4343400" y="1647720"/>
              <a:ext cx="3495240" cy="1980720"/>
            </a:xfrm>
            <a:prstGeom prst="roundRect">
              <a:avLst>
                <a:gd name="adj" fmla="val 3846"/>
              </a:avLst>
            </a:prstGeom>
            <a:solidFill>
              <a:schemeClr val="accent5"/>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276" name="Image 11"/>
            <p:cNvPicPr/>
            <p:nvPr/>
          </p:nvPicPr>
          <p:blipFill>
            <a:blip r:embed="rId2"/>
            <a:srcRect l="68006" t="30002" r="0" b="6002"/>
            <a:stretch/>
          </p:blipFill>
          <p:spPr>
            <a:xfrm>
              <a:off x="4517280" y="1752480"/>
              <a:ext cx="1299960" cy="1733040"/>
            </a:xfrm>
            <a:prstGeom prst="rect">
              <a:avLst/>
            </a:prstGeom>
            <a:noFill/>
            <a:ln w="0">
              <a:noFill/>
            </a:ln>
          </p:spPr>
        </p:pic>
        <p:sp>
          <p:nvSpPr>
            <p:cNvPr id="277" name="TextBox 12"/>
            <p:cNvSpPr/>
            <p:nvPr/>
          </p:nvSpPr>
          <p:spPr>
            <a:xfrm>
              <a:off x="6093360" y="1917720"/>
              <a:ext cx="1072080" cy="4690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400" b="1" u="none" strike="noStrike">
                  <a:solidFill>
                    <a:schemeClr val="accent1"/>
                  </a:solidFill>
                  <a:effectLst/>
                  <a:uFillTx/>
                  <a:latin typeface="Arial"/>
                  <a:ea typeface="Microsoft YaHei"/>
                </a:rPr>
                <a:t>Pebble</a:t>
              </a:r>
              <a:endParaRPr lang="en-US" sz="2400" b="0" u="none" strike="noStrike">
                <a:solidFill>
                  <a:srgbClr val="000000"/>
                </a:solidFill>
                <a:effectLst/>
                <a:uFillTx/>
                <a:latin typeface="Arial"/>
              </a:endParaRPr>
            </a:p>
          </p:txBody>
        </p:sp>
        <p:sp>
          <p:nvSpPr>
            <p:cNvPr id="278" name="TextBox 13"/>
            <p:cNvSpPr/>
            <p:nvPr/>
          </p:nvSpPr>
          <p:spPr>
            <a:xfrm>
              <a:off x="6098760" y="2368440"/>
              <a:ext cx="85428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chemeClr val="accent6"/>
                  </a:solidFill>
                  <a:effectLst/>
                  <a:uFillTx/>
                  <a:latin typeface="Arial"/>
                  <a:ea typeface="Microsoft YaHei"/>
                </a:rPr>
                <a:t>Concept 2</a:t>
              </a:r>
              <a:endParaRPr lang="en-US" sz="1350" b="0" u="none" strike="noStrike">
                <a:solidFill>
                  <a:srgbClr val="000000"/>
                </a:solidFill>
                <a:effectLst/>
                <a:uFillTx/>
                <a:latin typeface="Arial"/>
              </a:endParaRPr>
            </a:p>
          </p:txBody>
        </p:sp>
        <p:sp>
          <p:nvSpPr>
            <p:cNvPr id="279" name="TextBox 14"/>
            <p:cNvSpPr/>
            <p:nvPr/>
          </p:nvSpPr>
          <p:spPr>
            <a:xfrm>
              <a:off x="6097320" y="2844720"/>
              <a:ext cx="1650240" cy="3222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650" b="0" u="none" strike="noStrike">
                  <a:solidFill>
                    <a:schemeClr val="dk1"/>
                  </a:solidFill>
                  <a:effectLst/>
                  <a:uFillTx/>
                  <a:latin typeface="Arial"/>
                  <a:ea typeface="Microsoft YaHei"/>
                </a:rPr>
                <a:t>Rounded low profile</a:t>
              </a:r>
              <a:endParaRPr lang="en-US" sz="1650" b="0" u="none" strike="noStrike">
                <a:solidFill>
                  <a:srgbClr val="000000"/>
                </a:solidFill>
                <a:effectLst/>
                <a:uFillTx/>
                <a:latin typeface="Arial"/>
              </a:endParaRPr>
            </a:p>
          </p:txBody>
        </p:sp>
        <p:sp>
          <p:nvSpPr>
            <p:cNvPr id="280" name="Rectangle 15"/>
            <p:cNvSpPr/>
            <p:nvPr/>
          </p:nvSpPr>
          <p:spPr>
            <a:xfrm>
              <a:off x="8191440" y="1647720"/>
              <a:ext cx="3504960" cy="1980720"/>
            </a:xfrm>
            <a:prstGeom prst="roundRect">
              <a:avLst>
                <a:gd name="adj" fmla="val 3846"/>
              </a:avLst>
            </a:prstGeom>
            <a:solidFill>
              <a:schemeClr val="accent5"/>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281" name="Image 16"/>
            <p:cNvPicPr/>
            <p:nvPr/>
          </p:nvPicPr>
          <p:blipFill>
            <a:blip r:embed="rId3"/>
            <a:srcRect l="68006" t="25501" r="0" b="10298"/>
            <a:stretch/>
          </p:blipFill>
          <p:spPr>
            <a:xfrm>
              <a:off x="8367480" y="1752480"/>
              <a:ext cx="1295640" cy="1733040"/>
            </a:xfrm>
            <a:prstGeom prst="rect">
              <a:avLst/>
            </a:prstGeom>
            <a:noFill/>
            <a:ln w="0">
              <a:noFill/>
            </a:ln>
          </p:spPr>
        </p:pic>
        <p:sp>
          <p:nvSpPr>
            <p:cNvPr id="282" name="TextBox 17"/>
            <p:cNvSpPr/>
            <p:nvPr/>
          </p:nvSpPr>
          <p:spPr>
            <a:xfrm>
              <a:off x="9941400" y="1917720"/>
              <a:ext cx="1356480" cy="4690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400" b="1" u="none" strike="noStrike">
                  <a:solidFill>
                    <a:schemeClr val="accent1"/>
                  </a:solidFill>
                  <a:effectLst/>
                  <a:uFillTx/>
                  <a:latin typeface="Arial"/>
                  <a:ea typeface="Microsoft YaHei"/>
                </a:rPr>
                <a:t>Fin Wing</a:t>
              </a:r>
              <a:endParaRPr lang="en-US" sz="2400" b="0" u="none" strike="noStrike">
                <a:solidFill>
                  <a:srgbClr val="000000"/>
                </a:solidFill>
                <a:effectLst/>
                <a:uFillTx/>
                <a:latin typeface="Arial"/>
              </a:endParaRPr>
            </a:p>
          </p:txBody>
        </p:sp>
        <p:sp>
          <p:nvSpPr>
            <p:cNvPr id="283" name="TextBox 18"/>
            <p:cNvSpPr/>
            <p:nvPr/>
          </p:nvSpPr>
          <p:spPr>
            <a:xfrm>
              <a:off x="9946800" y="2368440"/>
              <a:ext cx="85428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chemeClr val="accent6"/>
                  </a:solidFill>
                  <a:effectLst/>
                  <a:uFillTx/>
                  <a:latin typeface="Arial"/>
                  <a:ea typeface="Microsoft YaHei"/>
                </a:rPr>
                <a:t>Concept 3</a:t>
              </a:r>
              <a:endParaRPr lang="en-US" sz="1350" b="0" u="none" strike="noStrike">
                <a:solidFill>
                  <a:srgbClr val="000000"/>
                </a:solidFill>
                <a:effectLst/>
                <a:uFillTx/>
                <a:latin typeface="Arial"/>
              </a:endParaRPr>
            </a:p>
          </p:txBody>
        </p:sp>
        <p:sp>
          <p:nvSpPr>
            <p:cNvPr id="284" name="TextBox 19"/>
            <p:cNvSpPr/>
            <p:nvPr/>
          </p:nvSpPr>
          <p:spPr>
            <a:xfrm>
              <a:off x="9945360" y="2844720"/>
              <a:ext cx="1659600" cy="3222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650" b="0" u="none" strike="noStrike">
                  <a:solidFill>
                    <a:schemeClr val="dk1"/>
                  </a:solidFill>
                  <a:effectLst/>
                  <a:uFillTx/>
                  <a:latin typeface="Arial"/>
                  <a:ea typeface="Microsoft YaHei"/>
                </a:rPr>
                <a:t>Short wide soft fin</a:t>
              </a:r>
              <a:endParaRPr lang="en-US" sz="1650" b="0" u="none" strike="noStrike">
                <a:solidFill>
                  <a:srgbClr val="000000"/>
                </a:solidFill>
                <a:effectLst/>
                <a:uFillTx/>
                <a:latin typeface="Arial"/>
              </a:endParaRPr>
            </a:p>
          </p:txBody>
        </p:sp>
        <p:sp>
          <p:nvSpPr>
            <p:cNvPr id="285" name="Rectangle 20"/>
            <p:cNvSpPr/>
            <p:nvPr/>
          </p:nvSpPr>
          <p:spPr>
            <a:xfrm>
              <a:off x="495360" y="3790800"/>
              <a:ext cx="3495240" cy="1980720"/>
            </a:xfrm>
            <a:prstGeom prst="roundRect">
              <a:avLst>
                <a:gd name="adj" fmla="val 3846"/>
              </a:avLst>
            </a:prstGeom>
            <a:solidFill>
              <a:schemeClr val="accent5"/>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286" name="Image 21"/>
            <p:cNvPicPr/>
            <p:nvPr/>
          </p:nvPicPr>
          <p:blipFill>
            <a:blip r:embed="rId4"/>
            <a:srcRect l="68006" t="30002" r="0" b="6002"/>
            <a:stretch/>
          </p:blipFill>
          <p:spPr>
            <a:xfrm>
              <a:off x="669240" y="3895560"/>
              <a:ext cx="1299960" cy="1733040"/>
            </a:xfrm>
            <a:prstGeom prst="rect">
              <a:avLst/>
            </a:prstGeom>
            <a:noFill/>
            <a:ln w="0">
              <a:noFill/>
            </a:ln>
          </p:spPr>
        </p:pic>
        <p:sp>
          <p:nvSpPr>
            <p:cNvPr id="287" name="TextBox 22"/>
            <p:cNvSpPr/>
            <p:nvPr/>
          </p:nvSpPr>
          <p:spPr>
            <a:xfrm>
              <a:off x="2245320" y="4060800"/>
              <a:ext cx="919800" cy="4690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400" b="1" u="none" strike="noStrike">
                  <a:solidFill>
                    <a:schemeClr val="accent1"/>
                  </a:solidFill>
                  <a:effectLst/>
                  <a:uFillTx/>
                  <a:latin typeface="Arial"/>
                  <a:ea typeface="Microsoft YaHei"/>
                </a:rPr>
                <a:t>Spiral</a:t>
              </a:r>
              <a:endParaRPr lang="en-US" sz="2400" b="0" u="none" strike="noStrike">
                <a:solidFill>
                  <a:srgbClr val="000000"/>
                </a:solidFill>
                <a:effectLst/>
                <a:uFillTx/>
                <a:latin typeface="Arial"/>
              </a:endParaRPr>
            </a:p>
          </p:txBody>
        </p:sp>
        <p:sp>
          <p:nvSpPr>
            <p:cNvPr id="288" name="TextBox 23"/>
            <p:cNvSpPr/>
            <p:nvPr/>
          </p:nvSpPr>
          <p:spPr>
            <a:xfrm>
              <a:off x="2250720" y="4511520"/>
              <a:ext cx="85428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chemeClr val="accent6"/>
                  </a:solidFill>
                  <a:effectLst/>
                  <a:uFillTx/>
                  <a:latin typeface="Arial"/>
                  <a:ea typeface="Microsoft YaHei"/>
                </a:rPr>
                <a:t>Concept 4</a:t>
              </a:r>
              <a:endParaRPr lang="en-US" sz="1350" b="0" u="none" strike="noStrike">
                <a:solidFill>
                  <a:srgbClr val="000000"/>
                </a:solidFill>
                <a:effectLst/>
                <a:uFillTx/>
                <a:latin typeface="Arial"/>
              </a:endParaRPr>
            </a:p>
          </p:txBody>
        </p:sp>
        <p:sp>
          <p:nvSpPr>
            <p:cNvPr id="289" name="TextBox 24"/>
            <p:cNvSpPr/>
            <p:nvPr/>
          </p:nvSpPr>
          <p:spPr>
            <a:xfrm>
              <a:off x="2248920" y="4987800"/>
              <a:ext cx="1650240" cy="3222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650" b="0" u="none" strike="noStrike">
                  <a:solidFill>
                    <a:schemeClr val="dk1"/>
                  </a:solidFill>
                  <a:effectLst/>
                  <a:uFillTx/>
                  <a:latin typeface="Arial"/>
                  <a:ea typeface="Microsoft YaHei"/>
                </a:rPr>
                <a:t>Shallow curled surface</a:t>
              </a:r>
              <a:endParaRPr lang="en-US" sz="1650" b="0" u="none" strike="noStrike">
                <a:solidFill>
                  <a:srgbClr val="000000"/>
                </a:solidFill>
                <a:effectLst/>
                <a:uFillTx/>
                <a:latin typeface="Arial"/>
              </a:endParaRPr>
            </a:p>
          </p:txBody>
        </p:sp>
        <p:sp>
          <p:nvSpPr>
            <p:cNvPr id="290" name="Rectangle 25"/>
            <p:cNvSpPr/>
            <p:nvPr/>
          </p:nvSpPr>
          <p:spPr>
            <a:xfrm>
              <a:off x="4343400" y="3790800"/>
              <a:ext cx="3495240" cy="1980720"/>
            </a:xfrm>
            <a:prstGeom prst="roundRect">
              <a:avLst>
                <a:gd name="adj" fmla="val 3846"/>
              </a:avLst>
            </a:prstGeom>
            <a:solidFill>
              <a:schemeClr val="accent5"/>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291" name="Image 26"/>
            <p:cNvPicPr/>
            <p:nvPr/>
          </p:nvPicPr>
          <p:blipFill>
            <a:blip r:embed="rId5"/>
            <a:srcRect l="68006" t="27001" r="0" b="11200"/>
            <a:stretch/>
          </p:blipFill>
          <p:spPr>
            <a:xfrm>
              <a:off x="4494240" y="3895560"/>
              <a:ext cx="1346040" cy="1733040"/>
            </a:xfrm>
            <a:prstGeom prst="rect">
              <a:avLst/>
            </a:prstGeom>
            <a:noFill/>
            <a:ln w="0">
              <a:noFill/>
            </a:ln>
          </p:spPr>
        </p:pic>
        <p:sp>
          <p:nvSpPr>
            <p:cNvPr id="292" name="TextBox 27"/>
            <p:cNvSpPr/>
            <p:nvPr/>
          </p:nvSpPr>
          <p:spPr>
            <a:xfrm>
              <a:off x="6093360" y="4060800"/>
              <a:ext cx="1020960" cy="4690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400" b="1" u="none" strike="noStrike">
                  <a:solidFill>
                    <a:schemeClr val="accent1"/>
                  </a:solidFill>
                  <a:effectLst/>
                  <a:uFillTx/>
                  <a:latin typeface="Arial"/>
                  <a:ea typeface="Microsoft YaHei"/>
                </a:rPr>
                <a:t>Bloom</a:t>
              </a:r>
              <a:endParaRPr lang="en-US" sz="2400" b="0" u="none" strike="noStrike">
                <a:solidFill>
                  <a:srgbClr val="000000"/>
                </a:solidFill>
                <a:effectLst/>
                <a:uFillTx/>
                <a:latin typeface="Arial"/>
              </a:endParaRPr>
            </a:p>
          </p:txBody>
        </p:sp>
        <p:sp>
          <p:nvSpPr>
            <p:cNvPr id="293" name="TextBox 28"/>
            <p:cNvSpPr/>
            <p:nvPr/>
          </p:nvSpPr>
          <p:spPr>
            <a:xfrm>
              <a:off x="6098760" y="4511520"/>
              <a:ext cx="85428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chemeClr val="accent6"/>
                  </a:solidFill>
                  <a:effectLst/>
                  <a:uFillTx/>
                  <a:latin typeface="Arial"/>
                  <a:ea typeface="Microsoft YaHei"/>
                </a:rPr>
                <a:t>Concept 5</a:t>
              </a:r>
              <a:endParaRPr lang="en-US" sz="1350" b="0" u="none" strike="noStrike">
                <a:solidFill>
                  <a:srgbClr val="000000"/>
                </a:solidFill>
                <a:effectLst/>
                <a:uFillTx/>
                <a:latin typeface="Arial"/>
              </a:endParaRPr>
            </a:p>
          </p:txBody>
        </p:sp>
        <p:sp>
          <p:nvSpPr>
            <p:cNvPr id="294" name="TextBox 29"/>
            <p:cNvSpPr/>
            <p:nvPr/>
          </p:nvSpPr>
          <p:spPr>
            <a:xfrm>
              <a:off x="6097320" y="4987800"/>
              <a:ext cx="1650240" cy="3222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650" b="0" u="none" strike="noStrike">
                  <a:solidFill>
                    <a:schemeClr val="dk1"/>
                  </a:solidFill>
                  <a:effectLst/>
                  <a:uFillTx/>
                  <a:latin typeface="Arial"/>
                  <a:ea typeface="Microsoft YaHei"/>
                </a:rPr>
                <a:t>Petal soft-gel wrap</a:t>
              </a:r>
              <a:endParaRPr lang="en-US" sz="1650" b="0" u="none" strike="noStrike">
                <a:solidFill>
                  <a:srgbClr val="000000"/>
                </a:solidFill>
                <a:effectLst/>
                <a:uFillTx/>
                <a:latin typeface="Arial"/>
              </a:endParaRPr>
            </a:p>
          </p:txBody>
        </p:sp>
        <p:sp>
          <p:nvSpPr>
            <p:cNvPr id="295" name="Rectangle 30"/>
            <p:cNvSpPr/>
            <p:nvPr/>
          </p:nvSpPr>
          <p:spPr>
            <a:xfrm>
              <a:off x="8191440" y="3790800"/>
              <a:ext cx="3504960" cy="1980720"/>
            </a:xfrm>
            <a:prstGeom prst="roundRect">
              <a:avLst>
                <a:gd name="adj" fmla="val 3846"/>
              </a:avLst>
            </a:prstGeom>
            <a:solidFill>
              <a:schemeClr val="accent5"/>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296" name="Image 31"/>
            <p:cNvPicPr/>
            <p:nvPr/>
          </p:nvPicPr>
          <p:blipFill>
            <a:blip r:embed="rId6"/>
            <a:srcRect l="68505" t="25999" r="1499" b="22201"/>
            <a:stretch/>
          </p:blipFill>
          <p:spPr>
            <a:xfrm>
              <a:off x="8315280" y="3942360"/>
              <a:ext cx="1399680" cy="1611360"/>
            </a:xfrm>
            <a:prstGeom prst="rect">
              <a:avLst/>
            </a:prstGeom>
            <a:noFill/>
            <a:ln w="0">
              <a:noFill/>
            </a:ln>
          </p:spPr>
        </p:pic>
        <p:sp>
          <p:nvSpPr>
            <p:cNvPr id="297" name="TextBox 32"/>
            <p:cNvSpPr/>
            <p:nvPr/>
          </p:nvSpPr>
          <p:spPr>
            <a:xfrm>
              <a:off x="9941400" y="4060800"/>
              <a:ext cx="1557360" cy="4690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400" b="1" u="none" strike="noStrike">
                  <a:solidFill>
                    <a:schemeClr val="accent1"/>
                  </a:solidFill>
                  <a:effectLst/>
                  <a:uFillTx/>
                  <a:latin typeface="Arial"/>
                  <a:ea typeface="Microsoft YaHei"/>
                </a:rPr>
                <a:t>Twin Petal</a:t>
              </a:r>
              <a:endParaRPr lang="en-US" sz="2400" b="0" u="none" strike="noStrike">
                <a:solidFill>
                  <a:srgbClr val="000000"/>
                </a:solidFill>
                <a:effectLst/>
                <a:uFillTx/>
                <a:latin typeface="Arial"/>
              </a:endParaRPr>
            </a:p>
          </p:txBody>
        </p:sp>
        <p:sp>
          <p:nvSpPr>
            <p:cNvPr id="298" name="TextBox 33"/>
            <p:cNvSpPr/>
            <p:nvPr/>
          </p:nvSpPr>
          <p:spPr>
            <a:xfrm>
              <a:off x="9946800" y="4511520"/>
              <a:ext cx="86904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chemeClr val="accent6"/>
                  </a:solidFill>
                  <a:effectLst/>
                  <a:uFillTx/>
                  <a:latin typeface="Arial"/>
                  <a:ea typeface="Microsoft YaHei"/>
                </a:rPr>
                <a:t>Concept 6</a:t>
              </a:r>
              <a:endParaRPr lang="en-US" sz="1350" b="0" u="none" strike="noStrike">
                <a:solidFill>
                  <a:srgbClr val="000000"/>
                </a:solidFill>
                <a:effectLst/>
                <a:uFillTx/>
                <a:latin typeface="Arial"/>
              </a:endParaRPr>
            </a:p>
          </p:txBody>
        </p:sp>
        <p:sp>
          <p:nvSpPr>
            <p:cNvPr id="299" name="TextBox 34"/>
            <p:cNvSpPr/>
            <p:nvPr/>
          </p:nvSpPr>
          <p:spPr>
            <a:xfrm>
              <a:off x="9945360" y="4987800"/>
              <a:ext cx="1659600" cy="3222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650" b="0" u="none" strike="noStrike">
                  <a:solidFill>
                    <a:schemeClr val="dk1"/>
                  </a:solidFill>
                  <a:effectLst/>
                  <a:uFillTx/>
                  <a:latin typeface="Arial"/>
                  <a:ea typeface="Microsoft YaHei"/>
                </a:rPr>
                <a:t>Overlapping twin shells</a:t>
              </a:r>
              <a:endParaRPr lang="en-US" sz="1650" b="0" u="none" strike="noStrike">
                <a:solidFill>
                  <a:srgbClr val="000000"/>
                </a:solidFill>
                <a:effectLst/>
                <a:uFillTx/>
                <a:latin typeface="Arial"/>
              </a:endParaRPr>
            </a:p>
          </p:txBody>
        </p:sp>
      </p:grpSp>
      <p:sp>
        <p:nvSpPr>
          <p:cNvPr id="300" name="demo-boundary"/>
          <p:cNvSpPr/>
          <p:nvPr/>
        </p:nvSpPr>
        <p:spPr>
          <a:xfrm>
            <a:off x="488520" y="5997600"/>
            <a:ext cx="4794120" cy="2073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Six left-ear concepts demonstrate this round's generation flow.</a:t>
            </a:r>
            <a:endParaRPr lang="en-US" sz="1350" b="0" u="none" strike="noStrike">
              <a:solidFill>
                <a:srgbClr val="000000"/>
              </a:solidFill>
              <a:effectLst/>
              <a:uFillTx/>
              <a:latin typeface="Arial"/>
            </a:endParaRPr>
          </a:p>
        </p:txBody>
      </p:sp>
      <p:sp>
        <p:nvSpPr>
          <p:cNvPr id="301" name="footer-label"/>
          <p:cNvSpPr/>
          <p:nvPr/>
        </p:nvSpPr>
        <p:spPr>
          <a:xfrm>
            <a:off x="488520" y="6407280"/>
            <a:ext cx="545760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Input features set the generation direction. People compare and select.</a:t>
            </a:r>
            <a:endParaRPr lang="en-US" sz="1350" b="0" u="none" strike="noStrike">
              <a:solidFill>
                <a:srgbClr val="000000"/>
              </a:solidFill>
              <a:effectLst/>
              <a:uFillTx/>
              <a:latin typeface="Arial"/>
            </a:endParaRPr>
          </a:p>
        </p:txBody>
      </p:sp>
      <p:sp>
        <p:nvSpPr>
          <p:cNvPr id="302" name="page-number"/>
          <p:cNvSpPr/>
          <p:nvPr/>
        </p:nvSpPr>
        <p:spPr>
          <a:xfrm>
            <a:off x="11439720" y="6407280"/>
            <a:ext cx="263520" cy="263520"/>
          </a:xfrm>
          <a:prstGeom prst="rect">
            <a:avLst/>
          </a:prstGeom>
          <a:noFill/>
          <a:ln w="0">
            <a:noFill/>
          </a:ln>
        </p:spPr>
        <p:style>
          <a:lnRef idx="0"/>
          <a:fillRef idx="0"/>
          <a:effectRef idx="0"/>
          <a:fontRef idx="minor"/>
        </p:style>
        <p:txBody>
          <a:bodyPr wrap="none" lIns="0" tIns="0" rIns="0" bIns="0" anchor="t" anchorCtr="1">
            <a:spAutoFit/>
          </a:bodyPr>
          <a:p>
            <a:pPr algn="r" defTabSz="457200">
              <a:lnSpc>
                <a:spcPct val="100000"/>
              </a:lnSpc>
            </a:pPr>
            <a:r>
              <a:rPr lang="en-US" sz="1350" b="0" u="none" strike="noStrike">
                <a:solidFill>
                  <a:srgbClr val="66758A"/>
                </a:solidFill>
                <a:effectLst/>
                <a:uFillTx/>
                <a:latin typeface="Arial"/>
                <a:ea typeface="Microsoft YaHei"/>
              </a:rPr>
              <a:t>09</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303" name="header"/>
          <p:cNvGrpSpPr/>
          <p:nvPr/>
        </p:nvGrpSpPr>
        <p:grpSpPr>
          <a:xfrm>
            <a:off x="478440" y="422280"/>
            <a:ext cx="10436760" cy="973080"/>
            <a:chOff x="478440" y="422280"/>
            <a:chExt cx="10436760" cy="973080"/>
          </a:xfrm>
        </p:grpSpPr>
        <p:sp>
          <p:nvSpPr>
            <p:cNvPr id="304" name="TextBox 2"/>
            <p:cNvSpPr/>
            <p:nvPr/>
          </p:nvSpPr>
          <p:spPr>
            <a:xfrm>
              <a:off x="478440" y="422280"/>
              <a:ext cx="7850880" cy="6451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3300" b="1" u="none" strike="noStrike">
                  <a:solidFill>
                    <a:schemeClr val="accent1"/>
                  </a:solidFill>
                  <a:effectLst/>
                  <a:uFillTx/>
                  <a:latin typeface="Arial"/>
                  <a:ea typeface="Microsoft YaHei"/>
                </a:rPr>
                <a:t>Consistency Rules for Concept Images</a:t>
              </a:r>
              <a:endParaRPr lang="en-US" sz="3300" b="0" u="none" strike="noStrike">
                <a:solidFill>
                  <a:srgbClr val="000000"/>
                </a:solidFill>
                <a:effectLst/>
                <a:uFillTx/>
                <a:latin typeface="Arial"/>
              </a:endParaRPr>
            </a:p>
          </p:txBody>
        </p:sp>
        <p:sp>
          <p:nvSpPr>
            <p:cNvPr id="305" name="TextBox 3"/>
            <p:cNvSpPr/>
            <p:nvPr/>
          </p:nvSpPr>
          <p:spPr>
            <a:xfrm>
              <a:off x="487080" y="1073160"/>
              <a:ext cx="1042812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rgbClr val="66758A"/>
                  </a:solidFill>
                  <a:effectLst/>
                  <a:uFillTx/>
                  <a:latin typeface="Arial"/>
                  <a:ea typeface="Microsoft YaHei"/>
                </a:rPr>
                <a:t>Side, layout, and part relations are written into the generation spec, read by templates, RAG prompts, and tests.</a:t>
              </a:r>
              <a:endParaRPr lang="en-US" sz="1650" b="0" u="none" strike="noStrike">
                <a:solidFill>
                  <a:srgbClr val="000000"/>
                </a:solidFill>
                <a:effectLst/>
                <a:uFillTx/>
                <a:latin typeface="Arial"/>
              </a:endParaRPr>
            </a:p>
          </p:txBody>
        </p:sp>
      </p:grpSp>
      <p:grpSp>
        <p:nvGrpSpPr>
          <p:cNvPr id="306" name="selected-reference"/>
          <p:cNvGrpSpPr/>
          <p:nvPr/>
        </p:nvGrpSpPr>
        <p:grpSpPr>
          <a:xfrm>
            <a:off x="495360" y="1762200"/>
            <a:ext cx="6438600" cy="4295520"/>
            <a:chOff x="495360" y="1762200"/>
            <a:chExt cx="6438600" cy="4295520"/>
          </a:xfrm>
        </p:grpSpPr>
        <p:pic>
          <p:nvPicPr>
            <p:cNvPr id="307" name="Image 5"/>
            <p:cNvPicPr/>
            <p:nvPr/>
          </p:nvPicPr>
          <p:blipFill>
            <a:blip r:embed="rId1"/>
            <a:stretch/>
          </p:blipFill>
          <p:spPr>
            <a:xfrm>
              <a:off x="495360" y="1762200"/>
              <a:ext cx="6438600" cy="4295520"/>
            </a:xfrm>
            <a:prstGeom prst="rect">
              <a:avLst/>
            </a:prstGeom>
            <a:noFill/>
            <a:ln w="0">
              <a:noFill/>
            </a:ln>
          </p:spPr>
        </p:pic>
      </p:grpSp>
      <p:grpSp>
        <p:nvGrpSpPr>
          <p:cNvPr id="308" name="rules-to-consumer"/>
          <p:cNvGrpSpPr/>
          <p:nvPr/>
        </p:nvGrpSpPr>
        <p:grpSpPr>
          <a:xfrm>
            <a:off x="7391520" y="1876320"/>
            <a:ext cx="4388760" cy="4228920"/>
            <a:chOff x="7391520" y="1876320"/>
            <a:chExt cx="4388760" cy="4228920"/>
          </a:xfrm>
        </p:grpSpPr>
        <p:sp>
          <p:nvSpPr>
            <p:cNvPr id="309" name="Ellipse 7"/>
            <p:cNvSpPr/>
            <p:nvPr/>
          </p:nvSpPr>
          <p:spPr>
            <a:xfrm>
              <a:off x="7400880" y="1876320"/>
              <a:ext cx="342720" cy="342720"/>
            </a:xfrm>
            <a:prstGeom prst="ellipse">
              <a:avLst/>
            </a:prstGeom>
            <a:solidFill>
              <a:schemeClr val="accent6"/>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10" name="TextBox 8"/>
            <p:cNvSpPr/>
            <p:nvPr/>
          </p:nvSpPr>
          <p:spPr>
            <a:xfrm>
              <a:off x="7895880" y="1882800"/>
              <a:ext cx="154512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chemeClr val="accent1"/>
                  </a:solidFill>
                  <a:effectLst/>
                  <a:uFillTx/>
                  <a:latin typeface="Arial"/>
                  <a:ea typeface="Microsoft YaHei"/>
                </a:rPr>
                <a:t>Left ear only</a:t>
              </a:r>
              <a:endParaRPr lang="en-US" sz="1950" b="0" u="none" strike="noStrike">
                <a:solidFill>
                  <a:srgbClr val="000000"/>
                </a:solidFill>
                <a:effectLst/>
                <a:uFillTx/>
                <a:latin typeface="Arial"/>
              </a:endParaRPr>
            </a:p>
          </p:txBody>
        </p:sp>
        <p:sp>
          <p:nvSpPr>
            <p:cNvPr id="311" name="TextBox 9"/>
            <p:cNvSpPr/>
            <p:nvPr/>
          </p:nvSpPr>
          <p:spPr>
            <a:xfrm>
              <a:off x="7897320" y="2311560"/>
              <a:ext cx="228600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chemeClr val="dk1"/>
                  </a:solidFill>
                  <a:effectLst/>
                  <a:uFillTx/>
                  <a:latin typeface="Arial"/>
                  <a:ea typeface="Microsoft YaHei"/>
                </a:rPr>
                <a:t>Original orientation kept</a:t>
              </a:r>
              <a:endParaRPr lang="en-US" sz="1650" b="0" u="none" strike="noStrike">
                <a:solidFill>
                  <a:srgbClr val="000000"/>
                </a:solidFill>
                <a:effectLst/>
                <a:uFillTx/>
                <a:latin typeface="Arial"/>
              </a:endParaRPr>
            </a:p>
          </p:txBody>
        </p:sp>
        <p:sp>
          <p:nvSpPr>
            <p:cNvPr id="312" name="Ellipse 10"/>
            <p:cNvSpPr/>
            <p:nvPr/>
          </p:nvSpPr>
          <p:spPr>
            <a:xfrm>
              <a:off x="7400880" y="2933640"/>
              <a:ext cx="342720" cy="342720"/>
            </a:xfrm>
            <a:prstGeom prst="ellipse">
              <a:avLst/>
            </a:prstGeom>
            <a:solidFill>
              <a:schemeClr val="accent6"/>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13" name="TextBox 11"/>
            <p:cNvSpPr/>
            <p:nvPr/>
          </p:nvSpPr>
          <p:spPr>
            <a:xfrm>
              <a:off x="7895880" y="2940120"/>
              <a:ext cx="197172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chemeClr val="accent1"/>
                  </a:solidFill>
                  <a:effectLst/>
                  <a:uFillTx/>
                  <a:latin typeface="Arial"/>
                  <a:ea typeface="Microsoft YaHei"/>
                </a:rPr>
                <a:t>Six-panel layout</a:t>
              </a:r>
              <a:endParaRPr lang="en-US" sz="1950" b="0" u="none" strike="noStrike">
                <a:solidFill>
                  <a:srgbClr val="000000"/>
                </a:solidFill>
                <a:effectLst/>
                <a:uFillTx/>
                <a:latin typeface="Arial"/>
              </a:endParaRPr>
            </a:p>
          </p:txBody>
        </p:sp>
        <p:sp>
          <p:nvSpPr>
            <p:cNvPr id="314" name="TextBox 12"/>
            <p:cNvSpPr/>
            <p:nvPr/>
          </p:nvSpPr>
          <p:spPr>
            <a:xfrm>
              <a:off x="7897320" y="3368520"/>
              <a:ext cx="274860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chemeClr val="dk1"/>
                  </a:solidFill>
                  <a:effectLst/>
                  <a:uFillTx/>
                  <a:latin typeface="Arial"/>
                  <a:ea typeface="Microsoft YaHei"/>
                </a:rPr>
                <a:t>Worn / four views / hero</a:t>
              </a:r>
              <a:endParaRPr lang="en-US" sz="1650" b="0" u="none" strike="noStrike">
                <a:solidFill>
                  <a:srgbClr val="000000"/>
                </a:solidFill>
                <a:effectLst/>
                <a:uFillTx/>
                <a:latin typeface="Arial"/>
              </a:endParaRPr>
            </a:p>
          </p:txBody>
        </p:sp>
        <p:sp>
          <p:nvSpPr>
            <p:cNvPr id="315" name="TextBox 13"/>
            <p:cNvSpPr/>
            <p:nvPr/>
          </p:nvSpPr>
          <p:spPr>
            <a:xfrm>
              <a:off x="7897320" y="3701880"/>
              <a:ext cx="268200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chemeClr val="dk1"/>
                  </a:solidFill>
                  <a:effectLst/>
                  <a:uFillTx/>
                  <a:latin typeface="Arial"/>
                  <a:ea typeface="Microsoft YaHei"/>
                </a:rPr>
                <a:t>No other panels are kept</a:t>
              </a:r>
              <a:endParaRPr lang="en-US" sz="1650" b="0" u="none" strike="noStrike">
                <a:solidFill>
                  <a:srgbClr val="000000"/>
                </a:solidFill>
                <a:effectLst/>
                <a:uFillTx/>
                <a:latin typeface="Arial"/>
              </a:endParaRPr>
            </a:p>
          </p:txBody>
        </p:sp>
        <p:sp>
          <p:nvSpPr>
            <p:cNvPr id="316" name="Ellipse 14"/>
            <p:cNvSpPr/>
            <p:nvPr/>
          </p:nvSpPr>
          <p:spPr>
            <a:xfrm>
              <a:off x="7400880" y="4314960"/>
              <a:ext cx="342720" cy="342720"/>
            </a:xfrm>
            <a:prstGeom prst="ellipse">
              <a:avLst/>
            </a:prstGeom>
            <a:solidFill>
              <a:schemeClr val="accent6"/>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17" name="TextBox 15"/>
            <p:cNvSpPr/>
            <p:nvPr/>
          </p:nvSpPr>
          <p:spPr>
            <a:xfrm>
              <a:off x="7895880" y="4321080"/>
              <a:ext cx="296316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chemeClr val="accent1"/>
                  </a:solidFill>
                  <a:effectLst/>
                  <a:uFillTx/>
                  <a:latin typeface="Arial"/>
                  <a:ea typeface="Microsoft YaHei"/>
                </a:rPr>
                <a:t>Consistent across views</a:t>
              </a:r>
              <a:endParaRPr lang="en-US" sz="1950" b="0" u="none" strike="noStrike">
                <a:solidFill>
                  <a:srgbClr val="000000"/>
                </a:solidFill>
                <a:effectLst/>
                <a:uFillTx/>
                <a:latin typeface="Arial"/>
              </a:endParaRPr>
            </a:p>
          </p:txBody>
        </p:sp>
        <p:sp>
          <p:nvSpPr>
            <p:cNvPr id="318" name="TextBox 16"/>
            <p:cNvSpPr/>
            <p:nvPr/>
          </p:nvSpPr>
          <p:spPr>
            <a:xfrm>
              <a:off x="7897320" y="4749840"/>
              <a:ext cx="3882960" cy="3222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400" b="0" u="none" strike="noStrike">
                  <a:solidFill>
                    <a:schemeClr val="dk1"/>
                  </a:solidFill>
                  <a:effectLst/>
                  <a:uFillTx/>
                  <a:latin typeface="Arial"/>
                  <a:ea typeface="Microsoft YaHei"/>
                </a:rPr>
                <a:t>Shared proportion, joints, materials</a:t>
              </a:r>
              <a:endParaRPr lang="en-US" sz="1400" b="0" u="none" strike="noStrike">
                <a:solidFill>
                  <a:srgbClr val="000000"/>
                </a:solidFill>
                <a:effectLst/>
                <a:uFillTx/>
                <a:latin typeface="Arial"/>
              </a:endParaRPr>
            </a:p>
          </p:txBody>
        </p:sp>
        <p:sp>
          <p:nvSpPr>
            <p:cNvPr id="319" name="Rectangle 17"/>
            <p:cNvSpPr/>
            <p:nvPr/>
          </p:nvSpPr>
          <p:spPr>
            <a:xfrm>
              <a:off x="7391520" y="5305320"/>
              <a:ext cx="4304880" cy="799920"/>
            </a:xfrm>
            <a:prstGeom prst="roundRect">
              <a:avLst>
                <a:gd name="adj" fmla="val 10714"/>
              </a:avLst>
            </a:prstGeom>
            <a:solidFill>
              <a:srgbClr val="F3EEFF"/>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20" name="TextBox 18"/>
            <p:cNvSpPr/>
            <p:nvPr/>
          </p:nvSpPr>
          <p:spPr>
            <a:xfrm>
              <a:off x="7583040" y="5425920"/>
              <a:ext cx="244764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1" u="none" strike="noStrike">
                  <a:solidFill>
                    <a:schemeClr val="accent6"/>
                  </a:solidFill>
                  <a:effectLst/>
                  <a:uFillTx/>
                  <a:latin typeface="Arial"/>
                  <a:ea typeface="Microsoft YaHei"/>
                </a:rPr>
                <a:t>Next-round entry points</a:t>
              </a:r>
              <a:endParaRPr lang="en-US" sz="1650" b="0" u="none" strike="noStrike">
                <a:solidFill>
                  <a:srgbClr val="000000"/>
                </a:solidFill>
                <a:effectLst/>
                <a:uFillTx/>
                <a:latin typeface="Arial"/>
              </a:endParaRPr>
            </a:p>
          </p:txBody>
        </p:sp>
        <p:sp>
          <p:nvSpPr>
            <p:cNvPr id="321" name="TextBox 19"/>
            <p:cNvSpPr/>
            <p:nvPr/>
          </p:nvSpPr>
          <p:spPr>
            <a:xfrm>
              <a:off x="7584480" y="5778360"/>
              <a:ext cx="305640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chemeClr val="dk1"/>
                  </a:solidFill>
                  <a:effectLst/>
                  <a:uFillTx/>
                  <a:latin typeface="Arial"/>
                  <a:ea typeface="Microsoft YaHei"/>
                </a:rPr>
                <a:t>Spec, references, prompts, tests</a:t>
              </a:r>
              <a:endParaRPr lang="en-US" sz="1350" b="0" u="none" strike="noStrike">
                <a:solidFill>
                  <a:srgbClr val="000000"/>
                </a:solidFill>
                <a:effectLst/>
                <a:uFillTx/>
                <a:latin typeface="Arial"/>
              </a:endParaRPr>
            </a:p>
          </p:txBody>
        </p:sp>
      </p:grpSp>
      <p:sp>
        <p:nvSpPr>
          <p:cNvPr id="322" name="footer-label"/>
          <p:cNvSpPr/>
          <p:nvPr/>
        </p:nvSpPr>
        <p:spPr>
          <a:xfrm>
            <a:off x="488520" y="6407280"/>
            <a:ext cx="634284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Consistency rules apply to new concepts. Form, color, and material follow the task.</a:t>
            </a:r>
            <a:endParaRPr lang="en-US" sz="1350" b="0" u="none" strike="noStrike">
              <a:solidFill>
                <a:srgbClr val="000000"/>
              </a:solidFill>
              <a:effectLst/>
              <a:uFillTx/>
              <a:latin typeface="Arial"/>
            </a:endParaRPr>
          </a:p>
        </p:txBody>
      </p:sp>
      <p:sp>
        <p:nvSpPr>
          <p:cNvPr id="323" name="page-number"/>
          <p:cNvSpPr/>
          <p:nvPr/>
        </p:nvSpPr>
        <p:spPr>
          <a:xfrm>
            <a:off x="11439720" y="6407280"/>
            <a:ext cx="263520" cy="263520"/>
          </a:xfrm>
          <a:prstGeom prst="rect">
            <a:avLst/>
          </a:prstGeom>
          <a:noFill/>
          <a:ln w="0">
            <a:noFill/>
          </a:ln>
        </p:spPr>
        <p:style>
          <a:lnRef idx="0"/>
          <a:fillRef idx="0"/>
          <a:effectRef idx="0"/>
          <a:fontRef idx="minor"/>
        </p:style>
        <p:txBody>
          <a:bodyPr wrap="none" lIns="0" tIns="0" rIns="0" bIns="0" anchor="t" anchorCtr="1">
            <a:spAutoFit/>
          </a:bodyPr>
          <a:p>
            <a:pPr algn="r" defTabSz="457200">
              <a:lnSpc>
                <a:spcPct val="100000"/>
              </a:lnSpc>
            </a:pPr>
            <a:r>
              <a:rPr lang="en-US" sz="1350" b="0" u="none" strike="noStrike">
                <a:solidFill>
                  <a:srgbClr val="66758A"/>
                </a:solidFill>
                <a:effectLst/>
                <a:uFillTx/>
                <a:latin typeface="Arial"/>
                <a:ea typeface="Microsoft YaHei"/>
              </a:rPr>
              <a:t>10</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324" name="header"/>
          <p:cNvGrpSpPr/>
          <p:nvPr/>
        </p:nvGrpSpPr>
        <p:grpSpPr>
          <a:xfrm>
            <a:off x="478440" y="384120"/>
            <a:ext cx="11209680" cy="973080"/>
            <a:chOff x="478440" y="384120"/>
            <a:chExt cx="11209680" cy="973080"/>
          </a:xfrm>
        </p:grpSpPr>
        <p:sp>
          <p:nvSpPr>
            <p:cNvPr id="325" name="TextBox 2"/>
            <p:cNvSpPr/>
            <p:nvPr/>
          </p:nvSpPr>
          <p:spPr>
            <a:xfrm>
              <a:off x="478440" y="384120"/>
              <a:ext cx="11201040" cy="64512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3300" b="1" u="none" strike="noStrike">
                  <a:solidFill>
                    <a:srgbClr val="13243A"/>
                  </a:solidFill>
                  <a:effectLst/>
                  <a:uFillTx/>
                  <a:latin typeface="Arial"/>
                  <a:ea typeface="微软雅黑"/>
                </a:rPr>
                <a:t>Growth of AI Collaboration: Stages 1 to 3</a:t>
              </a:r>
              <a:endParaRPr lang="en-US" sz="3300" b="0" u="none" strike="noStrike">
                <a:solidFill>
                  <a:srgbClr val="000000"/>
                </a:solidFill>
                <a:effectLst/>
                <a:uFillTx/>
                <a:latin typeface="Arial"/>
              </a:endParaRPr>
            </a:p>
          </p:txBody>
        </p:sp>
        <p:sp>
          <p:nvSpPr>
            <p:cNvPr id="326" name="TextBox 3"/>
            <p:cNvSpPr/>
            <p:nvPr/>
          </p:nvSpPr>
          <p:spPr>
            <a:xfrm>
              <a:off x="487080" y="1035000"/>
              <a:ext cx="11201040" cy="32220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650" b="0" u="none" strike="noStrike">
                  <a:solidFill>
                    <a:srgbClr val="66758A"/>
                  </a:solidFill>
                  <a:effectLst/>
                  <a:uFillTx/>
                  <a:latin typeface="Arial"/>
                  <a:ea typeface="微软雅黑"/>
                </a:rPr>
                <a:t>Concept images come first. Choose the direction, then turn the concept into an editable 3D model.</a:t>
              </a:r>
              <a:endParaRPr lang="en-US" sz="1650" b="0" u="none" strike="noStrike">
                <a:solidFill>
                  <a:srgbClr val="000000"/>
                </a:solidFill>
                <a:effectLst/>
                <a:uFillTx/>
                <a:latin typeface="Arial"/>
              </a:endParaRPr>
            </a:p>
          </p:txBody>
        </p:sp>
      </p:grpSp>
      <p:sp>
        <p:nvSpPr>
          <p:cNvPr id="327" name="footer-label"/>
          <p:cNvSpPr/>
          <p:nvPr/>
        </p:nvSpPr>
        <p:spPr>
          <a:xfrm>
            <a:off x="488520" y="6473880"/>
            <a:ext cx="6379200" cy="26352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250" b="0" u="none" strike="noStrike">
                <a:solidFill>
                  <a:srgbClr val="66758A"/>
                </a:solidFill>
                <a:effectLst/>
                <a:uFillTx/>
                <a:latin typeface="Arial"/>
                <a:ea typeface="微软雅黑"/>
              </a:rPr>
              <a:t>Six stages grouped by capability. Methods refine each other. Candidates still await review.</a:t>
            </a:r>
            <a:endParaRPr lang="en-US" sz="1250" b="0" u="none" strike="noStrike">
              <a:solidFill>
                <a:srgbClr val="000000"/>
              </a:solidFill>
              <a:effectLst/>
              <a:uFillTx/>
              <a:latin typeface="Arial"/>
            </a:endParaRPr>
          </a:p>
        </p:txBody>
      </p:sp>
      <p:sp>
        <p:nvSpPr>
          <p:cNvPr id="328" name="page-number"/>
          <p:cNvSpPr/>
          <p:nvPr/>
        </p:nvSpPr>
        <p:spPr>
          <a:xfrm>
            <a:off x="11465640" y="6473880"/>
            <a:ext cx="237600" cy="263520"/>
          </a:xfrm>
          <a:prstGeom prst="rect">
            <a:avLst/>
          </a:prstGeom>
          <a:noFill/>
          <a:ln w="0">
            <a:noFill/>
          </a:ln>
        </p:spPr>
        <p:style>
          <a:lnRef idx="0"/>
          <a:fillRef idx="0"/>
          <a:effectRef idx="0"/>
          <a:fontRef idx="minor"/>
        </p:style>
        <p:txBody>
          <a:bodyPr wrap="none" lIns="0" tIns="0" rIns="0" bIns="0" anchor="t" anchorCtr="1">
            <a:spAutoFit/>
          </a:bodyPr>
          <a:p>
            <a:pPr algn="r" defTabSz="457200">
              <a:lnSpc>
                <a:spcPct val="100000"/>
              </a:lnSpc>
            </a:pPr>
            <a:r>
              <a:rPr lang="en-US" sz="1250" b="0" u="none" strike="noStrike">
                <a:solidFill>
                  <a:srgbClr val="66758A"/>
                </a:solidFill>
                <a:effectLst/>
                <a:uFillTx/>
                <a:latin typeface="Arial"/>
                <a:ea typeface="Microsoft YaHei"/>
              </a:rPr>
              <a:t>11</a:t>
            </a:r>
            <a:endParaRPr lang="en-US" sz="1250" b="0" u="none" strike="noStrike">
              <a:solidFill>
                <a:srgbClr val="000000"/>
              </a:solidFill>
              <a:effectLst/>
              <a:uFillTx/>
              <a:latin typeface="Arial"/>
            </a:endParaRPr>
          </a:p>
        </p:txBody>
      </p:sp>
      <p:sp>
        <p:nvSpPr>
          <p:cNvPr id="329" name="Line 7"/>
          <p:cNvSpPr/>
          <p:nvPr/>
        </p:nvSpPr>
        <p:spPr>
          <a:xfrm>
            <a:off x="4210200" y="1676520"/>
            <a:ext cx="9000" cy="4428720"/>
          </a:xfrm>
          <a:custGeom>
            <a:avLst/>
            <a:gdLst>
              <a:gd name="textAreaLeft" fmla="*/ 0 w 9000"/>
              <a:gd name="textAreaRight" fmla="*/ 9360 w 9000"/>
              <a:gd name="textAreaTop" fmla="*/ 0 h 4428720"/>
              <a:gd name="textAreaBottom" fmla="*/ 4429080 h 4428720"/>
            </a:gdLst>
            <a:ahLst/>
            <a:cxnLst/>
            <a:rect l="textAreaLeft" t="textAreaTop" r="textAreaRight" b="textAreaBottom"/>
            <a:pathLst>
              <a:path w="9525" h="4429125">
                <a:moveTo>
                  <a:pt x="0" y="0"/>
                </a:moveTo>
                <a:lnTo>
                  <a:pt x="0" y="4429125"/>
                </a:lnTo>
              </a:path>
            </a:pathLst>
          </a:custGeom>
          <a:noFill/>
          <a:ln w="9525">
            <a:solidFill>
              <a:srgbClr val="DCE3EF"/>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30" name="Line 8"/>
          <p:cNvSpPr/>
          <p:nvPr/>
        </p:nvSpPr>
        <p:spPr>
          <a:xfrm>
            <a:off x="8039160" y="1676520"/>
            <a:ext cx="9000" cy="4428720"/>
          </a:xfrm>
          <a:custGeom>
            <a:avLst/>
            <a:gdLst>
              <a:gd name="textAreaLeft" fmla="*/ 0 w 9000"/>
              <a:gd name="textAreaRight" fmla="*/ 9360 w 9000"/>
              <a:gd name="textAreaTop" fmla="*/ 0 h 4428720"/>
              <a:gd name="textAreaBottom" fmla="*/ 4429080 h 4428720"/>
            </a:gdLst>
            <a:ahLst/>
            <a:cxnLst/>
            <a:rect l="textAreaLeft" t="textAreaTop" r="textAreaRight" b="textAreaBottom"/>
            <a:pathLst>
              <a:path w="9525" h="4429125">
                <a:moveTo>
                  <a:pt x="0" y="0"/>
                </a:moveTo>
                <a:lnTo>
                  <a:pt x="0" y="4429125"/>
                </a:lnTo>
              </a:path>
            </a:pathLst>
          </a:custGeom>
          <a:noFill/>
          <a:ln w="9525">
            <a:solidFill>
              <a:srgbClr val="DCE3EF"/>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grpSp>
        <p:nvGrpSpPr>
          <p:cNvPr id="331" name="stage-one"/>
          <p:cNvGrpSpPr/>
          <p:nvPr/>
        </p:nvGrpSpPr>
        <p:grpSpPr>
          <a:xfrm>
            <a:off x="495360" y="1711440"/>
            <a:ext cx="3649680" cy="4228920"/>
            <a:chOff x="495360" y="1711440"/>
            <a:chExt cx="3649680" cy="4228920"/>
          </a:xfrm>
        </p:grpSpPr>
        <p:sp>
          <p:nvSpPr>
            <p:cNvPr id="332" name="Rectangle 9"/>
            <p:cNvSpPr/>
            <p:nvPr/>
          </p:nvSpPr>
          <p:spPr>
            <a:xfrm>
              <a:off x="495360" y="1714680"/>
              <a:ext cx="56880" cy="294840"/>
            </a:xfrm>
            <a:prstGeom prst="rect">
              <a:avLst/>
            </a:prstGeom>
            <a:solidFill>
              <a:srgbClr val="8996A6"/>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33" name="TextBox 10"/>
            <p:cNvSpPr/>
            <p:nvPr/>
          </p:nvSpPr>
          <p:spPr>
            <a:xfrm>
              <a:off x="647280" y="1711440"/>
              <a:ext cx="224676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13243A"/>
                  </a:solidFill>
                  <a:effectLst/>
                  <a:uFillTx/>
                  <a:latin typeface="Arial"/>
                  <a:ea typeface="微软雅黑"/>
                </a:rPr>
                <a:t>1 Rough geometry</a:t>
              </a:r>
              <a:endParaRPr lang="en-US" sz="1950" b="0" u="none" strike="noStrike">
                <a:solidFill>
                  <a:srgbClr val="000000"/>
                </a:solidFill>
                <a:effectLst/>
                <a:uFillTx/>
                <a:latin typeface="Arial"/>
              </a:endParaRPr>
            </a:p>
          </p:txBody>
        </p:sp>
        <p:pic>
          <p:nvPicPr>
            <p:cNvPr id="334" name="Image 11"/>
            <p:cNvPicPr/>
            <p:nvPr/>
          </p:nvPicPr>
          <p:blipFill>
            <a:blip r:embed="rId1"/>
            <a:stretch/>
          </p:blipFill>
          <p:spPr>
            <a:xfrm>
              <a:off x="1326240" y="2219400"/>
              <a:ext cx="1861560" cy="1599840"/>
            </a:xfrm>
            <a:prstGeom prst="rect">
              <a:avLst/>
            </a:prstGeom>
            <a:noFill/>
            <a:ln w="0">
              <a:noFill/>
            </a:ln>
          </p:spPr>
        </p:pic>
        <p:sp>
          <p:nvSpPr>
            <p:cNvPr id="335" name="TextBox 12"/>
            <p:cNvSpPr/>
            <p:nvPr/>
          </p:nvSpPr>
          <p:spPr>
            <a:xfrm>
              <a:off x="621720" y="3892680"/>
              <a:ext cx="310284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0" u="none" strike="noStrike">
                  <a:solidFill>
                    <a:srgbClr val="66758A"/>
                  </a:solidFill>
                  <a:effectLst/>
                  <a:uFillTx/>
                  <a:latin typeface="Arial"/>
                  <a:ea typeface="微软雅黑"/>
                </a:rPr>
                <a:t>Early trial: geometry, thin evidence.</a:t>
              </a:r>
              <a:endParaRPr lang="en-US" sz="1250" b="0" u="none" strike="noStrike">
                <a:solidFill>
                  <a:srgbClr val="000000"/>
                </a:solidFill>
                <a:effectLst/>
                <a:uFillTx/>
                <a:latin typeface="Arial"/>
              </a:endParaRPr>
            </a:p>
          </p:txBody>
        </p:sp>
        <p:sp>
          <p:nvSpPr>
            <p:cNvPr id="336" name="TextBox 13"/>
            <p:cNvSpPr/>
            <p:nvPr/>
          </p:nvSpPr>
          <p:spPr>
            <a:xfrm>
              <a:off x="621720" y="4321080"/>
              <a:ext cx="39924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1" u="none" strike="noStrike">
                  <a:solidFill>
                    <a:srgbClr val="66758A"/>
                  </a:solidFill>
                  <a:effectLst/>
                  <a:uFillTx/>
                  <a:latin typeface="Arial"/>
                  <a:ea typeface="微软雅黑"/>
                </a:rPr>
                <a:t>Skill</a:t>
              </a:r>
              <a:endParaRPr lang="en-US" sz="1250" b="0" u="none" strike="noStrike">
                <a:solidFill>
                  <a:srgbClr val="000000"/>
                </a:solidFill>
                <a:effectLst/>
                <a:uFillTx/>
                <a:latin typeface="Arial"/>
              </a:endParaRPr>
            </a:p>
          </p:txBody>
        </p:sp>
        <p:sp>
          <p:nvSpPr>
            <p:cNvPr id="337" name="TextBox 14"/>
            <p:cNvSpPr/>
            <p:nvPr/>
          </p:nvSpPr>
          <p:spPr>
            <a:xfrm>
              <a:off x="1114200" y="4245120"/>
              <a:ext cx="286704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0" u="none" strike="noStrike">
                  <a:solidFill>
                    <a:srgbClr val="24364C"/>
                  </a:solidFill>
                  <a:effectLst/>
                  <a:uFillTx/>
                  <a:latin typeface="Arial"/>
                  <a:ea typeface="微软雅黑"/>
                </a:rPr>
                <a:t>Needs to rough geometry</a:t>
              </a:r>
              <a:endParaRPr lang="en-US" sz="1950" b="0" u="none" strike="noStrike">
                <a:solidFill>
                  <a:srgbClr val="000000"/>
                </a:solidFill>
                <a:effectLst/>
                <a:uFillTx/>
                <a:latin typeface="Arial"/>
              </a:endParaRPr>
            </a:p>
          </p:txBody>
        </p:sp>
        <p:sp>
          <p:nvSpPr>
            <p:cNvPr id="338" name="TextBox 15"/>
            <p:cNvSpPr/>
            <p:nvPr/>
          </p:nvSpPr>
          <p:spPr>
            <a:xfrm>
              <a:off x="621720" y="4759200"/>
              <a:ext cx="38160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1" u="none" strike="noStrike">
                  <a:solidFill>
                    <a:srgbClr val="66758A"/>
                  </a:solidFill>
                  <a:effectLst/>
                  <a:uFillTx/>
                  <a:latin typeface="Arial"/>
                  <a:ea typeface="微软雅黑"/>
                </a:rPr>
                <a:t>Gap</a:t>
              </a:r>
              <a:endParaRPr lang="en-US" sz="1250" b="0" u="none" strike="noStrike">
                <a:solidFill>
                  <a:srgbClr val="000000"/>
                </a:solidFill>
                <a:effectLst/>
                <a:uFillTx/>
                <a:latin typeface="Arial"/>
              </a:endParaRPr>
            </a:p>
          </p:txBody>
        </p:sp>
        <p:sp>
          <p:nvSpPr>
            <p:cNvPr id="339" name="TextBox 16"/>
            <p:cNvSpPr/>
            <p:nvPr/>
          </p:nvSpPr>
          <p:spPr>
            <a:xfrm>
              <a:off x="1114200" y="4683240"/>
              <a:ext cx="292248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0" u="none" strike="noStrike">
                  <a:solidFill>
                    <a:srgbClr val="66758A"/>
                  </a:solidFill>
                  <a:effectLst/>
                  <a:uFillTx/>
                  <a:latin typeface="Arial"/>
                  <a:ea typeface="微软雅黑"/>
                </a:rPr>
                <a:t>Modeling lacked evidence</a:t>
              </a:r>
              <a:endParaRPr lang="en-US" sz="1950" b="0" u="none" strike="noStrike">
                <a:solidFill>
                  <a:srgbClr val="000000"/>
                </a:solidFill>
                <a:effectLst/>
                <a:uFillTx/>
                <a:latin typeface="Arial"/>
              </a:endParaRPr>
            </a:p>
          </p:txBody>
        </p:sp>
        <p:sp>
          <p:nvSpPr>
            <p:cNvPr id="340" name="TextBox 17"/>
            <p:cNvSpPr/>
            <p:nvPr/>
          </p:nvSpPr>
          <p:spPr>
            <a:xfrm>
              <a:off x="621720" y="5197320"/>
              <a:ext cx="41688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1" u="none" strike="noStrike">
                  <a:solidFill>
                    <a:srgbClr val="8B5CF6"/>
                  </a:solidFill>
                  <a:effectLst/>
                  <a:uFillTx/>
                  <a:latin typeface="Arial"/>
                  <a:ea typeface="微软雅黑"/>
                </a:rPr>
                <a:t>Step</a:t>
              </a:r>
              <a:endParaRPr lang="en-US" sz="1250" b="0" u="none" strike="noStrike">
                <a:solidFill>
                  <a:srgbClr val="000000"/>
                </a:solidFill>
                <a:effectLst/>
                <a:uFillTx/>
                <a:latin typeface="Arial"/>
              </a:endParaRPr>
            </a:p>
          </p:txBody>
        </p:sp>
        <p:sp>
          <p:nvSpPr>
            <p:cNvPr id="341" name="TextBox 18"/>
            <p:cNvSpPr/>
            <p:nvPr/>
          </p:nvSpPr>
          <p:spPr>
            <a:xfrm>
              <a:off x="1114200" y="5121360"/>
              <a:ext cx="286668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0" u="none" strike="noStrike">
                  <a:solidFill>
                    <a:srgbClr val="8B5CF6"/>
                  </a:solidFill>
                  <a:effectLst/>
                  <a:uFillTx/>
                  <a:latin typeface="Arial"/>
                  <a:ea typeface="微软雅黑"/>
                </a:rPr>
                <a:t>Concept first, human pick</a:t>
              </a:r>
              <a:endParaRPr lang="en-US" sz="1950" b="0" u="none" strike="noStrike">
                <a:solidFill>
                  <a:srgbClr val="000000"/>
                </a:solidFill>
                <a:effectLst/>
                <a:uFillTx/>
                <a:latin typeface="Arial"/>
              </a:endParaRPr>
            </a:p>
          </p:txBody>
        </p:sp>
        <p:sp>
          <p:nvSpPr>
            <p:cNvPr id="342" name="TextBox 19"/>
            <p:cNvSpPr/>
            <p:nvPr/>
          </p:nvSpPr>
          <p:spPr>
            <a:xfrm>
              <a:off x="621720" y="5635800"/>
              <a:ext cx="42552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1" u="none" strike="noStrike">
                  <a:solidFill>
                    <a:srgbClr val="3662EA"/>
                  </a:solidFill>
                  <a:effectLst/>
                  <a:uFillTx/>
                  <a:latin typeface="Arial"/>
                  <a:ea typeface="微软雅黑"/>
                </a:rPr>
                <a:t>Gain</a:t>
              </a:r>
              <a:endParaRPr lang="en-US" sz="1250" b="0" u="none" strike="noStrike">
                <a:solidFill>
                  <a:srgbClr val="000000"/>
                </a:solidFill>
                <a:effectLst/>
                <a:uFillTx/>
                <a:latin typeface="Arial"/>
              </a:endParaRPr>
            </a:p>
          </p:txBody>
        </p:sp>
        <p:sp>
          <p:nvSpPr>
            <p:cNvPr id="343" name="TextBox 20"/>
            <p:cNvSpPr/>
            <p:nvPr/>
          </p:nvSpPr>
          <p:spPr>
            <a:xfrm>
              <a:off x="1114200" y="5559480"/>
              <a:ext cx="303084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3662EA"/>
                  </a:solidFill>
                  <a:effectLst/>
                  <a:uFillTx/>
                  <a:latin typeface="Arial"/>
                  <a:ea typeface="微软雅黑"/>
                </a:rPr>
                <a:t>Set direction, then model</a:t>
              </a:r>
              <a:endParaRPr lang="en-US" sz="1950" b="0" u="none" strike="noStrike">
                <a:solidFill>
                  <a:srgbClr val="000000"/>
                </a:solidFill>
                <a:effectLst/>
                <a:uFillTx/>
                <a:latin typeface="Arial"/>
              </a:endParaRPr>
            </a:p>
          </p:txBody>
        </p:sp>
      </p:grpSp>
      <p:grpSp>
        <p:nvGrpSpPr>
          <p:cNvPr id="344" name="stage-two"/>
          <p:cNvGrpSpPr/>
          <p:nvPr/>
        </p:nvGrpSpPr>
        <p:grpSpPr>
          <a:xfrm>
            <a:off x="4324320" y="1711440"/>
            <a:ext cx="3355560" cy="4228920"/>
            <a:chOff x="4324320" y="1711440"/>
            <a:chExt cx="3355560" cy="4228920"/>
          </a:xfrm>
        </p:grpSpPr>
        <p:sp>
          <p:nvSpPr>
            <p:cNvPr id="345" name="Rectangle 22"/>
            <p:cNvSpPr/>
            <p:nvPr/>
          </p:nvSpPr>
          <p:spPr>
            <a:xfrm>
              <a:off x="4324320" y="1714680"/>
              <a:ext cx="56880" cy="294840"/>
            </a:xfrm>
            <a:prstGeom prst="rect">
              <a:avLst/>
            </a:prstGeom>
            <a:solidFill>
              <a:srgbClr val="8B5CF6"/>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46" name="TextBox 23"/>
            <p:cNvSpPr/>
            <p:nvPr/>
          </p:nvSpPr>
          <p:spPr>
            <a:xfrm>
              <a:off x="4476240" y="1711440"/>
              <a:ext cx="2893680" cy="299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13243A"/>
                  </a:solidFill>
                  <a:effectLst/>
                  <a:uFillTx/>
                  <a:latin typeface="Arial"/>
                  <a:ea typeface="微软雅黑"/>
                </a:rPr>
                <a:t>2 </a:t>
              </a:r>
              <a:r>
                <a:rPr lang="en-US" sz="1950" b="1" u="none" strike="noStrike">
                  <a:solidFill>
                    <a:schemeClr val="accent1"/>
                  </a:solidFill>
                  <a:effectLst/>
                  <a:uFillTx/>
                  <a:latin typeface="Arial"/>
                  <a:ea typeface="Microsoft YaHei"/>
                </a:rPr>
                <a:t>2D first, then translate</a:t>
              </a:r>
              <a:endParaRPr lang="en-US" sz="1950" b="0" u="none" strike="noStrike">
                <a:solidFill>
                  <a:srgbClr val="000000"/>
                </a:solidFill>
                <a:effectLst/>
                <a:uFillTx/>
                <a:latin typeface="Arial"/>
              </a:endParaRPr>
            </a:p>
          </p:txBody>
        </p:sp>
        <p:sp>
          <p:nvSpPr>
            <p:cNvPr id="347" name="TextBox 28"/>
            <p:cNvSpPr/>
            <p:nvPr/>
          </p:nvSpPr>
          <p:spPr>
            <a:xfrm>
              <a:off x="4450680" y="3892680"/>
              <a:ext cx="316080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0" u="none" strike="noStrike">
                  <a:solidFill>
                    <a:srgbClr val="66758A"/>
                  </a:solidFill>
                  <a:effectLst/>
                  <a:uFillTx/>
                  <a:latin typeface="Arial"/>
                  <a:ea typeface="微软雅黑"/>
                </a:rPr>
                <a:t>Early 2D outline excerpt. Concept fixed first.</a:t>
              </a:r>
              <a:endParaRPr lang="en-US" sz="1250" b="0" u="none" strike="noStrike">
                <a:solidFill>
                  <a:srgbClr val="000000"/>
                </a:solidFill>
                <a:effectLst/>
                <a:uFillTx/>
                <a:latin typeface="Arial"/>
              </a:endParaRPr>
            </a:p>
          </p:txBody>
        </p:sp>
        <p:sp>
          <p:nvSpPr>
            <p:cNvPr id="348" name="TextBox 29"/>
            <p:cNvSpPr/>
            <p:nvPr/>
          </p:nvSpPr>
          <p:spPr>
            <a:xfrm>
              <a:off x="4450680" y="4321080"/>
              <a:ext cx="39924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1" u="none" strike="noStrike">
                  <a:solidFill>
                    <a:srgbClr val="66758A"/>
                  </a:solidFill>
                  <a:effectLst/>
                  <a:uFillTx/>
                  <a:latin typeface="Arial"/>
                  <a:ea typeface="微软雅黑"/>
                </a:rPr>
                <a:t>Skill</a:t>
              </a:r>
              <a:endParaRPr lang="en-US" sz="1250" b="0" u="none" strike="noStrike">
                <a:solidFill>
                  <a:srgbClr val="000000"/>
                </a:solidFill>
                <a:effectLst/>
                <a:uFillTx/>
                <a:latin typeface="Arial"/>
              </a:endParaRPr>
            </a:p>
          </p:txBody>
        </p:sp>
        <p:sp>
          <p:nvSpPr>
            <p:cNvPr id="349" name="TextBox 30"/>
            <p:cNvSpPr/>
            <p:nvPr/>
          </p:nvSpPr>
          <p:spPr>
            <a:xfrm>
              <a:off x="4943160" y="4245120"/>
              <a:ext cx="267408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0" u="none" strike="noStrike">
                  <a:solidFill>
                    <a:srgbClr val="24364C"/>
                  </a:solidFill>
                  <a:effectLst/>
                  <a:uFillTx/>
                  <a:latin typeface="Arial"/>
                  <a:ea typeface="微软雅黑"/>
                </a:rPr>
                <a:t>Compared 2D concepts</a:t>
              </a:r>
              <a:endParaRPr lang="en-US" sz="1950" b="0" u="none" strike="noStrike">
                <a:solidFill>
                  <a:srgbClr val="000000"/>
                </a:solidFill>
                <a:effectLst/>
                <a:uFillTx/>
                <a:latin typeface="Arial"/>
              </a:endParaRPr>
            </a:p>
          </p:txBody>
        </p:sp>
        <p:sp>
          <p:nvSpPr>
            <p:cNvPr id="350" name="TextBox 31"/>
            <p:cNvSpPr/>
            <p:nvPr/>
          </p:nvSpPr>
          <p:spPr>
            <a:xfrm>
              <a:off x="4450680" y="4759200"/>
              <a:ext cx="38160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1" u="none" strike="noStrike">
                  <a:solidFill>
                    <a:srgbClr val="66758A"/>
                  </a:solidFill>
                  <a:effectLst/>
                  <a:uFillTx/>
                  <a:latin typeface="Arial"/>
                  <a:ea typeface="微软雅黑"/>
                </a:rPr>
                <a:t>Gap</a:t>
              </a:r>
              <a:endParaRPr lang="en-US" sz="1250" b="0" u="none" strike="noStrike">
                <a:solidFill>
                  <a:srgbClr val="000000"/>
                </a:solidFill>
                <a:effectLst/>
                <a:uFillTx/>
                <a:latin typeface="Arial"/>
              </a:endParaRPr>
            </a:p>
          </p:txBody>
        </p:sp>
        <p:sp>
          <p:nvSpPr>
            <p:cNvPr id="351" name="TextBox 32"/>
            <p:cNvSpPr/>
            <p:nvPr/>
          </p:nvSpPr>
          <p:spPr>
            <a:xfrm>
              <a:off x="4943160" y="4683240"/>
              <a:ext cx="2399400" cy="299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0" u="none" strike="noStrike">
                  <a:solidFill>
                    <a:srgbClr val="66758A"/>
                  </a:solidFill>
                  <a:effectLst/>
                  <a:uFillTx/>
                  <a:latin typeface="Arial"/>
                  <a:ea typeface="微软雅黑"/>
                </a:rPr>
                <a:t>No concept guidance</a:t>
              </a:r>
              <a:endParaRPr lang="en-US" sz="1950" b="0" u="none" strike="noStrike">
                <a:solidFill>
                  <a:srgbClr val="000000"/>
                </a:solidFill>
                <a:effectLst/>
                <a:uFillTx/>
                <a:latin typeface="Arial"/>
              </a:endParaRPr>
            </a:p>
          </p:txBody>
        </p:sp>
        <p:sp>
          <p:nvSpPr>
            <p:cNvPr id="352" name="TextBox 33"/>
            <p:cNvSpPr/>
            <p:nvPr/>
          </p:nvSpPr>
          <p:spPr>
            <a:xfrm>
              <a:off x="4450680" y="5197320"/>
              <a:ext cx="41688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1" u="none" strike="noStrike">
                  <a:solidFill>
                    <a:srgbClr val="3662EA"/>
                  </a:solidFill>
                  <a:effectLst/>
                  <a:uFillTx/>
                  <a:latin typeface="Arial"/>
                  <a:ea typeface="微软雅黑"/>
                </a:rPr>
                <a:t>Step</a:t>
              </a:r>
              <a:endParaRPr lang="en-US" sz="1250" b="0" u="none" strike="noStrike">
                <a:solidFill>
                  <a:srgbClr val="000000"/>
                </a:solidFill>
                <a:effectLst/>
                <a:uFillTx/>
                <a:latin typeface="Arial"/>
              </a:endParaRPr>
            </a:p>
          </p:txBody>
        </p:sp>
        <p:sp>
          <p:nvSpPr>
            <p:cNvPr id="353" name="TextBox 34"/>
            <p:cNvSpPr/>
            <p:nvPr/>
          </p:nvSpPr>
          <p:spPr>
            <a:xfrm>
              <a:off x="4943160" y="5121360"/>
              <a:ext cx="264456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0" u="none" strike="noStrike">
                  <a:solidFill>
                    <a:srgbClr val="3662EA"/>
                  </a:solidFill>
                  <a:effectLst/>
                  <a:uFillTx/>
                  <a:latin typeface="Arial"/>
                  <a:ea typeface="微软雅黑"/>
                </a:rPr>
                <a:t>Concept first, then lock</a:t>
              </a:r>
              <a:endParaRPr lang="en-US" sz="1950" b="0" u="none" strike="noStrike">
                <a:solidFill>
                  <a:srgbClr val="000000"/>
                </a:solidFill>
                <a:effectLst/>
                <a:uFillTx/>
                <a:latin typeface="Arial"/>
              </a:endParaRPr>
            </a:p>
          </p:txBody>
        </p:sp>
        <p:sp>
          <p:nvSpPr>
            <p:cNvPr id="354" name="TextBox 35"/>
            <p:cNvSpPr/>
            <p:nvPr/>
          </p:nvSpPr>
          <p:spPr>
            <a:xfrm>
              <a:off x="4450680" y="5635800"/>
              <a:ext cx="42552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1" u="none" strike="noStrike">
                  <a:solidFill>
                    <a:srgbClr val="3662EA"/>
                  </a:solidFill>
                  <a:effectLst/>
                  <a:uFillTx/>
                  <a:latin typeface="Arial"/>
                  <a:ea typeface="微软雅黑"/>
                </a:rPr>
                <a:t>Gain</a:t>
              </a:r>
              <a:endParaRPr lang="en-US" sz="1250" b="0" u="none" strike="noStrike">
                <a:solidFill>
                  <a:srgbClr val="000000"/>
                </a:solidFill>
                <a:effectLst/>
                <a:uFillTx/>
                <a:latin typeface="Arial"/>
              </a:endParaRPr>
            </a:p>
          </p:txBody>
        </p:sp>
        <p:sp>
          <p:nvSpPr>
            <p:cNvPr id="355" name="TextBox 36"/>
            <p:cNvSpPr/>
            <p:nvPr/>
          </p:nvSpPr>
          <p:spPr>
            <a:xfrm>
              <a:off x="4943160" y="5559480"/>
              <a:ext cx="273672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3662EA"/>
                  </a:solidFill>
                  <a:effectLst/>
                  <a:uFillTx/>
                  <a:latin typeface="Arial"/>
                  <a:ea typeface="微软雅黑"/>
                </a:rPr>
                <a:t>Chosen concept to 3D</a:t>
              </a:r>
              <a:endParaRPr lang="en-US" sz="1950" b="0" u="none" strike="noStrike">
                <a:solidFill>
                  <a:srgbClr val="000000"/>
                </a:solidFill>
                <a:effectLst/>
                <a:uFillTx/>
                <a:latin typeface="Arial"/>
              </a:endParaRPr>
            </a:p>
          </p:txBody>
        </p:sp>
      </p:grpSp>
      <p:grpSp>
        <p:nvGrpSpPr>
          <p:cNvPr id="356" name="stage-three"/>
          <p:cNvGrpSpPr/>
          <p:nvPr/>
        </p:nvGrpSpPr>
        <p:grpSpPr>
          <a:xfrm>
            <a:off x="8153280" y="1711440"/>
            <a:ext cx="3664440" cy="4228920"/>
            <a:chOff x="8153280" y="1711440"/>
            <a:chExt cx="3664440" cy="4228920"/>
          </a:xfrm>
        </p:grpSpPr>
        <p:sp>
          <p:nvSpPr>
            <p:cNvPr id="357" name="Rectangle 38"/>
            <p:cNvSpPr/>
            <p:nvPr/>
          </p:nvSpPr>
          <p:spPr>
            <a:xfrm>
              <a:off x="8153280" y="1714680"/>
              <a:ext cx="56880" cy="294840"/>
            </a:xfrm>
            <a:prstGeom prst="rect">
              <a:avLst/>
            </a:prstGeom>
            <a:solidFill>
              <a:srgbClr val="3662EA"/>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58" name="TextBox 39"/>
            <p:cNvSpPr/>
            <p:nvPr/>
          </p:nvSpPr>
          <p:spPr>
            <a:xfrm>
              <a:off x="8305560" y="1711440"/>
              <a:ext cx="300384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13243A"/>
                  </a:solidFill>
                  <a:effectLst/>
                  <a:uFillTx/>
                  <a:latin typeface="Arial"/>
                  <a:ea typeface="微软雅黑"/>
                </a:rPr>
                <a:t>3 Concept and 3D review</a:t>
              </a:r>
              <a:endParaRPr lang="en-US" sz="1950" b="0" u="none" strike="noStrike">
                <a:solidFill>
                  <a:srgbClr val="000000"/>
                </a:solidFill>
                <a:effectLst/>
                <a:uFillTx/>
                <a:latin typeface="Arial"/>
              </a:endParaRPr>
            </a:p>
          </p:txBody>
        </p:sp>
        <p:sp>
          <p:nvSpPr>
            <p:cNvPr id="359" name="TextBox 40"/>
            <p:cNvSpPr/>
            <p:nvPr/>
          </p:nvSpPr>
          <p:spPr>
            <a:xfrm>
              <a:off x="8327520" y="2168640"/>
              <a:ext cx="102564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0" u="none" strike="noStrike">
                  <a:solidFill>
                    <a:srgbClr val="66758A"/>
                  </a:solidFill>
                  <a:effectLst/>
                  <a:uFillTx/>
                  <a:latin typeface="Arial"/>
                  <a:ea typeface="微软雅黑"/>
                </a:rPr>
                <a:t>Concept front</a:t>
              </a:r>
              <a:endParaRPr lang="en-US" sz="1250" b="0" u="none" strike="noStrike">
                <a:solidFill>
                  <a:srgbClr val="000000"/>
                </a:solidFill>
                <a:effectLst/>
                <a:uFillTx/>
                <a:latin typeface="Arial"/>
              </a:endParaRPr>
            </a:p>
          </p:txBody>
        </p:sp>
        <p:sp>
          <p:nvSpPr>
            <p:cNvPr id="360" name="TextBox 41"/>
            <p:cNvSpPr/>
            <p:nvPr/>
          </p:nvSpPr>
          <p:spPr>
            <a:xfrm>
              <a:off x="9994320" y="2168640"/>
              <a:ext cx="86688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0" u="none" strike="noStrike">
                  <a:solidFill>
                    <a:srgbClr val="66758A"/>
                  </a:solidFill>
                  <a:effectLst/>
                  <a:uFillTx/>
                  <a:latin typeface="Arial"/>
                  <a:ea typeface="微软雅黑"/>
                </a:rPr>
                <a:t>Model front</a:t>
              </a:r>
              <a:endParaRPr lang="en-US" sz="1250" b="0" u="none" strike="noStrike">
                <a:solidFill>
                  <a:srgbClr val="000000"/>
                </a:solidFill>
                <a:effectLst/>
                <a:uFillTx/>
                <a:latin typeface="Arial"/>
              </a:endParaRPr>
            </a:p>
          </p:txBody>
        </p:sp>
        <p:pic>
          <p:nvPicPr>
            <p:cNvPr id="361" name="Image 42"/>
            <p:cNvPicPr/>
            <p:nvPr/>
          </p:nvPicPr>
          <p:blipFill>
            <a:blip r:embed="rId2"/>
            <a:srcRect l="49304" t="0" r="29303" b="50006"/>
            <a:stretch/>
          </p:blipFill>
          <p:spPr>
            <a:xfrm>
              <a:off x="8344080" y="2476440"/>
              <a:ext cx="916920" cy="1428480"/>
            </a:xfrm>
            <a:prstGeom prst="rect">
              <a:avLst/>
            </a:prstGeom>
            <a:noFill/>
            <a:ln w="0">
              <a:noFill/>
            </a:ln>
          </p:spPr>
        </p:pic>
        <p:pic>
          <p:nvPicPr>
            <p:cNvPr id="362" name="Image 43"/>
            <p:cNvPicPr/>
            <p:nvPr/>
          </p:nvPicPr>
          <p:blipFill>
            <a:blip r:embed="rId3"/>
            <a:stretch/>
          </p:blipFill>
          <p:spPr>
            <a:xfrm>
              <a:off x="10001160" y="2476440"/>
              <a:ext cx="1224360" cy="1428480"/>
            </a:xfrm>
            <a:prstGeom prst="rect">
              <a:avLst/>
            </a:prstGeom>
            <a:noFill/>
            <a:ln w="0">
              <a:noFill/>
            </a:ln>
          </p:spPr>
        </p:pic>
        <p:sp>
          <p:nvSpPr>
            <p:cNvPr id="363" name="Line 44"/>
            <p:cNvSpPr/>
            <p:nvPr/>
          </p:nvSpPr>
          <p:spPr>
            <a:xfrm>
              <a:off x="9439200" y="3190680"/>
              <a:ext cx="371520" cy="0"/>
            </a:xfrm>
            <a:prstGeom prst="line">
              <a:avLst/>
            </a:prstGeom>
            <a:ln w="19050">
              <a:solidFill>
                <a:srgbClr val="3662E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364" name="TextBox 45"/>
            <p:cNvSpPr/>
            <p:nvPr/>
          </p:nvSpPr>
          <p:spPr>
            <a:xfrm>
              <a:off x="8280000" y="3892680"/>
              <a:ext cx="292104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0" u="none" strike="noStrike">
                  <a:solidFill>
                    <a:srgbClr val="66758A"/>
                  </a:solidFill>
                  <a:effectLst/>
                  <a:uFillTx/>
                  <a:latin typeface="Arial"/>
                  <a:ea typeface="微软雅黑"/>
                </a:rPr>
                <a:t>Newer method: one-reference check.</a:t>
              </a:r>
              <a:endParaRPr lang="en-US" sz="1250" b="0" u="none" strike="noStrike">
                <a:solidFill>
                  <a:srgbClr val="000000"/>
                </a:solidFill>
                <a:effectLst/>
                <a:uFillTx/>
                <a:latin typeface="Arial"/>
              </a:endParaRPr>
            </a:p>
          </p:txBody>
        </p:sp>
        <p:sp>
          <p:nvSpPr>
            <p:cNvPr id="365" name="TextBox 48"/>
            <p:cNvSpPr/>
            <p:nvPr/>
          </p:nvSpPr>
          <p:spPr>
            <a:xfrm>
              <a:off x="8280000" y="4321080"/>
              <a:ext cx="39924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1" u="none" strike="noStrike">
                  <a:solidFill>
                    <a:srgbClr val="66758A"/>
                  </a:solidFill>
                  <a:effectLst/>
                  <a:uFillTx/>
                  <a:latin typeface="Arial"/>
                  <a:ea typeface="微软雅黑"/>
                </a:rPr>
                <a:t>Skill</a:t>
              </a:r>
              <a:endParaRPr lang="en-US" sz="1250" b="0" u="none" strike="noStrike">
                <a:solidFill>
                  <a:srgbClr val="000000"/>
                </a:solidFill>
                <a:effectLst/>
                <a:uFillTx/>
                <a:latin typeface="Arial"/>
              </a:endParaRPr>
            </a:p>
          </p:txBody>
        </p:sp>
        <p:sp>
          <p:nvSpPr>
            <p:cNvPr id="366" name="TextBox 49"/>
            <p:cNvSpPr/>
            <p:nvPr/>
          </p:nvSpPr>
          <p:spPr>
            <a:xfrm>
              <a:off x="8772120" y="4245120"/>
              <a:ext cx="228924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0" u="none" strike="noStrike">
                  <a:solidFill>
                    <a:srgbClr val="24364C"/>
                  </a:solidFill>
                  <a:effectLst/>
                  <a:uFillTx/>
                  <a:latin typeface="Arial"/>
                  <a:ea typeface="微软雅黑"/>
                </a:rPr>
                <a:t>Editable 3D concept</a:t>
              </a:r>
              <a:endParaRPr lang="en-US" sz="1950" b="0" u="none" strike="noStrike">
                <a:solidFill>
                  <a:srgbClr val="000000"/>
                </a:solidFill>
                <a:effectLst/>
                <a:uFillTx/>
                <a:latin typeface="Arial"/>
              </a:endParaRPr>
            </a:p>
          </p:txBody>
        </p:sp>
        <p:sp>
          <p:nvSpPr>
            <p:cNvPr id="367" name="TextBox 50"/>
            <p:cNvSpPr/>
            <p:nvPr/>
          </p:nvSpPr>
          <p:spPr>
            <a:xfrm>
              <a:off x="8280000" y="4759200"/>
              <a:ext cx="38160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1" u="none" strike="noStrike">
                  <a:solidFill>
                    <a:srgbClr val="66758A"/>
                  </a:solidFill>
                  <a:effectLst/>
                  <a:uFillTx/>
                  <a:latin typeface="Arial"/>
                  <a:ea typeface="微软雅黑"/>
                </a:rPr>
                <a:t>Gap</a:t>
              </a:r>
              <a:endParaRPr lang="en-US" sz="1250" b="0" u="none" strike="noStrike">
                <a:solidFill>
                  <a:srgbClr val="000000"/>
                </a:solidFill>
                <a:effectLst/>
                <a:uFillTx/>
                <a:latin typeface="Arial"/>
              </a:endParaRPr>
            </a:p>
          </p:txBody>
        </p:sp>
        <p:sp>
          <p:nvSpPr>
            <p:cNvPr id="368" name="TextBox 51"/>
            <p:cNvSpPr/>
            <p:nvPr/>
          </p:nvSpPr>
          <p:spPr>
            <a:xfrm>
              <a:off x="8772120" y="4683240"/>
              <a:ext cx="264168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0" u="none" strike="noStrike">
                  <a:solidFill>
                    <a:srgbClr val="66758A"/>
                  </a:solidFill>
                  <a:effectLst/>
                  <a:uFillTx/>
                  <a:latin typeface="Arial"/>
                  <a:ea typeface="微软雅黑"/>
                </a:rPr>
                <a:t>Wrong-face circling risk</a:t>
              </a:r>
              <a:endParaRPr lang="en-US" sz="1950" b="0" u="none" strike="noStrike">
                <a:solidFill>
                  <a:srgbClr val="000000"/>
                </a:solidFill>
                <a:effectLst/>
                <a:uFillTx/>
                <a:latin typeface="Arial"/>
              </a:endParaRPr>
            </a:p>
          </p:txBody>
        </p:sp>
        <p:sp>
          <p:nvSpPr>
            <p:cNvPr id="369" name="TextBox 52"/>
            <p:cNvSpPr/>
            <p:nvPr/>
          </p:nvSpPr>
          <p:spPr>
            <a:xfrm>
              <a:off x="8280000" y="5197320"/>
              <a:ext cx="41688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1" u="none" strike="noStrike">
                  <a:solidFill>
                    <a:srgbClr val="3662EA"/>
                  </a:solidFill>
                  <a:effectLst/>
                  <a:uFillTx/>
                  <a:latin typeface="Arial"/>
                  <a:ea typeface="微软雅黑"/>
                </a:rPr>
                <a:t>Step</a:t>
              </a:r>
              <a:endParaRPr lang="en-US" sz="1250" b="0" u="none" strike="noStrike">
                <a:solidFill>
                  <a:srgbClr val="000000"/>
                </a:solidFill>
                <a:effectLst/>
                <a:uFillTx/>
                <a:latin typeface="Arial"/>
              </a:endParaRPr>
            </a:p>
          </p:txBody>
        </p:sp>
        <p:sp>
          <p:nvSpPr>
            <p:cNvPr id="370" name="TextBox 53"/>
            <p:cNvSpPr/>
            <p:nvPr/>
          </p:nvSpPr>
          <p:spPr>
            <a:xfrm>
              <a:off x="8772120" y="5121360"/>
              <a:ext cx="267444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0" u="none" strike="noStrike">
                  <a:solidFill>
                    <a:srgbClr val="3662EA"/>
                  </a:solidFill>
                  <a:effectLst/>
                  <a:uFillTx/>
                  <a:latin typeface="Arial"/>
                  <a:ea typeface="微软雅黑"/>
                </a:rPr>
                <a:t>Relabel, check sections</a:t>
              </a:r>
              <a:endParaRPr lang="en-US" sz="1950" b="0" u="none" strike="noStrike">
                <a:solidFill>
                  <a:srgbClr val="000000"/>
                </a:solidFill>
                <a:effectLst/>
                <a:uFillTx/>
                <a:latin typeface="Arial"/>
              </a:endParaRPr>
            </a:p>
          </p:txBody>
        </p:sp>
        <p:sp>
          <p:nvSpPr>
            <p:cNvPr id="371" name="TextBox 54"/>
            <p:cNvSpPr/>
            <p:nvPr/>
          </p:nvSpPr>
          <p:spPr>
            <a:xfrm>
              <a:off x="8280000" y="5635800"/>
              <a:ext cx="42552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1" u="none" strike="noStrike">
                  <a:solidFill>
                    <a:srgbClr val="3662EA"/>
                  </a:solidFill>
                  <a:effectLst/>
                  <a:uFillTx/>
                  <a:latin typeface="Arial"/>
                  <a:ea typeface="微软雅黑"/>
                </a:rPr>
                <a:t>Gain</a:t>
              </a:r>
              <a:endParaRPr lang="en-US" sz="1250" b="0" u="none" strike="noStrike">
                <a:solidFill>
                  <a:srgbClr val="000000"/>
                </a:solidFill>
                <a:effectLst/>
                <a:uFillTx/>
                <a:latin typeface="Arial"/>
              </a:endParaRPr>
            </a:p>
          </p:txBody>
        </p:sp>
        <p:sp>
          <p:nvSpPr>
            <p:cNvPr id="372" name="TextBox 55"/>
            <p:cNvSpPr/>
            <p:nvPr/>
          </p:nvSpPr>
          <p:spPr>
            <a:xfrm>
              <a:off x="8772120" y="5559480"/>
              <a:ext cx="304560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3662EA"/>
                  </a:solidFill>
                  <a:effectLst/>
                  <a:uFillTx/>
                  <a:latin typeface="Arial"/>
                  <a:ea typeface="微软雅黑"/>
                </a:rPr>
                <a:t>Feedback now checkable</a:t>
              </a:r>
              <a:endParaRPr lang="en-US" sz="1950" b="0" u="none" strike="noStrike">
                <a:solidFill>
                  <a:srgbClr val="000000"/>
                </a:solidFill>
                <a:effectLst/>
                <a:uFillTx/>
                <a:latin typeface="Arial"/>
              </a:endParaRPr>
            </a:p>
          </p:txBody>
        </p:sp>
      </p:grpSp>
      <p:pic>
        <p:nvPicPr>
          <p:cNvPr id="373" name="Image 10"/>
          <p:cNvPicPr/>
          <p:nvPr/>
        </p:nvPicPr>
        <p:blipFill>
          <a:blip r:embed="rId4"/>
          <a:stretch/>
        </p:blipFill>
        <p:spPr>
          <a:xfrm>
            <a:off x="4476240" y="2168640"/>
            <a:ext cx="2211480" cy="164304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374" name="header"/>
          <p:cNvGrpSpPr/>
          <p:nvPr/>
        </p:nvGrpSpPr>
        <p:grpSpPr>
          <a:xfrm>
            <a:off x="478440" y="422280"/>
            <a:ext cx="11209680" cy="973080"/>
            <a:chOff x="478440" y="422280"/>
            <a:chExt cx="11209680" cy="973080"/>
          </a:xfrm>
        </p:grpSpPr>
        <p:sp>
          <p:nvSpPr>
            <p:cNvPr id="375" name="TextBox 2"/>
            <p:cNvSpPr/>
            <p:nvPr/>
          </p:nvSpPr>
          <p:spPr>
            <a:xfrm>
              <a:off x="478440" y="422280"/>
              <a:ext cx="11201040" cy="64512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3300" b="1" u="none" strike="noStrike">
                  <a:solidFill>
                    <a:srgbClr val="13243A"/>
                  </a:solidFill>
                  <a:effectLst/>
                  <a:uFillTx/>
                  <a:latin typeface="Arial"/>
                  <a:ea typeface="微软雅黑"/>
                </a:rPr>
                <a:t>Growth of AI Collaboration: Stages 4 to 6</a:t>
              </a:r>
              <a:endParaRPr lang="en-US" sz="3300" b="0" u="none" strike="noStrike">
                <a:solidFill>
                  <a:srgbClr val="000000"/>
                </a:solidFill>
                <a:effectLst/>
                <a:uFillTx/>
                <a:latin typeface="Arial"/>
              </a:endParaRPr>
            </a:p>
          </p:txBody>
        </p:sp>
        <p:sp>
          <p:nvSpPr>
            <p:cNvPr id="376" name="TextBox 3"/>
            <p:cNvSpPr/>
            <p:nvPr/>
          </p:nvSpPr>
          <p:spPr>
            <a:xfrm>
              <a:off x="487080" y="1073160"/>
              <a:ext cx="11201040" cy="32220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650" b="0" u="none" strike="noStrike">
                  <a:solidFill>
                    <a:srgbClr val="66758A"/>
                  </a:solidFill>
                  <a:effectLst/>
                  <a:uFillTx/>
                  <a:latin typeface="Arial"/>
                  <a:ea typeface="微软雅黑"/>
                </a:rPr>
                <a:t>Real sections and ear-region knowledge aid placement. Whole-unit moves and review write-back support later tasks.</a:t>
              </a:r>
              <a:endParaRPr lang="en-US" sz="1650" b="0" u="none" strike="noStrike">
                <a:solidFill>
                  <a:srgbClr val="000000"/>
                </a:solidFill>
                <a:effectLst/>
                <a:uFillTx/>
                <a:latin typeface="Arial"/>
              </a:endParaRPr>
            </a:p>
          </p:txBody>
        </p:sp>
      </p:grpSp>
      <p:sp>
        <p:nvSpPr>
          <p:cNvPr id="377" name="footer-label"/>
          <p:cNvSpPr/>
          <p:nvPr/>
        </p:nvSpPr>
        <p:spPr>
          <a:xfrm>
            <a:off x="488520" y="6407280"/>
            <a:ext cx="7038720" cy="26352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200" b="0" u="none" strike="noStrike">
                <a:solidFill>
                  <a:srgbClr val="66758A"/>
                </a:solidFill>
                <a:effectLst/>
                <a:uFillTx/>
                <a:latin typeface="Arial"/>
                <a:ea typeface="微软雅黑"/>
              </a:rPr>
              <a:t>Ear regions and sections support position checks. Wear and cross-task effects are still under validation.</a:t>
            </a:r>
            <a:endParaRPr lang="en-US" sz="1200" b="0" u="none" strike="noStrike">
              <a:solidFill>
                <a:srgbClr val="000000"/>
              </a:solidFill>
              <a:effectLst/>
              <a:uFillTx/>
              <a:latin typeface="Arial"/>
            </a:endParaRPr>
          </a:p>
        </p:txBody>
      </p:sp>
      <p:sp>
        <p:nvSpPr>
          <p:cNvPr id="378" name="page-number"/>
          <p:cNvSpPr/>
          <p:nvPr/>
        </p:nvSpPr>
        <p:spPr>
          <a:xfrm>
            <a:off x="11460960" y="6407280"/>
            <a:ext cx="242280" cy="263520"/>
          </a:xfrm>
          <a:prstGeom prst="rect">
            <a:avLst/>
          </a:prstGeom>
          <a:noFill/>
          <a:ln w="0">
            <a:noFill/>
          </a:ln>
        </p:spPr>
        <p:style>
          <a:lnRef idx="0"/>
          <a:fillRef idx="0"/>
          <a:effectRef idx="0"/>
          <a:fontRef idx="minor"/>
        </p:style>
        <p:txBody>
          <a:bodyPr wrap="none" lIns="0" tIns="0" rIns="0" bIns="0" anchor="t" anchorCtr="1">
            <a:spAutoFit/>
          </a:bodyPr>
          <a:p>
            <a:pPr algn="r" defTabSz="457200">
              <a:lnSpc>
                <a:spcPct val="100000"/>
              </a:lnSpc>
            </a:pPr>
            <a:r>
              <a:rPr lang="en-US" sz="1200" b="0" u="none" strike="noStrike">
                <a:solidFill>
                  <a:srgbClr val="66758A"/>
                </a:solidFill>
                <a:effectLst/>
                <a:uFillTx/>
                <a:latin typeface="Arial"/>
                <a:ea typeface="Microsoft YaHei"/>
              </a:rPr>
              <a:t>12</a:t>
            </a:r>
            <a:endParaRPr lang="en-US" sz="1200" b="0" u="none" strike="noStrike">
              <a:solidFill>
                <a:srgbClr val="000000"/>
              </a:solidFill>
              <a:effectLst/>
              <a:uFillTx/>
              <a:latin typeface="Arial"/>
            </a:endParaRPr>
          </a:p>
        </p:txBody>
      </p:sp>
      <p:sp>
        <p:nvSpPr>
          <p:cNvPr id="379" name="Line 7"/>
          <p:cNvSpPr/>
          <p:nvPr/>
        </p:nvSpPr>
        <p:spPr>
          <a:xfrm>
            <a:off x="4210200" y="1676520"/>
            <a:ext cx="9000" cy="4428720"/>
          </a:xfrm>
          <a:custGeom>
            <a:avLst/>
            <a:gdLst>
              <a:gd name="textAreaLeft" fmla="*/ 0 w 9000"/>
              <a:gd name="textAreaRight" fmla="*/ 9360 w 9000"/>
              <a:gd name="textAreaTop" fmla="*/ 0 h 4428720"/>
              <a:gd name="textAreaBottom" fmla="*/ 4429080 h 4428720"/>
            </a:gdLst>
            <a:ahLst/>
            <a:cxnLst/>
            <a:rect l="textAreaLeft" t="textAreaTop" r="textAreaRight" b="textAreaBottom"/>
            <a:pathLst>
              <a:path w="9525" h="4429125">
                <a:moveTo>
                  <a:pt x="0" y="0"/>
                </a:moveTo>
                <a:lnTo>
                  <a:pt x="0" y="4429125"/>
                </a:lnTo>
              </a:path>
            </a:pathLst>
          </a:custGeom>
          <a:noFill/>
          <a:ln w="9525">
            <a:solidFill>
              <a:srgbClr val="DCE3EF"/>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80" name="Line 8"/>
          <p:cNvSpPr/>
          <p:nvPr/>
        </p:nvSpPr>
        <p:spPr>
          <a:xfrm>
            <a:off x="8039160" y="1676520"/>
            <a:ext cx="9000" cy="4428720"/>
          </a:xfrm>
          <a:custGeom>
            <a:avLst/>
            <a:gdLst>
              <a:gd name="textAreaLeft" fmla="*/ 0 w 9000"/>
              <a:gd name="textAreaRight" fmla="*/ 9360 w 9000"/>
              <a:gd name="textAreaTop" fmla="*/ 0 h 4428720"/>
              <a:gd name="textAreaBottom" fmla="*/ 4429080 h 4428720"/>
            </a:gdLst>
            <a:ahLst/>
            <a:cxnLst/>
            <a:rect l="textAreaLeft" t="textAreaTop" r="textAreaRight" b="textAreaBottom"/>
            <a:pathLst>
              <a:path w="9525" h="4429125">
                <a:moveTo>
                  <a:pt x="0" y="0"/>
                </a:moveTo>
                <a:lnTo>
                  <a:pt x="0" y="4429125"/>
                </a:lnTo>
              </a:path>
            </a:pathLst>
          </a:custGeom>
          <a:noFill/>
          <a:ln w="9525">
            <a:solidFill>
              <a:srgbClr val="DCE3EF"/>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grpSp>
        <p:nvGrpSpPr>
          <p:cNvPr id="381" name="stage-four"/>
          <p:cNvGrpSpPr/>
          <p:nvPr/>
        </p:nvGrpSpPr>
        <p:grpSpPr>
          <a:xfrm>
            <a:off x="495360" y="1711440"/>
            <a:ext cx="3614040" cy="4228920"/>
            <a:chOff x="495360" y="1711440"/>
            <a:chExt cx="3614040" cy="4228920"/>
          </a:xfrm>
        </p:grpSpPr>
        <p:sp>
          <p:nvSpPr>
            <p:cNvPr id="382" name="Rectangle 9"/>
            <p:cNvSpPr/>
            <p:nvPr/>
          </p:nvSpPr>
          <p:spPr>
            <a:xfrm>
              <a:off x="495360" y="1714680"/>
              <a:ext cx="56880" cy="294840"/>
            </a:xfrm>
            <a:prstGeom prst="rect">
              <a:avLst/>
            </a:prstGeom>
            <a:solidFill>
              <a:srgbClr val="3662EA"/>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83" name="TextBox 10"/>
            <p:cNvSpPr/>
            <p:nvPr/>
          </p:nvSpPr>
          <p:spPr>
            <a:xfrm>
              <a:off x="647280" y="1711440"/>
              <a:ext cx="257508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1" u="none" strike="noStrike">
                  <a:solidFill>
                    <a:srgbClr val="13243A"/>
                  </a:solidFill>
                  <a:effectLst/>
                  <a:uFillTx/>
                  <a:latin typeface="Arial"/>
                  <a:ea typeface="微软雅黑"/>
                </a:rPr>
                <a:t>4 Circling and sections</a:t>
              </a:r>
              <a:endParaRPr lang="en-US" sz="1800" b="0" u="none" strike="noStrike">
                <a:solidFill>
                  <a:srgbClr val="000000"/>
                </a:solidFill>
                <a:effectLst/>
                <a:uFillTx/>
                <a:latin typeface="Arial"/>
              </a:endParaRPr>
            </a:p>
          </p:txBody>
        </p:sp>
        <p:grpSp>
          <p:nvGrpSpPr>
            <p:cNvPr id="384" name="real-section-vector"/>
            <p:cNvGrpSpPr/>
            <p:nvPr/>
          </p:nvGrpSpPr>
          <p:grpSpPr>
            <a:xfrm>
              <a:off x="628560" y="2060640"/>
              <a:ext cx="3241440" cy="1904760"/>
              <a:chOff x="628560" y="2060640"/>
              <a:chExt cx="3241440" cy="1904760"/>
            </a:xfrm>
          </p:grpSpPr>
          <p:sp>
            <p:nvSpPr>
              <p:cNvPr id="385" name="TextBox 11"/>
              <p:cNvSpPr/>
              <p:nvPr/>
            </p:nvSpPr>
            <p:spPr>
              <a:xfrm>
                <a:off x="640080" y="2060640"/>
                <a:ext cx="559800" cy="29304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1" u="none" strike="noStrike">
                    <a:solidFill>
                      <a:srgbClr val="24364C"/>
                    </a:solidFill>
                    <a:effectLst/>
                    <a:uFillTx/>
                    <a:latin typeface="Arial"/>
                    <a:ea typeface="微软雅黑"/>
                  </a:rPr>
                  <a:t>Entry</a:t>
                </a:r>
                <a:endParaRPr lang="en-US" sz="1500" b="0" u="none" strike="noStrike">
                  <a:solidFill>
                    <a:srgbClr val="000000"/>
                  </a:solidFill>
                  <a:effectLst/>
                  <a:uFillTx/>
                  <a:latin typeface="Arial"/>
                </a:endParaRPr>
              </a:p>
            </p:txBody>
          </p:sp>
          <p:sp>
            <p:nvSpPr>
              <p:cNvPr id="386" name="Freeform 12"/>
              <p:cNvSpPr/>
              <p:nvPr/>
            </p:nvSpPr>
            <p:spPr>
              <a:xfrm>
                <a:off x="819360" y="2295360"/>
                <a:ext cx="447120" cy="1399680"/>
              </a:xfrm>
              <a:custGeom>
                <a:avLst/>
                <a:gdLst>
                  <a:gd name="textAreaLeft" fmla="*/ 0 w 447120"/>
                  <a:gd name="textAreaRight" fmla="*/ 447480 w 447120"/>
                  <a:gd name="textAreaTop" fmla="*/ 0 h 1399680"/>
                  <a:gd name="textAreaBottom" fmla="*/ 1400040 h 1399680"/>
                </a:gdLst>
                <a:ahLst/>
                <a:cxnLst/>
                <a:rect l="textAreaLeft" t="textAreaTop" r="textAreaRight" b="textAreaBottom"/>
                <a:pathLst>
                  <a:path w="447465" h="1400175">
                    <a:moveTo>
                      <a:pt x="125187" y="835181"/>
                    </a:moveTo>
                    <a:lnTo>
                      <a:pt x="109947" y="871185"/>
                    </a:lnTo>
                    <a:moveTo>
                      <a:pt x="105023" y="887778"/>
                    </a:moveTo>
                    <a:lnTo>
                      <a:pt x="109947" y="871185"/>
                    </a:lnTo>
                    <a:moveTo>
                      <a:pt x="125187" y="835181"/>
                    </a:moveTo>
                    <a:lnTo>
                      <a:pt x="137893" y="790470"/>
                    </a:lnTo>
                    <a:moveTo>
                      <a:pt x="140703" y="786022"/>
                    </a:moveTo>
                    <a:lnTo>
                      <a:pt x="137893" y="790470"/>
                    </a:lnTo>
                    <a:moveTo>
                      <a:pt x="24470" y="1255147"/>
                    </a:moveTo>
                    <a:lnTo>
                      <a:pt x="22803" y="1248080"/>
                    </a:lnTo>
                    <a:moveTo>
                      <a:pt x="24470" y="1255147"/>
                    </a:moveTo>
                    <a:lnTo>
                      <a:pt x="52245" y="1294924"/>
                    </a:lnTo>
                    <a:moveTo>
                      <a:pt x="58303" y="1307763"/>
                    </a:moveTo>
                    <a:lnTo>
                      <a:pt x="52245" y="1294924"/>
                    </a:lnTo>
                    <a:moveTo>
                      <a:pt x="105023" y="887778"/>
                    </a:moveTo>
                    <a:lnTo>
                      <a:pt x="99517" y="905075"/>
                    </a:lnTo>
                    <a:moveTo>
                      <a:pt x="28089" y="1046093"/>
                    </a:moveTo>
                    <a:lnTo>
                      <a:pt x="51464" y="1002640"/>
                    </a:lnTo>
                    <a:moveTo>
                      <a:pt x="64437" y="979922"/>
                    </a:moveTo>
                    <a:lnTo>
                      <a:pt x="84277" y="933002"/>
                    </a:lnTo>
                    <a:moveTo>
                      <a:pt x="59788" y="986190"/>
                    </a:moveTo>
                    <a:lnTo>
                      <a:pt x="64437" y="979922"/>
                    </a:lnTo>
                    <a:moveTo>
                      <a:pt x="59788" y="986190"/>
                    </a:moveTo>
                    <a:lnTo>
                      <a:pt x="51464" y="1002640"/>
                    </a:lnTo>
                    <a:moveTo>
                      <a:pt x="18555" y="1072553"/>
                    </a:moveTo>
                    <a:lnTo>
                      <a:pt x="28089" y="1046093"/>
                    </a:lnTo>
                    <a:moveTo>
                      <a:pt x="5286" y="1102519"/>
                    </a:moveTo>
                    <a:lnTo>
                      <a:pt x="3715" y="1129789"/>
                    </a:lnTo>
                    <a:moveTo>
                      <a:pt x="0" y="1167936"/>
                    </a:moveTo>
                    <a:lnTo>
                      <a:pt x="3715" y="1129789"/>
                    </a:lnTo>
                    <a:moveTo>
                      <a:pt x="18555" y="1072553"/>
                    </a:moveTo>
                    <a:lnTo>
                      <a:pt x="5286" y="1102519"/>
                    </a:lnTo>
                    <a:moveTo>
                      <a:pt x="99517" y="905075"/>
                    </a:moveTo>
                    <a:lnTo>
                      <a:pt x="84277" y="933002"/>
                    </a:lnTo>
                    <a:moveTo>
                      <a:pt x="58303" y="1307763"/>
                    </a:moveTo>
                    <a:lnTo>
                      <a:pt x="68780" y="1325918"/>
                    </a:lnTo>
                    <a:moveTo>
                      <a:pt x="68780" y="1325918"/>
                    </a:moveTo>
                    <a:lnTo>
                      <a:pt x="99231" y="1353931"/>
                    </a:lnTo>
                    <a:moveTo>
                      <a:pt x="143018" y="1387564"/>
                    </a:moveTo>
                    <a:lnTo>
                      <a:pt x="218656" y="1397660"/>
                    </a:lnTo>
                    <a:moveTo>
                      <a:pt x="143018" y="1387564"/>
                    </a:moveTo>
                    <a:lnTo>
                      <a:pt x="134245" y="1379477"/>
                    </a:lnTo>
                    <a:moveTo>
                      <a:pt x="99231" y="1353931"/>
                    </a:moveTo>
                    <a:lnTo>
                      <a:pt x="134245" y="1379477"/>
                    </a:lnTo>
                    <a:moveTo>
                      <a:pt x="218656" y="1397660"/>
                    </a:moveTo>
                    <a:lnTo>
                      <a:pt x="225095" y="1400175"/>
                    </a:lnTo>
                    <a:moveTo>
                      <a:pt x="241068" y="692048"/>
                    </a:moveTo>
                    <a:lnTo>
                      <a:pt x="260213" y="685524"/>
                    </a:lnTo>
                    <a:moveTo>
                      <a:pt x="260213" y="685524"/>
                    </a:moveTo>
                    <a:lnTo>
                      <a:pt x="268386" y="678799"/>
                    </a:lnTo>
                    <a:moveTo>
                      <a:pt x="156410" y="737864"/>
                    </a:moveTo>
                    <a:lnTo>
                      <a:pt x="157991" y="734778"/>
                    </a:lnTo>
                    <a:moveTo>
                      <a:pt x="147142" y="766001"/>
                    </a:moveTo>
                    <a:lnTo>
                      <a:pt x="156410" y="737864"/>
                    </a:lnTo>
                    <a:moveTo>
                      <a:pt x="157991" y="734778"/>
                    </a:moveTo>
                    <a:lnTo>
                      <a:pt x="173422" y="723243"/>
                    </a:lnTo>
                    <a:moveTo>
                      <a:pt x="147142" y="766001"/>
                    </a:moveTo>
                    <a:lnTo>
                      <a:pt x="140703" y="786022"/>
                    </a:lnTo>
                    <a:moveTo>
                      <a:pt x="201768" y="704450"/>
                    </a:moveTo>
                    <a:lnTo>
                      <a:pt x="173422" y="723243"/>
                    </a:lnTo>
                    <a:moveTo>
                      <a:pt x="241068" y="692048"/>
                    </a:moveTo>
                    <a:lnTo>
                      <a:pt x="201768" y="704450"/>
                    </a:lnTo>
                    <a:moveTo>
                      <a:pt x="65265" y="110176"/>
                    </a:moveTo>
                    <a:lnTo>
                      <a:pt x="70056" y="87058"/>
                    </a:lnTo>
                    <a:moveTo>
                      <a:pt x="65265" y="110176"/>
                    </a:moveTo>
                    <a:lnTo>
                      <a:pt x="60970" y="136665"/>
                    </a:lnTo>
                    <a:moveTo>
                      <a:pt x="299009" y="92774"/>
                    </a:moveTo>
                    <a:lnTo>
                      <a:pt x="303809" y="89668"/>
                    </a:lnTo>
                    <a:moveTo>
                      <a:pt x="293922" y="91745"/>
                    </a:moveTo>
                    <a:lnTo>
                      <a:pt x="299009" y="92774"/>
                    </a:lnTo>
                    <a:moveTo>
                      <a:pt x="277254" y="337252"/>
                    </a:moveTo>
                    <a:lnTo>
                      <a:pt x="296589" y="332356"/>
                    </a:lnTo>
                    <a:moveTo>
                      <a:pt x="296589" y="332356"/>
                    </a:moveTo>
                    <a:lnTo>
                      <a:pt x="333575" y="345777"/>
                    </a:lnTo>
                    <a:moveTo>
                      <a:pt x="333575" y="345777"/>
                    </a:moveTo>
                    <a:lnTo>
                      <a:pt x="344748" y="347910"/>
                    </a:lnTo>
                    <a:moveTo>
                      <a:pt x="244840" y="341843"/>
                    </a:moveTo>
                    <a:lnTo>
                      <a:pt x="260833" y="338442"/>
                    </a:lnTo>
                    <a:moveTo>
                      <a:pt x="277254" y="337252"/>
                    </a:moveTo>
                    <a:lnTo>
                      <a:pt x="260833" y="338442"/>
                    </a:lnTo>
                    <a:moveTo>
                      <a:pt x="223152" y="349910"/>
                    </a:moveTo>
                    <a:lnTo>
                      <a:pt x="244840" y="341843"/>
                    </a:lnTo>
                    <a:moveTo>
                      <a:pt x="355073" y="55597"/>
                    </a:moveTo>
                    <a:lnTo>
                      <a:pt x="356349" y="49835"/>
                    </a:lnTo>
                    <a:moveTo>
                      <a:pt x="356349" y="49835"/>
                    </a:moveTo>
                    <a:lnTo>
                      <a:pt x="368332" y="0"/>
                    </a:lnTo>
                    <a:moveTo>
                      <a:pt x="363493" y="405584"/>
                    </a:moveTo>
                    <a:lnTo>
                      <a:pt x="354235" y="379990"/>
                    </a:lnTo>
                    <a:moveTo>
                      <a:pt x="354235" y="379990"/>
                    </a:moveTo>
                    <a:lnTo>
                      <a:pt x="346443" y="355930"/>
                    </a:lnTo>
                    <a:moveTo>
                      <a:pt x="344748" y="347910"/>
                    </a:moveTo>
                    <a:lnTo>
                      <a:pt x="346443" y="355930"/>
                    </a:lnTo>
                    <a:moveTo>
                      <a:pt x="60970" y="136665"/>
                    </a:moveTo>
                    <a:lnTo>
                      <a:pt x="59446" y="172269"/>
                    </a:lnTo>
                    <a:moveTo>
                      <a:pt x="59446" y="172269"/>
                    </a:moveTo>
                    <a:lnTo>
                      <a:pt x="59474" y="185842"/>
                    </a:lnTo>
                    <a:moveTo>
                      <a:pt x="65627" y="235372"/>
                    </a:moveTo>
                    <a:lnTo>
                      <a:pt x="59474" y="185842"/>
                    </a:lnTo>
                    <a:moveTo>
                      <a:pt x="66046" y="237639"/>
                    </a:moveTo>
                    <a:lnTo>
                      <a:pt x="65627" y="235372"/>
                    </a:lnTo>
                    <a:moveTo>
                      <a:pt x="198311" y="352615"/>
                    </a:moveTo>
                    <a:lnTo>
                      <a:pt x="223152" y="349910"/>
                    </a:lnTo>
                    <a:moveTo>
                      <a:pt x="172155" y="354006"/>
                    </a:moveTo>
                    <a:lnTo>
                      <a:pt x="198311" y="352615"/>
                    </a:lnTo>
                    <a:moveTo>
                      <a:pt x="172155" y="354006"/>
                    </a:moveTo>
                    <a:lnTo>
                      <a:pt x="141551" y="341576"/>
                    </a:lnTo>
                    <a:moveTo>
                      <a:pt x="123168" y="333737"/>
                    </a:moveTo>
                    <a:lnTo>
                      <a:pt x="141551" y="341576"/>
                    </a:lnTo>
                    <a:moveTo>
                      <a:pt x="240535" y="70990"/>
                    </a:moveTo>
                    <a:lnTo>
                      <a:pt x="234410" y="64208"/>
                    </a:lnTo>
                    <a:moveTo>
                      <a:pt x="242926" y="73266"/>
                    </a:moveTo>
                    <a:lnTo>
                      <a:pt x="240535" y="70990"/>
                    </a:lnTo>
                    <a:moveTo>
                      <a:pt x="234410" y="64208"/>
                    </a:moveTo>
                    <a:lnTo>
                      <a:pt x="186176" y="28461"/>
                    </a:lnTo>
                    <a:moveTo>
                      <a:pt x="101394" y="36576"/>
                    </a:moveTo>
                    <a:lnTo>
                      <a:pt x="82658" y="64084"/>
                    </a:lnTo>
                    <a:moveTo>
                      <a:pt x="135093" y="25670"/>
                    </a:moveTo>
                    <a:lnTo>
                      <a:pt x="101394" y="36576"/>
                    </a:lnTo>
                    <a:moveTo>
                      <a:pt x="70056" y="87058"/>
                    </a:moveTo>
                    <a:lnTo>
                      <a:pt x="82658" y="64084"/>
                    </a:lnTo>
                    <a:moveTo>
                      <a:pt x="69637" y="248012"/>
                    </a:moveTo>
                    <a:lnTo>
                      <a:pt x="85306" y="292694"/>
                    </a:lnTo>
                    <a:moveTo>
                      <a:pt x="69637" y="248012"/>
                    </a:moveTo>
                    <a:lnTo>
                      <a:pt x="66046" y="237639"/>
                    </a:lnTo>
                    <a:moveTo>
                      <a:pt x="355073" y="55597"/>
                    </a:moveTo>
                    <a:lnTo>
                      <a:pt x="353158" y="57083"/>
                    </a:lnTo>
                    <a:moveTo>
                      <a:pt x="338538" y="66399"/>
                    </a:moveTo>
                    <a:lnTo>
                      <a:pt x="353158" y="57083"/>
                    </a:lnTo>
                    <a:moveTo>
                      <a:pt x="338538" y="66399"/>
                    </a:moveTo>
                    <a:lnTo>
                      <a:pt x="303809" y="89668"/>
                    </a:lnTo>
                    <a:moveTo>
                      <a:pt x="242926" y="73266"/>
                    </a:moveTo>
                    <a:lnTo>
                      <a:pt x="293922" y="91745"/>
                    </a:lnTo>
                    <a:moveTo>
                      <a:pt x="363493" y="405584"/>
                    </a:moveTo>
                    <a:lnTo>
                      <a:pt x="360931" y="431483"/>
                    </a:lnTo>
                    <a:moveTo>
                      <a:pt x="158877" y="16307"/>
                    </a:moveTo>
                    <a:lnTo>
                      <a:pt x="169383" y="18031"/>
                    </a:lnTo>
                    <a:moveTo>
                      <a:pt x="135093" y="25670"/>
                    </a:moveTo>
                    <a:lnTo>
                      <a:pt x="158877" y="16307"/>
                    </a:lnTo>
                    <a:moveTo>
                      <a:pt x="169383" y="18031"/>
                    </a:moveTo>
                    <a:lnTo>
                      <a:pt x="186176" y="28461"/>
                    </a:lnTo>
                    <a:moveTo>
                      <a:pt x="85306" y="292694"/>
                    </a:moveTo>
                    <a:lnTo>
                      <a:pt x="90268" y="298980"/>
                    </a:lnTo>
                    <a:moveTo>
                      <a:pt x="90268" y="298980"/>
                    </a:moveTo>
                    <a:lnTo>
                      <a:pt x="123168" y="333737"/>
                    </a:lnTo>
                    <a:moveTo>
                      <a:pt x="366398" y="472659"/>
                    </a:moveTo>
                    <a:lnTo>
                      <a:pt x="364617" y="507968"/>
                    </a:lnTo>
                    <a:moveTo>
                      <a:pt x="335147" y="608895"/>
                    </a:moveTo>
                    <a:lnTo>
                      <a:pt x="311820" y="648033"/>
                    </a:lnTo>
                    <a:moveTo>
                      <a:pt x="335147" y="608895"/>
                    </a:moveTo>
                    <a:lnTo>
                      <a:pt x="345615" y="597903"/>
                    </a:lnTo>
                    <a:moveTo>
                      <a:pt x="349625" y="588235"/>
                    </a:moveTo>
                    <a:lnTo>
                      <a:pt x="345615" y="597903"/>
                    </a:lnTo>
                    <a:moveTo>
                      <a:pt x="366398" y="472659"/>
                    </a:moveTo>
                    <a:lnTo>
                      <a:pt x="360931" y="431483"/>
                    </a:lnTo>
                    <a:moveTo>
                      <a:pt x="349625" y="588235"/>
                    </a:moveTo>
                    <a:lnTo>
                      <a:pt x="362722" y="536315"/>
                    </a:lnTo>
                    <a:moveTo>
                      <a:pt x="364617" y="507968"/>
                    </a:moveTo>
                    <a:lnTo>
                      <a:pt x="362722" y="536315"/>
                    </a:lnTo>
                    <a:moveTo>
                      <a:pt x="311820" y="648033"/>
                    </a:moveTo>
                    <a:lnTo>
                      <a:pt x="268386" y="678799"/>
                    </a:lnTo>
                    <a:moveTo>
                      <a:pt x="295408" y="1364990"/>
                    </a:moveTo>
                    <a:lnTo>
                      <a:pt x="235963" y="1398299"/>
                    </a:lnTo>
                    <a:moveTo>
                      <a:pt x="306629" y="1353864"/>
                    </a:moveTo>
                    <a:lnTo>
                      <a:pt x="295408" y="1364990"/>
                    </a:lnTo>
                    <a:moveTo>
                      <a:pt x="306629" y="1353864"/>
                    </a:moveTo>
                    <a:lnTo>
                      <a:pt x="337071" y="1315660"/>
                    </a:lnTo>
                    <a:moveTo>
                      <a:pt x="354035" y="1285646"/>
                    </a:moveTo>
                    <a:lnTo>
                      <a:pt x="383829" y="1223877"/>
                    </a:lnTo>
                    <a:moveTo>
                      <a:pt x="384038" y="1223334"/>
                    </a:moveTo>
                    <a:lnTo>
                      <a:pt x="383829" y="1223877"/>
                    </a:lnTo>
                    <a:moveTo>
                      <a:pt x="337071" y="1315660"/>
                    </a:moveTo>
                    <a:lnTo>
                      <a:pt x="354035" y="1285646"/>
                    </a:lnTo>
                    <a:moveTo>
                      <a:pt x="442903" y="1055818"/>
                    </a:moveTo>
                    <a:lnTo>
                      <a:pt x="432654" y="1081526"/>
                    </a:lnTo>
                    <a:moveTo>
                      <a:pt x="432654" y="1081526"/>
                    </a:moveTo>
                    <a:lnTo>
                      <a:pt x="415061" y="1123026"/>
                    </a:lnTo>
                    <a:moveTo>
                      <a:pt x="400231" y="1172775"/>
                    </a:moveTo>
                    <a:lnTo>
                      <a:pt x="407689" y="1146296"/>
                    </a:lnTo>
                    <a:moveTo>
                      <a:pt x="407689" y="1146296"/>
                    </a:moveTo>
                    <a:lnTo>
                      <a:pt x="415061" y="1123026"/>
                    </a:lnTo>
                    <a:moveTo>
                      <a:pt x="447465" y="1043321"/>
                    </a:moveTo>
                    <a:lnTo>
                      <a:pt x="442903" y="1055818"/>
                    </a:lnTo>
                    <a:moveTo>
                      <a:pt x="394773" y="1186615"/>
                    </a:moveTo>
                    <a:lnTo>
                      <a:pt x="400231" y="1172775"/>
                    </a:lnTo>
                    <a:moveTo>
                      <a:pt x="384219" y="1222648"/>
                    </a:moveTo>
                    <a:lnTo>
                      <a:pt x="394773" y="1186615"/>
                    </a:lnTo>
                    <a:moveTo>
                      <a:pt x="384038" y="1223334"/>
                    </a:moveTo>
                    <a:lnTo>
                      <a:pt x="384219" y="1222648"/>
                    </a:lnTo>
                    <a:moveTo>
                      <a:pt x="225095" y="1400175"/>
                    </a:moveTo>
                    <a:lnTo>
                      <a:pt x="235963" y="1398299"/>
                    </a:lnTo>
                  </a:path>
                </a:pathLst>
              </a:custGeom>
              <a:noFill/>
              <a:ln w="19050">
                <a:solidFill>
                  <a:srgbClr val="7C8F99"/>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87" name="Freeform 13"/>
              <p:cNvSpPr/>
              <p:nvPr/>
            </p:nvSpPr>
            <p:spPr>
              <a:xfrm>
                <a:off x="943560" y="3332880"/>
                <a:ext cx="154800" cy="197280"/>
              </a:xfrm>
              <a:custGeom>
                <a:avLst/>
                <a:gdLst>
                  <a:gd name="textAreaLeft" fmla="*/ 0 w 154800"/>
                  <a:gd name="textAreaRight" fmla="*/ 155160 w 154800"/>
                  <a:gd name="textAreaTop" fmla="*/ 0 h 197280"/>
                  <a:gd name="textAreaBottom" fmla="*/ 197640 h 197280"/>
                </a:gdLst>
                <a:ahLst/>
                <a:cxnLst/>
                <a:rect l="textAreaLeft" t="textAreaTop" r="textAreaRight" b="textAreaBottom"/>
                <a:pathLst>
                  <a:path w="155248" h="197463">
                    <a:moveTo>
                      <a:pt x="88944" y="9573"/>
                    </a:moveTo>
                    <a:lnTo>
                      <a:pt x="93640" y="11268"/>
                    </a:lnTo>
                    <a:moveTo>
                      <a:pt x="94440" y="11668"/>
                    </a:moveTo>
                    <a:lnTo>
                      <a:pt x="107699" y="18183"/>
                    </a:lnTo>
                    <a:moveTo>
                      <a:pt x="107699" y="18183"/>
                    </a:moveTo>
                    <a:lnTo>
                      <a:pt x="116691" y="24022"/>
                    </a:lnTo>
                    <a:moveTo>
                      <a:pt x="93640" y="11268"/>
                    </a:moveTo>
                    <a:lnTo>
                      <a:pt x="94440" y="11668"/>
                    </a:lnTo>
                    <a:moveTo>
                      <a:pt x="116691" y="24022"/>
                    </a:moveTo>
                    <a:lnTo>
                      <a:pt x="120253" y="26337"/>
                    </a:lnTo>
                    <a:moveTo>
                      <a:pt x="124130" y="29651"/>
                    </a:moveTo>
                    <a:lnTo>
                      <a:pt x="131112" y="35614"/>
                    </a:lnTo>
                    <a:moveTo>
                      <a:pt x="131112" y="35614"/>
                    </a:moveTo>
                    <a:lnTo>
                      <a:pt x="135884" y="41062"/>
                    </a:lnTo>
                    <a:moveTo>
                      <a:pt x="120253" y="26337"/>
                    </a:moveTo>
                    <a:lnTo>
                      <a:pt x="124130" y="29651"/>
                    </a:lnTo>
                    <a:moveTo>
                      <a:pt x="140113" y="45882"/>
                    </a:moveTo>
                    <a:lnTo>
                      <a:pt x="143361" y="51016"/>
                    </a:lnTo>
                    <a:moveTo>
                      <a:pt x="135884" y="41062"/>
                    </a:moveTo>
                    <a:lnTo>
                      <a:pt x="140113" y="45882"/>
                    </a:lnTo>
                    <a:moveTo>
                      <a:pt x="143361" y="51016"/>
                    </a:moveTo>
                    <a:lnTo>
                      <a:pt x="147114" y="56960"/>
                    </a:lnTo>
                    <a:moveTo>
                      <a:pt x="150009" y="63894"/>
                    </a:moveTo>
                    <a:lnTo>
                      <a:pt x="152019" y="68704"/>
                    </a:lnTo>
                    <a:moveTo>
                      <a:pt x="152019" y="68704"/>
                    </a:moveTo>
                    <a:lnTo>
                      <a:pt x="153076" y="73466"/>
                    </a:lnTo>
                    <a:moveTo>
                      <a:pt x="147114" y="56960"/>
                    </a:moveTo>
                    <a:lnTo>
                      <a:pt x="150009" y="63894"/>
                    </a:lnTo>
                    <a:moveTo>
                      <a:pt x="153076" y="73466"/>
                    </a:moveTo>
                    <a:lnTo>
                      <a:pt x="154743" y="80924"/>
                    </a:lnTo>
                    <a:moveTo>
                      <a:pt x="154743" y="80924"/>
                    </a:moveTo>
                    <a:lnTo>
                      <a:pt x="155048" y="88554"/>
                    </a:lnTo>
                    <a:moveTo>
                      <a:pt x="155048" y="88554"/>
                    </a:moveTo>
                    <a:lnTo>
                      <a:pt x="155248" y="93440"/>
                    </a:lnTo>
                    <a:moveTo>
                      <a:pt x="155248" y="93440"/>
                    </a:moveTo>
                    <a:lnTo>
                      <a:pt x="154543" y="98622"/>
                    </a:lnTo>
                    <a:moveTo>
                      <a:pt x="154543" y="98622"/>
                    </a:moveTo>
                    <a:lnTo>
                      <a:pt x="153524" y="106051"/>
                    </a:lnTo>
                    <a:moveTo>
                      <a:pt x="151428" y="112747"/>
                    </a:moveTo>
                    <a:lnTo>
                      <a:pt x="149609" y="118586"/>
                    </a:lnTo>
                    <a:moveTo>
                      <a:pt x="149609" y="118586"/>
                    </a:moveTo>
                    <a:lnTo>
                      <a:pt x="146333" y="125206"/>
                    </a:lnTo>
                    <a:moveTo>
                      <a:pt x="153524" y="106051"/>
                    </a:moveTo>
                    <a:lnTo>
                      <a:pt x="151428" y="112747"/>
                    </a:lnTo>
                    <a:moveTo>
                      <a:pt x="146333" y="125206"/>
                    </a:moveTo>
                    <a:lnTo>
                      <a:pt x="143542" y="130845"/>
                    </a:lnTo>
                    <a:moveTo>
                      <a:pt x="143542" y="130845"/>
                    </a:moveTo>
                    <a:lnTo>
                      <a:pt x="140456" y="135331"/>
                    </a:lnTo>
                    <a:moveTo>
                      <a:pt x="140456" y="135331"/>
                    </a:moveTo>
                    <a:lnTo>
                      <a:pt x="135436" y="142627"/>
                    </a:lnTo>
                    <a:moveTo>
                      <a:pt x="135436" y="142627"/>
                    </a:moveTo>
                    <a:lnTo>
                      <a:pt x="132636" y="145742"/>
                    </a:lnTo>
                    <a:moveTo>
                      <a:pt x="132636" y="145742"/>
                    </a:moveTo>
                    <a:lnTo>
                      <a:pt x="125406" y="153781"/>
                    </a:lnTo>
                    <a:moveTo>
                      <a:pt x="125406" y="153781"/>
                    </a:moveTo>
                    <a:lnTo>
                      <a:pt x="123463" y="155477"/>
                    </a:lnTo>
                    <a:moveTo>
                      <a:pt x="123463" y="155477"/>
                    </a:moveTo>
                    <a:lnTo>
                      <a:pt x="113595" y="164116"/>
                    </a:lnTo>
                    <a:moveTo>
                      <a:pt x="113595" y="164116"/>
                    </a:moveTo>
                    <a:lnTo>
                      <a:pt x="113100" y="164468"/>
                    </a:lnTo>
                    <a:moveTo>
                      <a:pt x="113100" y="164468"/>
                    </a:moveTo>
                    <a:lnTo>
                      <a:pt x="110014" y="166621"/>
                    </a:lnTo>
                    <a:moveTo>
                      <a:pt x="109661" y="163992"/>
                    </a:moveTo>
                    <a:lnTo>
                      <a:pt x="109709" y="164392"/>
                    </a:lnTo>
                    <a:moveTo>
                      <a:pt x="109709" y="164392"/>
                    </a:moveTo>
                    <a:lnTo>
                      <a:pt x="110014" y="166621"/>
                    </a:lnTo>
                    <a:moveTo>
                      <a:pt x="89040" y="10287"/>
                    </a:moveTo>
                    <a:lnTo>
                      <a:pt x="89297" y="12211"/>
                    </a:lnTo>
                    <a:moveTo>
                      <a:pt x="88944" y="9573"/>
                    </a:moveTo>
                    <a:lnTo>
                      <a:pt x="89040" y="10287"/>
                    </a:lnTo>
                    <a:moveTo>
                      <a:pt x="2896" y="1105"/>
                    </a:moveTo>
                    <a:lnTo>
                      <a:pt x="8820" y="448"/>
                    </a:lnTo>
                    <a:moveTo>
                      <a:pt x="10401" y="400"/>
                    </a:moveTo>
                    <a:lnTo>
                      <a:pt x="26499" y="0"/>
                    </a:lnTo>
                    <a:moveTo>
                      <a:pt x="26499" y="0"/>
                    </a:moveTo>
                    <a:lnTo>
                      <a:pt x="36909" y="638"/>
                    </a:lnTo>
                    <a:moveTo>
                      <a:pt x="8820" y="448"/>
                    </a:moveTo>
                    <a:lnTo>
                      <a:pt x="10401" y="400"/>
                    </a:lnTo>
                    <a:moveTo>
                      <a:pt x="36909" y="638"/>
                    </a:moveTo>
                    <a:lnTo>
                      <a:pt x="43891" y="1067"/>
                    </a:lnTo>
                    <a:moveTo>
                      <a:pt x="53997" y="2610"/>
                    </a:moveTo>
                    <a:lnTo>
                      <a:pt x="60750" y="3648"/>
                    </a:lnTo>
                    <a:moveTo>
                      <a:pt x="43891" y="1067"/>
                    </a:moveTo>
                    <a:lnTo>
                      <a:pt x="53997" y="2610"/>
                    </a:lnTo>
                    <a:moveTo>
                      <a:pt x="74076" y="7001"/>
                    </a:moveTo>
                    <a:lnTo>
                      <a:pt x="76819" y="7687"/>
                    </a:lnTo>
                    <a:moveTo>
                      <a:pt x="76819" y="7687"/>
                    </a:moveTo>
                    <a:lnTo>
                      <a:pt x="78619" y="8344"/>
                    </a:lnTo>
                    <a:moveTo>
                      <a:pt x="60750" y="3648"/>
                    </a:moveTo>
                    <a:lnTo>
                      <a:pt x="74076" y="7001"/>
                    </a:lnTo>
                    <a:moveTo>
                      <a:pt x="89297" y="12211"/>
                    </a:moveTo>
                    <a:lnTo>
                      <a:pt x="78619" y="8344"/>
                    </a:lnTo>
                    <a:moveTo>
                      <a:pt x="109661" y="163992"/>
                    </a:moveTo>
                    <a:lnTo>
                      <a:pt x="99917" y="170812"/>
                    </a:lnTo>
                    <a:moveTo>
                      <a:pt x="99917" y="170812"/>
                    </a:moveTo>
                    <a:lnTo>
                      <a:pt x="98269" y="171955"/>
                    </a:lnTo>
                    <a:moveTo>
                      <a:pt x="98269" y="171955"/>
                    </a:moveTo>
                    <a:lnTo>
                      <a:pt x="87830" y="177794"/>
                    </a:lnTo>
                    <a:moveTo>
                      <a:pt x="87830" y="177794"/>
                    </a:moveTo>
                    <a:lnTo>
                      <a:pt x="83782" y="180051"/>
                    </a:lnTo>
                    <a:moveTo>
                      <a:pt x="83782" y="180051"/>
                    </a:moveTo>
                    <a:lnTo>
                      <a:pt x="77381" y="182870"/>
                    </a:lnTo>
                    <a:moveTo>
                      <a:pt x="68161" y="186928"/>
                    </a:moveTo>
                    <a:lnTo>
                      <a:pt x="57264" y="190595"/>
                    </a:lnTo>
                    <a:moveTo>
                      <a:pt x="77381" y="182870"/>
                    </a:moveTo>
                    <a:lnTo>
                      <a:pt x="68161" y="186928"/>
                    </a:lnTo>
                    <a:moveTo>
                      <a:pt x="57264" y="190595"/>
                    </a:moveTo>
                    <a:lnTo>
                      <a:pt x="51626" y="192491"/>
                    </a:lnTo>
                    <a:moveTo>
                      <a:pt x="47768" y="193434"/>
                    </a:moveTo>
                    <a:lnTo>
                      <a:pt x="34442" y="196663"/>
                    </a:lnTo>
                    <a:moveTo>
                      <a:pt x="51626" y="192491"/>
                    </a:moveTo>
                    <a:lnTo>
                      <a:pt x="47768" y="193434"/>
                    </a:lnTo>
                    <a:moveTo>
                      <a:pt x="33528" y="196806"/>
                    </a:moveTo>
                    <a:lnTo>
                      <a:pt x="29232" y="197463"/>
                    </a:lnTo>
                    <a:moveTo>
                      <a:pt x="34442" y="196663"/>
                    </a:moveTo>
                    <a:lnTo>
                      <a:pt x="33528" y="196806"/>
                    </a:lnTo>
                    <a:moveTo>
                      <a:pt x="8725" y="22870"/>
                    </a:moveTo>
                    <a:lnTo>
                      <a:pt x="2219" y="23593"/>
                    </a:lnTo>
                    <a:moveTo>
                      <a:pt x="9277" y="22860"/>
                    </a:moveTo>
                    <a:lnTo>
                      <a:pt x="8725" y="22870"/>
                    </a:lnTo>
                    <a:moveTo>
                      <a:pt x="9277" y="22860"/>
                    </a:moveTo>
                    <a:lnTo>
                      <a:pt x="22431" y="22527"/>
                    </a:lnTo>
                    <a:moveTo>
                      <a:pt x="24089" y="22622"/>
                    </a:moveTo>
                    <a:lnTo>
                      <a:pt x="22431" y="22527"/>
                    </a:lnTo>
                    <a:moveTo>
                      <a:pt x="24089" y="22622"/>
                    </a:moveTo>
                    <a:lnTo>
                      <a:pt x="35928" y="23355"/>
                    </a:lnTo>
                    <a:moveTo>
                      <a:pt x="35928" y="23355"/>
                    </a:moveTo>
                    <a:lnTo>
                      <a:pt x="45834" y="24870"/>
                    </a:lnTo>
                    <a:moveTo>
                      <a:pt x="48997" y="25356"/>
                    </a:moveTo>
                    <a:lnTo>
                      <a:pt x="45834" y="24870"/>
                    </a:lnTo>
                    <a:moveTo>
                      <a:pt x="52454" y="26222"/>
                    </a:moveTo>
                    <a:lnTo>
                      <a:pt x="48997" y="25356"/>
                    </a:lnTo>
                    <a:moveTo>
                      <a:pt x="52454" y="26222"/>
                    </a:moveTo>
                    <a:lnTo>
                      <a:pt x="61455" y="28489"/>
                    </a:lnTo>
                    <a:moveTo>
                      <a:pt x="65503" y="29956"/>
                    </a:moveTo>
                    <a:lnTo>
                      <a:pt x="73114" y="32709"/>
                    </a:lnTo>
                    <a:moveTo>
                      <a:pt x="65503" y="29956"/>
                    </a:moveTo>
                    <a:lnTo>
                      <a:pt x="61455" y="28489"/>
                    </a:lnTo>
                    <a:moveTo>
                      <a:pt x="77495" y="34871"/>
                    </a:moveTo>
                    <a:lnTo>
                      <a:pt x="83782" y="37957"/>
                    </a:lnTo>
                    <a:moveTo>
                      <a:pt x="77495" y="34871"/>
                    </a:moveTo>
                    <a:lnTo>
                      <a:pt x="73114" y="32709"/>
                    </a:lnTo>
                    <a:moveTo>
                      <a:pt x="88230" y="40843"/>
                    </a:moveTo>
                    <a:lnTo>
                      <a:pt x="93316" y="44148"/>
                    </a:lnTo>
                    <a:moveTo>
                      <a:pt x="88230" y="40843"/>
                    </a:moveTo>
                    <a:lnTo>
                      <a:pt x="83782" y="37957"/>
                    </a:lnTo>
                    <a:moveTo>
                      <a:pt x="97546" y="47768"/>
                    </a:moveTo>
                    <a:lnTo>
                      <a:pt x="101565" y="51197"/>
                    </a:lnTo>
                    <a:moveTo>
                      <a:pt x="97546" y="47768"/>
                    </a:moveTo>
                    <a:lnTo>
                      <a:pt x="93316" y="44148"/>
                    </a:lnTo>
                    <a:moveTo>
                      <a:pt x="105318" y="55483"/>
                    </a:moveTo>
                    <a:lnTo>
                      <a:pt x="108394" y="58988"/>
                    </a:lnTo>
                    <a:moveTo>
                      <a:pt x="108394" y="58988"/>
                    </a:moveTo>
                    <a:lnTo>
                      <a:pt x="110652" y="62570"/>
                    </a:lnTo>
                    <a:moveTo>
                      <a:pt x="105318" y="55483"/>
                    </a:moveTo>
                    <a:lnTo>
                      <a:pt x="101565" y="51197"/>
                    </a:lnTo>
                    <a:moveTo>
                      <a:pt x="113709" y="67399"/>
                    </a:moveTo>
                    <a:lnTo>
                      <a:pt x="110652" y="62570"/>
                    </a:lnTo>
                    <a:moveTo>
                      <a:pt x="115929" y="72714"/>
                    </a:moveTo>
                    <a:lnTo>
                      <a:pt x="117434" y="76314"/>
                    </a:lnTo>
                    <a:moveTo>
                      <a:pt x="115929" y="72714"/>
                    </a:moveTo>
                    <a:lnTo>
                      <a:pt x="113709" y="67399"/>
                    </a:lnTo>
                    <a:moveTo>
                      <a:pt x="118682" y="81925"/>
                    </a:moveTo>
                    <a:lnTo>
                      <a:pt x="119501" y="85592"/>
                    </a:lnTo>
                    <a:moveTo>
                      <a:pt x="118682" y="81925"/>
                    </a:moveTo>
                    <a:lnTo>
                      <a:pt x="117434" y="76314"/>
                    </a:lnTo>
                    <a:moveTo>
                      <a:pt x="119729" y="91326"/>
                    </a:moveTo>
                    <a:lnTo>
                      <a:pt x="119882" y="95088"/>
                    </a:lnTo>
                    <a:moveTo>
                      <a:pt x="119729" y="91326"/>
                    </a:moveTo>
                    <a:lnTo>
                      <a:pt x="119501" y="85592"/>
                    </a:lnTo>
                    <a:moveTo>
                      <a:pt x="119110" y="100775"/>
                    </a:moveTo>
                    <a:lnTo>
                      <a:pt x="119882" y="95088"/>
                    </a:lnTo>
                    <a:moveTo>
                      <a:pt x="119110" y="100775"/>
                    </a:moveTo>
                    <a:lnTo>
                      <a:pt x="118577" y="104670"/>
                    </a:lnTo>
                    <a:moveTo>
                      <a:pt x="118577" y="104670"/>
                    </a:moveTo>
                    <a:lnTo>
                      <a:pt x="117319" y="108690"/>
                    </a:lnTo>
                    <a:moveTo>
                      <a:pt x="115605" y="114186"/>
                    </a:moveTo>
                    <a:lnTo>
                      <a:pt x="117319" y="108690"/>
                    </a:lnTo>
                    <a:moveTo>
                      <a:pt x="113090" y="119263"/>
                    </a:moveTo>
                    <a:lnTo>
                      <a:pt x="115605" y="114186"/>
                    </a:lnTo>
                    <a:moveTo>
                      <a:pt x="113090" y="119263"/>
                    </a:moveTo>
                    <a:lnTo>
                      <a:pt x="111004" y="123482"/>
                    </a:lnTo>
                    <a:moveTo>
                      <a:pt x="107861" y="128054"/>
                    </a:moveTo>
                    <a:lnTo>
                      <a:pt x="111004" y="123482"/>
                    </a:lnTo>
                    <a:moveTo>
                      <a:pt x="107861" y="128054"/>
                    </a:moveTo>
                    <a:lnTo>
                      <a:pt x="104842" y="132436"/>
                    </a:lnTo>
                    <a:moveTo>
                      <a:pt x="104842" y="132436"/>
                    </a:moveTo>
                    <a:lnTo>
                      <a:pt x="100755" y="136979"/>
                    </a:lnTo>
                    <a:moveTo>
                      <a:pt x="97222" y="140903"/>
                    </a:moveTo>
                    <a:lnTo>
                      <a:pt x="100755" y="136979"/>
                    </a:lnTo>
                    <a:moveTo>
                      <a:pt x="93478" y="144180"/>
                    </a:moveTo>
                    <a:lnTo>
                      <a:pt x="97222" y="140903"/>
                    </a:lnTo>
                    <a:moveTo>
                      <a:pt x="93478" y="144180"/>
                    </a:moveTo>
                    <a:lnTo>
                      <a:pt x="88259" y="148752"/>
                    </a:lnTo>
                    <a:moveTo>
                      <a:pt x="84572" y="151333"/>
                    </a:moveTo>
                    <a:lnTo>
                      <a:pt x="88259" y="148752"/>
                    </a:lnTo>
                    <a:moveTo>
                      <a:pt x="84572" y="151333"/>
                    </a:moveTo>
                    <a:lnTo>
                      <a:pt x="78086" y="155867"/>
                    </a:lnTo>
                    <a:moveTo>
                      <a:pt x="74686" y="157763"/>
                    </a:moveTo>
                    <a:lnTo>
                      <a:pt x="78086" y="155867"/>
                    </a:lnTo>
                    <a:moveTo>
                      <a:pt x="74686" y="157763"/>
                    </a:moveTo>
                    <a:lnTo>
                      <a:pt x="66856" y="162135"/>
                    </a:lnTo>
                    <a:moveTo>
                      <a:pt x="66856" y="162135"/>
                    </a:moveTo>
                    <a:lnTo>
                      <a:pt x="57150" y="166411"/>
                    </a:lnTo>
                    <a:moveTo>
                      <a:pt x="54740" y="167469"/>
                    </a:moveTo>
                    <a:lnTo>
                      <a:pt x="57150" y="166411"/>
                    </a:lnTo>
                    <a:moveTo>
                      <a:pt x="52530" y="168212"/>
                    </a:moveTo>
                    <a:lnTo>
                      <a:pt x="54740" y="167469"/>
                    </a:lnTo>
                    <a:moveTo>
                      <a:pt x="52530" y="168212"/>
                    </a:moveTo>
                    <a:lnTo>
                      <a:pt x="41920" y="171793"/>
                    </a:lnTo>
                    <a:moveTo>
                      <a:pt x="40557" y="172117"/>
                    </a:moveTo>
                    <a:lnTo>
                      <a:pt x="41920" y="171793"/>
                    </a:lnTo>
                    <a:moveTo>
                      <a:pt x="40557" y="172117"/>
                    </a:moveTo>
                    <a:lnTo>
                      <a:pt x="28594" y="175022"/>
                    </a:lnTo>
                    <a:moveTo>
                      <a:pt x="28165" y="175089"/>
                    </a:moveTo>
                    <a:lnTo>
                      <a:pt x="28594" y="175022"/>
                    </a:lnTo>
                    <a:moveTo>
                      <a:pt x="28165" y="175089"/>
                    </a:moveTo>
                    <a:lnTo>
                      <a:pt x="22660" y="175936"/>
                    </a:lnTo>
                    <a:moveTo>
                      <a:pt x="1657" y="3639"/>
                    </a:moveTo>
                    <a:lnTo>
                      <a:pt x="0" y="7029"/>
                    </a:lnTo>
                    <a:moveTo>
                      <a:pt x="2896" y="1105"/>
                    </a:moveTo>
                    <a:lnTo>
                      <a:pt x="1657" y="3639"/>
                    </a:lnTo>
                    <a:moveTo>
                      <a:pt x="26603" y="194462"/>
                    </a:moveTo>
                    <a:lnTo>
                      <a:pt x="24879" y="192500"/>
                    </a:lnTo>
                    <a:moveTo>
                      <a:pt x="29232" y="197463"/>
                    </a:moveTo>
                    <a:lnTo>
                      <a:pt x="26603" y="194462"/>
                    </a:lnTo>
                    <a:moveTo>
                      <a:pt x="22660" y="175936"/>
                    </a:moveTo>
                    <a:lnTo>
                      <a:pt x="23736" y="184004"/>
                    </a:lnTo>
                    <a:moveTo>
                      <a:pt x="23736" y="184004"/>
                    </a:moveTo>
                    <a:lnTo>
                      <a:pt x="24879" y="192500"/>
                    </a:lnTo>
                    <a:moveTo>
                      <a:pt x="1219" y="16107"/>
                    </a:moveTo>
                    <a:lnTo>
                      <a:pt x="2219" y="23593"/>
                    </a:lnTo>
                    <a:moveTo>
                      <a:pt x="0" y="7029"/>
                    </a:moveTo>
                    <a:lnTo>
                      <a:pt x="1219" y="16107"/>
                    </a:lnTo>
                  </a:path>
                </a:pathLst>
              </a:custGeom>
              <a:noFill/>
              <a:ln w="19050">
                <a:solidFill>
                  <a:srgbClr val="497D89"/>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88" name="Freeform 14"/>
              <p:cNvSpPr/>
              <p:nvPr/>
            </p:nvSpPr>
            <p:spPr>
              <a:xfrm>
                <a:off x="829080" y="3227760"/>
                <a:ext cx="400320" cy="387000"/>
              </a:xfrm>
              <a:custGeom>
                <a:avLst/>
                <a:gdLst>
                  <a:gd name="textAreaLeft" fmla="*/ 0 w 400320"/>
                  <a:gd name="textAreaRight" fmla="*/ 400680 w 400320"/>
                  <a:gd name="textAreaTop" fmla="*/ 0 h 387000"/>
                  <a:gd name="textAreaBottom" fmla="*/ 387360 h 387000"/>
                </a:gdLst>
                <a:ahLst/>
                <a:cxnLst/>
                <a:rect l="textAreaLeft" t="textAreaTop" r="textAreaRight" b="textAreaBottom"/>
                <a:pathLst>
                  <a:path w="400564" h="387344">
                    <a:moveTo>
                      <a:pt x="1076" y="173165"/>
                    </a:moveTo>
                    <a:lnTo>
                      <a:pt x="1076" y="172641"/>
                    </a:lnTo>
                    <a:moveTo>
                      <a:pt x="1229" y="174603"/>
                    </a:moveTo>
                    <a:lnTo>
                      <a:pt x="1076" y="173165"/>
                    </a:lnTo>
                    <a:moveTo>
                      <a:pt x="124" y="157153"/>
                    </a:moveTo>
                    <a:lnTo>
                      <a:pt x="610" y="165116"/>
                    </a:lnTo>
                    <a:moveTo>
                      <a:pt x="57" y="155800"/>
                    </a:moveTo>
                    <a:lnTo>
                      <a:pt x="124" y="157153"/>
                    </a:lnTo>
                    <a:moveTo>
                      <a:pt x="610" y="165116"/>
                    </a:moveTo>
                    <a:lnTo>
                      <a:pt x="1076" y="172641"/>
                    </a:lnTo>
                    <a:moveTo>
                      <a:pt x="3896" y="127444"/>
                    </a:moveTo>
                    <a:lnTo>
                      <a:pt x="5058" y="123330"/>
                    </a:lnTo>
                    <a:moveTo>
                      <a:pt x="2962" y="130759"/>
                    </a:moveTo>
                    <a:lnTo>
                      <a:pt x="3896" y="127444"/>
                    </a:lnTo>
                    <a:moveTo>
                      <a:pt x="108814" y="22679"/>
                    </a:moveTo>
                    <a:lnTo>
                      <a:pt x="123863" y="16583"/>
                    </a:lnTo>
                    <a:moveTo>
                      <a:pt x="86249" y="31823"/>
                    </a:moveTo>
                    <a:lnTo>
                      <a:pt x="108814" y="22679"/>
                    </a:lnTo>
                    <a:moveTo>
                      <a:pt x="12983" y="103575"/>
                    </a:moveTo>
                    <a:lnTo>
                      <a:pt x="24717" y="84306"/>
                    </a:lnTo>
                    <a:moveTo>
                      <a:pt x="196939" y="0"/>
                    </a:moveTo>
                    <a:lnTo>
                      <a:pt x="255365" y="6610"/>
                    </a:lnTo>
                    <a:moveTo>
                      <a:pt x="255365" y="6610"/>
                    </a:moveTo>
                    <a:lnTo>
                      <a:pt x="268300" y="8839"/>
                    </a:lnTo>
                    <a:moveTo>
                      <a:pt x="268300" y="8839"/>
                    </a:moveTo>
                    <a:lnTo>
                      <a:pt x="286788" y="13992"/>
                    </a:lnTo>
                    <a:moveTo>
                      <a:pt x="35309" y="71114"/>
                    </a:moveTo>
                    <a:lnTo>
                      <a:pt x="49863" y="58474"/>
                    </a:lnTo>
                    <a:moveTo>
                      <a:pt x="49863" y="58474"/>
                    </a:moveTo>
                    <a:lnTo>
                      <a:pt x="64465" y="45787"/>
                    </a:lnTo>
                    <a:moveTo>
                      <a:pt x="64465" y="45787"/>
                    </a:moveTo>
                    <a:lnTo>
                      <a:pt x="86249" y="31823"/>
                    </a:lnTo>
                    <a:moveTo>
                      <a:pt x="0" y="154334"/>
                    </a:moveTo>
                    <a:lnTo>
                      <a:pt x="57" y="155800"/>
                    </a:lnTo>
                    <a:moveTo>
                      <a:pt x="0" y="154334"/>
                    </a:moveTo>
                    <a:lnTo>
                      <a:pt x="1495" y="142475"/>
                    </a:lnTo>
                    <a:moveTo>
                      <a:pt x="1495" y="142475"/>
                    </a:moveTo>
                    <a:lnTo>
                      <a:pt x="2962" y="130759"/>
                    </a:lnTo>
                    <a:moveTo>
                      <a:pt x="9563" y="112100"/>
                    </a:moveTo>
                    <a:lnTo>
                      <a:pt x="5058" y="123330"/>
                    </a:lnTo>
                    <a:moveTo>
                      <a:pt x="9563" y="112100"/>
                    </a:moveTo>
                    <a:lnTo>
                      <a:pt x="12983" y="103575"/>
                    </a:lnTo>
                    <a:moveTo>
                      <a:pt x="150257" y="10573"/>
                    </a:moveTo>
                    <a:lnTo>
                      <a:pt x="196529" y="29"/>
                    </a:lnTo>
                    <a:moveTo>
                      <a:pt x="150257" y="10573"/>
                    </a:moveTo>
                    <a:lnTo>
                      <a:pt x="123863" y="16583"/>
                    </a:lnTo>
                    <a:moveTo>
                      <a:pt x="30566" y="77019"/>
                    </a:moveTo>
                    <a:lnTo>
                      <a:pt x="35309" y="71114"/>
                    </a:lnTo>
                    <a:moveTo>
                      <a:pt x="30566" y="77019"/>
                    </a:moveTo>
                    <a:lnTo>
                      <a:pt x="24717" y="84306"/>
                    </a:lnTo>
                    <a:moveTo>
                      <a:pt x="311915" y="22203"/>
                    </a:moveTo>
                    <a:lnTo>
                      <a:pt x="333918" y="31051"/>
                    </a:lnTo>
                    <a:moveTo>
                      <a:pt x="333918" y="31051"/>
                    </a:moveTo>
                    <a:lnTo>
                      <a:pt x="361693" y="46368"/>
                    </a:lnTo>
                    <a:moveTo>
                      <a:pt x="311915" y="22203"/>
                    </a:moveTo>
                    <a:lnTo>
                      <a:pt x="286788" y="13992"/>
                    </a:lnTo>
                    <a:moveTo>
                      <a:pt x="196682" y="19"/>
                    </a:moveTo>
                    <a:lnTo>
                      <a:pt x="196529" y="29"/>
                    </a:lnTo>
                    <a:moveTo>
                      <a:pt x="196682" y="19"/>
                    </a:moveTo>
                    <a:lnTo>
                      <a:pt x="196939" y="0"/>
                    </a:lnTo>
                    <a:moveTo>
                      <a:pt x="363417" y="47444"/>
                    </a:moveTo>
                    <a:lnTo>
                      <a:pt x="361693" y="46368"/>
                    </a:lnTo>
                    <a:moveTo>
                      <a:pt x="363417" y="47444"/>
                    </a:moveTo>
                    <a:lnTo>
                      <a:pt x="368646" y="51340"/>
                    </a:lnTo>
                    <a:moveTo>
                      <a:pt x="395802" y="295313"/>
                    </a:moveTo>
                    <a:lnTo>
                      <a:pt x="400564" y="289312"/>
                    </a:lnTo>
                    <a:moveTo>
                      <a:pt x="394164" y="297085"/>
                    </a:moveTo>
                    <a:lnTo>
                      <a:pt x="395802" y="295313"/>
                    </a:lnTo>
                    <a:moveTo>
                      <a:pt x="394164" y="297085"/>
                    </a:moveTo>
                    <a:lnTo>
                      <a:pt x="371418" y="318945"/>
                    </a:lnTo>
                    <a:moveTo>
                      <a:pt x="371418" y="318945"/>
                    </a:moveTo>
                    <a:lnTo>
                      <a:pt x="352606" y="333089"/>
                    </a:lnTo>
                    <a:moveTo>
                      <a:pt x="329984" y="347843"/>
                    </a:moveTo>
                    <a:lnTo>
                      <a:pt x="352606" y="333089"/>
                    </a:lnTo>
                    <a:moveTo>
                      <a:pt x="329984" y="347843"/>
                    </a:moveTo>
                    <a:lnTo>
                      <a:pt x="313744" y="357454"/>
                    </a:lnTo>
                    <a:moveTo>
                      <a:pt x="313744" y="357454"/>
                    </a:moveTo>
                    <a:lnTo>
                      <a:pt x="302047" y="362874"/>
                    </a:lnTo>
                    <a:moveTo>
                      <a:pt x="248450" y="384010"/>
                    </a:moveTo>
                    <a:lnTo>
                      <a:pt x="302047" y="362874"/>
                    </a:lnTo>
                    <a:moveTo>
                      <a:pt x="246545" y="384410"/>
                    </a:moveTo>
                    <a:lnTo>
                      <a:pt x="248450" y="384010"/>
                    </a:lnTo>
                    <a:moveTo>
                      <a:pt x="243383" y="384534"/>
                    </a:moveTo>
                    <a:lnTo>
                      <a:pt x="172231" y="387344"/>
                    </a:lnTo>
                    <a:moveTo>
                      <a:pt x="243383" y="384534"/>
                    </a:moveTo>
                    <a:lnTo>
                      <a:pt x="246545" y="384410"/>
                    </a:lnTo>
                    <a:moveTo>
                      <a:pt x="133302" y="382591"/>
                    </a:moveTo>
                    <a:lnTo>
                      <a:pt x="172231" y="387344"/>
                    </a:lnTo>
                    <a:moveTo>
                      <a:pt x="119663" y="378285"/>
                    </a:moveTo>
                    <a:lnTo>
                      <a:pt x="133302" y="382591"/>
                    </a:lnTo>
                    <a:moveTo>
                      <a:pt x="107480" y="374437"/>
                    </a:moveTo>
                    <a:lnTo>
                      <a:pt x="119663" y="378285"/>
                    </a:lnTo>
                    <a:moveTo>
                      <a:pt x="73800" y="358102"/>
                    </a:moveTo>
                    <a:lnTo>
                      <a:pt x="107480" y="374437"/>
                    </a:lnTo>
                    <a:moveTo>
                      <a:pt x="67323" y="353378"/>
                    </a:moveTo>
                    <a:lnTo>
                      <a:pt x="73800" y="358102"/>
                    </a:lnTo>
                    <a:moveTo>
                      <a:pt x="59369" y="347586"/>
                    </a:moveTo>
                    <a:lnTo>
                      <a:pt x="67323" y="353378"/>
                    </a:lnTo>
                    <a:moveTo>
                      <a:pt x="43720" y="332718"/>
                    </a:moveTo>
                    <a:lnTo>
                      <a:pt x="59369" y="347586"/>
                    </a:lnTo>
                    <a:moveTo>
                      <a:pt x="30451" y="315125"/>
                    </a:moveTo>
                    <a:lnTo>
                      <a:pt x="43720" y="332718"/>
                    </a:lnTo>
                    <a:moveTo>
                      <a:pt x="26899" y="309181"/>
                    </a:moveTo>
                    <a:lnTo>
                      <a:pt x="30451" y="315125"/>
                    </a:lnTo>
                    <a:moveTo>
                      <a:pt x="17069" y="283816"/>
                    </a:moveTo>
                    <a:lnTo>
                      <a:pt x="17412" y="285388"/>
                    </a:lnTo>
                    <a:moveTo>
                      <a:pt x="15183" y="274806"/>
                    </a:moveTo>
                    <a:lnTo>
                      <a:pt x="17069" y="283816"/>
                    </a:lnTo>
                    <a:moveTo>
                      <a:pt x="17412" y="285388"/>
                    </a:moveTo>
                    <a:lnTo>
                      <a:pt x="17812" y="287093"/>
                    </a:lnTo>
                    <a:moveTo>
                      <a:pt x="17812" y="287093"/>
                    </a:moveTo>
                    <a:lnTo>
                      <a:pt x="20898" y="294580"/>
                    </a:lnTo>
                    <a:moveTo>
                      <a:pt x="20898" y="294580"/>
                    </a:moveTo>
                    <a:lnTo>
                      <a:pt x="26899" y="309181"/>
                    </a:lnTo>
                    <a:moveTo>
                      <a:pt x="13973" y="268910"/>
                    </a:moveTo>
                    <a:lnTo>
                      <a:pt x="13659" y="267319"/>
                    </a:lnTo>
                    <a:moveTo>
                      <a:pt x="13973" y="268910"/>
                    </a:moveTo>
                    <a:lnTo>
                      <a:pt x="15183" y="274806"/>
                    </a:lnTo>
                    <a:moveTo>
                      <a:pt x="12630" y="259661"/>
                    </a:moveTo>
                    <a:lnTo>
                      <a:pt x="13659" y="267319"/>
                    </a:lnTo>
                    <a:moveTo>
                      <a:pt x="12316" y="257299"/>
                    </a:moveTo>
                    <a:lnTo>
                      <a:pt x="12630" y="259661"/>
                    </a:lnTo>
                    <a:moveTo>
                      <a:pt x="11401" y="250498"/>
                    </a:moveTo>
                    <a:lnTo>
                      <a:pt x="12316" y="257299"/>
                    </a:lnTo>
                    <a:moveTo>
                      <a:pt x="10801" y="246031"/>
                    </a:moveTo>
                    <a:lnTo>
                      <a:pt x="11401" y="250498"/>
                    </a:lnTo>
                    <a:moveTo>
                      <a:pt x="9944" y="239592"/>
                    </a:moveTo>
                    <a:lnTo>
                      <a:pt x="10801" y="246031"/>
                    </a:lnTo>
                    <a:moveTo>
                      <a:pt x="9411" y="235610"/>
                    </a:moveTo>
                    <a:lnTo>
                      <a:pt x="9944" y="239592"/>
                    </a:lnTo>
                    <a:moveTo>
                      <a:pt x="8420" y="228248"/>
                    </a:moveTo>
                    <a:lnTo>
                      <a:pt x="9411" y="235610"/>
                    </a:lnTo>
                    <a:moveTo>
                      <a:pt x="8077" y="225657"/>
                    </a:moveTo>
                    <a:lnTo>
                      <a:pt x="8420" y="228248"/>
                    </a:lnTo>
                    <a:moveTo>
                      <a:pt x="7753" y="223285"/>
                    </a:moveTo>
                    <a:lnTo>
                      <a:pt x="8077" y="225657"/>
                    </a:lnTo>
                    <a:moveTo>
                      <a:pt x="6753" y="215846"/>
                    </a:moveTo>
                    <a:lnTo>
                      <a:pt x="7753" y="223285"/>
                    </a:lnTo>
                    <a:moveTo>
                      <a:pt x="4629" y="199977"/>
                    </a:moveTo>
                    <a:lnTo>
                      <a:pt x="5420" y="205883"/>
                    </a:lnTo>
                    <a:moveTo>
                      <a:pt x="6410" y="213227"/>
                    </a:moveTo>
                    <a:lnTo>
                      <a:pt x="6753" y="215846"/>
                    </a:lnTo>
                    <a:moveTo>
                      <a:pt x="5420" y="205883"/>
                    </a:moveTo>
                    <a:lnTo>
                      <a:pt x="6410" y="213227"/>
                    </a:lnTo>
                    <a:moveTo>
                      <a:pt x="3429" y="191033"/>
                    </a:moveTo>
                    <a:lnTo>
                      <a:pt x="4020" y="195434"/>
                    </a:lnTo>
                    <a:moveTo>
                      <a:pt x="4020" y="195434"/>
                    </a:moveTo>
                    <a:lnTo>
                      <a:pt x="4629" y="199977"/>
                    </a:lnTo>
                    <a:moveTo>
                      <a:pt x="2505" y="184128"/>
                    </a:moveTo>
                    <a:lnTo>
                      <a:pt x="3429" y="191033"/>
                    </a:lnTo>
                    <a:moveTo>
                      <a:pt x="1229" y="174603"/>
                    </a:moveTo>
                    <a:lnTo>
                      <a:pt x="2505" y="184128"/>
                    </a:lnTo>
                    <a:moveTo>
                      <a:pt x="18793" y="185537"/>
                    </a:moveTo>
                    <a:lnTo>
                      <a:pt x="23393" y="177717"/>
                    </a:lnTo>
                    <a:moveTo>
                      <a:pt x="18793" y="185537"/>
                    </a:moveTo>
                    <a:lnTo>
                      <a:pt x="18002" y="186861"/>
                    </a:lnTo>
                    <a:moveTo>
                      <a:pt x="24860" y="175870"/>
                    </a:moveTo>
                    <a:lnTo>
                      <a:pt x="30289" y="168993"/>
                    </a:lnTo>
                    <a:moveTo>
                      <a:pt x="24860" y="175870"/>
                    </a:moveTo>
                    <a:lnTo>
                      <a:pt x="23393" y="177717"/>
                    </a:lnTo>
                    <a:moveTo>
                      <a:pt x="32737" y="166592"/>
                    </a:moveTo>
                    <a:lnTo>
                      <a:pt x="38605" y="160820"/>
                    </a:lnTo>
                    <a:moveTo>
                      <a:pt x="32737" y="166592"/>
                    </a:moveTo>
                    <a:lnTo>
                      <a:pt x="30289" y="168993"/>
                    </a:lnTo>
                    <a:moveTo>
                      <a:pt x="42358" y="157886"/>
                    </a:moveTo>
                    <a:lnTo>
                      <a:pt x="48187" y="153333"/>
                    </a:lnTo>
                    <a:moveTo>
                      <a:pt x="42358" y="157886"/>
                    </a:moveTo>
                    <a:lnTo>
                      <a:pt x="38605" y="160820"/>
                    </a:lnTo>
                    <a:moveTo>
                      <a:pt x="53578" y="149962"/>
                    </a:moveTo>
                    <a:lnTo>
                      <a:pt x="58912" y="146628"/>
                    </a:lnTo>
                    <a:moveTo>
                      <a:pt x="53578" y="149962"/>
                    </a:moveTo>
                    <a:lnTo>
                      <a:pt x="48187" y="153333"/>
                    </a:lnTo>
                    <a:moveTo>
                      <a:pt x="66218" y="142989"/>
                    </a:moveTo>
                    <a:lnTo>
                      <a:pt x="70609" y="140808"/>
                    </a:lnTo>
                    <a:moveTo>
                      <a:pt x="66218" y="142989"/>
                    </a:moveTo>
                    <a:lnTo>
                      <a:pt x="58912" y="146628"/>
                    </a:lnTo>
                    <a:moveTo>
                      <a:pt x="80067" y="137150"/>
                    </a:moveTo>
                    <a:lnTo>
                      <a:pt x="83096" y="135969"/>
                    </a:lnTo>
                    <a:moveTo>
                      <a:pt x="80067" y="137150"/>
                    </a:moveTo>
                    <a:lnTo>
                      <a:pt x="70609" y="140808"/>
                    </a:lnTo>
                    <a:moveTo>
                      <a:pt x="94831" y="132588"/>
                    </a:moveTo>
                    <a:lnTo>
                      <a:pt x="96193" y="132188"/>
                    </a:lnTo>
                    <a:moveTo>
                      <a:pt x="94831" y="132588"/>
                    </a:moveTo>
                    <a:lnTo>
                      <a:pt x="83096" y="135969"/>
                    </a:lnTo>
                    <a:moveTo>
                      <a:pt x="106032" y="130245"/>
                    </a:moveTo>
                    <a:lnTo>
                      <a:pt x="96193" y="132188"/>
                    </a:lnTo>
                    <a:moveTo>
                      <a:pt x="117081" y="283102"/>
                    </a:moveTo>
                    <a:lnTo>
                      <a:pt x="115910" y="283188"/>
                    </a:lnTo>
                    <a:moveTo>
                      <a:pt x="126454" y="282464"/>
                    </a:moveTo>
                    <a:lnTo>
                      <a:pt x="117081" y="283102"/>
                    </a:lnTo>
                    <a:moveTo>
                      <a:pt x="104937" y="282988"/>
                    </a:moveTo>
                    <a:lnTo>
                      <a:pt x="115910" y="283188"/>
                    </a:lnTo>
                    <a:moveTo>
                      <a:pt x="104937" y="282988"/>
                    </a:moveTo>
                    <a:lnTo>
                      <a:pt x="102289" y="282940"/>
                    </a:lnTo>
                    <a:moveTo>
                      <a:pt x="92993" y="281950"/>
                    </a:moveTo>
                    <a:lnTo>
                      <a:pt x="88983" y="281521"/>
                    </a:lnTo>
                    <a:moveTo>
                      <a:pt x="92993" y="281950"/>
                    </a:moveTo>
                    <a:lnTo>
                      <a:pt x="102289" y="282940"/>
                    </a:lnTo>
                    <a:moveTo>
                      <a:pt x="81363" y="279997"/>
                    </a:moveTo>
                    <a:lnTo>
                      <a:pt x="76190" y="278949"/>
                    </a:lnTo>
                    <a:moveTo>
                      <a:pt x="81363" y="279997"/>
                    </a:moveTo>
                    <a:lnTo>
                      <a:pt x="88983" y="281521"/>
                    </a:lnTo>
                    <a:moveTo>
                      <a:pt x="70171" y="277120"/>
                    </a:moveTo>
                    <a:lnTo>
                      <a:pt x="64113" y="275263"/>
                    </a:lnTo>
                    <a:moveTo>
                      <a:pt x="64113" y="275263"/>
                    </a:moveTo>
                    <a:lnTo>
                      <a:pt x="57255" y="272358"/>
                    </a:lnTo>
                    <a:moveTo>
                      <a:pt x="70171" y="277120"/>
                    </a:moveTo>
                    <a:lnTo>
                      <a:pt x="76190" y="278949"/>
                    </a:lnTo>
                    <a:moveTo>
                      <a:pt x="52921" y="270520"/>
                    </a:moveTo>
                    <a:lnTo>
                      <a:pt x="57255" y="272358"/>
                    </a:lnTo>
                    <a:moveTo>
                      <a:pt x="49654" y="268672"/>
                    </a:moveTo>
                    <a:lnTo>
                      <a:pt x="42805" y="264795"/>
                    </a:lnTo>
                    <a:moveTo>
                      <a:pt x="49654" y="268672"/>
                    </a:moveTo>
                    <a:lnTo>
                      <a:pt x="52921" y="270520"/>
                    </a:lnTo>
                    <a:moveTo>
                      <a:pt x="40596" y="263147"/>
                    </a:moveTo>
                    <a:lnTo>
                      <a:pt x="33899" y="258166"/>
                    </a:lnTo>
                    <a:moveTo>
                      <a:pt x="40596" y="263147"/>
                    </a:moveTo>
                    <a:lnTo>
                      <a:pt x="42805" y="264795"/>
                    </a:lnTo>
                    <a:moveTo>
                      <a:pt x="32518" y="256804"/>
                    </a:moveTo>
                    <a:lnTo>
                      <a:pt x="26346" y="250727"/>
                    </a:lnTo>
                    <a:moveTo>
                      <a:pt x="32518" y="256804"/>
                    </a:moveTo>
                    <a:lnTo>
                      <a:pt x="33899" y="258166"/>
                    </a:lnTo>
                    <a:moveTo>
                      <a:pt x="25565" y="249688"/>
                    </a:moveTo>
                    <a:lnTo>
                      <a:pt x="20260" y="242611"/>
                    </a:lnTo>
                    <a:moveTo>
                      <a:pt x="25565" y="249688"/>
                    </a:moveTo>
                    <a:lnTo>
                      <a:pt x="26346" y="250727"/>
                    </a:lnTo>
                    <a:moveTo>
                      <a:pt x="19869" y="241859"/>
                    </a:moveTo>
                    <a:lnTo>
                      <a:pt x="15735" y="233934"/>
                    </a:lnTo>
                    <a:moveTo>
                      <a:pt x="19869" y="241859"/>
                    </a:moveTo>
                    <a:lnTo>
                      <a:pt x="20260" y="242611"/>
                    </a:lnTo>
                    <a:moveTo>
                      <a:pt x="15564" y="233401"/>
                    </a:moveTo>
                    <a:lnTo>
                      <a:pt x="12830" y="224819"/>
                    </a:lnTo>
                    <a:moveTo>
                      <a:pt x="15564" y="233401"/>
                    </a:moveTo>
                    <a:lnTo>
                      <a:pt x="15735" y="233934"/>
                    </a:lnTo>
                    <a:moveTo>
                      <a:pt x="12773" y="224409"/>
                    </a:moveTo>
                    <a:lnTo>
                      <a:pt x="11601" y="215417"/>
                    </a:lnTo>
                    <a:moveTo>
                      <a:pt x="12773" y="224409"/>
                    </a:moveTo>
                    <a:lnTo>
                      <a:pt x="12830" y="224819"/>
                    </a:lnTo>
                    <a:moveTo>
                      <a:pt x="11620" y="214979"/>
                    </a:moveTo>
                    <a:lnTo>
                      <a:pt x="11601" y="215417"/>
                    </a:lnTo>
                    <a:moveTo>
                      <a:pt x="11620" y="214979"/>
                    </a:moveTo>
                    <a:lnTo>
                      <a:pt x="12068" y="205854"/>
                    </a:lnTo>
                    <a:moveTo>
                      <a:pt x="12202" y="205264"/>
                    </a:moveTo>
                    <a:lnTo>
                      <a:pt x="12068" y="205854"/>
                    </a:lnTo>
                    <a:moveTo>
                      <a:pt x="12202" y="205264"/>
                    </a:moveTo>
                    <a:lnTo>
                      <a:pt x="14211" y="196291"/>
                    </a:lnTo>
                    <a:moveTo>
                      <a:pt x="14573" y="195396"/>
                    </a:moveTo>
                    <a:lnTo>
                      <a:pt x="14211" y="196291"/>
                    </a:lnTo>
                    <a:moveTo>
                      <a:pt x="14573" y="195396"/>
                    </a:moveTo>
                    <a:lnTo>
                      <a:pt x="18002" y="186861"/>
                    </a:lnTo>
                    <a:moveTo>
                      <a:pt x="108766" y="124244"/>
                    </a:moveTo>
                    <a:lnTo>
                      <a:pt x="106032" y="130245"/>
                    </a:lnTo>
                    <a:moveTo>
                      <a:pt x="117577" y="106232"/>
                    </a:moveTo>
                    <a:lnTo>
                      <a:pt x="108766" y="124244"/>
                    </a:lnTo>
                    <a:moveTo>
                      <a:pt x="130026" y="286769"/>
                    </a:moveTo>
                    <a:lnTo>
                      <a:pt x="126454" y="282464"/>
                    </a:lnTo>
                    <a:moveTo>
                      <a:pt x="143913" y="302590"/>
                    </a:moveTo>
                    <a:lnTo>
                      <a:pt x="130026" y="286769"/>
                    </a:lnTo>
                    <a:moveTo>
                      <a:pt x="123501" y="105575"/>
                    </a:moveTo>
                    <a:lnTo>
                      <a:pt x="117577" y="106232"/>
                    </a:lnTo>
                    <a:moveTo>
                      <a:pt x="125082" y="105527"/>
                    </a:moveTo>
                    <a:lnTo>
                      <a:pt x="141180" y="105127"/>
                    </a:lnTo>
                    <a:moveTo>
                      <a:pt x="141180" y="105127"/>
                    </a:moveTo>
                    <a:lnTo>
                      <a:pt x="151590" y="105766"/>
                    </a:lnTo>
                    <a:moveTo>
                      <a:pt x="125082" y="105527"/>
                    </a:moveTo>
                    <a:lnTo>
                      <a:pt x="123501" y="105575"/>
                    </a:lnTo>
                    <a:moveTo>
                      <a:pt x="158572" y="106194"/>
                    </a:moveTo>
                    <a:lnTo>
                      <a:pt x="151590" y="105766"/>
                    </a:lnTo>
                    <a:moveTo>
                      <a:pt x="168678" y="107737"/>
                    </a:moveTo>
                    <a:lnTo>
                      <a:pt x="175431" y="108776"/>
                    </a:lnTo>
                    <a:moveTo>
                      <a:pt x="168678" y="107737"/>
                    </a:moveTo>
                    <a:lnTo>
                      <a:pt x="158572" y="106194"/>
                    </a:lnTo>
                    <a:moveTo>
                      <a:pt x="188757" y="112128"/>
                    </a:moveTo>
                    <a:lnTo>
                      <a:pt x="191500" y="112814"/>
                    </a:lnTo>
                    <a:moveTo>
                      <a:pt x="191500" y="112814"/>
                    </a:moveTo>
                    <a:lnTo>
                      <a:pt x="193300" y="113471"/>
                    </a:lnTo>
                    <a:moveTo>
                      <a:pt x="188757" y="112128"/>
                    </a:moveTo>
                    <a:lnTo>
                      <a:pt x="175431" y="108776"/>
                    </a:lnTo>
                    <a:moveTo>
                      <a:pt x="203978" y="117338"/>
                    </a:moveTo>
                    <a:lnTo>
                      <a:pt x="193300" y="113471"/>
                    </a:lnTo>
                    <a:moveTo>
                      <a:pt x="224342" y="269119"/>
                    </a:moveTo>
                    <a:lnTo>
                      <a:pt x="214598" y="275939"/>
                    </a:lnTo>
                    <a:moveTo>
                      <a:pt x="214598" y="275939"/>
                    </a:moveTo>
                    <a:lnTo>
                      <a:pt x="212950" y="277082"/>
                    </a:lnTo>
                    <a:moveTo>
                      <a:pt x="202511" y="282921"/>
                    </a:moveTo>
                    <a:lnTo>
                      <a:pt x="212950" y="277082"/>
                    </a:lnTo>
                    <a:moveTo>
                      <a:pt x="202511" y="282921"/>
                    </a:moveTo>
                    <a:lnTo>
                      <a:pt x="198463" y="285178"/>
                    </a:lnTo>
                    <a:moveTo>
                      <a:pt x="198463" y="285178"/>
                    </a:moveTo>
                    <a:lnTo>
                      <a:pt x="192062" y="287998"/>
                    </a:lnTo>
                    <a:moveTo>
                      <a:pt x="182842" y="292056"/>
                    </a:moveTo>
                    <a:lnTo>
                      <a:pt x="171945" y="295723"/>
                    </a:lnTo>
                    <a:moveTo>
                      <a:pt x="182842" y="292056"/>
                    </a:moveTo>
                    <a:lnTo>
                      <a:pt x="192062" y="287998"/>
                    </a:lnTo>
                    <a:moveTo>
                      <a:pt x="166306" y="297618"/>
                    </a:moveTo>
                    <a:lnTo>
                      <a:pt x="171945" y="295723"/>
                    </a:lnTo>
                    <a:moveTo>
                      <a:pt x="162449" y="298561"/>
                    </a:moveTo>
                    <a:lnTo>
                      <a:pt x="149123" y="301790"/>
                    </a:lnTo>
                    <a:moveTo>
                      <a:pt x="162449" y="298561"/>
                    </a:moveTo>
                    <a:lnTo>
                      <a:pt x="166306" y="297618"/>
                    </a:lnTo>
                    <a:moveTo>
                      <a:pt x="148209" y="301933"/>
                    </a:moveTo>
                    <a:lnTo>
                      <a:pt x="143913" y="302590"/>
                    </a:lnTo>
                    <a:moveTo>
                      <a:pt x="148209" y="301933"/>
                    </a:moveTo>
                    <a:lnTo>
                      <a:pt x="149123" y="301790"/>
                    </a:lnTo>
                    <a:moveTo>
                      <a:pt x="226905" y="288207"/>
                    </a:moveTo>
                    <a:lnTo>
                      <a:pt x="227714" y="294256"/>
                    </a:lnTo>
                    <a:moveTo>
                      <a:pt x="225600" y="278492"/>
                    </a:moveTo>
                    <a:lnTo>
                      <a:pt x="226905" y="288207"/>
                    </a:lnTo>
                    <a:moveTo>
                      <a:pt x="225600" y="278492"/>
                    </a:moveTo>
                    <a:lnTo>
                      <a:pt x="224342" y="269119"/>
                    </a:lnTo>
                    <a:moveTo>
                      <a:pt x="200606" y="92202"/>
                    </a:moveTo>
                    <a:lnTo>
                      <a:pt x="201549" y="99212"/>
                    </a:lnTo>
                    <a:moveTo>
                      <a:pt x="202778" y="108385"/>
                    </a:moveTo>
                    <a:lnTo>
                      <a:pt x="203978" y="117338"/>
                    </a:lnTo>
                    <a:moveTo>
                      <a:pt x="202778" y="108385"/>
                    </a:moveTo>
                    <a:lnTo>
                      <a:pt x="201549" y="99212"/>
                    </a:lnTo>
                    <a:moveTo>
                      <a:pt x="121148" y="85011"/>
                    </a:moveTo>
                    <a:lnTo>
                      <a:pt x="123587" y="84744"/>
                    </a:lnTo>
                    <a:moveTo>
                      <a:pt x="111185" y="86116"/>
                    </a:moveTo>
                    <a:lnTo>
                      <a:pt x="121148" y="85011"/>
                    </a:lnTo>
                    <a:moveTo>
                      <a:pt x="138341" y="84372"/>
                    </a:moveTo>
                    <a:lnTo>
                      <a:pt x="144942" y="84201"/>
                    </a:lnTo>
                    <a:moveTo>
                      <a:pt x="138341" y="84372"/>
                    </a:moveTo>
                    <a:lnTo>
                      <a:pt x="123587" y="84744"/>
                    </a:lnTo>
                    <a:moveTo>
                      <a:pt x="155429" y="84849"/>
                    </a:moveTo>
                    <a:lnTo>
                      <a:pt x="165973" y="85496"/>
                    </a:lnTo>
                    <a:moveTo>
                      <a:pt x="155429" y="84849"/>
                    </a:moveTo>
                    <a:lnTo>
                      <a:pt x="144942" y="84201"/>
                    </a:lnTo>
                    <a:moveTo>
                      <a:pt x="172307" y="86468"/>
                    </a:moveTo>
                    <a:lnTo>
                      <a:pt x="186347" y="88611"/>
                    </a:lnTo>
                    <a:moveTo>
                      <a:pt x="172307" y="86468"/>
                    </a:moveTo>
                    <a:lnTo>
                      <a:pt x="165973" y="85496"/>
                    </a:lnTo>
                    <a:moveTo>
                      <a:pt x="188843" y="89240"/>
                    </a:moveTo>
                    <a:lnTo>
                      <a:pt x="200606" y="92202"/>
                    </a:lnTo>
                    <a:moveTo>
                      <a:pt x="188843" y="89240"/>
                    </a:moveTo>
                    <a:lnTo>
                      <a:pt x="186347" y="88611"/>
                    </a:lnTo>
                    <a:moveTo>
                      <a:pt x="214189" y="301809"/>
                    </a:moveTo>
                    <a:lnTo>
                      <a:pt x="227714" y="294256"/>
                    </a:lnTo>
                    <a:moveTo>
                      <a:pt x="210188" y="303571"/>
                    </a:moveTo>
                    <a:lnTo>
                      <a:pt x="195301" y="310124"/>
                    </a:lnTo>
                    <a:moveTo>
                      <a:pt x="195301" y="310124"/>
                    </a:moveTo>
                    <a:lnTo>
                      <a:pt x="185433" y="313439"/>
                    </a:lnTo>
                    <a:moveTo>
                      <a:pt x="210188" y="303571"/>
                    </a:moveTo>
                    <a:lnTo>
                      <a:pt x="214189" y="301809"/>
                    </a:lnTo>
                    <a:moveTo>
                      <a:pt x="175317" y="316849"/>
                    </a:moveTo>
                    <a:lnTo>
                      <a:pt x="185433" y="313439"/>
                    </a:lnTo>
                    <a:moveTo>
                      <a:pt x="158182" y="321012"/>
                    </a:moveTo>
                    <a:lnTo>
                      <a:pt x="154553" y="321888"/>
                    </a:lnTo>
                    <a:moveTo>
                      <a:pt x="154553" y="321888"/>
                    </a:moveTo>
                    <a:lnTo>
                      <a:pt x="152286" y="322240"/>
                    </a:lnTo>
                    <a:moveTo>
                      <a:pt x="158182" y="321012"/>
                    </a:moveTo>
                    <a:lnTo>
                      <a:pt x="175317" y="316849"/>
                    </a:lnTo>
                    <a:moveTo>
                      <a:pt x="143046" y="323660"/>
                    </a:moveTo>
                    <a:lnTo>
                      <a:pt x="152286" y="322240"/>
                    </a:lnTo>
                    <a:moveTo>
                      <a:pt x="100841" y="79315"/>
                    </a:moveTo>
                    <a:lnTo>
                      <a:pt x="111185" y="86116"/>
                    </a:lnTo>
                    <a:moveTo>
                      <a:pt x="87030" y="71152"/>
                    </a:moveTo>
                    <a:lnTo>
                      <a:pt x="100841" y="79315"/>
                    </a:lnTo>
                    <a:moveTo>
                      <a:pt x="134045" y="333842"/>
                    </a:moveTo>
                    <a:lnTo>
                      <a:pt x="143046" y="323660"/>
                    </a:lnTo>
                    <a:moveTo>
                      <a:pt x="123692" y="344462"/>
                    </a:moveTo>
                    <a:lnTo>
                      <a:pt x="134045" y="333842"/>
                    </a:lnTo>
                    <a:moveTo>
                      <a:pt x="91859" y="66265"/>
                    </a:moveTo>
                    <a:lnTo>
                      <a:pt x="87030" y="71152"/>
                    </a:lnTo>
                    <a:moveTo>
                      <a:pt x="107594" y="52226"/>
                    </a:moveTo>
                    <a:lnTo>
                      <a:pt x="91859" y="66265"/>
                    </a:lnTo>
                    <a:moveTo>
                      <a:pt x="123758" y="41691"/>
                    </a:moveTo>
                    <a:lnTo>
                      <a:pt x="107594" y="52226"/>
                    </a:lnTo>
                    <a:moveTo>
                      <a:pt x="131997" y="37833"/>
                    </a:moveTo>
                    <a:lnTo>
                      <a:pt x="123758" y="41691"/>
                    </a:lnTo>
                    <a:moveTo>
                      <a:pt x="141027" y="35319"/>
                    </a:moveTo>
                    <a:lnTo>
                      <a:pt x="131997" y="37833"/>
                    </a:lnTo>
                    <a:moveTo>
                      <a:pt x="164649" y="28756"/>
                    </a:moveTo>
                    <a:lnTo>
                      <a:pt x="141027" y="35319"/>
                    </a:lnTo>
                    <a:moveTo>
                      <a:pt x="187223" y="26060"/>
                    </a:moveTo>
                    <a:lnTo>
                      <a:pt x="164649" y="28756"/>
                    </a:lnTo>
                    <a:moveTo>
                      <a:pt x="218437" y="27880"/>
                    </a:moveTo>
                    <a:lnTo>
                      <a:pt x="187223" y="26060"/>
                    </a:lnTo>
                    <a:moveTo>
                      <a:pt x="252765" y="29880"/>
                    </a:moveTo>
                    <a:lnTo>
                      <a:pt x="261852" y="32290"/>
                    </a:lnTo>
                    <a:moveTo>
                      <a:pt x="218437" y="27880"/>
                    </a:moveTo>
                    <a:lnTo>
                      <a:pt x="252765" y="29880"/>
                    </a:lnTo>
                    <a:moveTo>
                      <a:pt x="304762" y="45815"/>
                    </a:moveTo>
                    <a:lnTo>
                      <a:pt x="281226" y="37433"/>
                    </a:lnTo>
                    <a:moveTo>
                      <a:pt x="312134" y="49073"/>
                    </a:moveTo>
                    <a:lnTo>
                      <a:pt x="304762" y="45815"/>
                    </a:lnTo>
                    <a:moveTo>
                      <a:pt x="323936" y="56093"/>
                    </a:moveTo>
                    <a:lnTo>
                      <a:pt x="312134" y="49073"/>
                    </a:lnTo>
                    <a:moveTo>
                      <a:pt x="281226" y="37433"/>
                    </a:moveTo>
                    <a:lnTo>
                      <a:pt x="261852" y="32290"/>
                    </a:lnTo>
                    <a:moveTo>
                      <a:pt x="343881" y="69313"/>
                    </a:moveTo>
                    <a:lnTo>
                      <a:pt x="323936" y="56093"/>
                    </a:lnTo>
                    <a:moveTo>
                      <a:pt x="358816" y="81163"/>
                    </a:moveTo>
                    <a:lnTo>
                      <a:pt x="343881" y="69313"/>
                    </a:lnTo>
                    <a:moveTo>
                      <a:pt x="358816" y="81163"/>
                    </a:moveTo>
                    <a:lnTo>
                      <a:pt x="374961" y="98431"/>
                    </a:lnTo>
                    <a:moveTo>
                      <a:pt x="382657" y="264090"/>
                    </a:moveTo>
                    <a:lnTo>
                      <a:pt x="394268" y="242392"/>
                    </a:lnTo>
                    <a:moveTo>
                      <a:pt x="371389" y="279254"/>
                    </a:moveTo>
                    <a:lnTo>
                      <a:pt x="382657" y="264090"/>
                    </a:lnTo>
                    <a:moveTo>
                      <a:pt x="355102" y="297675"/>
                    </a:moveTo>
                    <a:lnTo>
                      <a:pt x="371389" y="279254"/>
                    </a:lnTo>
                    <a:moveTo>
                      <a:pt x="345796" y="307229"/>
                    </a:moveTo>
                    <a:lnTo>
                      <a:pt x="355102" y="297675"/>
                    </a:lnTo>
                    <a:moveTo>
                      <a:pt x="339719" y="312125"/>
                    </a:moveTo>
                    <a:lnTo>
                      <a:pt x="345796" y="307229"/>
                    </a:lnTo>
                    <a:moveTo>
                      <a:pt x="172650" y="364122"/>
                    </a:moveTo>
                    <a:lnTo>
                      <a:pt x="165630" y="362893"/>
                    </a:lnTo>
                    <a:moveTo>
                      <a:pt x="175841" y="364684"/>
                    </a:moveTo>
                    <a:lnTo>
                      <a:pt x="172650" y="364122"/>
                    </a:lnTo>
                    <a:moveTo>
                      <a:pt x="148523" y="357349"/>
                    </a:moveTo>
                    <a:lnTo>
                      <a:pt x="129159" y="347643"/>
                    </a:lnTo>
                    <a:moveTo>
                      <a:pt x="129159" y="347643"/>
                    </a:moveTo>
                    <a:lnTo>
                      <a:pt x="123692" y="344462"/>
                    </a:lnTo>
                    <a:moveTo>
                      <a:pt x="319907" y="325812"/>
                    </a:moveTo>
                    <a:lnTo>
                      <a:pt x="339719" y="312125"/>
                    </a:lnTo>
                    <a:moveTo>
                      <a:pt x="319907" y="325812"/>
                    </a:moveTo>
                    <a:lnTo>
                      <a:pt x="293265" y="341128"/>
                    </a:lnTo>
                    <a:moveTo>
                      <a:pt x="209740" y="364950"/>
                    </a:moveTo>
                    <a:lnTo>
                      <a:pt x="194177" y="364827"/>
                    </a:lnTo>
                    <a:moveTo>
                      <a:pt x="194177" y="364827"/>
                    </a:moveTo>
                    <a:lnTo>
                      <a:pt x="175841" y="364684"/>
                    </a:lnTo>
                    <a:moveTo>
                      <a:pt x="153505" y="358969"/>
                    </a:moveTo>
                    <a:lnTo>
                      <a:pt x="148523" y="357349"/>
                    </a:lnTo>
                    <a:moveTo>
                      <a:pt x="153505" y="358969"/>
                    </a:moveTo>
                    <a:lnTo>
                      <a:pt x="165630" y="362893"/>
                    </a:lnTo>
                    <a:moveTo>
                      <a:pt x="262033" y="351530"/>
                    </a:moveTo>
                    <a:lnTo>
                      <a:pt x="230991" y="361855"/>
                    </a:lnTo>
                    <a:moveTo>
                      <a:pt x="262033" y="351530"/>
                    </a:moveTo>
                    <a:lnTo>
                      <a:pt x="293265" y="341128"/>
                    </a:lnTo>
                    <a:moveTo>
                      <a:pt x="222799" y="363045"/>
                    </a:moveTo>
                    <a:lnTo>
                      <a:pt x="230991" y="361855"/>
                    </a:lnTo>
                    <a:moveTo>
                      <a:pt x="222799" y="363045"/>
                    </a:moveTo>
                    <a:lnTo>
                      <a:pt x="209740" y="364950"/>
                    </a:lnTo>
                    <a:moveTo>
                      <a:pt x="398793" y="276054"/>
                    </a:moveTo>
                    <a:lnTo>
                      <a:pt x="400564" y="289312"/>
                    </a:lnTo>
                    <a:moveTo>
                      <a:pt x="397640" y="267472"/>
                    </a:moveTo>
                    <a:lnTo>
                      <a:pt x="398793" y="276054"/>
                    </a:lnTo>
                    <a:moveTo>
                      <a:pt x="396411" y="258328"/>
                    </a:moveTo>
                    <a:lnTo>
                      <a:pt x="397640" y="267472"/>
                    </a:lnTo>
                    <a:moveTo>
                      <a:pt x="396411" y="258328"/>
                    </a:moveTo>
                    <a:lnTo>
                      <a:pt x="394268" y="242392"/>
                    </a:lnTo>
                    <a:moveTo>
                      <a:pt x="370522" y="65361"/>
                    </a:moveTo>
                    <a:lnTo>
                      <a:pt x="371732" y="74352"/>
                    </a:lnTo>
                    <a:moveTo>
                      <a:pt x="371732" y="74352"/>
                    </a:moveTo>
                    <a:lnTo>
                      <a:pt x="374961" y="98431"/>
                    </a:lnTo>
                    <a:moveTo>
                      <a:pt x="368646" y="51340"/>
                    </a:moveTo>
                    <a:lnTo>
                      <a:pt x="370522" y="65361"/>
                    </a:lnTo>
                  </a:path>
                </a:pathLst>
              </a:custGeom>
              <a:noFill/>
              <a:ln w="19050">
                <a:solidFill>
                  <a:srgbClr val="D98536"/>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89" name="Freeform 15"/>
              <p:cNvSpPr/>
              <p:nvPr/>
            </p:nvSpPr>
            <p:spPr>
              <a:xfrm>
                <a:off x="1196280" y="2557440"/>
                <a:ext cx="66240" cy="90000"/>
              </a:xfrm>
              <a:custGeom>
                <a:avLst/>
                <a:gdLst>
                  <a:gd name="textAreaLeft" fmla="*/ 0 w 66240"/>
                  <a:gd name="textAreaRight" fmla="*/ 66600 w 66240"/>
                  <a:gd name="textAreaTop" fmla="*/ 0 h 90000"/>
                  <a:gd name="textAreaBottom" fmla="*/ 90360 h 90000"/>
                </a:gdLst>
                <a:ahLst/>
                <a:cxnLst/>
                <a:rect l="textAreaLeft" t="textAreaTop" r="textAreaRight" b="textAreaBottom"/>
                <a:pathLst>
                  <a:path w="66732" h="90297">
                    <a:moveTo>
                      <a:pt x="16602" y="962"/>
                    </a:moveTo>
                    <a:lnTo>
                      <a:pt x="14888" y="1438"/>
                    </a:lnTo>
                    <a:moveTo>
                      <a:pt x="16602" y="962"/>
                    </a:moveTo>
                    <a:lnTo>
                      <a:pt x="22879" y="0"/>
                    </a:lnTo>
                    <a:moveTo>
                      <a:pt x="24536" y="19"/>
                    </a:moveTo>
                    <a:lnTo>
                      <a:pt x="22879" y="0"/>
                    </a:lnTo>
                    <a:moveTo>
                      <a:pt x="49901" y="16516"/>
                    </a:moveTo>
                    <a:lnTo>
                      <a:pt x="55540" y="24413"/>
                    </a:lnTo>
                    <a:moveTo>
                      <a:pt x="55540" y="24413"/>
                    </a:moveTo>
                    <a:lnTo>
                      <a:pt x="57112" y="26518"/>
                    </a:lnTo>
                    <a:moveTo>
                      <a:pt x="27880" y="1295"/>
                    </a:moveTo>
                    <a:lnTo>
                      <a:pt x="36128" y="3972"/>
                    </a:lnTo>
                    <a:moveTo>
                      <a:pt x="27880" y="1295"/>
                    </a:moveTo>
                    <a:lnTo>
                      <a:pt x="24536" y="19"/>
                    </a:lnTo>
                    <a:moveTo>
                      <a:pt x="61246" y="36595"/>
                    </a:moveTo>
                    <a:lnTo>
                      <a:pt x="57112" y="26518"/>
                    </a:lnTo>
                    <a:moveTo>
                      <a:pt x="61246" y="36595"/>
                    </a:moveTo>
                    <a:lnTo>
                      <a:pt x="63998" y="42910"/>
                    </a:lnTo>
                    <a:moveTo>
                      <a:pt x="38252" y="5848"/>
                    </a:moveTo>
                    <a:lnTo>
                      <a:pt x="47635" y="13345"/>
                    </a:lnTo>
                    <a:moveTo>
                      <a:pt x="38252" y="5848"/>
                    </a:moveTo>
                    <a:lnTo>
                      <a:pt x="36128" y="3972"/>
                    </a:lnTo>
                    <a:moveTo>
                      <a:pt x="60360" y="82706"/>
                    </a:moveTo>
                    <a:lnTo>
                      <a:pt x="58979" y="84630"/>
                    </a:lnTo>
                    <a:moveTo>
                      <a:pt x="54150" y="88201"/>
                    </a:moveTo>
                    <a:lnTo>
                      <a:pt x="53892" y="88382"/>
                    </a:lnTo>
                    <a:moveTo>
                      <a:pt x="54150" y="88201"/>
                    </a:moveTo>
                    <a:lnTo>
                      <a:pt x="58979" y="84630"/>
                    </a:lnTo>
                    <a:moveTo>
                      <a:pt x="66732" y="61998"/>
                    </a:moveTo>
                    <a:lnTo>
                      <a:pt x="63265" y="77962"/>
                    </a:lnTo>
                    <a:moveTo>
                      <a:pt x="64980" y="50378"/>
                    </a:moveTo>
                    <a:lnTo>
                      <a:pt x="63998" y="42910"/>
                    </a:lnTo>
                    <a:moveTo>
                      <a:pt x="64980" y="50378"/>
                    </a:moveTo>
                    <a:lnTo>
                      <a:pt x="66732" y="61998"/>
                    </a:lnTo>
                    <a:moveTo>
                      <a:pt x="48006" y="13916"/>
                    </a:moveTo>
                    <a:lnTo>
                      <a:pt x="47635" y="13345"/>
                    </a:lnTo>
                    <a:moveTo>
                      <a:pt x="48006" y="13916"/>
                    </a:moveTo>
                    <a:lnTo>
                      <a:pt x="49901" y="16516"/>
                    </a:lnTo>
                    <a:moveTo>
                      <a:pt x="48206" y="90192"/>
                    </a:moveTo>
                    <a:lnTo>
                      <a:pt x="53892" y="88382"/>
                    </a:lnTo>
                    <a:moveTo>
                      <a:pt x="48206" y="90192"/>
                    </a:moveTo>
                    <a:lnTo>
                      <a:pt x="47892" y="90297"/>
                    </a:lnTo>
                    <a:moveTo>
                      <a:pt x="47892" y="90297"/>
                    </a:moveTo>
                    <a:lnTo>
                      <a:pt x="47539" y="90287"/>
                    </a:lnTo>
                    <a:moveTo>
                      <a:pt x="40853" y="90202"/>
                    </a:moveTo>
                    <a:lnTo>
                      <a:pt x="47539" y="90287"/>
                    </a:lnTo>
                    <a:moveTo>
                      <a:pt x="63084" y="78781"/>
                    </a:moveTo>
                    <a:lnTo>
                      <a:pt x="63265" y="77962"/>
                    </a:lnTo>
                    <a:moveTo>
                      <a:pt x="62941" y="78981"/>
                    </a:moveTo>
                    <a:lnTo>
                      <a:pt x="60360" y="82706"/>
                    </a:lnTo>
                    <a:moveTo>
                      <a:pt x="62941" y="78981"/>
                    </a:moveTo>
                    <a:lnTo>
                      <a:pt x="63084" y="78781"/>
                    </a:lnTo>
                    <a:moveTo>
                      <a:pt x="39014" y="89383"/>
                    </a:moveTo>
                    <a:lnTo>
                      <a:pt x="40853" y="90202"/>
                    </a:lnTo>
                    <a:moveTo>
                      <a:pt x="25422" y="82934"/>
                    </a:moveTo>
                    <a:lnTo>
                      <a:pt x="15859" y="72542"/>
                    </a:lnTo>
                    <a:moveTo>
                      <a:pt x="25422" y="82934"/>
                    </a:moveTo>
                    <a:lnTo>
                      <a:pt x="39014" y="89383"/>
                    </a:lnTo>
                    <a:moveTo>
                      <a:pt x="12106" y="68409"/>
                    </a:moveTo>
                    <a:lnTo>
                      <a:pt x="15859" y="72542"/>
                    </a:lnTo>
                    <a:moveTo>
                      <a:pt x="8049" y="60274"/>
                    </a:moveTo>
                    <a:lnTo>
                      <a:pt x="12106" y="68409"/>
                    </a:lnTo>
                    <a:moveTo>
                      <a:pt x="8049" y="60274"/>
                    </a:moveTo>
                    <a:lnTo>
                      <a:pt x="3772" y="51806"/>
                    </a:lnTo>
                    <a:moveTo>
                      <a:pt x="629" y="37719"/>
                    </a:moveTo>
                    <a:lnTo>
                      <a:pt x="0" y="35014"/>
                    </a:lnTo>
                    <a:moveTo>
                      <a:pt x="0" y="35014"/>
                    </a:moveTo>
                    <a:lnTo>
                      <a:pt x="76" y="33395"/>
                    </a:lnTo>
                    <a:moveTo>
                      <a:pt x="629" y="37719"/>
                    </a:moveTo>
                    <a:lnTo>
                      <a:pt x="3772" y="51806"/>
                    </a:lnTo>
                    <a:moveTo>
                      <a:pt x="448" y="27165"/>
                    </a:moveTo>
                    <a:lnTo>
                      <a:pt x="76" y="33395"/>
                    </a:lnTo>
                    <a:moveTo>
                      <a:pt x="1105" y="19145"/>
                    </a:moveTo>
                    <a:lnTo>
                      <a:pt x="448" y="27165"/>
                    </a:lnTo>
                    <a:moveTo>
                      <a:pt x="1838" y="17717"/>
                    </a:moveTo>
                    <a:lnTo>
                      <a:pt x="6706" y="7515"/>
                    </a:lnTo>
                    <a:moveTo>
                      <a:pt x="1838" y="17717"/>
                    </a:moveTo>
                    <a:lnTo>
                      <a:pt x="1105" y="19145"/>
                    </a:lnTo>
                    <a:moveTo>
                      <a:pt x="13202" y="2257"/>
                    </a:moveTo>
                    <a:lnTo>
                      <a:pt x="14888" y="1438"/>
                    </a:lnTo>
                    <a:moveTo>
                      <a:pt x="10554" y="3772"/>
                    </a:moveTo>
                    <a:lnTo>
                      <a:pt x="13202" y="2257"/>
                    </a:lnTo>
                    <a:moveTo>
                      <a:pt x="7744" y="6553"/>
                    </a:moveTo>
                    <a:lnTo>
                      <a:pt x="10554" y="3772"/>
                    </a:lnTo>
                    <a:moveTo>
                      <a:pt x="7744" y="6553"/>
                    </a:moveTo>
                    <a:lnTo>
                      <a:pt x="6706" y="7515"/>
                    </a:lnTo>
                  </a:path>
                </a:pathLst>
              </a:custGeom>
              <a:noFill/>
              <a:ln w="19050">
                <a:solidFill>
                  <a:srgbClr val="A357B9"/>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90" name="TextBox 16"/>
              <p:cNvSpPr/>
              <p:nvPr/>
            </p:nvSpPr>
            <p:spPr>
              <a:xfrm>
                <a:off x="1687680" y="2060640"/>
                <a:ext cx="1279800" cy="29304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1" u="none" strike="noStrike">
                    <a:solidFill>
                      <a:srgbClr val="24364C"/>
                    </a:solidFill>
                    <a:effectLst/>
                    <a:uFillTx/>
                    <a:latin typeface="Arial"/>
                    <a:ea typeface="微软雅黑"/>
                  </a:rPr>
                  <a:t>Near soft leaf</a:t>
                </a:r>
                <a:endParaRPr lang="en-US" sz="1500" b="0" u="none" strike="noStrike">
                  <a:solidFill>
                    <a:srgbClr val="000000"/>
                  </a:solidFill>
                  <a:effectLst/>
                  <a:uFillTx/>
                  <a:latin typeface="Arial"/>
                </a:endParaRPr>
              </a:p>
            </p:txBody>
          </p:sp>
          <p:sp>
            <p:nvSpPr>
              <p:cNvPr id="391" name="Freeform 17"/>
              <p:cNvSpPr/>
              <p:nvPr/>
            </p:nvSpPr>
            <p:spPr>
              <a:xfrm>
                <a:off x="1740240" y="2295360"/>
                <a:ext cx="2129760" cy="1399680"/>
              </a:xfrm>
              <a:custGeom>
                <a:avLst/>
                <a:gdLst>
                  <a:gd name="textAreaLeft" fmla="*/ 0 w 2129760"/>
                  <a:gd name="textAreaRight" fmla="*/ 2130120 w 2129760"/>
                  <a:gd name="textAreaTop" fmla="*/ 0 h 1399680"/>
                  <a:gd name="textAreaBottom" fmla="*/ 1400040 h 1399680"/>
                </a:gdLst>
                <a:ahLst/>
                <a:cxnLst/>
                <a:rect l="textAreaLeft" t="textAreaTop" r="textAreaRight" b="textAreaBottom"/>
                <a:pathLst>
                  <a:path w="2130076" h="1400175">
                    <a:moveTo>
                      <a:pt x="1889122" y="1109462"/>
                    </a:moveTo>
                    <a:lnTo>
                      <a:pt x="1997602" y="1027119"/>
                    </a:lnTo>
                    <a:moveTo>
                      <a:pt x="990267" y="1354979"/>
                    </a:moveTo>
                    <a:lnTo>
                      <a:pt x="1054370" y="1343339"/>
                    </a:lnTo>
                    <a:moveTo>
                      <a:pt x="1880845" y="1114749"/>
                    </a:moveTo>
                    <a:lnTo>
                      <a:pt x="1886312" y="1111158"/>
                    </a:lnTo>
                    <a:moveTo>
                      <a:pt x="1886312" y="1111158"/>
                    </a:moveTo>
                    <a:lnTo>
                      <a:pt x="1887141" y="1110605"/>
                    </a:lnTo>
                    <a:moveTo>
                      <a:pt x="1880845" y="1114749"/>
                    </a:moveTo>
                    <a:lnTo>
                      <a:pt x="1771850" y="1181786"/>
                    </a:lnTo>
                    <a:moveTo>
                      <a:pt x="1771850" y="1181786"/>
                    </a:moveTo>
                    <a:lnTo>
                      <a:pt x="1748314" y="1193635"/>
                    </a:lnTo>
                    <a:moveTo>
                      <a:pt x="1671552" y="1232297"/>
                    </a:moveTo>
                    <a:lnTo>
                      <a:pt x="1748314" y="1193635"/>
                    </a:lnTo>
                    <a:moveTo>
                      <a:pt x="1346102" y="1312240"/>
                    </a:moveTo>
                    <a:lnTo>
                      <a:pt x="1346902" y="1312154"/>
                    </a:lnTo>
                    <a:moveTo>
                      <a:pt x="1346902" y="1312154"/>
                    </a:moveTo>
                    <a:lnTo>
                      <a:pt x="1349188" y="1311831"/>
                    </a:lnTo>
                    <a:moveTo>
                      <a:pt x="157505" y="1156468"/>
                    </a:moveTo>
                    <a:lnTo>
                      <a:pt x="206121" y="1202379"/>
                    </a:lnTo>
                    <a:moveTo>
                      <a:pt x="290189" y="1285789"/>
                    </a:moveTo>
                    <a:lnTo>
                      <a:pt x="255775" y="1258786"/>
                    </a:lnTo>
                    <a:moveTo>
                      <a:pt x="255775" y="1258786"/>
                    </a:moveTo>
                    <a:lnTo>
                      <a:pt x="206121" y="1202379"/>
                    </a:lnTo>
                    <a:moveTo>
                      <a:pt x="100155" y="1061933"/>
                    </a:moveTo>
                    <a:lnTo>
                      <a:pt x="150952" y="1143200"/>
                    </a:lnTo>
                    <a:moveTo>
                      <a:pt x="157505" y="1156468"/>
                    </a:moveTo>
                    <a:lnTo>
                      <a:pt x="150952" y="1143200"/>
                    </a:lnTo>
                    <a:moveTo>
                      <a:pt x="744274" y="1391879"/>
                    </a:moveTo>
                    <a:lnTo>
                      <a:pt x="776259" y="1387869"/>
                    </a:lnTo>
                    <a:moveTo>
                      <a:pt x="776259" y="1387869"/>
                    </a:moveTo>
                    <a:lnTo>
                      <a:pt x="835476" y="1378944"/>
                    </a:lnTo>
                    <a:moveTo>
                      <a:pt x="1746047" y="756323"/>
                    </a:moveTo>
                    <a:lnTo>
                      <a:pt x="1727730" y="739188"/>
                    </a:lnTo>
                    <a:moveTo>
                      <a:pt x="1746047" y="756323"/>
                    </a:moveTo>
                    <a:lnTo>
                      <a:pt x="1792167" y="765238"/>
                    </a:lnTo>
                    <a:moveTo>
                      <a:pt x="1847278" y="783536"/>
                    </a:moveTo>
                    <a:lnTo>
                      <a:pt x="1792167" y="765238"/>
                    </a:lnTo>
                    <a:moveTo>
                      <a:pt x="1694783" y="645681"/>
                    </a:moveTo>
                    <a:lnTo>
                      <a:pt x="1707794" y="677513"/>
                    </a:lnTo>
                    <a:moveTo>
                      <a:pt x="1707794" y="677513"/>
                    </a:moveTo>
                    <a:lnTo>
                      <a:pt x="1727730" y="739188"/>
                    </a:lnTo>
                    <a:moveTo>
                      <a:pt x="1847278" y="783536"/>
                    </a:moveTo>
                    <a:lnTo>
                      <a:pt x="1903714" y="778688"/>
                    </a:lnTo>
                    <a:moveTo>
                      <a:pt x="1903714" y="778688"/>
                    </a:moveTo>
                    <a:lnTo>
                      <a:pt x="1965779" y="774944"/>
                    </a:lnTo>
                    <a:moveTo>
                      <a:pt x="391716" y="1357303"/>
                    </a:moveTo>
                    <a:lnTo>
                      <a:pt x="391354" y="1357255"/>
                    </a:lnTo>
                    <a:moveTo>
                      <a:pt x="391354" y="1357255"/>
                    </a:moveTo>
                    <a:lnTo>
                      <a:pt x="389658" y="1356265"/>
                    </a:lnTo>
                    <a:moveTo>
                      <a:pt x="1216676" y="1321413"/>
                    </a:moveTo>
                    <a:lnTo>
                      <a:pt x="1346102" y="1312240"/>
                    </a:lnTo>
                    <a:moveTo>
                      <a:pt x="1179405" y="1330490"/>
                    </a:moveTo>
                    <a:lnTo>
                      <a:pt x="1216676" y="1321413"/>
                    </a:lnTo>
                    <a:moveTo>
                      <a:pt x="392821" y="1357608"/>
                    </a:moveTo>
                    <a:lnTo>
                      <a:pt x="525980" y="1393336"/>
                    </a:lnTo>
                    <a:moveTo>
                      <a:pt x="525980" y="1393336"/>
                    </a:moveTo>
                    <a:lnTo>
                      <a:pt x="623964" y="1397860"/>
                    </a:lnTo>
                    <a:moveTo>
                      <a:pt x="623964" y="1397860"/>
                    </a:moveTo>
                    <a:lnTo>
                      <a:pt x="655577" y="1399908"/>
                    </a:lnTo>
                    <a:moveTo>
                      <a:pt x="391716" y="1357303"/>
                    </a:moveTo>
                    <a:lnTo>
                      <a:pt x="392821" y="1357608"/>
                    </a:lnTo>
                    <a:moveTo>
                      <a:pt x="14135" y="769287"/>
                    </a:moveTo>
                    <a:lnTo>
                      <a:pt x="200" y="657215"/>
                    </a:lnTo>
                    <a:moveTo>
                      <a:pt x="1965779" y="774944"/>
                    </a:moveTo>
                    <a:lnTo>
                      <a:pt x="1993059" y="787584"/>
                    </a:lnTo>
                    <a:moveTo>
                      <a:pt x="25232" y="825713"/>
                    </a:moveTo>
                    <a:lnTo>
                      <a:pt x="20288" y="805853"/>
                    </a:lnTo>
                    <a:moveTo>
                      <a:pt x="14135" y="769287"/>
                    </a:moveTo>
                    <a:lnTo>
                      <a:pt x="20288" y="805853"/>
                    </a:lnTo>
                    <a:moveTo>
                      <a:pt x="1179405" y="1330490"/>
                    </a:moveTo>
                    <a:lnTo>
                      <a:pt x="1107262" y="1339806"/>
                    </a:lnTo>
                    <a:moveTo>
                      <a:pt x="25232" y="825713"/>
                    </a:moveTo>
                    <a:lnTo>
                      <a:pt x="53550" y="939184"/>
                    </a:lnTo>
                    <a:moveTo>
                      <a:pt x="96250" y="1047960"/>
                    </a:moveTo>
                    <a:lnTo>
                      <a:pt x="57426" y="955967"/>
                    </a:lnTo>
                    <a:moveTo>
                      <a:pt x="57426" y="955967"/>
                    </a:moveTo>
                    <a:lnTo>
                      <a:pt x="53550" y="939184"/>
                    </a:lnTo>
                    <a:moveTo>
                      <a:pt x="1458820" y="1287132"/>
                    </a:moveTo>
                    <a:lnTo>
                      <a:pt x="1349188" y="1311831"/>
                    </a:lnTo>
                    <a:moveTo>
                      <a:pt x="1054370" y="1343339"/>
                    </a:moveTo>
                    <a:lnTo>
                      <a:pt x="1107262" y="1339806"/>
                    </a:lnTo>
                    <a:moveTo>
                      <a:pt x="389658" y="1356265"/>
                    </a:moveTo>
                    <a:lnTo>
                      <a:pt x="290189" y="1285789"/>
                    </a:lnTo>
                    <a:moveTo>
                      <a:pt x="1889122" y="1109462"/>
                    </a:moveTo>
                    <a:lnTo>
                      <a:pt x="1887141" y="1110605"/>
                    </a:lnTo>
                    <a:moveTo>
                      <a:pt x="744274" y="1391879"/>
                    </a:moveTo>
                    <a:lnTo>
                      <a:pt x="690772" y="1400175"/>
                    </a:lnTo>
                    <a:moveTo>
                      <a:pt x="690772" y="1400175"/>
                    </a:moveTo>
                    <a:lnTo>
                      <a:pt x="655577" y="1399908"/>
                    </a:lnTo>
                    <a:moveTo>
                      <a:pt x="96250" y="1047960"/>
                    </a:moveTo>
                    <a:lnTo>
                      <a:pt x="100155" y="1061933"/>
                    </a:lnTo>
                    <a:moveTo>
                      <a:pt x="990267" y="1354979"/>
                    </a:moveTo>
                    <a:lnTo>
                      <a:pt x="942365" y="1361665"/>
                    </a:lnTo>
                    <a:moveTo>
                      <a:pt x="912400" y="1368285"/>
                    </a:moveTo>
                    <a:lnTo>
                      <a:pt x="942365" y="1361665"/>
                    </a:lnTo>
                    <a:moveTo>
                      <a:pt x="1694783" y="645681"/>
                    </a:moveTo>
                    <a:lnTo>
                      <a:pt x="1706328" y="570005"/>
                    </a:lnTo>
                    <a:moveTo>
                      <a:pt x="2069249" y="969855"/>
                    </a:moveTo>
                    <a:lnTo>
                      <a:pt x="2092928" y="931374"/>
                    </a:lnTo>
                    <a:moveTo>
                      <a:pt x="1997602" y="1027119"/>
                    </a:moveTo>
                    <a:lnTo>
                      <a:pt x="2069249" y="969855"/>
                    </a:lnTo>
                    <a:moveTo>
                      <a:pt x="2102329" y="882882"/>
                    </a:moveTo>
                    <a:lnTo>
                      <a:pt x="2092928" y="931374"/>
                    </a:lnTo>
                    <a:moveTo>
                      <a:pt x="1562662" y="1267606"/>
                    </a:moveTo>
                    <a:lnTo>
                      <a:pt x="1639967" y="1246442"/>
                    </a:lnTo>
                    <a:moveTo>
                      <a:pt x="1510474" y="1280208"/>
                    </a:moveTo>
                    <a:lnTo>
                      <a:pt x="1562662" y="1267606"/>
                    </a:lnTo>
                    <a:moveTo>
                      <a:pt x="2094395" y="769753"/>
                    </a:moveTo>
                    <a:lnTo>
                      <a:pt x="2025158" y="776154"/>
                    </a:lnTo>
                    <a:moveTo>
                      <a:pt x="1993059" y="787584"/>
                    </a:moveTo>
                    <a:lnTo>
                      <a:pt x="2025158" y="776154"/>
                    </a:lnTo>
                    <a:moveTo>
                      <a:pt x="835476" y="1378944"/>
                    </a:moveTo>
                    <a:lnTo>
                      <a:pt x="912400" y="1368285"/>
                    </a:lnTo>
                    <a:moveTo>
                      <a:pt x="1510474" y="1280208"/>
                    </a:moveTo>
                    <a:lnTo>
                      <a:pt x="1458820" y="1287132"/>
                    </a:lnTo>
                    <a:moveTo>
                      <a:pt x="2102329" y="882882"/>
                    </a:moveTo>
                    <a:lnTo>
                      <a:pt x="2130076" y="828161"/>
                    </a:lnTo>
                    <a:moveTo>
                      <a:pt x="2094395" y="769753"/>
                    </a:moveTo>
                    <a:lnTo>
                      <a:pt x="2130076" y="828161"/>
                    </a:lnTo>
                    <a:moveTo>
                      <a:pt x="1639967" y="1246442"/>
                    </a:moveTo>
                    <a:lnTo>
                      <a:pt x="1671552" y="1232297"/>
                    </a:lnTo>
                    <a:moveTo>
                      <a:pt x="1854756" y="322250"/>
                    </a:moveTo>
                    <a:lnTo>
                      <a:pt x="1826009" y="346796"/>
                    </a:lnTo>
                    <a:moveTo>
                      <a:pt x="1777536" y="408622"/>
                    </a:moveTo>
                    <a:lnTo>
                      <a:pt x="1826009" y="346796"/>
                    </a:lnTo>
                    <a:moveTo>
                      <a:pt x="0" y="569995"/>
                    </a:moveTo>
                    <a:lnTo>
                      <a:pt x="3362" y="520560"/>
                    </a:lnTo>
                    <a:moveTo>
                      <a:pt x="10135" y="478288"/>
                    </a:moveTo>
                    <a:lnTo>
                      <a:pt x="3362" y="520560"/>
                    </a:lnTo>
                    <a:moveTo>
                      <a:pt x="1854756" y="322250"/>
                    </a:moveTo>
                    <a:lnTo>
                      <a:pt x="1912591" y="258194"/>
                    </a:lnTo>
                    <a:moveTo>
                      <a:pt x="1939233" y="238430"/>
                    </a:moveTo>
                    <a:lnTo>
                      <a:pt x="1912591" y="258194"/>
                    </a:lnTo>
                    <a:moveTo>
                      <a:pt x="51216" y="99641"/>
                    </a:moveTo>
                    <a:lnTo>
                      <a:pt x="56226" y="164173"/>
                    </a:lnTo>
                    <a:moveTo>
                      <a:pt x="56140" y="197234"/>
                    </a:moveTo>
                    <a:lnTo>
                      <a:pt x="56226" y="164173"/>
                    </a:lnTo>
                    <a:moveTo>
                      <a:pt x="45568" y="281664"/>
                    </a:moveTo>
                    <a:lnTo>
                      <a:pt x="56140" y="197234"/>
                    </a:lnTo>
                    <a:moveTo>
                      <a:pt x="0" y="569995"/>
                    </a:moveTo>
                    <a:lnTo>
                      <a:pt x="200" y="657215"/>
                    </a:lnTo>
                    <a:moveTo>
                      <a:pt x="1756362" y="446132"/>
                    </a:moveTo>
                    <a:lnTo>
                      <a:pt x="1777536" y="408622"/>
                    </a:lnTo>
                    <a:moveTo>
                      <a:pt x="1718558" y="530047"/>
                    </a:moveTo>
                    <a:lnTo>
                      <a:pt x="1756362" y="446132"/>
                    </a:lnTo>
                    <a:moveTo>
                      <a:pt x="1718558" y="530047"/>
                    </a:moveTo>
                    <a:lnTo>
                      <a:pt x="1713643" y="541934"/>
                    </a:lnTo>
                    <a:moveTo>
                      <a:pt x="2061629" y="157924"/>
                    </a:moveTo>
                    <a:lnTo>
                      <a:pt x="2013109" y="183251"/>
                    </a:lnTo>
                    <a:moveTo>
                      <a:pt x="23041" y="400021"/>
                    </a:moveTo>
                    <a:lnTo>
                      <a:pt x="10135" y="478288"/>
                    </a:lnTo>
                    <a:moveTo>
                      <a:pt x="1983029" y="206454"/>
                    </a:moveTo>
                    <a:lnTo>
                      <a:pt x="1939233" y="238430"/>
                    </a:lnTo>
                    <a:moveTo>
                      <a:pt x="2013109" y="183251"/>
                    </a:moveTo>
                    <a:lnTo>
                      <a:pt x="1983029" y="206454"/>
                    </a:lnTo>
                    <a:moveTo>
                      <a:pt x="1711195" y="545363"/>
                    </a:moveTo>
                    <a:lnTo>
                      <a:pt x="1713643" y="541934"/>
                    </a:lnTo>
                    <a:moveTo>
                      <a:pt x="1711195" y="545363"/>
                    </a:moveTo>
                    <a:lnTo>
                      <a:pt x="1706328" y="570005"/>
                    </a:lnTo>
                    <a:moveTo>
                      <a:pt x="45568" y="281664"/>
                    </a:moveTo>
                    <a:lnTo>
                      <a:pt x="29832" y="343262"/>
                    </a:lnTo>
                    <a:moveTo>
                      <a:pt x="23041" y="400021"/>
                    </a:moveTo>
                    <a:lnTo>
                      <a:pt x="29832" y="343262"/>
                    </a:lnTo>
                    <a:moveTo>
                      <a:pt x="51216" y="99641"/>
                    </a:moveTo>
                    <a:lnTo>
                      <a:pt x="19069" y="0"/>
                    </a:lnTo>
                  </a:path>
                </a:pathLst>
              </a:custGeom>
              <a:noFill/>
              <a:ln w="19050">
                <a:solidFill>
                  <a:srgbClr val="7C8F99"/>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92" name="Freeform 18"/>
              <p:cNvSpPr/>
              <p:nvPr/>
            </p:nvSpPr>
            <p:spPr>
              <a:xfrm>
                <a:off x="2946600" y="2770200"/>
                <a:ext cx="493560" cy="147960"/>
              </a:xfrm>
              <a:custGeom>
                <a:avLst/>
                <a:gdLst>
                  <a:gd name="textAreaLeft" fmla="*/ 0 w 493560"/>
                  <a:gd name="textAreaRight" fmla="*/ 493920 w 493560"/>
                  <a:gd name="textAreaTop" fmla="*/ 0 h 147960"/>
                  <a:gd name="textAreaBottom" fmla="*/ 148320 h 147960"/>
                </a:gdLst>
                <a:ahLst/>
                <a:cxnLst/>
                <a:rect l="textAreaLeft" t="textAreaTop" r="textAreaRight" b="textAreaBottom"/>
                <a:pathLst>
                  <a:path w="494014" h="148219">
                    <a:moveTo>
                      <a:pt x="7191" y="81296"/>
                    </a:moveTo>
                    <a:lnTo>
                      <a:pt x="1419" y="77362"/>
                    </a:lnTo>
                    <a:moveTo>
                      <a:pt x="7191" y="81296"/>
                    </a:moveTo>
                    <a:lnTo>
                      <a:pt x="36376" y="100089"/>
                    </a:lnTo>
                    <a:moveTo>
                      <a:pt x="1419" y="77362"/>
                    </a:moveTo>
                    <a:lnTo>
                      <a:pt x="676" y="67570"/>
                    </a:lnTo>
                    <a:moveTo>
                      <a:pt x="0" y="56121"/>
                    </a:moveTo>
                    <a:lnTo>
                      <a:pt x="676" y="67570"/>
                    </a:lnTo>
                    <a:moveTo>
                      <a:pt x="0" y="56121"/>
                    </a:moveTo>
                    <a:lnTo>
                      <a:pt x="18517" y="44739"/>
                    </a:lnTo>
                    <a:moveTo>
                      <a:pt x="43729" y="29651"/>
                    </a:moveTo>
                    <a:lnTo>
                      <a:pt x="18517" y="44739"/>
                    </a:lnTo>
                    <a:moveTo>
                      <a:pt x="67542" y="16774"/>
                    </a:moveTo>
                    <a:lnTo>
                      <a:pt x="43729" y="29651"/>
                    </a:lnTo>
                    <a:moveTo>
                      <a:pt x="125349" y="8011"/>
                    </a:moveTo>
                    <a:lnTo>
                      <a:pt x="67542" y="16774"/>
                    </a:lnTo>
                    <a:moveTo>
                      <a:pt x="198892" y="124"/>
                    </a:moveTo>
                    <a:lnTo>
                      <a:pt x="176965" y="2410"/>
                    </a:lnTo>
                    <a:moveTo>
                      <a:pt x="176965" y="2410"/>
                    </a:moveTo>
                    <a:lnTo>
                      <a:pt x="125349" y="8011"/>
                    </a:lnTo>
                    <a:moveTo>
                      <a:pt x="233248" y="0"/>
                    </a:moveTo>
                    <a:lnTo>
                      <a:pt x="198892" y="124"/>
                    </a:lnTo>
                    <a:moveTo>
                      <a:pt x="264281" y="2657"/>
                    </a:moveTo>
                    <a:lnTo>
                      <a:pt x="233248" y="0"/>
                    </a:lnTo>
                    <a:moveTo>
                      <a:pt x="307638" y="9639"/>
                    </a:moveTo>
                    <a:lnTo>
                      <a:pt x="264281" y="2657"/>
                    </a:lnTo>
                    <a:moveTo>
                      <a:pt x="321164" y="11897"/>
                    </a:moveTo>
                    <a:lnTo>
                      <a:pt x="307638" y="9639"/>
                    </a:lnTo>
                    <a:moveTo>
                      <a:pt x="369170" y="22136"/>
                    </a:moveTo>
                    <a:lnTo>
                      <a:pt x="340690" y="16231"/>
                    </a:lnTo>
                    <a:moveTo>
                      <a:pt x="340690" y="16231"/>
                    </a:moveTo>
                    <a:lnTo>
                      <a:pt x="321164" y="11897"/>
                    </a:lnTo>
                    <a:moveTo>
                      <a:pt x="56036" y="113481"/>
                    </a:moveTo>
                    <a:lnTo>
                      <a:pt x="36376" y="100089"/>
                    </a:lnTo>
                    <a:moveTo>
                      <a:pt x="407422" y="30871"/>
                    </a:moveTo>
                    <a:lnTo>
                      <a:pt x="389601" y="27137"/>
                    </a:lnTo>
                    <a:moveTo>
                      <a:pt x="389601" y="27137"/>
                    </a:moveTo>
                    <a:lnTo>
                      <a:pt x="369170" y="22136"/>
                    </a:lnTo>
                    <a:moveTo>
                      <a:pt x="108937" y="131483"/>
                    </a:moveTo>
                    <a:lnTo>
                      <a:pt x="84268" y="123777"/>
                    </a:lnTo>
                    <a:moveTo>
                      <a:pt x="63122" y="117205"/>
                    </a:moveTo>
                    <a:lnTo>
                      <a:pt x="56036" y="113481"/>
                    </a:lnTo>
                    <a:moveTo>
                      <a:pt x="84268" y="123777"/>
                    </a:moveTo>
                    <a:lnTo>
                      <a:pt x="63122" y="117205"/>
                    </a:lnTo>
                    <a:moveTo>
                      <a:pt x="422205" y="33776"/>
                    </a:moveTo>
                    <a:lnTo>
                      <a:pt x="407422" y="30871"/>
                    </a:lnTo>
                    <a:moveTo>
                      <a:pt x="435569" y="37319"/>
                    </a:moveTo>
                    <a:lnTo>
                      <a:pt x="422205" y="33776"/>
                    </a:lnTo>
                    <a:moveTo>
                      <a:pt x="455590" y="42624"/>
                    </a:moveTo>
                    <a:lnTo>
                      <a:pt x="445980" y="40615"/>
                    </a:lnTo>
                    <a:moveTo>
                      <a:pt x="445980" y="40615"/>
                    </a:moveTo>
                    <a:lnTo>
                      <a:pt x="435569" y="37319"/>
                    </a:lnTo>
                    <a:moveTo>
                      <a:pt x="485156" y="50340"/>
                    </a:moveTo>
                    <a:lnTo>
                      <a:pt x="486175" y="50578"/>
                    </a:lnTo>
                    <a:moveTo>
                      <a:pt x="473593" y="47187"/>
                    </a:moveTo>
                    <a:lnTo>
                      <a:pt x="485156" y="50340"/>
                    </a:lnTo>
                    <a:moveTo>
                      <a:pt x="470926" y="46587"/>
                    </a:moveTo>
                    <a:lnTo>
                      <a:pt x="455590" y="42624"/>
                    </a:lnTo>
                    <a:moveTo>
                      <a:pt x="471992" y="46939"/>
                    </a:moveTo>
                    <a:lnTo>
                      <a:pt x="473593" y="47187"/>
                    </a:lnTo>
                    <a:moveTo>
                      <a:pt x="471992" y="46939"/>
                    </a:moveTo>
                    <a:lnTo>
                      <a:pt x="470926" y="46587"/>
                    </a:lnTo>
                    <a:moveTo>
                      <a:pt x="400774" y="124044"/>
                    </a:moveTo>
                    <a:lnTo>
                      <a:pt x="369227" y="132874"/>
                    </a:lnTo>
                    <a:moveTo>
                      <a:pt x="406375" y="122615"/>
                    </a:moveTo>
                    <a:lnTo>
                      <a:pt x="400774" y="124044"/>
                    </a:lnTo>
                    <a:moveTo>
                      <a:pt x="363188" y="134207"/>
                    </a:moveTo>
                    <a:lnTo>
                      <a:pt x="361483" y="134626"/>
                    </a:lnTo>
                    <a:moveTo>
                      <a:pt x="363188" y="134207"/>
                    </a:moveTo>
                    <a:lnTo>
                      <a:pt x="369227" y="132874"/>
                    </a:lnTo>
                    <a:moveTo>
                      <a:pt x="431625" y="113224"/>
                    </a:moveTo>
                    <a:lnTo>
                      <a:pt x="406375" y="122615"/>
                    </a:lnTo>
                    <a:moveTo>
                      <a:pt x="441731" y="109823"/>
                    </a:moveTo>
                    <a:lnTo>
                      <a:pt x="431625" y="113224"/>
                    </a:lnTo>
                    <a:moveTo>
                      <a:pt x="113167" y="132702"/>
                    </a:moveTo>
                    <a:lnTo>
                      <a:pt x="108937" y="131483"/>
                    </a:lnTo>
                    <a:moveTo>
                      <a:pt x="491747" y="53492"/>
                    </a:moveTo>
                    <a:lnTo>
                      <a:pt x="491366" y="53026"/>
                    </a:lnTo>
                    <a:moveTo>
                      <a:pt x="490490" y="52511"/>
                    </a:moveTo>
                    <a:lnTo>
                      <a:pt x="486175" y="50578"/>
                    </a:lnTo>
                    <a:moveTo>
                      <a:pt x="492033" y="53664"/>
                    </a:moveTo>
                    <a:lnTo>
                      <a:pt x="491747" y="53492"/>
                    </a:lnTo>
                    <a:moveTo>
                      <a:pt x="492033" y="53664"/>
                    </a:moveTo>
                    <a:lnTo>
                      <a:pt x="493319" y="55216"/>
                    </a:lnTo>
                    <a:moveTo>
                      <a:pt x="491366" y="53026"/>
                    </a:moveTo>
                    <a:lnTo>
                      <a:pt x="490490" y="52511"/>
                    </a:lnTo>
                    <a:moveTo>
                      <a:pt x="490128" y="71228"/>
                    </a:moveTo>
                    <a:lnTo>
                      <a:pt x="485404" y="78686"/>
                    </a:lnTo>
                    <a:moveTo>
                      <a:pt x="492700" y="65923"/>
                    </a:moveTo>
                    <a:lnTo>
                      <a:pt x="492404" y="66989"/>
                    </a:lnTo>
                    <a:moveTo>
                      <a:pt x="492404" y="66989"/>
                    </a:moveTo>
                    <a:lnTo>
                      <a:pt x="490128" y="71228"/>
                    </a:lnTo>
                    <a:moveTo>
                      <a:pt x="123282" y="134007"/>
                    </a:moveTo>
                    <a:lnTo>
                      <a:pt x="113167" y="132702"/>
                    </a:lnTo>
                    <a:moveTo>
                      <a:pt x="150057" y="140541"/>
                    </a:moveTo>
                    <a:lnTo>
                      <a:pt x="156096" y="141970"/>
                    </a:lnTo>
                    <a:moveTo>
                      <a:pt x="150057" y="140541"/>
                    </a:moveTo>
                    <a:lnTo>
                      <a:pt x="123282" y="134007"/>
                    </a:lnTo>
                    <a:moveTo>
                      <a:pt x="172260" y="145304"/>
                    </a:moveTo>
                    <a:lnTo>
                      <a:pt x="172250" y="145304"/>
                    </a:lnTo>
                    <a:moveTo>
                      <a:pt x="172250" y="145304"/>
                    </a:moveTo>
                    <a:lnTo>
                      <a:pt x="156096" y="141970"/>
                    </a:lnTo>
                    <a:moveTo>
                      <a:pt x="188805" y="146742"/>
                    </a:moveTo>
                    <a:lnTo>
                      <a:pt x="172260" y="145304"/>
                    </a:lnTo>
                    <a:moveTo>
                      <a:pt x="230819" y="148219"/>
                    </a:moveTo>
                    <a:lnTo>
                      <a:pt x="214341" y="147790"/>
                    </a:lnTo>
                    <a:moveTo>
                      <a:pt x="214341" y="147790"/>
                    </a:moveTo>
                    <a:lnTo>
                      <a:pt x="188805" y="146742"/>
                    </a:lnTo>
                    <a:moveTo>
                      <a:pt x="242459" y="148199"/>
                    </a:moveTo>
                    <a:lnTo>
                      <a:pt x="230819" y="148219"/>
                    </a:lnTo>
                    <a:moveTo>
                      <a:pt x="251679" y="147942"/>
                    </a:moveTo>
                    <a:lnTo>
                      <a:pt x="242459" y="148199"/>
                    </a:lnTo>
                    <a:moveTo>
                      <a:pt x="260385" y="147466"/>
                    </a:moveTo>
                    <a:lnTo>
                      <a:pt x="251679" y="147942"/>
                    </a:lnTo>
                    <a:moveTo>
                      <a:pt x="293627" y="144837"/>
                    </a:moveTo>
                    <a:lnTo>
                      <a:pt x="260385" y="147466"/>
                    </a:lnTo>
                    <a:moveTo>
                      <a:pt x="305419" y="143751"/>
                    </a:moveTo>
                    <a:lnTo>
                      <a:pt x="293627" y="144837"/>
                    </a:lnTo>
                    <a:moveTo>
                      <a:pt x="312020" y="142875"/>
                    </a:moveTo>
                    <a:lnTo>
                      <a:pt x="305419" y="143751"/>
                    </a:lnTo>
                    <a:moveTo>
                      <a:pt x="360759" y="134836"/>
                    </a:moveTo>
                    <a:lnTo>
                      <a:pt x="320126" y="141494"/>
                    </a:lnTo>
                    <a:moveTo>
                      <a:pt x="360759" y="134836"/>
                    </a:moveTo>
                    <a:lnTo>
                      <a:pt x="361483" y="134626"/>
                    </a:lnTo>
                    <a:moveTo>
                      <a:pt x="320126" y="141494"/>
                    </a:moveTo>
                    <a:lnTo>
                      <a:pt x="312020" y="142875"/>
                    </a:lnTo>
                    <a:moveTo>
                      <a:pt x="456695" y="102470"/>
                    </a:moveTo>
                    <a:lnTo>
                      <a:pt x="447113" y="107775"/>
                    </a:lnTo>
                    <a:moveTo>
                      <a:pt x="456695" y="102470"/>
                    </a:moveTo>
                    <a:lnTo>
                      <a:pt x="467592" y="95612"/>
                    </a:lnTo>
                    <a:moveTo>
                      <a:pt x="447113" y="107775"/>
                    </a:moveTo>
                    <a:lnTo>
                      <a:pt x="441731" y="109823"/>
                    </a:lnTo>
                    <a:moveTo>
                      <a:pt x="479012" y="85658"/>
                    </a:moveTo>
                    <a:lnTo>
                      <a:pt x="470525" y="93678"/>
                    </a:lnTo>
                    <a:moveTo>
                      <a:pt x="479012" y="85658"/>
                    </a:moveTo>
                    <a:lnTo>
                      <a:pt x="485404" y="78686"/>
                    </a:lnTo>
                    <a:moveTo>
                      <a:pt x="470525" y="93678"/>
                    </a:moveTo>
                    <a:lnTo>
                      <a:pt x="467592" y="95612"/>
                    </a:lnTo>
                    <a:moveTo>
                      <a:pt x="494014" y="58912"/>
                    </a:moveTo>
                    <a:lnTo>
                      <a:pt x="492700" y="65923"/>
                    </a:lnTo>
                    <a:moveTo>
                      <a:pt x="493614" y="56540"/>
                    </a:moveTo>
                    <a:lnTo>
                      <a:pt x="493319" y="55216"/>
                    </a:lnTo>
                    <a:moveTo>
                      <a:pt x="493614" y="56540"/>
                    </a:moveTo>
                    <a:lnTo>
                      <a:pt x="493919" y="58493"/>
                    </a:lnTo>
                    <a:moveTo>
                      <a:pt x="493919" y="58493"/>
                    </a:moveTo>
                    <a:lnTo>
                      <a:pt x="494014" y="58912"/>
                    </a:lnTo>
                  </a:path>
                </a:pathLst>
              </a:custGeom>
              <a:noFill/>
              <a:ln w="19050">
                <a:solidFill>
                  <a:srgbClr val="A357B9"/>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93" name="Line 19"/>
              <p:cNvSpPr/>
              <p:nvPr/>
            </p:nvSpPr>
            <p:spPr>
              <a:xfrm>
                <a:off x="628560" y="3809880"/>
                <a:ext cx="171000" cy="9000"/>
              </a:xfrm>
              <a:custGeom>
                <a:avLst/>
                <a:gdLst>
                  <a:gd name="textAreaLeft" fmla="*/ 0 w 171000"/>
                  <a:gd name="textAreaRight" fmla="*/ 171360 w 171000"/>
                  <a:gd name="textAreaTop" fmla="*/ 0 h 9000"/>
                  <a:gd name="textAreaBottom" fmla="*/ 9360 h 9000"/>
                </a:gdLst>
                <a:ahLst/>
                <a:cxnLst/>
                <a:rect l="textAreaLeft" t="textAreaTop" r="textAreaRight" b="textAreaBottom"/>
                <a:pathLst>
                  <a:path w="171450" h="9525">
                    <a:moveTo>
                      <a:pt x="0" y="0"/>
                    </a:moveTo>
                    <a:lnTo>
                      <a:pt x="171450" y="0"/>
                    </a:lnTo>
                  </a:path>
                </a:pathLst>
              </a:custGeom>
              <a:noFill/>
              <a:ln w="28575">
                <a:solidFill>
                  <a:srgbClr val="7C8F99"/>
                </a:solidFill>
                <a:round/>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
            <p:nvSpPr>
              <p:cNvPr id="394" name="TextBox 20"/>
              <p:cNvSpPr/>
              <p:nvPr/>
            </p:nvSpPr>
            <p:spPr>
              <a:xfrm>
                <a:off x="850320" y="3701880"/>
                <a:ext cx="37692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微软雅黑"/>
                  </a:rPr>
                  <a:t>Ear</a:t>
                </a:r>
                <a:endParaRPr lang="en-US" sz="1200" b="0" u="none" strike="noStrike">
                  <a:solidFill>
                    <a:srgbClr val="000000"/>
                  </a:solidFill>
                  <a:effectLst/>
                  <a:uFillTx/>
                  <a:latin typeface="Arial"/>
                </a:endParaRPr>
              </a:p>
            </p:txBody>
          </p:sp>
          <p:sp>
            <p:nvSpPr>
              <p:cNvPr id="395" name="Line 21"/>
              <p:cNvSpPr/>
              <p:nvPr/>
            </p:nvSpPr>
            <p:spPr>
              <a:xfrm>
                <a:off x="1467000" y="3809880"/>
                <a:ext cx="171000" cy="9000"/>
              </a:xfrm>
              <a:custGeom>
                <a:avLst/>
                <a:gdLst>
                  <a:gd name="textAreaLeft" fmla="*/ 0 w 171000"/>
                  <a:gd name="textAreaRight" fmla="*/ 171360 w 171000"/>
                  <a:gd name="textAreaTop" fmla="*/ 0 h 9000"/>
                  <a:gd name="textAreaBottom" fmla="*/ 9360 h 9000"/>
                </a:gdLst>
                <a:ahLst/>
                <a:cxnLst/>
                <a:rect l="textAreaLeft" t="textAreaTop" r="textAreaRight" b="textAreaBottom"/>
                <a:pathLst>
                  <a:path w="171450" h="9525">
                    <a:moveTo>
                      <a:pt x="0" y="0"/>
                    </a:moveTo>
                    <a:lnTo>
                      <a:pt x="171450" y="0"/>
                    </a:lnTo>
                  </a:path>
                </a:pathLst>
              </a:custGeom>
              <a:noFill/>
              <a:ln w="28575">
                <a:solidFill>
                  <a:srgbClr val="D98536"/>
                </a:solidFill>
                <a:round/>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
            <p:nvSpPr>
              <p:cNvPr id="396" name="TextBox 22"/>
              <p:cNvSpPr/>
              <p:nvPr/>
            </p:nvSpPr>
            <p:spPr>
              <a:xfrm>
                <a:off x="1688760" y="3701880"/>
                <a:ext cx="37692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微软雅黑"/>
                  </a:rPr>
                  <a:t>Tip</a:t>
                </a:r>
                <a:endParaRPr lang="en-US" sz="1200" b="0" u="none" strike="noStrike">
                  <a:solidFill>
                    <a:srgbClr val="000000"/>
                  </a:solidFill>
                  <a:effectLst/>
                  <a:uFillTx/>
                  <a:latin typeface="Arial"/>
                </a:endParaRPr>
              </a:p>
            </p:txBody>
          </p:sp>
          <p:sp>
            <p:nvSpPr>
              <p:cNvPr id="397" name="Line 23"/>
              <p:cNvSpPr/>
              <p:nvPr/>
            </p:nvSpPr>
            <p:spPr>
              <a:xfrm>
                <a:off x="2305080" y="3809880"/>
                <a:ext cx="171000" cy="9000"/>
              </a:xfrm>
              <a:custGeom>
                <a:avLst/>
                <a:gdLst>
                  <a:gd name="textAreaLeft" fmla="*/ 0 w 171000"/>
                  <a:gd name="textAreaRight" fmla="*/ 171360 w 171000"/>
                  <a:gd name="textAreaTop" fmla="*/ 0 h 9000"/>
                  <a:gd name="textAreaBottom" fmla="*/ 9360 h 9000"/>
                </a:gdLst>
                <a:ahLst/>
                <a:cxnLst/>
                <a:rect l="textAreaLeft" t="textAreaTop" r="textAreaRight" b="textAreaBottom"/>
                <a:pathLst>
                  <a:path w="171450" h="9525">
                    <a:moveTo>
                      <a:pt x="0" y="0"/>
                    </a:moveTo>
                    <a:lnTo>
                      <a:pt x="171450" y="0"/>
                    </a:lnTo>
                  </a:path>
                </a:pathLst>
              </a:custGeom>
              <a:noFill/>
              <a:ln w="28575">
                <a:solidFill>
                  <a:srgbClr val="497D89"/>
                </a:solidFill>
                <a:round/>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
            <p:nvSpPr>
              <p:cNvPr id="398" name="TextBox 24"/>
              <p:cNvSpPr/>
              <p:nvPr/>
            </p:nvSpPr>
            <p:spPr>
              <a:xfrm>
                <a:off x="2526840" y="3701880"/>
                <a:ext cx="55872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微软雅黑"/>
                  </a:rPr>
                  <a:t>Nozzle</a:t>
                </a:r>
                <a:endParaRPr lang="en-US" sz="1200" b="0" u="none" strike="noStrike">
                  <a:solidFill>
                    <a:srgbClr val="000000"/>
                  </a:solidFill>
                  <a:effectLst/>
                  <a:uFillTx/>
                  <a:latin typeface="Arial"/>
                </a:endParaRPr>
              </a:p>
            </p:txBody>
          </p:sp>
          <p:sp>
            <p:nvSpPr>
              <p:cNvPr id="399" name="Line 25"/>
              <p:cNvSpPr/>
              <p:nvPr/>
            </p:nvSpPr>
            <p:spPr>
              <a:xfrm>
                <a:off x="3143160" y="3809880"/>
                <a:ext cx="171000" cy="9000"/>
              </a:xfrm>
              <a:custGeom>
                <a:avLst/>
                <a:gdLst>
                  <a:gd name="textAreaLeft" fmla="*/ 0 w 171000"/>
                  <a:gd name="textAreaRight" fmla="*/ 171360 w 171000"/>
                  <a:gd name="textAreaTop" fmla="*/ 0 h 9000"/>
                  <a:gd name="textAreaBottom" fmla="*/ 9360 h 9000"/>
                </a:gdLst>
                <a:ahLst/>
                <a:cxnLst/>
                <a:rect l="textAreaLeft" t="textAreaTop" r="textAreaRight" b="textAreaBottom"/>
                <a:pathLst>
                  <a:path w="171450" h="9525">
                    <a:moveTo>
                      <a:pt x="0" y="0"/>
                    </a:moveTo>
                    <a:lnTo>
                      <a:pt x="171450" y="0"/>
                    </a:lnTo>
                  </a:path>
                </a:pathLst>
              </a:custGeom>
              <a:noFill/>
              <a:ln w="28575">
                <a:solidFill>
                  <a:srgbClr val="A357B9"/>
                </a:solidFill>
                <a:round/>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
            <p:nvSpPr>
              <p:cNvPr id="400" name="TextBox 26"/>
              <p:cNvSpPr/>
              <p:nvPr/>
            </p:nvSpPr>
            <p:spPr>
              <a:xfrm>
                <a:off x="3364920" y="3701880"/>
                <a:ext cx="37692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微软雅黑"/>
                  </a:rPr>
                  <a:t>Leaf</a:t>
                </a:r>
                <a:endParaRPr lang="en-US" sz="1200" b="0" u="none" strike="noStrike">
                  <a:solidFill>
                    <a:srgbClr val="000000"/>
                  </a:solidFill>
                  <a:effectLst/>
                  <a:uFillTx/>
                  <a:latin typeface="Arial"/>
                </a:endParaRPr>
              </a:p>
            </p:txBody>
          </p:sp>
        </p:grpSp>
        <p:sp>
          <p:nvSpPr>
            <p:cNvPr id="401" name="TextBox 28"/>
            <p:cNvSpPr/>
            <p:nvPr/>
          </p:nvSpPr>
          <p:spPr>
            <a:xfrm>
              <a:off x="621720" y="3892680"/>
              <a:ext cx="273924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微软雅黑"/>
                </a:rPr>
                <a:t>Real sections, equal scale.</a:t>
              </a:r>
              <a:endParaRPr lang="en-US" sz="1200" b="0" u="none" strike="noStrike">
                <a:solidFill>
                  <a:srgbClr val="000000"/>
                </a:solidFill>
                <a:effectLst/>
                <a:uFillTx/>
                <a:latin typeface="Arial"/>
              </a:endParaRPr>
            </a:p>
          </p:txBody>
        </p:sp>
        <p:sp>
          <p:nvSpPr>
            <p:cNvPr id="402" name="TextBox 29"/>
            <p:cNvSpPr/>
            <p:nvPr/>
          </p:nvSpPr>
          <p:spPr>
            <a:xfrm>
              <a:off x="621720" y="4321080"/>
              <a:ext cx="38628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1" u="none" strike="noStrike">
                  <a:solidFill>
                    <a:srgbClr val="66758A"/>
                  </a:solidFill>
                  <a:effectLst/>
                  <a:uFillTx/>
                  <a:latin typeface="Arial"/>
                  <a:ea typeface="微软雅黑"/>
                </a:rPr>
                <a:t>Skill</a:t>
              </a:r>
              <a:endParaRPr lang="en-US" sz="1200" b="0" u="none" strike="noStrike">
                <a:solidFill>
                  <a:srgbClr val="000000"/>
                </a:solidFill>
                <a:effectLst/>
                <a:uFillTx/>
                <a:latin typeface="Arial"/>
              </a:endParaRPr>
            </a:p>
          </p:txBody>
        </p:sp>
        <p:sp>
          <p:nvSpPr>
            <p:cNvPr id="403" name="TextBox 30"/>
            <p:cNvSpPr/>
            <p:nvPr/>
          </p:nvSpPr>
          <p:spPr>
            <a:xfrm>
              <a:off x="1114200" y="4245120"/>
              <a:ext cx="238212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0" u="none" strike="noStrike">
                  <a:solidFill>
                    <a:srgbClr val="24364C"/>
                  </a:solidFill>
                  <a:effectLst/>
                  <a:uFillTx/>
                  <a:latin typeface="Arial"/>
                  <a:ea typeface="微软雅黑"/>
                </a:rPr>
                <a:t>Sections show depths</a:t>
              </a:r>
              <a:endParaRPr lang="en-US" sz="1800" b="0" u="none" strike="noStrike">
                <a:solidFill>
                  <a:srgbClr val="000000"/>
                </a:solidFill>
                <a:effectLst/>
                <a:uFillTx/>
                <a:latin typeface="Arial"/>
              </a:endParaRPr>
            </a:p>
          </p:txBody>
        </p:sp>
        <p:sp>
          <p:nvSpPr>
            <p:cNvPr id="404" name="TextBox 31"/>
            <p:cNvSpPr/>
            <p:nvPr/>
          </p:nvSpPr>
          <p:spPr>
            <a:xfrm>
              <a:off x="621720" y="4759200"/>
              <a:ext cx="37692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1" u="none" strike="noStrike">
                  <a:solidFill>
                    <a:srgbClr val="66758A"/>
                  </a:solidFill>
                  <a:effectLst/>
                  <a:uFillTx/>
                  <a:latin typeface="Arial"/>
                  <a:ea typeface="微软雅黑"/>
                </a:rPr>
                <a:t>Gap</a:t>
              </a:r>
              <a:endParaRPr lang="en-US" sz="1200" b="0" u="none" strike="noStrike">
                <a:solidFill>
                  <a:srgbClr val="000000"/>
                </a:solidFill>
                <a:effectLst/>
                <a:uFillTx/>
                <a:latin typeface="Arial"/>
              </a:endParaRPr>
            </a:p>
          </p:txBody>
        </p:sp>
        <p:sp>
          <p:nvSpPr>
            <p:cNvPr id="405" name="TextBox 32"/>
            <p:cNvSpPr/>
            <p:nvPr/>
          </p:nvSpPr>
          <p:spPr>
            <a:xfrm>
              <a:off x="1114200" y="4683240"/>
              <a:ext cx="264456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0" u="none" strike="noStrike">
                  <a:solidFill>
                    <a:srgbClr val="66758A"/>
                  </a:solidFill>
                  <a:effectLst/>
                  <a:uFillTx/>
                  <a:latin typeface="Arial"/>
                  <a:ea typeface="微软雅黑"/>
                </a:rPr>
                <a:t>Ear names not on model</a:t>
              </a:r>
              <a:endParaRPr lang="en-US" sz="1800" b="0" u="none" strike="noStrike">
                <a:solidFill>
                  <a:srgbClr val="000000"/>
                </a:solidFill>
                <a:effectLst/>
                <a:uFillTx/>
                <a:latin typeface="Arial"/>
              </a:endParaRPr>
            </a:p>
          </p:txBody>
        </p:sp>
        <p:sp>
          <p:nvSpPr>
            <p:cNvPr id="406" name="TextBox 33"/>
            <p:cNvSpPr/>
            <p:nvPr/>
          </p:nvSpPr>
          <p:spPr>
            <a:xfrm>
              <a:off x="621720" y="5197320"/>
              <a:ext cx="40320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1" u="none" strike="noStrike">
                  <a:solidFill>
                    <a:srgbClr val="8B5CF6"/>
                  </a:solidFill>
                  <a:effectLst/>
                  <a:uFillTx/>
                  <a:latin typeface="Arial"/>
                  <a:ea typeface="微软雅黑"/>
                </a:rPr>
                <a:t>Step</a:t>
              </a:r>
              <a:endParaRPr lang="en-US" sz="1200" b="0" u="none" strike="noStrike">
                <a:solidFill>
                  <a:srgbClr val="000000"/>
                </a:solidFill>
                <a:effectLst/>
                <a:uFillTx/>
                <a:latin typeface="Arial"/>
              </a:endParaRPr>
            </a:p>
          </p:txBody>
        </p:sp>
        <p:sp>
          <p:nvSpPr>
            <p:cNvPr id="407" name="TextBox 34"/>
            <p:cNvSpPr/>
            <p:nvPr/>
          </p:nvSpPr>
          <p:spPr>
            <a:xfrm>
              <a:off x="1114200" y="5121360"/>
              <a:ext cx="299520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0" u="none" strike="noStrike">
                  <a:solidFill>
                    <a:srgbClr val="8B5CF6"/>
                  </a:solidFill>
                  <a:effectLst/>
                  <a:uFillTx/>
                  <a:latin typeface="Arial"/>
                  <a:ea typeface="微软雅黑"/>
                </a:rPr>
                <a:t>Map bound to CN/EN names</a:t>
              </a:r>
              <a:endParaRPr lang="en-US" sz="1800" b="0" u="none" strike="noStrike">
                <a:solidFill>
                  <a:srgbClr val="000000"/>
                </a:solidFill>
                <a:effectLst/>
                <a:uFillTx/>
                <a:latin typeface="Arial"/>
              </a:endParaRPr>
            </a:p>
          </p:txBody>
        </p:sp>
        <p:sp>
          <p:nvSpPr>
            <p:cNvPr id="408" name="TextBox 35"/>
            <p:cNvSpPr/>
            <p:nvPr/>
          </p:nvSpPr>
          <p:spPr>
            <a:xfrm>
              <a:off x="621720" y="5635800"/>
              <a:ext cx="41148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1" u="none" strike="noStrike">
                  <a:solidFill>
                    <a:srgbClr val="8B5CF6"/>
                  </a:solidFill>
                  <a:effectLst/>
                  <a:uFillTx/>
                  <a:latin typeface="Arial"/>
                  <a:ea typeface="微软雅黑"/>
                </a:rPr>
                <a:t>Gain</a:t>
              </a:r>
              <a:endParaRPr lang="en-US" sz="1200" b="0" u="none" strike="noStrike">
                <a:solidFill>
                  <a:srgbClr val="000000"/>
                </a:solidFill>
                <a:effectLst/>
                <a:uFillTx/>
                <a:latin typeface="Arial"/>
              </a:endParaRPr>
            </a:p>
          </p:txBody>
        </p:sp>
        <p:sp>
          <p:nvSpPr>
            <p:cNvPr id="409" name="TextBox 36"/>
            <p:cNvSpPr/>
            <p:nvPr/>
          </p:nvSpPr>
          <p:spPr>
            <a:xfrm>
              <a:off x="1114200" y="5559480"/>
              <a:ext cx="276588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1" u="none" strike="noStrike">
                  <a:solidFill>
                    <a:srgbClr val="8B5CF6"/>
                  </a:solidFill>
                  <a:effectLst/>
                  <a:uFillTx/>
                  <a:latin typeface="Arial"/>
                  <a:ea typeface="微软雅黑"/>
                </a:rPr>
                <a:t>Feedback on ear regions</a:t>
              </a:r>
              <a:endParaRPr lang="en-US" sz="1800" b="0" u="none" strike="noStrike">
                <a:solidFill>
                  <a:srgbClr val="000000"/>
                </a:solidFill>
                <a:effectLst/>
                <a:uFillTx/>
                <a:latin typeface="Arial"/>
              </a:endParaRPr>
            </a:p>
          </p:txBody>
        </p:sp>
      </p:grpSp>
      <p:grpSp>
        <p:nvGrpSpPr>
          <p:cNvPr id="410" name="stage-five"/>
          <p:cNvGrpSpPr/>
          <p:nvPr/>
        </p:nvGrpSpPr>
        <p:grpSpPr>
          <a:xfrm>
            <a:off x="4324320" y="1711440"/>
            <a:ext cx="3441240" cy="4228920"/>
            <a:chOff x="4324320" y="1711440"/>
            <a:chExt cx="3441240" cy="4228920"/>
          </a:xfrm>
        </p:grpSpPr>
        <p:sp>
          <p:nvSpPr>
            <p:cNvPr id="411" name="Rectangle 40"/>
            <p:cNvSpPr/>
            <p:nvPr/>
          </p:nvSpPr>
          <p:spPr>
            <a:xfrm>
              <a:off x="4324320" y="1714680"/>
              <a:ext cx="56880" cy="294840"/>
            </a:xfrm>
            <a:prstGeom prst="rect">
              <a:avLst/>
            </a:prstGeom>
            <a:solidFill>
              <a:srgbClr val="8B5CF6"/>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412" name="TextBox 41"/>
            <p:cNvSpPr/>
            <p:nvPr/>
          </p:nvSpPr>
          <p:spPr>
            <a:xfrm>
              <a:off x="4476240" y="1711440"/>
              <a:ext cx="260064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1" u="none" strike="noStrike">
                  <a:solidFill>
                    <a:srgbClr val="13243A"/>
                  </a:solidFill>
                  <a:effectLst/>
                  <a:uFillTx/>
                  <a:latin typeface="Arial"/>
                  <a:ea typeface="微软雅黑"/>
                </a:rPr>
                <a:t>5 Ear-region placement</a:t>
              </a:r>
              <a:endParaRPr lang="en-US" sz="1800" b="0" u="none" strike="noStrike">
                <a:solidFill>
                  <a:srgbClr val="000000"/>
                </a:solidFill>
                <a:effectLst/>
                <a:uFillTx/>
                <a:latin typeface="Arial"/>
              </a:endParaRPr>
            </a:p>
          </p:txBody>
        </p:sp>
        <p:pic>
          <p:nvPicPr>
            <p:cNvPr id="413" name="Image 42"/>
            <p:cNvPicPr/>
            <p:nvPr/>
          </p:nvPicPr>
          <p:blipFill>
            <a:blip r:embed="rId1"/>
            <a:srcRect l="0" t="9003" r="39685" b="0"/>
            <a:stretch/>
          </p:blipFill>
          <p:spPr>
            <a:xfrm>
              <a:off x="4429080" y="2238480"/>
              <a:ext cx="1599840" cy="1599480"/>
            </a:xfrm>
            <a:prstGeom prst="rect">
              <a:avLst/>
            </a:prstGeom>
            <a:noFill/>
            <a:ln w="0">
              <a:noFill/>
            </a:ln>
          </p:spPr>
        </p:pic>
        <p:sp>
          <p:nvSpPr>
            <p:cNvPr id="414" name="TextBox 43"/>
            <p:cNvSpPr/>
            <p:nvPr/>
          </p:nvSpPr>
          <p:spPr>
            <a:xfrm>
              <a:off x="6202080" y="2273400"/>
              <a:ext cx="156348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1" u="none" strike="noStrike">
                  <a:solidFill>
                    <a:srgbClr val="8B5CF6"/>
                  </a:solidFill>
                  <a:effectLst/>
                  <a:uFillTx/>
                  <a:latin typeface="Arial"/>
                  <a:ea typeface="微软雅黑"/>
                </a:rPr>
                <a:t>Cymba concha</a:t>
              </a:r>
              <a:endParaRPr lang="en-US" sz="1650" b="0" u="none" strike="noStrike">
                <a:solidFill>
                  <a:srgbClr val="000000"/>
                </a:solidFill>
                <a:effectLst/>
                <a:uFillTx/>
                <a:latin typeface="Arial"/>
              </a:endParaRPr>
            </a:p>
          </p:txBody>
        </p:sp>
        <p:sp>
          <p:nvSpPr>
            <p:cNvPr id="415" name="TextBox 44"/>
            <p:cNvSpPr/>
            <p:nvPr/>
          </p:nvSpPr>
          <p:spPr>
            <a:xfrm>
              <a:off x="6204240" y="2543040"/>
              <a:ext cx="1094760" cy="2343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Arial"/>
                </a:rPr>
                <a:t>upper concha</a:t>
              </a:r>
              <a:endParaRPr lang="en-US" sz="1200" b="0" u="none" strike="noStrike">
                <a:solidFill>
                  <a:srgbClr val="000000"/>
                </a:solidFill>
                <a:effectLst/>
                <a:uFillTx/>
                <a:latin typeface="Arial"/>
              </a:endParaRPr>
            </a:p>
          </p:txBody>
        </p:sp>
        <p:sp>
          <p:nvSpPr>
            <p:cNvPr id="416" name="TextBox 45"/>
            <p:cNvSpPr/>
            <p:nvPr/>
          </p:nvSpPr>
          <p:spPr>
            <a:xfrm>
              <a:off x="6202080" y="2825640"/>
              <a:ext cx="134208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1" u="none" strike="noStrike">
                  <a:solidFill>
                    <a:srgbClr val="8B5CF6"/>
                  </a:solidFill>
                  <a:effectLst/>
                  <a:uFillTx/>
                  <a:latin typeface="Arial"/>
                  <a:ea typeface="微软雅黑"/>
                </a:rPr>
                <a:t>Crus of helix</a:t>
              </a:r>
              <a:endParaRPr lang="en-US" sz="1650" b="0" u="none" strike="noStrike">
                <a:solidFill>
                  <a:srgbClr val="000000"/>
                </a:solidFill>
                <a:effectLst/>
                <a:uFillTx/>
                <a:latin typeface="Arial"/>
              </a:endParaRPr>
            </a:p>
          </p:txBody>
        </p:sp>
        <p:sp>
          <p:nvSpPr>
            <p:cNvPr id="417" name="TextBox 46"/>
            <p:cNvSpPr/>
            <p:nvPr/>
          </p:nvSpPr>
          <p:spPr>
            <a:xfrm>
              <a:off x="6204240" y="3095640"/>
              <a:ext cx="914400" cy="2343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Arial"/>
                </a:rPr>
                <a:t>helix root</a:t>
              </a:r>
              <a:endParaRPr lang="en-US" sz="1200" b="0" u="none" strike="noStrike">
                <a:solidFill>
                  <a:srgbClr val="000000"/>
                </a:solidFill>
                <a:effectLst/>
                <a:uFillTx/>
                <a:latin typeface="Arial"/>
              </a:endParaRPr>
            </a:p>
          </p:txBody>
        </p:sp>
        <p:sp>
          <p:nvSpPr>
            <p:cNvPr id="418" name="TextBox 47"/>
            <p:cNvSpPr/>
            <p:nvPr/>
          </p:nvSpPr>
          <p:spPr>
            <a:xfrm>
              <a:off x="6202080" y="3378240"/>
              <a:ext cx="156348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1" u="none" strike="noStrike">
                  <a:solidFill>
                    <a:srgbClr val="8B5CF6"/>
                  </a:solidFill>
                  <a:effectLst/>
                  <a:uFillTx/>
                  <a:latin typeface="Arial"/>
                  <a:ea typeface="微软雅黑"/>
                </a:rPr>
                <a:t>Cavum concha</a:t>
              </a:r>
              <a:endParaRPr lang="en-US" sz="1650" b="0" u="none" strike="noStrike">
                <a:solidFill>
                  <a:srgbClr val="000000"/>
                </a:solidFill>
                <a:effectLst/>
                <a:uFillTx/>
                <a:latin typeface="Arial"/>
              </a:endParaRPr>
            </a:p>
          </p:txBody>
        </p:sp>
        <p:sp>
          <p:nvSpPr>
            <p:cNvPr id="419" name="TextBox 48"/>
            <p:cNvSpPr/>
            <p:nvPr/>
          </p:nvSpPr>
          <p:spPr>
            <a:xfrm>
              <a:off x="6204240" y="3648240"/>
              <a:ext cx="1094760" cy="2343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Arial"/>
                </a:rPr>
                <a:t>lower concha</a:t>
              </a:r>
              <a:endParaRPr lang="en-US" sz="1200" b="0" u="none" strike="noStrike">
                <a:solidFill>
                  <a:srgbClr val="000000"/>
                </a:solidFill>
                <a:effectLst/>
                <a:uFillTx/>
                <a:latin typeface="Arial"/>
              </a:endParaRPr>
            </a:p>
          </p:txBody>
        </p:sp>
        <p:sp>
          <p:nvSpPr>
            <p:cNvPr id="420" name="TextBox 49"/>
            <p:cNvSpPr/>
            <p:nvPr/>
          </p:nvSpPr>
          <p:spPr>
            <a:xfrm>
              <a:off x="4450680" y="3892680"/>
              <a:ext cx="297792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微软雅黑"/>
                </a:rPr>
                <a:t>Names, map, and real source faces match.</a:t>
              </a:r>
              <a:endParaRPr lang="en-US" sz="1200" b="0" u="none" strike="noStrike">
                <a:solidFill>
                  <a:srgbClr val="000000"/>
                </a:solidFill>
                <a:effectLst/>
                <a:uFillTx/>
                <a:latin typeface="Arial"/>
              </a:endParaRPr>
            </a:p>
          </p:txBody>
        </p:sp>
        <p:sp>
          <p:nvSpPr>
            <p:cNvPr id="421" name="TextBox 50"/>
            <p:cNvSpPr/>
            <p:nvPr/>
          </p:nvSpPr>
          <p:spPr>
            <a:xfrm>
              <a:off x="4450680" y="4321080"/>
              <a:ext cx="38628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1" u="none" strike="noStrike">
                  <a:solidFill>
                    <a:srgbClr val="66758A"/>
                  </a:solidFill>
                  <a:effectLst/>
                  <a:uFillTx/>
                  <a:latin typeface="Arial"/>
                  <a:ea typeface="微软雅黑"/>
                </a:rPr>
                <a:t>Skill</a:t>
              </a:r>
              <a:endParaRPr lang="en-US" sz="1200" b="0" u="none" strike="noStrike">
                <a:solidFill>
                  <a:srgbClr val="000000"/>
                </a:solidFill>
                <a:effectLst/>
                <a:uFillTx/>
                <a:latin typeface="Arial"/>
              </a:endParaRPr>
            </a:p>
          </p:txBody>
        </p:sp>
        <p:sp>
          <p:nvSpPr>
            <p:cNvPr id="422" name="TextBox 51"/>
            <p:cNvSpPr/>
            <p:nvPr/>
          </p:nvSpPr>
          <p:spPr>
            <a:xfrm>
              <a:off x="4943160" y="4245120"/>
              <a:ext cx="251244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0" u="none" strike="noStrike">
                  <a:solidFill>
                    <a:srgbClr val="24364C"/>
                  </a:solidFill>
                  <a:effectLst/>
                  <a:uFillTx/>
                  <a:latin typeface="Arial"/>
                  <a:ea typeface="微软雅黑"/>
                </a:rPr>
                <a:t>10 regions map to faces</a:t>
              </a:r>
              <a:endParaRPr lang="en-US" sz="1800" b="0" u="none" strike="noStrike">
                <a:solidFill>
                  <a:srgbClr val="000000"/>
                </a:solidFill>
                <a:effectLst/>
                <a:uFillTx/>
                <a:latin typeface="Arial"/>
              </a:endParaRPr>
            </a:p>
          </p:txBody>
        </p:sp>
        <p:sp>
          <p:nvSpPr>
            <p:cNvPr id="423" name="TextBox 52"/>
            <p:cNvSpPr/>
            <p:nvPr/>
          </p:nvSpPr>
          <p:spPr>
            <a:xfrm>
              <a:off x="4450680" y="4759200"/>
              <a:ext cx="37692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1" u="none" strike="noStrike">
                  <a:solidFill>
                    <a:srgbClr val="66758A"/>
                  </a:solidFill>
                  <a:effectLst/>
                  <a:uFillTx/>
                  <a:latin typeface="Arial"/>
                  <a:ea typeface="微软雅黑"/>
                </a:rPr>
                <a:t>Gap</a:t>
              </a:r>
              <a:endParaRPr lang="en-US" sz="1200" b="0" u="none" strike="noStrike">
                <a:solidFill>
                  <a:srgbClr val="000000"/>
                </a:solidFill>
                <a:effectLst/>
                <a:uFillTx/>
                <a:latin typeface="Arial"/>
              </a:endParaRPr>
            </a:p>
          </p:txBody>
        </p:sp>
        <p:sp>
          <p:nvSpPr>
            <p:cNvPr id="424" name="TextBox 53"/>
            <p:cNvSpPr/>
            <p:nvPr/>
          </p:nvSpPr>
          <p:spPr>
            <a:xfrm>
              <a:off x="4943160" y="4683240"/>
              <a:ext cx="264456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0" u="none" strike="noStrike">
                  <a:solidFill>
                    <a:srgbClr val="66758A"/>
                  </a:solidFill>
                  <a:effectLst/>
                  <a:uFillTx/>
                  <a:latin typeface="Arial"/>
                  <a:ea typeface="微软雅黑"/>
                </a:rPr>
                <a:t>Local fixes hid bad pose</a:t>
              </a:r>
              <a:endParaRPr lang="en-US" sz="1800" b="0" u="none" strike="noStrike">
                <a:solidFill>
                  <a:srgbClr val="000000"/>
                </a:solidFill>
                <a:effectLst/>
                <a:uFillTx/>
                <a:latin typeface="Arial"/>
              </a:endParaRPr>
            </a:p>
          </p:txBody>
        </p:sp>
        <p:sp>
          <p:nvSpPr>
            <p:cNvPr id="425" name="TextBox 54"/>
            <p:cNvSpPr/>
            <p:nvPr/>
          </p:nvSpPr>
          <p:spPr>
            <a:xfrm>
              <a:off x="4450680" y="5197320"/>
              <a:ext cx="40320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1" u="none" strike="noStrike">
                  <a:solidFill>
                    <a:srgbClr val="069B8A"/>
                  </a:solidFill>
                  <a:effectLst/>
                  <a:uFillTx/>
                  <a:latin typeface="Arial"/>
                  <a:ea typeface="微软雅黑"/>
                </a:rPr>
                <a:t>Step</a:t>
              </a:r>
              <a:endParaRPr lang="en-US" sz="1200" b="0" u="none" strike="noStrike">
                <a:solidFill>
                  <a:srgbClr val="000000"/>
                </a:solidFill>
                <a:effectLst/>
                <a:uFillTx/>
                <a:latin typeface="Arial"/>
              </a:endParaRPr>
            </a:p>
          </p:txBody>
        </p:sp>
        <p:sp>
          <p:nvSpPr>
            <p:cNvPr id="426" name="TextBox 55"/>
            <p:cNvSpPr/>
            <p:nvPr/>
          </p:nvSpPr>
          <p:spPr>
            <a:xfrm>
              <a:off x="4943160" y="5121360"/>
              <a:ext cx="264456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0" u="none" strike="noStrike">
                  <a:solidFill>
                    <a:srgbClr val="069B8A"/>
                  </a:solidFill>
                  <a:effectLst/>
                  <a:uFillTx/>
                  <a:latin typeface="Arial"/>
                  <a:ea typeface="微软雅黑"/>
                </a:rPr>
                <a:t>Align ears, move as unit</a:t>
              </a:r>
              <a:endParaRPr lang="en-US" sz="1800" b="0" u="none" strike="noStrike">
                <a:solidFill>
                  <a:srgbClr val="000000"/>
                </a:solidFill>
                <a:effectLst/>
                <a:uFillTx/>
                <a:latin typeface="Arial"/>
              </a:endParaRPr>
            </a:p>
          </p:txBody>
        </p:sp>
        <p:sp>
          <p:nvSpPr>
            <p:cNvPr id="427" name="TextBox 56"/>
            <p:cNvSpPr/>
            <p:nvPr/>
          </p:nvSpPr>
          <p:spPr>
            <a:xfrm>
              <a:off x="4450680" y="5635800"/>
              <a:ext cx="41148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1" u="none" strike="noStrike">
                  <a:solidFill>
                    <a:srgbClr val="069B8A"/>
                  </a:solidFill>
                  <a:effectLst/>
                  <a:uFillTx/>
                  <a:latin typeface="Arial"/>
                  <a:ea typeface="微软雅黑"/>
                </a:rPr>
                <a:t>Gain</a:t>
              </a:r>
              <a:endParaRPr lang="en-US" sz="1200" b="0" u="none" strike="noStrike">
                <a:solidFill>
                  <a:srgbClr val="000000"/>
                </a:solidFill>
                <a:effectLst/>
                <a:uFillTx/>
                <a:latin typeface="Arial"/>
              </a:endParaRPr>
            </a:p>
          </p:txBody>
        </p:sp>
        <p:sp>
          <p:nvSpPr>
            <p:cNvPr id="428" name="TextBox 57"/>
            <p:cNvSpPr/>
            <p:nvPr/>
          </p:nvSpPr>
          <p:spPr>
            <a:xfrm>
              <a:off x="4943160" y="5559480"/>
              <a:ext cx="244764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1" u="none" strike="noStrike">
                  <a:solidFill>
                    <a:srgbClr val="069B8A"/>
                  </a:solidFill>
                  <a:effectLst/>
                  <a:uFillTx/>
                  <a:latin typeface="Arial"/>
                  <a:ea typeface="微软雅黑"/>
                </a:rPr>
                <a:t>Fit targets guide pose</a:t>
              </a:r>
              <a:endParaRPr lang="en-US" sz="1800" b="0" u="none" strike="noStrike">
                <a:solidFill>
                  <a:srgbClr val="000000"/>
                </a:solidFill>
                <a:effectLst/>
                <a:uFillTx/>
                <a:latin typeface="Arial"/>
              </a:endParaRPr>
            </a:p>
          </p:txBody>
        </p:sp>
      </p:grpSp>
      <p:grpSp>
        <p:nvGrpSpPr>
          <p:cNvPr id="429" name="stage-six"/>
          <p:cNvGrpSpPr/>
          <p:nvPr/>
        </p:nvGrpSpPr>
        <p:grpSpPr>
          <a:xfrm>
            <a:off x="8153280" y="1711440"/>
            <a:ext cx="3323880" cy="4228920"/>
            <a:chOff x="8153280" y="1711440"/>
            <a:chExt cx="3323880" cy="4228920"/>
          </a:xfrm>
        </p:grpSpPr>
        <p:sp>
          <p:nvSpPr>
            <p:cNvPr id="430" name="Rectangle 59"/>
            <p:cNvSpPr/>
            <p:nvPr/>
          </p:nvSpPr>
          <p:spPr>
            <a:xfrm>
              <a:off x="8153280" y="1714680"/>
              <a:ext cx="56880" cy="294840"/>
            </a:xfrm>
            <a:prstGeom prst="rect">
              <a:avLst/>
            </a:prstGeom>
            <a:solidFill>
              <a:srgbClr val="069B8A"/>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431" name="TextBox 60"/>
            <p:cNvSpPr/>
            <p:nvPr/>
          </p:nvSpPr>
          <p:spPr>
            <a:xfrm>
              <a:off x="8305560" y="1711440"/>
              <a:ext cx="263916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1" u="none" strike="noStrike">
                  <a:solidFill>
                    <a:srgbClr val="13243A"/>
                  </a:solidFill>
                  <a:effectLst/>
                  <a:uFillTx/>
                  <a:latin typeface="Arial"/>
                  <a:ea typeface="微软雅黑"/>
                </a:rPr>
                <a:t>6 Joint wear and review</a:t>
              </a:r>
              <a:endParaRPr lang="en-US" sz="1800" b="0" u="none" strike="noStrike">
                <a:solidFill>
                  <a:srgbClr val="000000"/>
                </a:solidFill>
                <a:effectLst/>
                <a:uFillTx/>
                <a:latin typeface="Arial"/>
              </a:endParaRPr>
            </a:p>
          </p:txBody>
        </p:sp>
        <p:sp>
          <p:nvSpPr>
            <p:cNvPr id="432" name="TextBox 61"/>
            <p:cNvSpPr/>
            <p:nvPr/>
          </p:nvSpPr>
          <p:spPr>
            <a:xfrm>
              <a:off x="8213040" y="2168640"/>
              <a:ext cx="55872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微软雅黑"/>
                </a:rPr>
                <a:t>Before</a:t>
              </a:r>
              <a:endParaRPr lang="en-US" sz="1200" b="0" u="none" strike="noStrike">
                <a:solidFill>
                  <a:srgbClr val="000000"/>
                </a:solidFill>
                <a:effectLst/>
                <a:uFillTx/>
                <a:latin typeface="Arial"/>
              </a:endParaRPr>
            </a:p>
          </p:txBody>
        </p:sp>
        <p:sp>
          <p:nvSpPr>
            <p:cNvPr id="433" name="TextBox 62"/>
            <p:cNvSpPr/>
            <p:nvPr/>
          </p:nvSpPr>
          <p:spPr>
            <a:xfrm>
              <a:off x="9946800" y="2168640"/>
              <a:ext cx="92196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微软雅黑"/>
                </a:rPr>
                <a:t>After</a:t>
              </a:r>
              <a:endParaRPr lang="en-US" sz="1200" b="0" u="none" strike="noStrike">
                <a:solidFill>
                  <a:srgbClr val="000000"/>
                </a:solidFill>
                <a:effectLst/>
                <a:uFillTx/>
                <a:latin typeface="Arial"/>
              </a:endParaRPr>
            </a:p>
          </p:txBody>
        </p:sp>
        <p:pic>
          <p:nvPicPr>
            <p:cNvPr id="434" name="Image 63"/>
            <p:cNvPicPr/>
            <p:nvPr/>
          </p:nvPicPr>
          <p:blipFill>
            <a:blip r:embed="rId2"/>
            <a:stretch/>
          </p:blipFill>
          <p:spPr>
            <a:xfrm>
              <a:off x="8267760" y="2381400"/>
              <a:ext cx="1476000" cy="1476000"/>
            </a:xfrm>
            <a:prstGeom prst="rect">
              <a:avLst/>
            </a:prstGeom>
            <a:noFill/>
            <a:ln w="0">
              <a:noFill/>
            </a:ln>
          </p:spPr>
        </p:pic>
        <p:pic>
          <p:nvPicPr>
            <p:cNvPr id="435" name="Image 64"/>
            <p:cNvPicPr/>
            <p:nvPr/>
          </p:nvPicPr>
          <p:blipFill>
            <a:blip r:embed="rId3"/>
            <a:stretch/>
          </p:blipFill>
          <p:spPr>
            <a:xfrm>
              <a:off x="10001160" y="2381400"/>
              <a:ext cx="1476000" cy="1476000"/>
            </a:xfrm>
            <a:prstGeom prst="rect">
              <a:avLst/>
            </a:prstGeom>
            <a:noFill/>
            <a:ln w="0">
              <a:noFill/>
            </a:ln>
          </p:spPr>
        </p:pic>
        <p:sp>
          <p:nvSpPr>
            <p:cNvPr id="436" name="TextBox 65"/>
            <p:cNvSpPr/>
            <p:nvPr/>
          </p:nvSpPr>
          <p:spPr>
            <a:xfrm>
              <a:off x="8280000" y="3892680"/>
              <a:ext cx="254592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微软雅黑"/>
                </a:rPr>
                <a:t>Real saved state, same-camera A/B.</a:t>
              </a:r>
              <a:endParaRPr lang="en-US" sz="1200" b="0" u="none" strike="noStrike">
                <a:solidFill>
                  <a:srgbClr val="000000"/>
                </a:solidFill>
                <a:effectLst/>
                <a:uFillTx/>
                <a:latin typeface="Arial"/>
              </a:endParaRPr>
            </a:p>
          </p:txBody>
        </p:sp>
        <p:sp>
          <p:nvSpPr>
            <p:cNvPr id="437" name="TextBox 66"/>
            <p:cNvSpPr/>
            <p:nvPr/>
          </p:nvSpPr>
          <p:spPr>
            <a:xfrm>
              <a:off x="8280000" y="4321080"/>
              <a:ext cx="38628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1" u="none" strike="noStrike">
                  <a:solidFill>
                    <a:srgbClr val="66758A"/>
                  </a:solidFill>
                  <a:effectLst/>
                  <a:uFillTx/>
                  <a:latin typeface="Arial"/>
                  <a:ea typeface="微软雅黑"/>
                </a:rPr>
                <a:t>Skill</a:t>
              </a:r>
              <a:endParaRPr lang="en-US" sz="1200" b="0" u="none" strike="noStrike">
                <a:solidFill>
                  <a:srgbClr val="000000"/>
                </a:solidFill>
                <a:effectLst/>
                <a:uFillTx/>
                <a:latin typeface="Arial"/>
              </a:endParaRPr>
            </a:p>
          </p:txBody>
        </p:sp>
        <p:sp>
          <p:nvSpPr>
            <p:cNvPr id="438" name="TextBox 67"/>
            <p:cNvSpPr/>
            <p:nvPr/>
          </p:nvSpPr>
          <p:spPr>
            <a:xfrm>
              <a:off x="8772120" y="4245120"/>
              <a:ext cx="266436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0" u="none" strike="noStrike">
                  <a:solidFill>
                    <a:srgbClr val="24364C"/>
                  </a:solidFill>
                  <a:effectLst/>
                  <a:uFillTx/>
                  <a:latin typeface="Arial"/>
                  <a:ea typeface="微软雅黑"/>
                </a:rPr>
                <a:t>Direction partly confirmed</a:t>
              </a:r>
              <a:endParaRPr lang="en-US" sz="1800" b="0" u="none" strike="noStrike">
                <a:solidFill>
                  <a:srgbClr val="000000"/>
                </a:solidFill>
                <a:effectLst/>
                <a:uFillTx/>
                <a:latin typeface="Arial"/>
              </a:endParaRPr>
            </a:p>
          </p:txBody>
        </p:sp>
        <p:sp>
          <p:nvSpPr>
            <p:cNvPr id="439" name="TextBox 68"/>
            <p:cNvSpPr/>
            <p:nvPr/>
          </p:nvSpPr>
          <p:spPr>
            <a:xfrm>
              <a:off x="8280000" y="4759200"/>
              <a:ext cx="37692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1" u="none" strike="noStrike">
                  <a:solidFill>
                    <a:srgbClr val="66758A"/>
                  </a:solidFill>
                  <a:effectLst/>
                  <a:uFillTx/>
                  <a:latin typeface="Arial"/>
                  <a:ea typeface="微软雅黑"/>
                </a:rPr>
                <a:t>Gap</a:t>
              </a:r>
              <a:endParaRPr lang="en-US" sz="1200" b="0" u="none" strike="noStrike">
                <a:solidFill>
                  <a:srgbClr val="000000"/>
                </a:solidFill>
                <a:effectLst/>
                <a:uFillTx/>
                <a:latin typeface="Arial"/>
              </a:endParaRPr>
            </a:p>
          </p:txBody>
        </p:sp>
        <p:sp>
          <p:nvSpPr>
            <p:cNvPr id="440" name="TextBox 69"/>
            <p:cNvSpPr/>
            <p:nvPr/>
          </p:nvSpPr>
          <p:spPr>
            <a:xfrm>
              <a:off x="8772120" y="4683240"/>
              <a:ext cx="264456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0" u="none" strike="noStrike">
                  <a:solidFill>
                    <a:srgbClr val="66758A"/>
                  </a:solidFill>
                  <a:effectLst/>
                  <a:uFillTx/>
                  <a:latin typeface="Arial"/>
                  <a:ea typeface="微软雅黑"/>
                </a:rPr>
                <a:t>Joint and wear untested</a:t>
              </a:r>
              <a:endParaRPr lang="en-US" sz="1800" b="0" u="none" strike="noStrike">
                <a:solidFill>
                  <a:srgbClr val="000000"/>
                </a:solidFill>
                <a:effectLst/>
                <a:uFillTx/>
                <a:latin typeface="Arial"/>
              </a:endParaRPr>
            </a:p>
          </p:txBody>
        </p:sp>
        <p:sp>
          <p:nvSpPr>
            <p:cNvPr id="441" name="TextBox 70"/>
            <p:cNvSpPr/>
            <p:nvPr/>
          </p:nvSpPr>
          <p:spPr>
            <a:xfrm>
              <a:off x="8280000" y="5197320"/>
              <a:ext cx="40320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1" u="none" strike="noStrike">
                  <a:solidFill>
                    <a:srgbClr val="069B8A"/>
                  </a:solidFill>
                  <a:effectLst/>
                  <a:uFillTx/>
                  <a:latin typeface="Arial"/>
                  <a:ea typeface="微软雅黑"/>
                </a:rPr>
                <a:t>Step</a:t>
              </a:r>
              <a:endParaRPr lang="en-US" sz="1200" b="0" u="none" strike="noStrike">
                <a:solidFill>
                  <a:srgbClr val="000000"/>
                </a:solidFill>
                <a:effectLst/>
                <a:uFillTx/>
                <a:latin typeface="Arial"/>
              </a:endParaRPr>
            </a:p>
          </p:txBody>
        </p:sp>
        <p:sp>
          <p:nvSpPr>
            <p:cNvPr id="442" name="TextBox 71"/>
            <p:cNvSpPr/>
            <p:nvPr/>
          </p:nvSpPr>
          <p:spPr>
            <a:xfrm>
              <a:off x="8772120" y="5121360"/>
              <a:ext cx="256644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0" u="none" strike="noStrike">
                  <a:solidFill>
                    <a:srgbClr val="069B8A"/>
                  </a:solidFill>
                  <a:effectLst/>
                  <a:uFillTx/>
                  <a:latin typeface="Arial"/>
                  <a:ea typeface="微软雅黑"/>
                </a:rPr>
                <a:t>Review, A/B, write-back</a:t>
              </a:r>
              <a:endParaRPr lang="en-US" sz="1800" b="0" u="none" strike="noStrike">
                <a:solidFill>
                  <a:srgbClr val="000000"/>
                </a:solidFill>
                <a:effectLst/>
                <a:uFillTx/>
                <a:latin typeface="Arial"/>
              </a:endParaRPr>
            </a:p>
          </p:txBody>
        </p:sp>
        <p:sp>
          <p:nvSpPr>
            <p:cNvPr id="443" name="TextBox 72"/>
            <p:cNvSpPr/>
            <p:nvPr/>
          </p:nvSpPr>
          <p:spPr>
            <a:xfrm>
              <a:off x="8280000" y="5635800"/>
              <a:ext cx="41148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1" u="none" strike="noStrike">
                  <a:solidFill>
                    <a:srgbClr val="069B8A"/>
                  </a:solidFill>
                  <a:effectLst/>
                  <a:uFillTx/>
                  <a:latin typeface="Arial"/>
                  <a:ea typeface="微软雅黑"/>
                </a:rPr>
                <a:t>Gain</a:t>
              </a:r>
              <a:endParaRPr lang="en-US" sz="1200" b="0" u="none" strike="noStrike">
                <a:solidFill>
                  <a:srgbClr val="000000"/>
                </a:solidFill>
                <a:effectLst/>
                <a:uFillTx/>
                <a:latin typeface="Arial"/>
              </a:endParaRPr>
            </a:p>
          </p:txBody>
        </p:sp>
        <p:sp>
          <p:nvSpPr>
            <p:cNvPr id="444" name="TextBox 73"/>
            <p:cNvSpPr/>
            <p:nvPr/>
          </p:nvSpPr>
          <p:spPr>
            <a:xfrm>
              <a:off x="8772120" y="5559480"/>
              <a:ext cx="264456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1" u="none" strike="noStrike">
                  <a:solidFill>
                    <a:srgbClr val="069B8A"/>
                  </a:solidFill>
                  <a:effectLst/>
                  <a:uFillTx/>
                  <a:latin typeface="Arial"/>
                  <a:ea typeface="微软雅黑"/>
                </a:rPr>
                <a:t>Traceable, gaps logged</a:t>
              </a:r>
              <a:endParaRPr lang="en-US" sz="1800" b="0" u="none" strike="noStrike">
                <a:solidFill>
                  <a:srgbClr val="000000"/>
                </a:solidFill>
                <a:effectLst/>
                <a:uFillTx/>
                <a:latin typeface="Arial"/>
              </a:endParaRPr>
            </a:p>
          </p:txBody>
        </p:sp>
      </p:gr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445" name="header"/>
          <p:cNvGrpSpPr/>
          <p:nvPr/>
        </p:nvGrpSpPr>
        <p:grpSpPr>
          <a:xfrm>
            <a:off x="478440" y="422280"/>
            <a:ext cx="9170280" cy="973080"/>
            <a:chOff x="478440" y="422280"/>
            <a:chExt cx="9170280" cy="973080"/>
          </a:xfrm>
        </p:grpSpPr>
        <p:sp>
          <p:nvSpPr>
            <p:cNvPr id="446" name="TextBox 2"/>
            <p:cNvSpPr/>
            <p:nvPr/>
          </p:nvSpPr>
          <p:spPr>
            <a:xfrm>
              <a:off x="478440" y="422280"/>
              <a:ext cx="7633440" cy="6451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3300" b="1" u="none" strike="noStrike">
                  <a:solidFill>
                    <a:schemeClr val="accent1"/>
                  </a:solidFill>
                  <a:effectLst/>
                  <a:uFillTx/>
                  <a:latin typeface="Arial"/>
                  <a:ea typeface="Microsoft YaHei"/>
                </a:rPr>
                <a:t>Recording and Reusing Task Lessons</a:t>
              </a:r>
              <a:endParaRPr lang="en-US" sz="3300" b="0" u="none" strike="noStrike">
                <a:solidFill>
                  <a:srgbClr val="000000"/>
                </a:solidFill>
                <a:effectLst/>
                <a:uFillTx/>
                <a:latin typeface="Arial"/>
              </a:endParaRPr>
            </a:p>
          </p:txBody>
        </p:sp>
        <p:sp>
          <p:nvSpPr>
            <p:cNvPr id="447" name="TextBox 3"/>
            <p:cNvSpPr/>
            <p:nvPr/>
          </p:nvSpPr>
          <p:spPr>
            <a:xfrm>
              <a:off x="487080" y="1073160"/>
              <a:ext cx="916164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rgbClr val="66758A"/>
                  </a:solidFill>
                  <a:effectLst/>
                  <a:uFillTx/>
                  <a:latin typeface="Arial"/>
                  <a:ea typeface="Microsoft YaHei"/>
                </a:rPr>
                <a:t>At task close, update the workflow, memory, and entry points, then run regression tests for known errors.</a:t>
              </a:r>
              <a:endParaRPr lang="en-US" sz="1550" b="0" u="none" strike="noStrike">
                <a:solidFill>
                  <a:srgbClr val="000000"/>
                </a:solidFill>
                <a:effectLst/>
                <a:uFillTx/>
                <a:latin typeface="Arial"/>
              </a:endParaRPr>
            </a:p>
          </p:txBody>
        </p:sp>
      </p:grpSp>
      <p:grpSp>
        <p:nvGrpSpPr>
          <p:cNvPr id="448" name="experience-consumer-map"/>
          <p:cNvGrpSpPr/>
          <p:nvPr/>
        </p:nvGrpSpPr>
        <p:grpSpPr>
          <a:xfrm>
            <a:off x="485280" y="1806480"/>
            <a:ext cx="11261160" cy="2590920"/>
            <a:chOff x="485280" y="1806480"/>
            <a:chExt cx="11261160" cy="2590920"/>
          </a:xfrm>
        </p:grpSpPr>
        <p:sp>
          <p:nvSpPr>
            <p:cNvPr id="449" name="TextBox 5"/>
            <p:cNvSpPr/>
            <p:nvPr/>
          </p:nvSpPr>
          <p:spPr>
            <a:xfrm>
              <a:off x="487080" y="1806480"/>
              <a:ext cx="152784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1" u="none" strike="noStrike">
                  <a:solidFill>
                    <a:srgbClr val="66758A"/>
                  </a:solidFill>
                  <a:effectLst/>
                  <a:uFillTx/>
                  <a:latin typeface="Arial"/>
                  <a:ea typeface="Microsoft YaHei"/>
                </a:rPr>
                <a:t>Problem record</a:t>
              </a:r>
              <a:endParaRPr lang="en-US" sz="1550" b="0" u="none" strike="noStrike">
                <a:solidFill>
                  <a:srgbClr val="000000"/>
                </a:solidFill>
                <a:effectLst/>
                <a:uFillTx/>
                <a:latin typeface="Arial"/>
              </a:endParaRPr>
            </a:p>
          </p:txBody>
        </p:sp>
        <p:sp>
          <p:nvSpPr>
            <p:cNvPr id="450" name="TextBox 6"/>
            <p:cNvSpPr/>
            <p:nvPr/>
          </p:nvSpPr>
          <p:spPr>
            <a:xfrm>
              <a:off x="4296960" y="1806480"/>
              <a:ext cx="122112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1" u="none" strike="noStrike">
                  <a:solidFill>
                    <a:srgbClr val="66758A"/>
                  </a:solidFill>
                  <a:effectLst/>
                  <a:uFillTx/>
                  <a:latin typeface="Arial"/>
                  <a:ea typeface="Microsoft YaHei"/>
                </a:rPr>
                <a:t>Rule formed</a:t>
              </a:r>
              <a:endParaRPr lang="en-US" sz="1550" b="0" u="none" strike="noStrike">
                <a:solidFill>
                  <a:srgbClr val="000000"/>
                </a:solidFill>
                <a:effectLst/>
                <a:uFillTx/>
                <a:latin typeface="Arial"/>
              </a:endParaRPr>
            </a:p>
          </p:txBody>
        </p:sp>
        <p:sp>
          <p:nvSpPr>
            <p:cNvPr id="451" name="TextBox 7"/>
            <p:cNvSpPr/>
            <p:nvPr/>
          </p:nvSpPr>
          <p:spPr>
            <a:xfrm>
              <a:off x="8402040" y="1806480"/>
              <a:ext cx="287280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1" u="none" strike="noStrike">
                  <a:solidFill>
                    <a:srgbClr val="66758A"/>
                  </a:solidFill>
                  <a:effectLst/>
                  <a:uFillTx/>
                  <a:latin typeface="Arial"/>
                  <a:ea typeface="Microsoft YaHei"/>
                </a:rPr>
                <a:t>Entry point that reads the rule</a:t>
              </a:r>
              <a:endParaRPr lang="en-US" sz="1550" b="0" u="none" strike="noStrike">
                <a:solidFill>
                  <a:srgbClr val="000000"/>
                </a:solidFill>
                <a:effectLst/>
                <a:uFillTx/>
                <a:latin typeface="Arial"/>
              </a:endParaRPr>
            </a:p>
          </p:txBody>
        </p:sp>
        <p:sp>
          <p:nvSpPr>
            <p:cNvPr id="452" name="Line 8"/>
            <p:cNvSpPr/>
            <p:nvPr/>
          </p:nvSpPr>
          <p:spPr>
            <a:xfrm>
              <a:off x="495360" y="2238480"/>
              <a:ext cx="11201040" cy="9000"/>
            </a:xfrm>
            <a:custGeom>
              <a:avLst/>
              <a:gdLst>
                <a:gd name="textAreaLeft" fmla="*/ 0 w 11201040"/>
                <a:gd name="textAreaRight" fmla="*/ 11201400 w 11201040"/>
                <a:gd name="textAreaTop" fmla="*/ 0 h 9000"/>
                <a:gd name="textAreaBottom" fmla="*/ 9360 h 9000"/>
              </a:gdLst>
              <a:ahLst/>
              <a:cxnLst/>
              <a:rect l="textAreaLeft" t="textAreaTop" r="textAreaRight" b="textAreaBottom"/>
              <a:pathLst>
                <a:path w="11201400" h="9525">
                  <a:moveTo>
                    <a:pt x="0" y="0"/>
                  </a:moveTo>
                  <a:lnTo>
                    <a:pt x="11201400" y="0"/>
                  </a:lnTo>
                </a:path>
              </a:pathLst>
            </a:custGeom>
            <a:noFill/>
            <a:ln w="9525">
              <a:solidFill>
                <a:srgbClr val="DCE3EF"/>
              </a:solidFill>
              <a:round/>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
          <p:nvSpPr>
            <p:cNvPr id="453" name="TextBox 9"/>
            <p:cNvSpPr/>
            <p:nvPr/>
          </p:nvSpPr>
          <p:spPr>
            <a:xfrm>
              <a:off x="485280" y="2454120"/>
              <a:ext cx="268092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1" u="none" strike="noStrike">
                  <a:solidFill>
                    <a:schemeClr val="accent1"/>
                  </a:solidFill>
                  <a:effectLst/>
                  <a:uFillTx/>
                  <a:latin typeface="Arial"/>
                  <a:ea typeface="Microsoft YaHei"/>
                </a:rPr>
                <a:t>Side, views kept changing</a:t>
              </a:r>
              <a:endParaRPr lang="en-US" sz="1650" b="0" u="none" strike="noStrike">
                <a:solidFill>
                  <a:srgbClr val="000000"/>
                </a:solidFill>
                <a:effectLst/>
                <a:uFillTx/>
                <a:latin typeface="Arial"/>
              </a:endParaRPr>
            </a:p>
          </p:txBody>
        </p:sp>
        <p:sp>
          <p:nvSpPr>
            <p:cNvPr id="454" name="Line 10"/>
            <p:cNvSpPr/>
            <p:nvPr/>
          </p:nvSpPr>
          <p:spPr>
            <a:xfrm>
              <a:off x="3238200" y="2628720"/>
              <a:ext cx="819360" cy="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455" name="TextBox 11"/>
            <p:cNvSpPr/>
            <p:nvPr/>
          </p:nvSpPr>
          <p:spPr>
            <a:xfrm>
              <a:off x="4296960" y="2492280"/>
              <a:ext cx="238140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chemeClr val="accent6"/>
                  </a:solidFill>
                  <a:effectLst/>
                  <a:uFillTx/>
                  <a:latin typeface="Arial"/>
                  <a:ea typeface="Microsoft YaHei"/>
                </a:rPr>
                <a:t>Fix side and display layout</a:t>
              </a:r>
              <a:endParaRPr lang="en-US" sz="1550" b="0" u="none" strike="noStrike">
                <a:solidFill>
                  <a:srgbClr val="000000"/>
                </a:solidFill>
                <a:effectLst/>
                <a:uFillTx/>
                <a:latin typeface="Arial"/>
              </a:endParaRPr>
            </a:p>
          </p:txBody>
        </p:sp>
        <p:sp>
          <p:nvSpPr>
            <p:cNvPr id="456" name="Line 12"/>
            <p:cNvSpPr/>
            <p:nvPr/>
          </p:nvSpPr>
          <p:spPr>
            <a:xfrm>
              <a:off x="7057800" y="2628720"/>
              <a:ext cx="1104840" cy="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457" name="TextBox 13"/>
            <p:cNvSpPr/>
            <p:nvPr/>
          </p:nvSpPr>
          <p:spPr>
            <a:xfrm>
              <a:off x="8402040" y="2492280"/>
              <a:ext cx="289584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chemeClr val="dk1"/>
                  </a:solidFill>
                  <a:effectLst/>
                  <a:uFillTx/>
                  <a:latin typeface="Arial"/>
                  <a:ea typeface="Microsoft YaHei"/>
                </a:rPr>
                <a:t>Template, prompt, identity check</a:t>
              </a:r>
              <a:endParaRPr lang="en-US" sz="1550" b="0" u="none" strike="noStrike">
                <a:solidFill>
                  <a:srgbClr val="000000"/>
                </a:solidFill>
                <a:effectLst/>
                <a:uFillTx/>
                <a:latin typeface="Arial"/>
              </a:endParaRPr>
            </a:p>
          </p:txBody>
        </p:sp>
        <p:sp>
          <p:nvSpPr>
            <p:cNvPr id="458" name="TextBox 14"/>
            <p:cNvSpPr/>
            <p:nvPr/>
          </p:nvSpPr>
          <p:spPr>
            <a:xfrm>
              <a:off x="485280" y="3235320"/>
              <a:ext cx="238212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1" u="none" strike="noStrike">
                  <a:solidFill>
                    <a:schemeClr val="accent1"/>
                  </a:solidFill>
                  <a:effectLst/>
                  <a:uFillTx/>
                  <a:latin typeface="Arial"/>
                  <a:ea typeface="Microsoft YaHei"/>
                </a:rPr>
                <a:t>No objective recheck</a:t>
              </a:r>
              <a:endParaRPr lang="en-US" sz="1650" b="0" u="none" strike="noStrike">
                <a:solidFill>
                  <a:srgbClr val="000000"/>
                </a:solidFill>
                <a:effectLst/>
                <a:uFillTx/>
                <a:latin typeface="Arial"/>
              </a:endParaRPr>
            </a:p>
          </p:txBody>
        </p:sp>
        <p:sp>
          <p:nvSpPr>
            <p:cNvPr id="459" name="Line 15"/>
            <p:cNvSpPr/>
            <p:nvPr/>
          </p:nvSpPr>
          <p:spPr>
            <a:xfrm>
              <a:off x="3238200" y="3409920"/>
              <a:ext cx="819360" cy="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460" name="TextBox 16"/>
            <p:cNvSpPr/>
            <p:nvPr/>
          </p:nvSpPr>
          <p:spPr>
            <a:xfrm>
              <a:off x="4296960" y="3273480"/>
              <a:ext cx="246924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rgbClr val="069B8A"/>
                  </a:solidFill>
                  <a:effectLst/>
                  <a:uFillTx/>
                  <a:latin typeface="Arial"/>
                  <a:ea typeface="Microsoft YaHei"/>
                </a:rPr>
                <a:t>Save, reopen, matched A/B</a:t>
              </a:r>
              <a:endParaRPr lang="en-US" sz="1550" b="0" u="none" strike="noStrike">
                <a:solidFill>
                  <a:srgbClr val="000000"/>
                </a:solidFill>
                <a:effectLst/>
                <a:uFillTx/>
                <a:latin typeface="Arial"/>
              </a:endParaRPr>
            </a:p>
          </p:txBody>
        </p:sp>
        <p:sp>
          <p:nvSpPr>
            <p:cNvPr id="461" name="Line 17"/>
            <p:cNvSpPr/>
            <p:nvPr/>
          </p:nvSpPr>
          <p:spPr>
            <a:xfrm>
              <a:off x="7057800" y="3409920"/>
              <a:ext cx="1104840" cy="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462" name="TextBox 18"/>
            <p:cNvSpPr/>
            <p:nvPr/>
          </p:nvSpPr>
          <p:spPr>
            <a:xfrm>
              <a:off x="8402040" y="3273480"/>
              <a:ext cx="334440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chemeClr val="dk1"/>
                  </a:solidFill>
                  <a:effectLst/>
                  <a:uFillTx/>
                  <a:latin typeface="Arial"/>
                  <a:ea typeface="Microsoft YaHei"/>
                </a:rPr>
                <a:t>Execution spec, receipts, RAG output</a:t>
              </a:r>
              <a:endParaRPr lang="en-US" sz="1550" b="0" u="none" strike="noStrike">
                <a:solidFill>
                  <a:srgbClr val="000000"/>
                </a:solidFill>
                <a:effectLst/>
                <a:uFillTx/>
                <a:latin typeface="Arial"/>
              </a:endParaRPr>
            </a:p>
          </p:txBody>
        </p:sp>
        <p:sp>
          <p:nvSpPr>
            <p:cNvPr id="463" name="TextBox 19"/>
            <p:cNvSpPr/>
            <p:nvPr/>
          </p:nvSpPr>
          <p:spPr>
            <a:xfrm>
              <a:off x="485280" y="4016520"/>
              <a:ext cx="264456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1" u="none" strike="noStrike">
                  <a:solidFill>
                    <a:schemeClr val="accent1"/>
                  </a:solidFill>
                  <a:effectLst/>
                  <a:uFillTx/>
                  <a:latin typeface="Arial"/>
                  <a:ea typeface="Microsoft YaHei"/>
                </a:rPr>
                <a:t>One-off scripts, no reuse</a:t>
              </a:r>
              <a:endParaRPr lang="en-US" sz="1650" b="0" u="none" strike="noStrike">
                <a:solidFill>
                  <a:srgbClr val="000000"/>
                </a:solidFill>
                <a:effectLst/>
                <a:uFillTx/>
                <a:latin typeface="Arial"/>
              </a:endParaRPr>
            </a:p>
          </p:txBody>
        </p:sp>
        <p:sp>
          <p:nvSpPr>
            <p:cNvPr id="464" name="Line 20"/>
            <p:cNvSpPr/>
            <p:nvPr/>
          </p:nvSpPr>
          <p:spPr>
            <a:xfrm>
              <a:off x="3238200" y="4190760"/>
              <a:ext cx="819360" cy="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465" name="TextBox 21"/>
            <p:cNvSpPr/>
            <p:nvPr/>
          </p:nvSpPr>
          <p:spPr>
            <a:xfrm>
              <a:off x="4296960" y="4054320"/>
              <a:ext cx="268200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chemeClr val="accent2"/>
                  </a:solidFill>
                  <a:effectLst/>
                  <a:uFillTx/>
                  <a:latin typeface="Arial"/>
                  <a:ea typeface="Microsoft YaHei"/>
                </a:rPr>
                <a:t>Split sections, sources, inputs</a:t>
              </a:r>
              <a:endParaRPr lang="en-US" sz="1550" b="0" u="none" strike="noStrike">
                <a:solidFill>
                  <a:srgbClr val="000000"/>
                </a:solidFill>
                <a:effectLst/>
                <a:uFillTx/>
                <a:latin typeface="Arial"/>
              </a:endParaRPr>
            </a:p>
          </p:txBody>
        </p:sp>
        <p:sp>
          <p:nvSpPr>
            <p:cNvPr id="466" name="Line 22"/>
            <p:cNvSpPr/>
            <p:nvPr/>
          </p:nvSpPr>
          <p:spPr>
            <a:xfrm>
              <a:off x="7057800" y="4190760"/>
              <a:ext cx="1104840" cy="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467" name="TextBox 23"/>
            <p:cNvSpPr/>
            <p:nvPr/>
          </p:nvSpPr>
          <p:spPr>
            <a:xfrm>
              <a:off x="8402040" y="4054320"/>
              <a:ext cx="308160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chemeClr val="dk1"/>
                  </a:solidFill>
                  <a:effectLst/>
                  <a:uFillTx/>
                  <a:latin typeface="Arial"/>
                  <a:ea typeface="Microsoft YaHei"/>
                </a:rPr>
                <a:t>Diagnostic spec, viewer, negatives</a:t>
              </a:r>
              <a:endParaRPr lang="en-US" sz="1550" b="0" u="none" strike="noStrike">
                <a:solidFill>
                  <a:srgbClr val="000000"/>
                </a:solidFill>
                <a:effectLst/>
                <a:uFillTx/>
                <a:latin typeface="Arial"/>
              </a:endParaRPr>
            </a:p>
          </p:txBody>
        </p:sp>
      </p:grpSp>
      <p:grpSp>
        <p:nvGrpSpPr>
          <p:cNvPr id="468" name="closure-governance"/>
          <p:cNvGrpSpPr/>
          <p:nvPr/>
        </p:nvGrpSpPr>
        <p:grpSpPr>
          <a:xfrm>
            <a:off x="495360" y="4962600"/>
            <a:ext cx="11201040" cy="1190160"/>
            <a:chOff x="495360" y="4962600"/>
            <a:chExt cx="11201040" cy="1190160"/>
          </a:xfrm>
        </p:grpSpPr>
        <p:sp>
          <p:nvSpPr>
            <p:cNvPr id="469" name="Rectangle 25"/>
            <p:cNvSpPr/>
            <p:nvPr/>
          </p:nvSpPr>
          <p:spPr>
            <a:xfrm>
              <a:off x="495360" y="4962600"/>
              <a:ext cx="11201040" cy="1190160"/>
            </a:xfrm>
            <a:prstGeom prst="roundRect">
              <a:avLst>
                <a:gd name="adj" fmla="val 8000"/>
              </a:avLst>
            </a:prstGeom>
            <a:solidFill>
              <a:schemeClr val="accent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470" name="TextBox 26"/>
            <p:cNvSpPr/>
            <p:nvPr/>
          </p:nvSpPr>
          <p:spPr>
            <a:xfrm>
              <a:off x="723600" y="5073480"/>
              <a:ext cx="211968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1" u="none" strike="noStrike">
                  <a:solidFill>
                    <a:srgbClr val="FFFFFF"/>
                  </a:solidFill>
                  <a:effectLst/>
                  <a:uFillTx/>
                  <a:latin typeface="Arial"/>
                  <a:ea typeface="Microsoft YaHei"/>
                </a:rPr>
                <a:t>Task write-back</a:t>
              </a:r>
              <a:endParaRPr lang="en-US" sz="1650" b="0" u="none" strike="noStrike">
                <a:solidFill>
                  <a:srgbClr val="000000"/>
                </a:solidFill>
                <a:effectLst/>
                <a:uFillTx/>
                <a:latin typeface="Arial"/>
              </a:endParaRPr>
            </a:p>
          </p:txBody>
        </p:sp>
        <p:sp>
          <p:nvSpPr>
            <p:cNvPr id="471" name="TextBox 27"/>
            <p:cNvSpPr/>
            <p:nvPr/>
          </p:nvSpPr>
          <p:spPr>
            <a:xfrm>
              <a:off x="2868120" y="5111640"/>
              <a:ext cx="789264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rgbClr val="FFFFFF"/>
                  </a:solidFill>
                  <a:effectLst/>
                  <a:uFillTx/>
                  <a:latin typeface="Arial"/>
                  <a:ea typeface="Microsoft YaHei"/>
                </a:rPr>
                <a:t>Update workflow, project memory, and tool entries, then check the next round reads them.</a:t>
              </a:r>
              <a:endParaRPr lang="en-US" sz="1550" b="0" u="none" strike="noStrike">
                <a:solidFill>
                  <a:srgbClr val="000000"/>
                </a:solidFill>
                <a:effectLst/>
                <a:uFillTx/>
                <a:latin typeface="Arial"/>
              </a:endParaRPr>
            </a:p>
          </p:txBody>
        </p:sp>
        <p:sp>
          <p:nvSpPr>
            <p:cNvPr id="472" name="TextBox 28"/>
            <p:cNvSpPr/>
            <p:nvPr/>
          </p:nvSpPr>
          <p:spPr>
            <a:xfrm>
              <a:off x="725040" y="5578560"/>
              <a:ext cx="879012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rgbClr val="BAC9DE"/>
                  </a:solidFill>
                  <a:effectLst/>
                  <a:uFillTx/>
                  <a:latin typeface="Arial"/>
                  <a:ea typeface="Microsoft YaHei"/>
                </a:rPr>
                <a:t>Audit: 28 lesson types, known entry gaps filled, tool, test, and migration progress tracked separately.</a:t>
              </a:r>
              <a:endParaRPr lang="en-US" sz="1550" b="0" u="none" strike="noStrike">
                <a:solidFill>
                  <a:srgbClr val="000000"/>
                </a:solidFill>
                <a:effectLst/>
                <a:uFillTx/>
                <a:latin typeface="Arial"/>
              </a:endParaRPr>
            </a:p>
          </p:txBody>
        </p:sp>
      </p:grpSp>
      <p:sp>
        <p:nvSpPr>
          <p:cNvPr id="473" name="footer-label"/>
          <p:cNvSpPr/>
          <p:nvPr/>
        </p:nvSpPr>
        <p:spPr>
          <a:xfrm>
            <a:off x="488520" y="6407280"/>
            <a:ext cx="823608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Project memory serves later tasks. Cross-project migration and design acceptance are validated separately.</a:t>
            </a:r>
            <a:endParaRPr lang="en-US" sz="1350" b="0" u="none" strike="noStrike">
              <a:solidFill>
                <a:srgbClr val="000000"/>
              </a:solidFill>
              <a:effectLst/>
              <a:uFillTx/>
              <a:latin typeface="Arial"/>
            </a:endParaRPr>
          </a:p>
        </p:txBody>
      </p:sp>
      <p:sp>
        <p:nvSpPr>
          <p:cNvPr id="474" name="page-number"/>
          <p:cNvSpPr/>
          <p:nvPr/>
        </p:nvSpPr>
        <p:spPr>
          <a:xfrm>
            <a:off x="11439720" y="6407280"/>
            <a:ext cx="263520" cy="263520"/>
          </a:xfrm>
          <a:prstGeom prst="rect">
            <a:avLst/>
          </a:prstGeom>
          <a:noFill/>
          <a:ln w="0">
            <a:noFill/>
          </a:ln>
        </p:spPr>
        <p:style>
          <a:lnRef idx="0"/>
          <a:fillRef idx="0"/>
          <a:effectRef idx="0"/>
          <a:fontRef idx="minor"/>
        </p:style>
        <p:txBody>
          <a:bodyPr wrap="none" lIns="0" tIns="0" rIns="0" bIns="0" anchor="t">
            <a:noAutofit/>
          </a:bodyPr>
          <a:p>
            <a:pPr algn="r" defTabSz="457200">
              <a:lnSpc>
                <a:spcPct val="100000"/>
              </a:lnSpc>
            </a:pPr>
            <a:r>
              <a:rPr lang="en-US" sz="1350" b="0" u="none" strike="noStrike">
                <a:solidFill>
                  <a:srgbClr val="66758A"/>
                </a:solidFill>
                <a:effectLst/>
                <a:uFillTx/>
                <a:latin typeface="Arial"/>
                <a:ea typeface="Arial"/>
              </a:rPr>
              <a:t>13</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475" name="header"/>
          <p:cNvGrpSpPr/>
          <p:nvPr/>
        </p:nvGrpSpPr>
        <p:grpSpPr>
          <a:xfrm>
            <a:off x="478440" y="422280"/>
            <a:ext cx="10051920" cy="973080"/>
            <a:chOff x="478440" y="422280"/>
            <a:chExt cx="10051920" cy="973080"/>
          </a:xfrm>
        </p:grpSpPr>
        <p:sp>
          <p:nvSpPr>
            <p:cNvPr id="476" name="TextBox 2"/>
            <p:cNvSpPr/>
            <p:nvPr/>
          </p:nvSpPr>
          <p:spPr>
            <a:xfrm>
              <a:off x="478440" y="422280"/>
              <a:ext cx="5871960" cy="6451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3300" b="1" u="none" strike="noStrike">
                  <a:solidFill>
                    <a:srgbClr val="13243A"/>
                  </a:solidFill>
                  <a:effectLst/>
                  <a:uFillTx/>
                  <a:latin typeface="Arial"/>
                  <a:ea typeface="Microsoft YaHei"/>
                </a:rPr>
                <a:t>Progress and Next Validation</a:t>
              </a:r>
              <a:endParaRPr lang="en-US" sz="3300" b="0" u="none" strike="noStrike">
                <a:solidFill>
                  <a:srgbClr val="000000"/>
                </a:solidFill>
                <a:effectLst/>
                <a:uFillTx/>
                <a:latin typeface="Arial"/>
              </a:endParaRPr>
            </a:p>
          </p:txBody>
        </p:sp>
        <p:sp>
          <p:nvSpPr>
            <p:cNvPr id="477" name="TextBox 3"/>
            <p:cNvSpPr/>
            <p:nvPr/>
          </p:nvSpPr>
          <p:spPr>
            <a:xfrm>
              <a:off x="487080" y="1073160"/>
              <a:ext cx="1004328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rgbClr val="66758A"/>
                  </a:solidFill>
                  <a:effectLst/>
                  <a:uFillTx/>
                  <a:latin typeface="Arial"/>
                  <a:ea typeface="Microsoft YaHei"/>
                </a:rPr>
                <a:t>Process evidence supports method checks. Cross-task reuse and product performance still need validation.</a:t>
              </a:r>
              <a:endParaRPr lang="en-US" sz="1650" b="0" u="none" strike="noStrike">
                <a:solidFill>
                  <a:srgbClr val="000000"/>
                </a:solidFill>
                <a:effectLst/>
                <a:uFillTx/>
                <a:latin typeface="Arial"/>
              </a:endParaRPr>
            </a:p>
          </p:txBody>
        </p:sp>
      </p:grpSp>
      <p:grpSp>
        <p:nvGrpSpPr>
          <p:cNvPr id="478" name="status-layers"/>
          <p:cNvGrpSpPr/>
          <p:nvPr/>
        </p:nvGrpSpPr>
        <p:grpSpPr>
          <a:xfrm>
            <a:off x="495360" y="1743120"/>
            <a:ext cx="11201040" cy="1952280"/>
            <a:chOff x="495360" y="1743120"/>
            <a:chExt cx="11201040" cy="1952280"/>
          </a:xfrm>
        </p:grpSpPr>
        <p:sp>
          <p:nvSpPr>
            <p:cNvPr id="479" name="Rectangle 5"/>
            <p:cNvSpPr/>
            <p:nvPr/>
          </p:nvSpPr>
          <p:spPr>
            <a:xfrm>
              <a:off x="495360" y="1743120"/>
              <a:ext cx="3428640" cy="1952280"/>
            </a:xfrm>
            <a:prstGeom prst="roundRect">
              <a:avLst>
                <a:gd name="adj" fmla="val 4878"/>
              </a:avLst>
            </a:prstGeom>
            <a:solidFill>
              <a:srgbClr val="F1F4FA"/>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80" name="TextBox 6"/>
            <p:cNvSpPr/>
            <p:nvPr/>
          </p:nvSpPr>
          <p:spPr>
            <a:xfrm>
              <a:off x="713880" y="1863720"/>
              <a:ext cx="294876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069B8A"/>
                  </a:solidFill>
                  <a:effectLst/>
                  <a:uFillTx/>
                  <a:latin typeface="Arial"/>
                  <a:ea typeface="Microsoft YaHei"/>
                </a:rPr>
                <a:t>Used in the main project</a:t>
              </a:r>
              <a:endParaRPr lang="en-US" sz="1950" b="0" u="none" strike="noStrike">
                <a:solidFill>
                  <a:srgbClr val="000000"/>
                </a:solidFill>
                <a:effectLst/>
                <a:uFillTx/>
                <a:latin typeface="Arial"/>
              </a:endParaRPr>
            </a:p>
          </p:txBody>
        </p:sp>
        <p:sp>
          <p:nvSpPr>
            <p:cNvPr id="481" name="TextBox 7"/>
            <p:cNvSpPr/>
            <p:nvPr/>
          </p:nvSpPr>
          <p:spPr>
            <a:xfrm>
              <a:off x="715680" y="2368440"/>
              <a:ext cx="306900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rgbClr val="13243A"/>
                  </a:solidFill>
                  <a:effectLst/>
                  <a:uFillTx/>
                  <a:latin typeface="Arial"/>
                  <a:ea typeface="Microsoft YaHei"/>
                </a:rPr>
                <a:t>RAG, concept-first, tool runs</a:t>
              </a:r>
              <a:endParaRPr lang="en-US" sz="1650" b="0" u="none" strike="noStrike">
                <a:solidFill>
                  <a:srgbClr val="000000"/>
                </a:solidFill>
                <a:effectLst/>
                <a:uFillTx/>
                <a:latin typeface="Arial"/>
              </a:endParaRPr>
            </a:p>
          </p:txBody>
        </p:sp>
        <p:sp>
          <p:nvSpPr>
            <p:cNvPr id="482" name="TextBox 8"/>
            <p:cNvSpPr/>
            <p:nvPr/>
          </p:nvSpPr>
          <p:spPr>
            <a:xfrm>
              <a:off x="715680" y="2730600"/>
              <a:ext cx="312624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rgbClr val="13243A"/>
                  </a:solidFill>
                  <a:effectLst/>
                  <a:uFillTx/>
                  <a:latin typeface="Arial"/>
                  <a:ea typeface="Microsoft YaHei"/>
                </a:rPr>
                <a:t>Reopen, receipts, write-back</a:t>
              </a:r>
              <a:endParaRPr lang="en-US" sz="1650" b="0" u="none" strike="noStrike">
                <a:solidFill>
                  <a:srgbClr val="000000"/>
                </a:solidFill>
                <a:effectLst/>
                <a:uFillTx/>
                <a:latin typeface="Arial"/>
              </a:endParaRPr>
            </a:p>
          </p:txBody>
        </p:sp>
        <p:sp>
          <p:nvSpPr>
            <p:cNvPr id="483" name="TextBox 9"/>
            <p:cNvSpPr/>
            <p:nvPr/>
          </p:nvSpPr>
          <p:spPr>
            <a:xfrm>
              <a:off x="717120" y="3244680"/>
              <a:ext cx="285588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Records checkable, product pending</a:t>
              </a:r>
              <a:endParaRPr lang="en-US" sz="1350" b="0" u="none" strike="noStrike">
                <a:solidFill>
                  <a:srgbClr val="000000"/>
                </a:solidFill>
                <a:effectLst/>
                <a:uFillTx/>
                <a:latin typeface="Arial"/>
              </a:endParaRPr>
            </a:p>
          </p:txBody>
        </p:sp>
        <p:sp>
          <p:nvSpPr>
            <p:cNvPr id="484" name="Rectangle 10"/>
            <p:cNvSpPr/>
            <p:nvPr/>
          </p:nvSpPr>
          <p:spPr>
            <a:xfrm>
              <a:off x="4381560" y="1743120"/>
              <a:ext cx="3428640" cy="1952280"/>
            </a:xfrm>
            <a:prstGeom prst="roundRect">
              <a:avLst>
                <a:gd name="adj" fmla="val 4878"/>
              </a:avLst>
            </a:prstGeom>
            <a:solidFill>
              <a:srgbClr val="F1F4FA"/>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85" name="TextBox 11"/>
            <p:cNvSpPr/>
            <p:nvPr/>
          </p:nvSpPr>
          <p:spPr>
            <a:xfrm>
              <a:off x="4600080" y="1863720"/>
              <a:ext cx="294876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3662EA"/>
                  </a:solidFill>
                  <a:effectLst/>
                  <a:uFillTx/>
                  <a:latin typeface="Arial"/>
                  <a:ea typeface="Microsoft YaHei"/>
                </a:rPr>
                <a:t>Independent trial results</a:t>
              </a:r>
              <a:endParaRPr lang="en-US" sz="1950" b="0" u="none" strike="noStrike">
                <a:solidFill>
                  <a:srgbClr val="000000"/>
                </a:solidFill>
                <a:effectLst/>
                <a:uFillTx/>
                <a:latin typeface="Arial"/>
              </a:endParaRPr>
            </a:p>
          </p:txBody>
        </p:sp>
        <p:sp>
          <p:nvSpPr>
            <p:cNvPr id="486" name="TextBox 12"/>
            <p:cNvSpPr/>
            <p:nvPr/>
          </p:nvSpPr>
          <p:spPr>
            <a:xfrm>
              <a:off x="4601880" y="2368440"/>
              <a:ext cx="302616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rgbClr val="13243A"/>
                  </a:solidFill>
                  <a:effectLst/>
                  <a:uFillTx/>
                  <a:latin typeface="Arial"/>
                  <a:ea typeface="Microsoft YaHei"/>
                </a:rPr>
                <a:t>Form/scene split, coverage pick</a:t>
              </a:r>
              <a:endParaRPr lang="en-US" sz="1650" b="0" u="none" strike="noStrike">
                <a:solidFill>
                  <a:srgbClr val="000000"/>
                </a:solidFill>
                <a:effectLst/>
                <a:uFillTx/>
                <a:latin typeface="Arial"/>
              </a:endParaRPr>
            </a:p>
          </p:txBody>
        </p:sp>
        <p:sp>
          <p:nvSpPr>
            <p:cNvPr id="487" name="TextBox 13"/>
            <p:cNvSpPr/>
            <p:nvPr/>
          </p:nvSpPr>
          <p:spPr>
            <a:xfrm>
              <a:off x="4601880" y="2730600"/>
              <a:ext cx="293832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rgbClr val="13243A"/>
                  </a:solidFill>
                  <a:effectLst/>
                  <a:uFillTx/>
                  <a:latin typeface="Arial"/>
                  <a:ea typeface="Microsoft YaHei"/>
                </a:rPr>
                <a:t>Image purpose, size attribution</a:t>
              </a:r>
              <a:endParaRPr lang="en-US" sz="1650" b="0" u="none" strike="noStrike">
                <a:solidFill>
                  <a:srgbClr val="000000"/>
                </a:solidFill>
                <a:effectLst/>
                <a:uFillTx/>
                <a:latin typeface="Arial"/>
              </a:endParaRPr>
            </a:p>
          </p:txBody>
        </p:sp>
        <p:sp>
          <p:nvSpPr>
            <p:cNvPr id="488" name="TextBox 14"/>
            <p:cNvSpPr/>
            <p:nvPr/>
          </p:nvSpPr>
          <p:spPr>
            <a:xfrm>
              <a:off x="4603320" y="3244680"/>
              <a:ext cx="302688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Not yet fully in the main automatic path</a:t>
              </a:r>
              <a:endParaRPr lang="en-US" sz="1350" b="0" u="none" strike="noStrike">
                <a:solidFill>
                  <a:srgbClr val="000000"/>
                </a:solidFill>
                <a:effectLst/>
                <a:uFillTx/>
                <a:latin typeface="Arial"/>
              </a:endParaRPr>
            </a:p>
          </p:txBody>
        </p:sp>
        <p:sp>
          <p:nvSpPr>
            <p:cNvPr id="489" name="Rectangle 15"/>
            <p:cNvSpPr/>
            <p:nvPr/>
          </p:nvSpPr>
          <p:spPr>
            <a:xfrm>
              <a:off x="8267760" y="1743120"/>
              <a:ext cx="3428640" cy="1952280"/>
            </a:xfrm>
            <a:prstGeom prst="roundRect">
              <a:avLst>
                <a:gd name="adj" fmla="val 4878"/>
              </a:avLst>
            </a:prstGeom>
            <a:solidFill>
              <a:srgbClr val="F1F4FA"/>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90" name="TextBox 16"/>
            <p:cNvSpPr/>
            <p:nvPr/>
          </p:nvSpPr>
          <p:spPr>
            <a:xfrm>
              <a:off x="8486280" y="1863720"/>
              <a:ext cx="194400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D98D2B"/>
                  </a:solidFill>
                  <a:effectLst/>
                  <a:uFillTx/>
                  <a:latin typeface="Arial"/>
                  <a:ea typeface="Microsoft YaHei"/>
                </a:rPr>
                <a:t>Open questions</a:t>
              </a:r>
              <a:endParaRPr lang="en-US" sz="1950" b="0" u="none" strike="noStrike">
                <a:solidFill>
                  <a:srgbClr val="000000"/>
                </a:solidFill>
                <a:effectLst/>
                <a:uFillTx/>
                <a:latin typeface="Arial"/>
              </a:endParaRPr>
            </a:p>
          </p:txBody>
        </p:sp>
        <p:sp>
          <p:nvSpPr>
            <p:cNvPr id="491" name="TextBox 17"/>
            <p:cNvSpPr/>
            <p:nvPr/>
          </p:nvSpPr>
          <p:spPr>
            <a:xfrm>
              <a:off x="8488080" y="2368440"/>
              <a:ext cx="259668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rgbClr val="13243A"/>
                  </a:solidFill>
                  <a:effectLst/>
                  <a:uFillTx/>
                  <a:latin typeface="Arial"/>
                  <a:ea typeface="Microsoft YaHei"/>
                </a:rPr>
                <a:t>Efficiency and quality gains</a:t>
              </a:r>
              <a:endParaRPr lang="en-US" sz="1650" b="0" u="none" strike="noStrike">
                <a:solidFill>
                  <a:srgbClr val="000000"/>
                </a:solidFill>
                <a:effectLst/>
                <a:uFillTx/>
                <a:latin typeface="Arial"/>
              </a:endParaRPr>
            </a:p>
          </p:txBody>
        </p:sp>
        <p:sp>
          <p:nvSpPr>
            <p:cNvPr id="492" name="TextBox 18"/>
            <p:cNvSpPr/>
            <p:nvPr/>
          </p:nvSpPr>
          <p:spPr>
            <a:xfrm>
              <a:off x="8488080" y="2730600"/>
              <a:ext cx="290412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rgbClr val="13243A"/>
                  </a:solidFill>
                  <a:effectLst/>
                  <a:uFillTx/>
                  <a:latin typeface="Arial"/>
                  <a:ea typeface="Microsoft YaHei"/>
                </a:rPr>
                <a:t>Comfort, stability, production</a:t>
              </a:r>
              <a:endParaRPr lang="en-US" sz="1650" b="0" u="none" strike="noStrike">
                <a:solidFill>
                  <a:srgbClr val="000000"/>
                </a:solidFill>
                <a:effectLst/>
                <a:uFillTx/>
                <a:latin typeface="Arial"/>
              </a:endParaRPr>
            </a:p>
          </p:txBody>
        </p:sp>
        <p:sp>
          <p:nvSpPr>
            <p:cNvPr id="493" name="TextBox 19"/>
            <p:cNvSpPr/>
            <p:nvPr/>
          </p:nvSpPr>
          <p:spPr>
            <a:xfrm>
              <a:off x="8489520" y="3244680"/>
              <a:ext cx="236952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Controls and tests still needed</a:t>
              </a:r>
              <a:endParaRPr lang="en-US" sz="1350" b="0" u="none" strike="noStrike">
                <a:solidFill>
                  <a:srgbClr val="000000"/>
                </a:solidFill>
                <a:effectLst/>
                <a:uFillTx/>
                <a:latin typeface="Arial"/>
              </a:endParaRPr>
            </a:p>
          </p:txBody>
        </p:sp>
      </p:grpSp>
      <p:grpSp>
        <p:nvGrpSpPr>
          <p:cNvPr id="494" name="next-research"/>
          <p:cNvGrpSpPr/>
          <p:nvPr/>
        </p:nvGrpSpPr>
        <p:grpSpPr>
          <a:xfrm>
            <a:off x="483120" y="4213080"/>
            <a:ext cx="11235240" cy="1982880"/>
            <a:chOff x="483120" y="4213080"/>
            <a:chExt cx="11235240" cy="1982880"/>
          </a:xfrm>
        </p:grpSpPr>
        <p:sp>
          <p:nvSpPr>
            <p:cNvPr id="495" name="TextBox 21"/>
            <p:cNvSpPr/>
            <p:nvPr/>
          </p:nvSpPr>
          <p:spPr>
            <a:xfrm>
              <a:off x="483120" y="4213080"/>
              <a:ext cx="4915800" cy="4690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400" b="1" u="none" strike="noStrike">
                  <a:solidFill>
                    <a:srgbClr val="13243A"/>
                  </a:solidFill>
                  <a:effectLst/>
                  <a:uFillTx/>
                  <a:latin typeface="Arial"/>
                  <a:ea typeface="Microsoft YaHei"/>
                </a:rPr>
                <a:t>Validation plan for the next round</a:t>
              </a:r>
              <a:endParaRPr lang="en-US" sz="2400" b="0" u="none" strike="noStrike">
                <a:solidFill>
                  <a:srgbClr val="000000"/>
                </a:solidFill>
                <a:effectLst/>
                <a:uFillTx/>
                <a:latin typeface="Arial"/>
              </a:endParaRPr>
            </a:p>
          </p:txBody>
        </p:sp>
        <p:sp>
          <p:nvSpPr>
            <p:cNvPr id="496" name="TextBox 22"/>
            <p:cNvSpPr/>
            <p:nvPr/>
          </p:nvSpPr>
          <p:spPr>
            <a:xfrm>
              <a:off x="485280" y="4778280"/>
              <a:ext cx="321120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0" u="none" strike="noStrike">
                  <a:solidFill>
                    <a:srgbClr val="13243A"/>
                  </a:solidFill>
                  <a:effectLst/>
                  <a:uFillTx/>
                  <a:latin typeface="Arial"/>
                  <a:ea typeface="Microsoft YaHei"/>
                </a:rPr>
                <a:t>New needs and product task</a:t>
              </a:r>
              <a:endParaRPr lang="en-US" sz="1950" b="0" u="none" strike="noStrike">
                <a:solidFill>
                  <a:srgbClr val="000000"/>
                </a:solidFill>
                <a:effectLst/>
                <a:uFillTx/>
                <a:latin typeface="Arial"/>
              </a:endParaRPr>
            </a:p>
          </p:txBody>
        </p:sp>
        <p:sp>
          <p:nvSpPr>
            <p:cNvPr id="497" name="TextBox 23"/>
            <p:cNvSpPr/>
            <p:nvPr/>
          </p:nvSpPr>
          <p:spPr>
            <a:xfrm>
              <a:off x="4581000" y="4778280"/>
              <a:ext cx="330732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0" u="none" strike="noStrike">
                  <a:solidFill>
                    <a:srgbClr val="13243A"/>
                  </a:solidFill>
                  <a:effectLst/>
                  <a:uFillTx/>
                  <a:latin typeface="Arial"/>
                  <a:ea typeface="Microsoft YaHei"/>
                </a:rPr>
                <a:t>Log errors, rework, data gaps</a:t>
              </a:r>
              <a:endParaRPr lang="en-US" sz="1950" b="0" u="none" strike="noStrike">
                <a:solidFill>
                  <a:srgbClr val="000000"/>
                </a:solidFill>
                <a:effectLst/>
                <a:uFillTx/>
                <a:latin typeface="Arial"/>
              </a:endParaRPr>
            </a:p>
          </p:txBody>
        </p:sp>
        <p:sp>
          <p:nvSpPr>
            <p:cNvPr id="498" name="TextBox 24"/>
            <p:cNvSpPr/>
            <p:nvPr/>
          </p:nvSpPr>
          <p:spPr>
            <a:xfrm>
              <a:off x="8934120" y="4778280"/>
              <a:ext cx="252288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0" u="none" strike="noStrike">
                  <a:solidFill>
                    <a:srgbClr val="13243A"/>
                  </a:solidFill>
                  <a:effectLst/>
                  <a:uFillTx/>
                  <a:latin typeface="Arial"/>
                  <a:ea typeface="Microsoft YaHei"/>
                </a:rPr>
                <a:t>One-standard controls</a:t>
              </a:r>
              <a:endParaRPr lang="en-US" sz="1950" b="0" u="none" strike="noStrike">
                <a:solidFill>
                  <a:srgbClr val="000000"/>
                </a:solidFill>
                <a:effectLst/>
                <a:uFillTx/>
                <a:latin typeface="Arial"/>
              </a:endParaRPr>
            </a:p>
          </p:txBody>
        </p:sp>
        <p:sp>
          <p:nvSpPr>
            <p:cNvPr id="499" name="TextBox 25"/>
            <p:cNvSpPr/>
            <p:nvPr/>
          </p:nvSpPr>
          <p:spPr>
            <a:xfrm>
              <a:off x="487080" y="5245200"/>
              <a:ext cx="303120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rgbClr val="66758A"/>
                  </a:solidFill>
                  <a:effectLst/>
                  <a:uFillTx/>
                  <a:latin typeface="Arial"/>
                  <a:ea typeface="Microsoft YaHei"/>
                </a:rPr>
                <a:t>Check extraction and rule reuse</a:t>
              </a:r>
              <a:endParaRPr lang="en-US" sz="1650" b="0" u="none" strike="noStrike">
                <a:solidFill>
                  <a:srgbClr val="000000"/>
                </a:solidFill>
                <a:effectLst/>
                <a:uFillTx/>
                <a:latin typeface="Arial"/>
              </a:endParaRPr>
            </a:p>
          </p:txBody>
        </p:sp>
        <p:sp>
          <p:nvSpPr>
            <p:cNvPr id="500" name="TextBox 26"/>
            <p:cNvSpPr/>
            <p:nvPr/>
          </p:nvSpPr>
          <p:spPr>
            <a:xfrm>
              <a:off x="4582800" y="5245200"/>
              <a:ext cx="272052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rgbClr val="66758A"/>
                  </a:solidFill>
                  <a:effectLst/>
                  <a:uFillTx/>
                  <a:latin typeface="Arial"/>
                  <a:ea typeface="Microsoft YaHei"/>
                </a:rPr>
                <a:t>Track rule reads and failures</a:t>
              </a:r>
              <a:endParaRPr lang="en-US" sz="1650" b="0" u="none" strike="noStrike">
                <a:solidFill>
                  <a:srgbClr val="000000"/>
                </a:solidFill>
                <a:effectLst/>
                <a:uFillTx/>
                <a:latin typeface="Arial"/>
              </a:endParaRPr>
            </a:p>
          </p:txBody>
        </p:sp>
        <p:sp>
          <p:nvSpPr>
            <p:cNvPr id="501" name="TextBox 27"/>
            <p:cNvSpPr/>
            <p:nvPr/>
          </p:nvSpPr>
          <p:spPr>
            <a:xfrm>
              <a:off x="8935560" y="5245200"/>
              <a:ext cx="278280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rgbClr val="66758A"/>
                  </a:solidFill>
                  <a:effectLst/>
                  <a:uFillTx/>
                  <a:latin typeface="Arial"/>
                  <a:ea typeface="Microsoft YaHei"/>
                </a:rPr>
                <a:t>Wear tests, engineering tests</a:t>
              </a:r>
              <a:endParaRPr lang="en-US" sz="1650" b="0" u="none" strike="noStrike">
                <a:solidFill>
                  <a:srgbClr val="000000"/>
                </a:solidFill>
                <a:effectLst/>
                <a:uFillTx/>
                <a:latin typeface="Arial"/>
              </a:endParaRPr>
            </a:p>
          </p:txBody>
        </p:sp>
        <p:sp>
          <p:nvSpPr>
            <p:cNvPr id="502" name="TextBox 28"/>
            <p:cNvSpPr/>
            <p:nvPr/>
          </p:nvSpPr>
          <p:spPr>
            <a:xfrm>
              <a:off x="487080" y="5873760"/>
              <a:ext cx="887868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rgbClr val="D98D2B"/>
                  </a:solidFill>
                  <a:effectLst/>
                  <a:uFillTx/>
                  <a:latin typeface="Arial"/>
                  <a:ea typeface="Microsoft YaHei"/>
                </a:rPr>
                <a:t>Product: pose refinement paused, joint under review, multi-view regression pending, gaps kept.</a:t>
              </a:r>
              <a:endParaRPr lang="en-US" sz="1650" b="0" u="none" strike="noStrike">
                <a:solidFill>
                  <a:srgbClr val="000000"/>
                </a:solidFill>
                <a:effectLst/>
                <a:uFillTx/>
                <a:latin typeface="Arial"/>
              </a:endParaRPr>
            </a:p>
          </p:txBody>
        </p:sp>
      </p:grpSp>
      <p:sp>
        <p:nvSpPr>
          <p:cNvPr id="503" name="footer-label"/>
          <p:cNvSpPr/>
          <p:nvPr/>
        </p:nvSpPr>
        <p:spPr>
          <a:xfrm>
            <a:off x="488520" y="6407280"/>
            <a:ext cx="783972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Method use, user acceptance, product performance, and cross-task validation are recorded separately</a:t>
            </a:r>
            <a:endParaRPr lang="en-US" sz="1350" b="0" u="none" strike="noStrike">
              <a:solidFill>
                <a:srgbClr val="000000"/>
              </a:solidFill>
              <a:effectLst/>
              <a:uFillTx/>
              <a:latin typeface="Arial"/>
            </a:endParaRPr>
          </a:p>
        </p:txBody>
      </p:sp>
      <p:sp>
        <p:nvSpPr>
          <p:cNvPr id="504" name="page-number"/>
          <p:cNvSpPr/>
          <p:nvPr/>
        </p:nvSpPr>
        <p:spPr>
          <a:xfrm>
            <a:off x="11439720" y="6407280"/>
            <a:ext cx="263520" cy="263520"/>
          </a:xfrm>
          <a:prstGeom prst="rect">
            <a:avLst/>
          </a:prstGeom>
          <a:noFill/>
          <a:ln w="0">
            <a:noFill/>
          </a:ln>
        </p:spPr>
        <p:style>
          <a:lnRef idx="0"/>
          <a:fillRef idx="0"/>
          <a:effectRef idx="0"/>
          <a:fontRef idx="minor"/>
        </p:style>
        <p:txBody>
          <a:bodyPr wrap="none" lIns="0" tIns="0" rIns="0" bIns="0" anchor="t">
            <a:noAutofit/>
          </a:bodyPr>
          <a:p>
            <a:pPr algn="r" defTabSz="457200">
              <a:lnSpc>
                <a:spcPct val="100000"/>
              </a:lnSpc>
            </a:pPr>
            <a:r>
              <a:rPr lang="en-US" sz="1350" b="0" u="none" strike="noStrike">
                <a:solidFill>
                  <a:srgbClr val="66758A"/>
                </a:solidFill>
                <a:effectLst/>
                <a:uFillTx/>
                <a:latin typeface="Arial"/>
                <a:ea typeface="Arial"/>
              </a:rPr>
              <a:t>14</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ai-workflow-report">
  <a:themeElements>
    <a:clrScheme name="ai-workflow-report">
      <a:dk1>
        <a:srgbClr val="24364C"/>
      </a:dk1>
      <a:lt1>
        <a:srgbClr val="FFFFFF"/>
      </a:lt1>
      <a:dk2>
        <a:srgbClr val="1F497D"/>
      </a:dk2>
      <a:lt2>
        <a:srgbClr val="FFFFFF"/>
      </a:lt2>
      <a:accent1>
        <a:srgbClr val="13243A"/>
      </a:accent1>
      <a:accent2>
        <a:srgbClr val="3662EA"/>
      </a:accent2>
      <a:accent3>
        <a:srgbClr val="3662EA"/>
      </a:accent3>
      <a:accent4>
        <a:srgbClr val="13243A"/>
      </a:accent4>
      <a:accent5>
        <a:srgbClr val="F7F8FC"/>
      </a:accent5>
      <a:accent6>
        <a:srgbClr val="8B5CF6"/>
      </a:accent6>
      <a:hlink>
        <a:srgbClr val="3662EA"/>
      </a:hlink>
      <a:folHlink>
        <a:srgbClr val="3662EA"/>
      </a:folHlink>
    </a:clrScheme>
    <a:fontScheme name="ai-workflow-report">
      <a:majorFont>
        <a:latin typeface="Arial" pitchFamily="0" charset="1"/>
        <a:ea typeface="Microsoft YaHei" pitchFamily="0" charset="1"/>
        <a:cs typeface="Arial" pitchFamily="0" charset="1"/>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itchFamily="0" charset="1"/>
        <a:ea typeface="Microsoft YaHei" pitchFamily="0" charset="1"/>
        <a:cs typeface="Arial" pitchFamily="0" charset="1"/>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7</TotalTime>
  <Application>LibreOffice/26.8.0.3$Windows_X86_64 LibreOffice_project/bce0998afefdbc355585ca324285661a2170ba77</Application>
  <AppVersion>15.0000</AppVersion>
  <Words>3790</Words>
  <Paragraphs>710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2026-10-05T05:37:00Z</dcterms:created>
  <dc:creator/>
  <dc:description/>
  <dc:language>en-US</dc:language>
  <cp:lastModifiedBy/>
  <dcterms:modified xsi:type="dcterms:W3CDTF">2026-10-05T18:11:07Z</dcterms:modified>
  <cp:revision>5</cp:revision>
  <dc:subject/>
  <dc:title>AI-Enabled Design Workflow</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9789CAEDCF8240608A02AD6845FCDB37_12</vt:lpwstr>
  </property>
  <property fmtid="{D5CDD505-2E9C-101B-9397-08002B2CF9AE}" pid="3" name="KSOProductBuildVer">
    <vt:lpwstr>2052-12.1.0.28505</vt:lpwstr>
  </property>
  <property fmtid="{D5CDD505-2E9C-101B-9397-08002B2CF9AE}" pid="4" name="PresentationFormat">
    <vt:lpwstr>On-screen Show (16:9)</vt:lpwstr>
  </property>
  <property fmtid="{D5CDD505-2E9C-101B-9397-08002B2CF9AE}" pid="5" name="Slides">
    <vt:i4>14</vt:i4>
  </property>
</Properties>
</file>