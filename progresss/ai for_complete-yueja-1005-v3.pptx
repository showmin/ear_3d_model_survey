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slides/slide10.xml" ContentType="application/vnd.openxmlformats-officedocument.presentationml.slide+xml"/>
  <Override PartName="/ppt/slides/slide3.xml" ContentType="application/vnd.openxmlformats-officedocument.presentationml.slide+xml"/>
  <Override PartName="/ppt/slides/slide11.xml" ContentType="application/vnd.openxmlformats-officedocument.presentationml.slide+xml"/>
  <Override PartName="/ppt/slides/slide4.xml" ContentType="application/vnd.openxmlformats-officedocument.presentationml.slide+xml"/>
  <Override PartName="/ppt/slides/slide2.xml" ContentType="application/vnd.openxmlformats-officedocument.presentationml.slide+xml"/>
  <Override PartName="/ppt/slides/slide6.xml" ContentType="application/vnd.openxmlformats-officedocument.presentationml.slide+xml"/>
  <Override PartName="/ppt/slides/slide1.xml" ContentType="application/vnd.openxmlformats-officedocument.presentationml.slide+xml"/>
  <Override PartName="/ppt/slides/slide7.xml" ContentType="application/vnd.openxmlformats-officedocument.presentationml.slide+xml"/>
  <Override PartName="/ppt/slides/slide5.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11.xml" ContentType="application/vnd.openxmlformats-officedocument.presentationml.notesSlide+xml"/>
  <Override PartName="/ppt/notesSlides/notesSlide1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3.xml" ContentType="application/vnd.openxmlformats-officedocument.presentationml.notesSlide+xml"/>
  <Override PartName="/ppt/notesSlides/notesSlide10.xml" ContentType="application/vnd.openxmlformats-officedocument.presentationml.notesSlide+xml"/>
  <Override PartName="/ppt/notesSlides/notesSlide15.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Lst>
  <p:sldSz cx="12192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 name="PlaceHolder 1"/>
          <p:cNvSpPr>
            <a:spLocks noGrp="1"/>
          </p:cNvSpPr>
          <p:nvPr>
            <p:ph type="sldImg"/>
          </p:nvPr>
        </p:nvSpPr>
        <p:spPr>
          <a:xfrm>
            <a:off x="216000" y="812520"/>
            <a:ext cx="7127280" cy="4008960"/>
          </a:xfrm>
          <a:prstGeom prst="rect">
            <a:avLst/>
          </a:prstGeom>
          <a:noFill/>
          <a:ln w="0">
            <a:noFill/>
          </a:ln>
        </p:spPr>
        <p:txBody>
          <a:bodyPr lIns="0" tIns="0" rIns="0" bIns="0" anchor="ctr">
            <a:noAutofit/>
          </a:bodyPr>
          <a:p>
            <a:r>
              <a:rPr lang="en-US" sz="1800" b="0" u="none" strike="noStrike">
                <a:solidFill>
                  <a:schemeClr val="dk1"/>
                </a:solidFill>
                <a:effectLst/>
                <a:uFillTx/>
                <a:latin typeface="Arial"/>
              </a:rPr>
              <a:t>Click to move the slide</a:t>
            </a:r>
            <a:endParaRPr lang="en-US" sz="1800" b="0" u="none" strike="noStrike">
              <a:solidFill>
                <a:schemeClr val="dk1"/>
              </a:solidFill>
              <a:effectLst/>
              <a:uFillTx/>
              <a:latin typeface="Arial"/>
            </a:endParaRPr>
          </a:p>
        </p:txBody>
      </p:sp>
      <p:sp>
        <p:nvSpPr>
          <p:cNvPr id="8"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9"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10" name="PlaceHolder 4"/>
          <p:cNvSpPr>
            <a:spLocks noGrp="1"/>
          </p:cNvSpPr>
          <p:nvPr>
            <p:ph type="dt" idx="4"/>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11" name="PlaceHolder 5"/>
          <p:cNvSpPr>
            <a:spLocks noGrp="1"/>
          </p:cNvSpPr>
          <p:nvPr>
            <p:ph type="ftr" idx="5"/>
          </p:nvPr>
        </p:nvSpPr>
        <p:spPr>
          <a:xfrm>
            <a:off x="0" y="10157400"/>
            <a:ext cx="3280680" cy="53424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12" name="PlaceHolder 6"/>
          <p:cNvSpPr>
            <a:spLocks noGrp="1"/>
          </p:cNvSpPr>
          <p:nvPr>
            <p:ph type="sldNum" idx="6"/>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BA97D12E-DF46-41A2-9B51-B2D05265F494}" type="slidenum">
              <a:rPr lang="en-US" sz="1400" b="0" u="none" strike="noStrike">
                <a:solidFill>
                  <a:srgbClr val="000000"/>
                </a:solidFill>
                <a:effectLst/>
                <a:uFillTx/>
                <a:latin typeface="Times New Roman"/>
              </a:rPr>
              <a:t>1</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1" name="PlaceHolder 1"/>
          <p:cNvSpPr>
            <a:spLocks noGrp="1"/>
          </p:cNvSpPr>
          <p:nvPr>
            <p:ph type="sldImg"/>
          </p:nvPr>
        </p:nvSpPr>
        <p:spPr>
          <a:xfrm>
            <a:off x="1143000" y="685800"/>
            <a:ext cx="4570920" cy="3427920"/>
          </a:xfrm>
          <a:prstGeom prst="rect">
            <a:avLst/>
          </a:prstGeom>
          <a:ln w="0">
            <a:noFill/>
          </a:ln>
        </p:spPr>
      </p:sp>
      <p:sp>
        <p:nvSpPr>
          <p:cNvPr id="572" name="PlaceHolder 2"/>
          <p:cNvSpPr>
            <a:spLocks noGrp="1"/>
          </p:cNvSpPr>
          <p:nvPr>
            <p:ph type="body"/>
          </p:nvPr>
        </p:nvSpPr>
        <p:spPr>
          <a:xfrm>
            <a:off x="685800" y="4343400"/>
            <a:ext cx="5485320" cy="4113720"/>
          </a:xfrm>
          <a:prstGeom prst="rect">
            <a:avLst/>
          </a:prstGeom>
          <a:noFill/>
          <a:ln w="0">
            <a:noFill/>
          </a:ln>
        </p:spPr>
        <p:txBody>
          <a:bodyPr lIns="90000" tIns="45000" rIns="90000" bIns="45000" anchor="t">
            <a:noAutofit/>
          </a:bodyPr>
          <a:p>
            <a:pPr indent="0" algn="l">
              <a:lnSpc>
                <a:spcPct val="100000"/>
              </a:lnSpc>
              <a:buNone/>
              <a:tabLst>
                <a:tab pos="0" algn="l"/>
              </a:tabLst>
            </a:pPr>
            <a:r>
              <a:rPr lang="en-US" sz="2000" b="0" u="none" strike="noStrike">
                <a:solidFill>
                  <a:srgbClr val="000000"/>
                </a:solidFill>
                <a:effectLst/>
                <a:uFillTx/>
                <a:latin typeface="Arial"/>
              </a:rPr>
              <a:t>We use a product design case to study how AI takes part in design tasks, and what reusable method each revision left behind. The case covers the earliest trial through the current candidate, organized in five stages. Knowledge retrieval supplies references, generation tools help compare concepts, execution tools perform the operations, and people together with check tools review the results. Design review and lesson write-back run through all of these steps. The report focuses on how AI participates, how the process changed, and what was verified.</a:t>
            </a:r>
            <a:endParaRPr lang="en-US" sz="2000" b="0" u="none" strike="noStrike">
              <a:solidFill>
                <a:srgbClr val="000000"/>
              </a:solidFill>
              <a:effectLst/>
              <a:uFillTx/>
              <a:latin typeface="Arial"/>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3" name="PlaceHolder 1"/>
          <p:cNvSpPr>
            <a:spLocks noGrp="1"/>
          </p:cNvSpPr>
          <p:nvPr>
            <p:ph type="sldImg"/>
          </p:nvPr>
        </p:nvSpPr>
        <p:spPr>
          <a:xfrm>
            <a:off x="1143000" y="685800"/>
            <a:ext cx="4570920" cy="3427920"/>
          </a:xfrm>
          <a:prstGeom prst="rect">
            <a:avLst/>
          </a:prstGeom>
          <a:ln w="0">
            <a:noFill/>
          </a:ln>
        </p:spPr>
      </p:sp>
      <p:sp>
        <p:nvSpPr>
          <p:cNvPr id="574" name="PlaceHolder 2"/>
          <p:cNvSpPr>
            <a:spLocks noGrp="1"/>
          </p:cNvSpPr>
          <p:nvPr>
            <p:ph type="body"/>
          </p:nvPr>
        </p:nvSpPr>
        <p:spPr>
          <a:xfrm>
            <a:off x="685800" y="4343400"/>
            <a:ext cx="5485320" cy="4113720"/>
          </a:xfrm>
          <a:prstGeom prst="rect">
            <a:avLst/>
          </a:prstGeom>
          <a:noFill/>
          <a:ln w="0">
            <a:noFill/>
          </a:ln>
        </p:spPr>
        <p:txBody>
          <a:bodyPr lIns="90000" tIns="45000" rIns="90000" bIns="45000" anchor="t">
            <a:noAutofit/>
          </a:bodyPr>
          <a:p>
            <a:pPr indent="0" algn="l">
              <a:lnSpc>
                <a:spcPct val="100000"/>
              </a:lnSpc>
              <a:buNone/>
              <a:tabLst>
                <a:tab pos="0" algn="l"/>
              </a:tabLst>
            </a:pPr>
            <a:r>
              <a:rPr lang="en-US" sz="2000" b="0" u="none" strike="noStrike">
                <a:solidFill>
                  <a:srgbClr val="000000"/>
                </a:solidFill>
                <a:effectLst/>
                <a:uFillTx/>
                <a:latin typeface="Arial"/>
              </a:rPr>
              <a:t>This study is organized around four questions: can design evidence be traced, can AI operate real tools, can it locate and fix errors, and can existing lessons be read by the next round. We use feedback, changes, and reviews as the unit of observation, and compare them against the history images, operation logs, rules, and code left by knowledge retrieval, concept-first work, and tool connections. Result checks include reopening after save, shape checks, and user review. Lesson reuse requires updating the workflow and the run entry points, then running regression tests. So far we have process records from a single case. Control groups, efficiency metrics, and wear tests are still pending, and any gains need later controlled validation.</a:t>
            </a:r>
            <a:endParaRPr lang="en-US" sz="2000" b="0" u="none" strike="noStrike">
              <a:solidFill>
                <a:srgbClr val="000000"/>
              </a:solidFill>
              <a:effectLst/>
              <a:uFillTx/>
              <a:latin typeface="Arial"/>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5" name="PlaceHolder 1"/>
          <p:cNvSpPr>
            <a:spLocks noGrp="1"/>
          </p:cNvSpPr>
          <p:nvPr>
            <p:ph type="sldImg"/>
          </p:nvPr>
        </p:nvSpPr>
        <p:spPr>
          <a:xfrm>
            <a:off x="1143000" y="685800"/>
            <a:ext cx="4570920" cy="3427920"/>
          </a:xfrm>
          <a:prstGeom prst="rect">
            <a:avLst/>
          </a:prstGeom>
          <a:ln w="0">
            <a:noFill/>
          </a:ln>
        </p:spPr>
      </p:sp>
      <p:sp>
        <p:nvSpPr>
          <p:cNvPr id="576" name="PlaceHolder 2"/>
          <p:cNvSpPr>
            <a:spLocks noGrp="1"/>
          </p:cNvSpPr>
          <p:nvPr>
            <p:ph type="body"/>
          </p:nvPr>
        </p:nvSpPr>
        <p:spPr>
          <a:xfrm>
            <a:off x="685800" y="4343400"/>
            <a:ext cx="5485320" cy="4113720"/>
          </a:xfrm>
          <a:prstGeom prst="rect">
            <a:avLst/>
          </a:prstGeom>
          <a:noFill/>
          <a:ln w="0">
            <a:noFill/>
          </a:ln>
        </p:spPr>
        <p:txBody>
          <a:bodyPr lIns="90000" tIns="45000" rIns="90000" bIns="45000" anchor="t">
            <a:noAutofit/>
          </a:bodyPr>
          <a:p>
            <a:pPr indent="0" algn="l">
              <a:lnSpc>
                <a:spcPct val="100000"/>
              </a:lnSpc>
              <a:buNone/>
              <a:tabLst>
                <a:tab pos="0" algn="l"/>
              </a:tabLst>
            </a:pPr>
            <a:r>
              <a:rPr lang="en-US" sz="2000" b="0" u="none" strike="noStrike">
                <a:solidFill>
                  <a:srgbClr val="000000"/>
                </a:solidFill>
                <a:effectLst/>
                <a:uFillTx/>
                <a:latin typeface="Arial"/>
              </a:rPr>
              <a:t>A design task starts from the user description, confirmed constraints, and the existing project state. AI organizes features, conflicts, and unknowns into a needs table, then retrieves references that carry their source and applicable limits, and generates several comparable concept directions. After a person confirms the concept, side, and views, AI analyzes parts, proportions, and attachment, then performs modeling, saving, and an independent reopen. Geometry and visual review produce an issue list and a receipt, and a person accepts the results within that scope. Failed items are traced to a specific step, fixed, and rechecked; release happens only after acceptance. Each round first verifies the current tool connection, and general lessons are updated when the task closes.</a:t>
            </a:r>
            <a:endParaRPr lang="en-US" sz="2000" b="0" u="none" strike="noStrike">
              <a:solidFill>
                <a:srgbClr val="000000"/>
              </a:solidFill>
              <a:effectLst/>
              <a:uFillTx/>
              <a:latin typeface="Arial"/>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7" name="PlaceHolder 1"/>
          <p:cNvSpPr>
            <a:spLocks noGrp="1"/>
          </p:cNvSpPr>
          <p:nvPr>
            <p:ph type="sldImg"/>
          </p:nvPr>
        </p:nvSpPr>
        <p:spPr>
          <a:xfrm>
            <a:off x="1143000" y="685800"/>
            <a:ext cx="4570920" cy="3427920"/>
          </a:xfrm>
          <a:prstGeom prst="rect">
            <a:avLst/>
          </a:prstGeom>
          <a:ln w="0">
            <a:noFill/>
          </a:ln>
        </p:spPr>
      </p:sp>
      <p:sp>
        <p:nvSpPr>
          <p:cNvPr id="578" name="PlaceHolder 2"/>
          <p:cNvSpPr>
            <a:spLocks noGrp="1"/>
          </p:cNvSpPr>
          <p:nvPr>
            <p:ph type="body"/>
          </p:nvPr>
        </p:nvSpPr>
        <p:spPr>
          <a:xfrm>
            <a:off x="685800" y="4343400"/>
            <a:ext cx="5485320" cy="4113720"/>
          </a:xfrm>
          <a:prstGeom prst="rect">
            <a:avLst/>
          </a:prstGeom>
          <a:noFill/>
          <a:ln w="0">
            <a:noFill/>
          </a:ln>
        </p:spPr>
        <p:txBody>
          <a:bodyPr lIns="90000" tIns="45000" rIns="90000" bIns="45000" anchor="t">
            <a:noAutofit/>
          </a:bodyPr>
          <a:p>
            <a:pPr indent="0" algn="l">
              <a:lnSpc>
                <a:spcPct val="100000"/>
              </a:lnSpc>
              <a:buNone/>
              <a:tabLst>
                <a:tab pos="0" algn="l"/>
              </a:tabLst>
            </a:pPr>
            <a:r>
              <a:rPr lang="en-US" sz="2000" b="0" u="none" strike="noStrike">
                <a:solidFill>
                  <a:srgbClr val="000000"/>
                </a:solidFill>
                <a:effectLst/>
                <a:uFillTx/>
                <a:latin typeface="Arial"/>
              </a:rPr>
              <a:t>Feature extraction works from the user description, and the input can be swapped for other needs or product tasks. In-ear, stable in sport, stays in during sleep, and youthful colors is a demo input, where in-ear describes form and sleep describes a scene. AI splits the needs by form, scene, function, and appearance preference, marks hard constraints, soft preferences, conflicts, and items to clarify, and asks for confirmation when sizes or priorities are missing. Retrieval queries by dimension, combines complementary references, deduplicates products, and records uncovered items. Both lexical and semantic retrieval keep their sources. An independent trial used deduplication to choose two different products that cover more needs. Dimension splitting and coverage selection are not yet automatically integrated into the main project. Wear performance is untested, and constraint strength and priorities are still confirmed by the user.</a:t>
            </a:r>
            <a:endParaRPr lang="en-US" sz="2000" b="0" u="none" strike="noStrike">
              <a:solidFill>
                <a:srgbClr val="000000"/>
              </a:solidFill>
              <a:effectLst/>
              <a:uFillTx/>
              <a:latin typeface="Arial"/>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9" name="PlaceHolder 1"/>
          <p:cNvSpPr>
            <a:spLocks noGrp="1"/>
          </p:cNvSpPr>
          <p:nvPr>
            <p:ph type="sldImg"/>
          </p:nvPr>
        </p:nvSpPr>
        <p:spPr>
          <a:xfrm>
            <a:off x="1143000" y="685800"/>
            <a:ext cx="4570920" cy="3427920"/>
          </a:xfrm>
          <a:prstGeom prst="rect">
            <a:avLst/>
          </a:prstGeom>
          <a:ln w="0">
            <a:noFill/>
          </a:ln>
        </p:spPr>
      </p:sp>
      <p:sp>
        <p:nvSpPr>
          <p:cNvPr id="580" name="PlaceHolder 2"/>
          <p:cNvSpPr>
            <a:spLocks noGrp="1"/>
          </p:cNvSpPr>
          <p:nvPr>
            <p:ph type="body"/>
          </p:nvPr>
        </p:nvSpPr>
        <p:spPr>
          <a:xfrm>
            <a:off x="685800" y="4343400"/>
            <a:ext cx="5485320" cy="4113720"/>
          </a:xfrm>
          <a:prstGeom prst="rect">
            <a:avLst/>
          </a:prstGeom>
          <a:noFill/>
          <a:ln w="0">
            <a:noFill/>
          </a:ln>
        </p:spPr>
        <p:txBody>
          <a:bodyPr lIns="90000" tIns="45000" rIns="90000" bIns="45000" anchor="t">
            <a:noAutofit/>
          </a:bodyPr>
          <a:p>
            <a:pPr indent="0" algn="l">
              <a:lnSpc>
                <a:spcPct val="100000"/>
              </a:lnSpc>
              <a:buNone/>
              <a:tabLst>
                <a:tab pos="0" algn="l"/>
              </a:tabLst>
            </a:pPr>
            <a:r>
              <a:rPr lang="en-US" sz="2000" b="0" u="none" strike="noStrike">
                <a:solidFill>
                  <a:srgbClr val="000000"/>
                </a:solidFill>
                <a:effectLst/>
                <a:uFillTx/>
                <a:latin typeface="Arial"/>
              </a:rPr>
              <a:t>RAG stands for retrieval-augmented generation. It brings retrieved material into the current task so that AI can make design suggestions with sources. Here we use three separate knowledge bases: product design, ear anatomy, and tools. Product cases, image observations, and user feedback provide references for structural trade-offs, support methods, and material expression. Ear data provides position, size meaning, and contact constraints. FreeCAD documentation helps choose modeling and check operations. In this case, small-volume products supported function and structure trade-offs, soft-support cases helped separate the hard shell from contact parts, and user feedback added charging, control, and long-term use issues. References include QuietOn, Kokoon, Ozlo, and Nothing Ear, and each suggestion keeps its source type, applicable limits, and open items. Retrieval relevance and source credibility are judged separately, and real comfort still needs wear trials.</a:t>
            </a:r>
            <a:endParaRPr lang="en-US" sz="2000" b="0" u="none" strike="noStrike">
              <a:solidFill>
                <a:srgbClr val="000000"/>
              </a:solidFill>
              <a:effectLst/>
              <a:uFillTx/>
              <a:latin typeface="Arial"/>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1" name="PlaceHolder 1"/>
          <p:cNvSpPr>
            <a:spLocks noGrp="1"/>
          </p:cNvSpPr>
          <p:nvPr>
            <p:ph type="sldImg"/>
          </p:nvPr>
        </p:nvSpPr>
        <p:spPr>
          <a:xfrm>
            <a:off x="1143000" y="685800"/>
            <a:ext cx="4570920" cy="3427920"/>
          </a:xfrm>
          <a:prstGeom prst="rect">
            <a:avLst/>
          </a:prstGeom>
          <a:ln w="0">
            <a:noFill/>
          </a:ln>
        </p:spPr>
      </p:sp>
      <p:sp>
        <p:nvSpPr>
          <p:cNvPr id="582" name="PlaceHolder 2"/>
          <p:cNvSpPr>
            <a:spLocks noGrp="1"/>
          </p:cNvSpPr>
          <p:nvPr>
            <p:ph type="body"/>
          </p:nvPr>
        </p:nvSpPr>
        <p:spPr>
          <a:xfrm>
            <a:off x="685800" y="4343400"/>
            <a:ext cx="5485320" cy="4113720"/>
          </a:xfrm>
          <a:prstGeom prst="rect">
            <a:avLst/>
          </a:prstGeom>
          <a:noFill/>
          <a:ln w="0">
            <a:noFill/>
          </a:ln>
        </p:spPr>
        <p:txBody>
          <a:bodyPr lIns="90000" tIns="45000" rIns="90000" bIns="45000" anchor="t">
            <a:noAutofit/>
          </a:bodyPr>
          <a:p>
            <a:pPr indent="0" algn="l">
              <a:lnSpc>
                <a:spcPct val="100000"/>
              </a:lnSpc>
              <a:buNone/>
              <a:tabLst>
                <a:tab pos="0" algn="l"/>
              </a:tabLst>
            </a:pPr>
            <a:r>
              <a:rPr lang="en-US" sz="2000" b="0" u="none" strike="noStrike">
                <a:solidFill>
                  <a:srgbClr val="000000"/>
                </a:solidFill>
                <a:effectLst/>
                <a:uFillTx/>
                <a:latin typeface="Arial"/>
              </a:rPr>
              <a:t>Evidence review records sources, image observations, and AI inferences separately. Vendor notes, independent reviews, and user feedback keep the author and source category. Images can support observations of outline, material zones, and accessory relations, while sizes and use effects need matching evidence. Before data enters the design, we verify the original text and image source and record the applicable conditions, then separate shape references from support data by purpose, and sizes must map to a specific part. Inferences are filed apart from the source text, and conclusions without evidence are marked as open and not yet used for modeling. An independent trial reviewed 166 images one by one: 119 were classed as shape references and 47 as support data. Comfort, sport stability, and retrieval quality gains still need separate validation.</a:t>
            </a:r>
            <a:endParaRPr lang="en-US" sz="2000" b="0" u="none" strike="noStrike">
              <a:solidFill>
                <a:srgbClr val="000000"/>
              </a:solidFill>
              <a:effectLst/>
              <a:uFillTx/>
              <a:latin typeface="Arial"/>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3" name="PlaceHolder 1"/>
          <p:cNvSpPr>
            <a:spLocks noGrp="1"/>
          </p:cNvSpPr>
          <p:nvPr>
            <p:ph type="sldImg"/>
          </p:nvPr>
        </p:nvSpPr>
        <p:spPr>
          <a:xfrm>
            <a:off x="1143000" y="685800"/>
            <a:ext cx="4570920" cy="3427920"/>
          </a:xfrm>
          <a:prstGeom prst="rect">
            <a:avLst/>
          </a:prstGeom>
          <a:ln w="0">
            <a:noFill/>
          </a:ln>
        </p:spPr>
      </p:sp>
      <p:sp>
        <p:nvSpPr>
          <p:cNvPr id="584" name="PlaceHolder 2"/>
          <p:cNvSpPr>
            <a:spLocks noGrp="1"/>
          </p:cNvSpPr>
          <p:nvPr>
            <p:ph type="body"/>
          </p:nvPr>
        </p:nvSpPr>
        <p:spPr>
          <a:xfrm>
            <a:off x="685800" y="4343400"/>
            <a:ext cx="5485320" cy="4113720"/>
          </a:xfrm>
          <a:prstGeom prst="rect">
            <a:avLst/>
          </a:prstGeom>
          <a:noFill/>
          <a:ln w="0">
            <a:noFill/>
          </a:ln>
        </p:spPr>
        <p:txBody>
          <a:bodyPr lIns="90000" tIns="45000" rIns="90000" bIns="45000" anchor="t">
            <a:noAutofit/>
          </a:bodyPr>
          <a:p>
            <a:pPr indent="0" algn="l">
              <a:lnSpc>
                <a:spcPct val="100000"/>
              </a:lnSpc>
              <a:buNone/>
              <a:tabLst>
                <a:tab pos="0" algn="l"/>
              </a:tabLst>
            </a:pPr>
            <a:r>
              <a:rPr lang="en-US" sz="2000" b="0" u="none" strike="noStrike">
                <a:solidFill>
                  <a:srgbClr val="000000"/>
                </a:solidFill>
                <a:effectLst/>
                <a:uFillTx/>
                <a:latin typeface="Arial"/>
              </a:rPr>
              <a:t>MCP connects the tools, RAG provides design evidence, and people review the execution scope and results. AI combines the confirmed project state to organize tasks, choose tools, and check receipts. Tool paths include headless document, script, and export operations, plus the existing CAD GUI bridge; the GUI prototype supports only its verified operations, and the current task still confirms the actual window and document. Scripts are checked before execution, run in an isolated process, and their results are verified afterwards; if the connection fails, it is restored first. After a file is saved it is reopened independently, geometry and visuals are checked, and a comparison receipt is produced for human review. Failed checks return to execution, major design trade-offs return to design review, and a person accepts the final result. Different interfaces divide the work by their own verified capabilities.</a:t>
            </a:r>
            <a:endParaRPr lang="en-US" sz="2000" b="0" u="none" strike="noStrike">
              <a:solidFill>
                <a:srgbClr val="000000"/>
              </a:solidFill>
              <a:effectLst/>
              <a:uFillTx/>
              <a:latin typeface="Arial"/>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5" name="PlaceHolder 1"/>
          <p:cNvSpPr>
            <a:spLocks noGrp="1"/>
          </p:cNvSpPr>
          <p:nvPr>
            <p:ph type="sldImg"/>
          </p:nvPr>
        </p:nvSpPr>
        <p:spPr>
          <a:xfrm>
            <a:off x="1143000" y="685800"/>
            <a:ext cx="4571280" cy="3428280"/>
          </a:xfrm>
          <a:prstGeom prst="rect">
            <a:avLst/>
          </a:prstGeom>
          <a:ln w="0">
            <a:noFill/>
          </a:ln>
        </p:spPr>
      </p:sp>
      <p:sp>
        <p:nvSpPr>
          <p:cNvPr id="586" name="PlaceHolder 2"/>
          <p:cNvSpPr>
            <a:spLocks noGrp="1"/>
          </p:cNvSpPr>
          <p:nvPr>
            <p:ph type="body"/>
          </p:nvPr>
        </p:nvSpPr>
        <p:spPr>
          <a:xfrm>
            <a:off x="685800" y="4343400"/>
            <a:ext cx="5485680" cy="4114080"/>
          </a:xfrm>
          <a:prstGeom prst="rect">
            <a:avLst/>
          </a:prstGeom>
          <a:noFill/>
          <a:ln w="0">
            <a:noFill/>
          </a:ln>
        </p:spPr>
        <p:txBody>
          <a:bodyPr lIns="90000" tIns="45000" rIns="90000" bIns="45000" anchor="t">
            <a:noAutofit/>
          </a:bodyPr>
          <a:p>
            <a:pPr indent="0" algn="l">
              <a:lnSpc>
                <a:spcPct val="100000"/>
              </a:lnSpc>
              <a:buNone/>
              <a:tabLst>
                <a:tab pos="0" algn="l"/>
              </a:tabLst>
            </a:pPr>
            <a:r>
              <a:rPr lang="en-US" sz="2000" b="0" u="none" strike="noStrike">
                <a:solidFill>
                  <a:srgbClr val="000000"/>
                </a:solidFill>
                <a:effectLst/>
                <a:uFillTx/>
                <a:latin typeface="Arial"/>
              </a:rPr>
              <a:t>This slide takes the user's needs as the example and expands product form, use scenario, and aesthetic preference into execution inputs. The archived real-keyword retrieval for the same needs returned four candidates: the Huawei ear-clip case provides the vendor's description of the hard/soft split, and the QuietOn sleep plugs provide the vendor's description of low protrusion and the trade-off between features and volume; both are kept separate from in-ear performance validation. The Fin Wing plan in the figure is reconstructed from the original generation Prompt and specifies the oval body, the short wide rounded soft fin, the blue-gray hard shell, the teal matte soft gel, the same left ear, shared components, and the required views. The item-by-item binding of data to each drawing parameter was not saved, so the continuous decision log of that time cannot be recreated. The existing results cover six directions. The image tool and RAG are separate steps; after rendering, the ear side, joints, materials, and views still need checking before a person selects. The original retrieval and the full English Prompt are archived; comfort, stability, and engineering dimensions remain to be validated.QuietOnPromptRAGPrompt</a:t>
            </a:r>
            <a:endParaRPr lang="en-US" sz="2000" b="0" u="none" strike="noStrike">
              <a:solidFill>
                <a:srgbClr val="000000"/>
              </a:solidFill>
              <a:effectLst/>
              <a:uFillTx/>
              <a:latin typeface="Arial"/>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7" name="PlaceHolder 1"/>
          <p:cNvSpPr>
            <a:spLocks noGrp="1"/>
          </p:cNvSpPr>
          <p:nvPr>
            <p:ph type="sldImg"/>
          </p:nvPr>
        </p:nvSpPr>
        <p:spPr>
          <a:xfrm>
            <a:off x="1143000" y="685800"/>
            <a:ext cx="4570920" cy="3427920"/>
          </a:xfrm>
          <a:prstGeom prst="rect">
            <a:avLst/>
          </a:prstGeom>
          <a:ln w="0">
            <a:noFill/>
          </a:ln>
        </p:spPr>
      </p:sp>
      <p:sp>
        <p:nvSpPr>
          <p:cNvPr id="588" name="PlaceHolder 2"/>
          <p:cNvSpPr>
            <a:spLocks noGrp="1"/>
          </p:cNvSpPr>
          <p:nvPr>
            <p:ph type="body"/>
          </p:nvPr>
        </p:nvSpPr>
        <p:spPr>
          <a:xfrm>
            <a:off x="685800" y="4343400"/>
            <a:ext cx="5485320" cy="4113720"/>
          </a:xfrm>
          <a:prstGeom prst="rect">
            <a:avLst/>
          </a:prstGeom>
          <a:noFill/>
          <a:ln w="0">
            <a:noFill/>
          </a:ln>
        </p:spPr>
        <p:txBody>
          <a:bodyPr lIns="90000" tIns="45000" rIns="90000" bIns="45000" anchor="t">
            <a:noAutofit/>
          </a:bodyPr>
          <a:p>
            <a:pPr indent="0" algn="l">
              <a:lnSpc>
                <a:spcPct val="100000"/>
              </a:lnSpc>
              <a:buNone/>
              <a:tabLst>
                <a:tab pos="0" algn="l"/>
              </a:tabLst>
            </a:pPr>
            <a:r>
              <a:rPr lang="en-US" sz="2000" b="0" u="none" strike="noStrike">
                <a:solidFill>
                  <a:srgbClr val="000000"/>
                </a:solidFill>
                <a:effectLst/>
                <a:uFillTx/>
                <a:latin typeface="Arial"/>
              </a:rPr>
              <a:t>The same needs can generate several concept strategies for people to compare outlines, support methods, and hard/soft splits. The six left-ear concepts are Seed Pod with a shallow saddle soft support, Pebble with a rounded low profile, Fin Wing with a short wide soft fin, Spiral with a shallow curled surface, Bloom with a soft-gel petal wrap, and Twin Petal with overlapping twin shells. They demonstrate this round's generation flow and have not yet been selected. Volume, comfort, and stability have not been tested, and later selection must keep checking these requirements. Other input features can produce other concept directions.</a:t>
            </a:r>
            <a:endParaRPr lang="en-US" sz="2000" b="0" u="none" strike="noStrike">
              <a:solidFill>
                <a:srgbClr val="000000"/>
              </a:solidFill>
              <a:effectLst/>
              <a:uFillTx/>
              <a:latin typeface="Arial"/>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9" name="PlaceHolder 1"/>
          <p:cNvSpPr>
            <a:spLocks noGrp="1"/>
          </p:cNvSpPr>
          <p:nvPr>
            <p:ph type="sldImg"/>
          </p:nvPr>
        </p:nvSpPr>
        <p:spPr>
          <a:xfrm>
            <a:off x="1143000" y="685800"/>
            <a:ext cx="4570920" cy="3427920"/>
          </a:xfrm>
          <a:prstGeom prst="rect">
            <a:avLst/>
          </a:prstGeom>
          <a:ln w="0">
            <a:noFill/>
          </a:ln>
        </p:spPr>
      </p:sp>
      <p:sp>
        <p:nvSpPr>
          <p:cNvPr id="590" name="PlaceHolder 2"/>
          <p:cNvSpPr>
            <a:spLocks noGrp="1"/>
          </p:cNvSpPr>
          <p:nvPr>
            <p:ph type="body"/>
          </p:nvPr>
        </p:nvSpPr>
        <p:spPr>
          <a:xfrm>
            <a:off x="685800" y="4343400"/>
            <a:ext cx="5485320" cy="4113720"/>
          </a:xfrm>
          <a:prstGeom prst="rect">
            <a:avLst/>
          </a:prstGeom>
          <a:noFill/>
          <a:ln w="0">
            <a:noFill/>
          </a:ln>
        </p:spPr>
        <p:txBody>
          <a:bodyPr lIns="90000" tIns="45000" rIns="90000" bIns="45000" anchor="t">
            <a:noAutofit/>
          </a:bodyPr>
          <a:p>
            <a:pPr indent="0" algn="l">
              <a:lnSpc>
                <a:spcPct val="100000"/>
              </a:lnSpc>
              <a:buNone/>
              <a:tabLst>
                <a:tab pos="0" algn="l"/>
              </a:tabLst>
            </a:pPr>
            <a:r>
              <a:rPr lang="en-US" sz="2000" b="0" u="none" strike="noStrike">
                <a:solidFill>
                  <a:srgbClr val="000000"/>
                </a:solidFill>
                <a:effectLst/>
                <a:uFillTx/>
                <a:latin typeface="Arial"/>
              </a:rPr>
              <a:t>Side, layout, and shared part relations are written into the concept-image generation spec, which is read by the template, the current reference list, RAG prompts, and tests. The current case uses the left ear only and keeps the original orientation, with a six-panel layout: worn view on the left, four views in the center, and the hero image on the right. The four views are side, front, rear, and an angled top view, and only these panels are shown. All views share proportion, joints, and material split, and the review checks each item for consistency. New tasks reuse the consistency check method; form, color, and material are decided by the task, and if the user chooses another side, the new choice applies.</a:t>
            </a:r>
            <a:endParaRPr lang="en-US" sz="2000" b="0" u="none" strike="noStrike">
              <a:solidFill>
                <a:srgbClr val="000000"/>
              </a:solidFill>
              <a:effectLst/>
              <a:uFillTx/>
              <a:latin typeface="Arial"/>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1" name="PlaceHolder 1"/>
          <p:cNvSpPr>
            <a:spLocks noGrp="1"/>
          </p:cNvSpPr>
          <p:nvPr>
            <p:ph type="sldImg"/>
          </p:nvPr>
        </p:nvSpPr>
        <p:spPr>
          <a:xfrm>
            <a:off x="1143000" y="685800"/>
            <a:ext cx="4570920" cy="3427920"/>
          </a:xfrm>
          <a:prstGeom prst="rect">
            <a:avLst/>
          </a:prstGeom>
          <a:ln w="0">
            <a:noFill/>
          </a:ln>
        </p:spPr>
      </p:sp>
      <p:sp>
        <p:nvSpPr>
          <p:cNvPr id="592" name="PlaceHolder 2"/>
          <p:cNvSpPr>
            <a:spLocks noGrp="1"/>
          </p:cNvSpPr>
          <p:nvPr>
            <p:ph type="body"/>
          </p:nvPr>
        </p:nvSpPr>
        <p:spPr>
          <a:xfrm>
            <a:off x="685800" y="4343400"/>
            <a:ext cx="5485320" cy="4113720"/>
          </a:xfrm>
          <a:prstGeom prst="rect">
            <a:avLst/>
          </a:prstGeom>
          <a:noFill/>
          <a:ln w="0">
            <a:noFill/>
          </a:ln>
        </p:spPr>
        <p:txBody>
          <a:bodyPr lIns="90000" tIns="45000" rIns="90000" bIns="45000" anchor="t">
            <a:noAutofit/>
          </a:bodyPr>
          <a:p>
            <a:pPr indent="0" algn="l">
              <a:lnSpc>
                <a:spcPct val="100000"/>
              </a:lnSpc>
              <a:buNone/>
              <a:tabLst>
                <a:tab pos="0" algn="l"/>
              </a:tabLst>
            </a:pPr>
            <a:r>
              <a:rPr lang="en-US" sz="2000" b="0" u="none" strike="noStrike">
                <a:solidFill>
                  <a:srgbClr val="000000"/>
                </a:solidFill>
                <a:effectLst/>
                <a:uFillTx/>
                <a:latin typeface="Arial"/>
              </a:rPr>
              <a:t>Early on, AI could turn need words into rough geometry, and direct modeling exposed the lack of form evidence. Concept-first put ideation, 2D expression, and human selection before modeling, locking the design intent first. The gap at the second node was an editable 3D model, so the next stage had to turn the chosen concept into editable CAD geometry. Once the model existed, the concept and the saved model could be checked item by item, while occlusion ambiguity in circled feedback still needed later spatial diagnosis. The early 2D outlines come from the real archive; the later joint-review image is an example of a newer method, and the candidate still awaits review.</a:t>
            </a:r>
            <a:endParaRPr lang="en-US" sz="2000" b="0" u="none" strike="noStrike">
              <a:solidFill>
                <a:srgbClr val="000000"/>
              </a:solidFill>
              <a:effectLst/>
              <a:uFillTx/>
              <a:latin typeface="Arial"/>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3" name="PlaceHolder 1"/>
          <p:cNvSpPr>
            <a:spLocks noGrp="1"/>
          </p:cNvSpPr>
          <p:nvPr>
            <p:ph type="sldImg"/>
          </p:nvPr>
        </p:nvSpPr>
        <p:spPr>
          <a:xfrm>
            <a:off x="1143000" y="685800"/>
            <a:ext cx="4570920" cy="3427920"/>
          </a:xfrm>
          <a:prstGeom prst="rect">
            <a:avLst/>
          </a:prstGeom>
          <a:ln w="0">
            <a:noFill/>
          </a:ln>
        </p:spPr>
      </p:sp>
      <p:sp>
        <p:nvSpPr>
          <p:cNvPr id="594" name="PlaceHolder 2"/>
          <p:cNvSpPr>
            <a:spLocks noGrp="1"/>
          </p:cNvSpPr>
          <p:nvPr>
            <p:ph type="body"/>
          </p:nvPr>
        </p:nvSpPr>
        <p:spPr>
          <a:xfrm>
            <a:off x="685800" y="4343400"/>
            <a:ext cx="5485320" cy="4113720"/>
          </a:xfrm>
          <a:prstGeom prst="rect">
            <a:avLst/>
          </a:prstGeom>
          <a:noFill/>
          <a:ln w="0">
            <a:noFill/>
          </a:ln>
        </p:spPr>
        <p:txBody>
          <a:bodyPr lIns="90000" tIns="45000" rIns="90000" bIns="45000" anchor="t">
            <a:noAutofit/>
          </a:bodyPr>
          <a:p>
            <a:pPr indent="0" algn="l">
              <a:lnSpc>
                <a:spcPct val="100000"/>
              </a:lnSpc>
              <a:buNone/>
              <a:tabLst>
                <a:tab pos="0" algn="l"/>
              </a:tabLst>
            </a:pPr>
            <a:r>
              <a:rPr lang="en-US" sz="2000" b="0" u="none" strike="noStrike">
                <a:solidFill>
                  <a:srgbClr val="000000"/>
                </a:solidFill>
                <a:effectLst/>
                <a:uFillTx/>
                <a:latin typeface="Arial"/>
              </a:rPr>
              <a:t>Real sections help verify part layers and distances; the two images excerpt 635 independent section lines, each shown at equal scale. Once the ear-region names in Chinese and English, the map, and the real source faces are bound together, feedback can be placed on the model. When the overall pose is wrong, the whole unit and its parts move together, so local deformation stops compensating for layout errors. The saved-state A/B in the image keeps the same camera; the partial confirmation of the unit direction covers only that judgment, and joint, support, and real wear still need validation. Methods that pass review, failure causes, and applicable limits are written back to the workflow and the execution entry points, and cross-task effects keep being checked.</a:t>
            </a:r>
            <a:endParaRPr lang="en-US" sz="2000" b="0" u="none" strike="noStrike">
              <a:solidFill>
                <a:srgbClr val="000000"/>
              </a:solidFill>
              <a:effectLst/>
              <a:uFillTx/>
              <a:latin typeface="Arial"/>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5" name="PlaceHolder 1"/>
          <p:cNvSpPr>
            <a:spLocks noGrp="1"/>
          </p:cNvSpPr>
          <p:nvPr>
            <p:ph type="sldImg"/>
          </p:nvPr>
        </p:nvSpPr>
        <p:spPr>
          <a:xfrm>
            <a:off x="1143000" y="685800"/>
            <a:ext cx="4570920" cy="3427920"/>
          </a:xfrm>
          <a:prstGeom prst="rect">
            <a:avLst/>
          </a:prstGeom>
          <a:ln w="0">
            <a:noFill/>
          </a:ln>
        </p:spPr>
      </p:sp>
      <p:sp>
        <p:nvSpPr>
          <p:cNvPr id="596" name="PlaceHolder 2"/>
          <p:cNvSpPr>
            <a:spLocks noGrp="1"/>
          </p:cNvSpPr>
          <p:nvPr>
            <p:ph type="body"/>
          </p:nvPr>
        </p:nvSpPr>
        <p:spPr>
          <a:xfrm>
            <a:off x="685800" y="4343400"/>
            <a:ext cx="5485320" cy="4113720"/>
          </a:xfrm>
          <a:prstGeom prst="rect">
            <a:avLst/>
          </a:prstGeom>
          <a:noFill/>
          <a:ln w="0">
            <a:noFill/>
          </a:ln>
        </p:spPr>
        <p:txBody>
          <a:bodyPr lIns="90000" tIns="45000" rIns="90000" bIns="45000" anchor="t">
            <a:noAutofit/>
          </a:bodyPr>
          <a:p>
            <a:pPr indent="0" algn="l">
              <a:lnSpc>
                <a:spcPct val="100000"/>
              </a:lnSpc>
              <a:buNone/>
              <a:tabLst>
                <a:tab pos="0" algn="l"/>
              </a:tabLst>
            </a:pPr>
            <a:r>
              <a:rPr lang="en-US" sz="2000" b="0" u="none" strike="noStrike">
                <a:solidFill>
                  <a:srgbClr val="000000"/>
                </a:solidFill>
                <a:effectLst/>
                <a:uFillTx/>
                <a:latin typeface="Arial"/>
              </a:rPr>
              <a:t>After each task closes, the process writes useful lessons as rules that the next round can read. Side and views kept changing, which led the template and generation prompt to fix the display rules and verify identity. Fix results were hard to review objectively, which led the execution spec to require save-and-reopen and same-condition comparison, written into receipts and RAG output. One-off diagnostic scripts were hard to reuse, so section lines, sources, and parameters are stored separately, with a diagnostic spec, a viewer tool, and negative cases. A full-period audit covered 28 lesson types, filled known entry-point gaps, and recorded tool implementation, test, and migration progress separately; outdated rules are kept as history. Project memory stores local rules for later tasks; this write-back is limited to local files, and model training and account-level memory are not part of the process. Regression tests currently check known errors, while cross-project migration, design quality, and user acceptance are validated separately.</a:t>
            </a:r>
            <a:endParaRPr lang="en-US" sz="2000" b="0" u="none" strike="noStrike">
              <a:solidFill>
                <a:srgbClr val="000000"/>
              </a:solidFill>
              <a:effectLst/>
              <a:uFillTx/>
              <a:latin typeface="Arial"/>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7" name="PlaceHolder 1"/>
          <p:cNvSpPr>
            <a:spLocks noGrp="1"/>
          </p:cNvSpPr>
          <p:nvPr>
            <p:ph type="sldImg"/>
          </p:nvPr>
        </p:nvSpPr>
        <p:spPr>
          <a:xfrm>
            <a:off x="1143000" y="685800"/>
            <a:ext cx="4571280" cy="3428280"/>
          </a:xfrm>
          <a:prstGeom prst="rect">
            <a:avLst/>
          </a:prstGeom>
          <a:ln w="0">
            <a:noFill/>
          </a:ln>
        </p:spPr>
      </p:sp>
      <p:sp>
        <p:nvSpPr>
          <p:cNvPr id="598" name="PlaceHolder 2"/>
          <p:cNvSpPr>
            <a:spLocks noGrp="1"/>
          </p:cNvSpPr>
          <p:nvPr>
            <p:ph type="body"/>
          </p:nvPr>
        </p:nvSpPr>
        <p:spPr>
          <a:xfrm>
            <a:off x="685800" y="4343400"/>
            <a:ext cx="5485680" cy="4114080"/>
          </a:xfrm>
          <a:prstGeom prst="rect">
            <a:avLst/>
          </a:prstGeom>
          <a:noFill/>
          <a:ln w="0">
            <a:noFill/>
          </a:ln>
        </p:spPr>
        <p:txBody>
          <a:bodyPr lIns="90000" tIns="45000" rIns="90000" bIns="45000" anchor="t">
            <a:noAutofit/>
          </a:bodyPr>
          <a:p>
            <a:pPr indent="0" algn="l">
              <a:lnSpc>
                <a:spcPct val="100000"/>
              </a:lnSpc>
              <a:buNone/>
              <a:tabLst>
                <a:tab pos="0" algn="l"/>
              </a:tabLst>
            </a:pPr>
            <a:r>
              <a:rPr lang="en-US" sz="2000" b="0" u="none" strike="noStrike">
                <a:solidFill>
                  <a:srgbClr val="000000"/>
                </a:solidFill>
                <a:effectLst/>
                <a:uFillTx/>
                <a:latin typeface="Arial"/>
              </a:rPr>
              <a:t>Each change starts with human feedback. AI restates the goal, the plan, and the protected items, and implements only after confirmation or under explicit prior authorization. The file is saved and reopened independently, and a same-condition A/B PDF is provided for human review; the accepted scope and unresolved items are recorded separately, and anything that fails is reworked. The right side keeps the actual receipt of one soft-leaf nudge, used only to show the review scope of that change. Effective methods and failure boundaries go into the workflow, project memory, generation prompts, templates, and tool entry points, and known positive and negative cases plus the next task are used to check that they are actually read. Specifications, tool implementation, tests, and migration are tracked separately; write-back does not mean model parameter training or overall product acceptance.AIA/B PDF</a:t>
            </a:r>
            <a:endParaRPr lang="en-US" sz="2000" b="0" u="none" strike="noStrike">
              <a:solidFill>
                <a:srgbClr val="000000"/>
              </a:solidFill>
              <a:effectLst/>
              <a:uFillTx/>
              <a:latin typeface="Arial"/>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9" name="PlaceHolder 1"/>
          <p:cNvSpPr>
            <a:spLocks noGrp="1"/>
          </p:cNvSpPr>
          <p:nvPr>
            <p:ph type="sldImg"/>
          </p:nvPr>
        </p:nvSpPr>
        <p:spPr>
          <a:xfrm>
            <a:off x="1143000" y="685800"/>
            <a:ext cx="4570920" cy="3427920"/>
          </a:xfrm>
          <a:prstGeom prst="rect">
            <a:avLst/>
          </a:prstGeom>
          <a:ln w="0">
            <a:noFill/>
          </a:ln>
        </p:spPr>
      </p:sp>
      <p:sp>
        <p:nvSpPr>
          <p:cNvPr id="600" name="PlaceHolder 2"/>
          <p:cNvSpPr>
            <a:spLocks noGrp="1"/>
          </p:cNvSpPr>
          <p:nvPr>
            <p:ph type="body"/>
          </p:nvPr>
        </p:nvSpPr>
        <p:spPr>
          <a:xfrm>
            <a:off x="685800" y="4343400"/>
            <a:ext cx="5485320" cy="4113720"/>
          </a:xfrm>
          <a:prstGeom prst="rect">
            <a:avLst/>
          </a:prstGeom>
          <a:noFill/>
          <a:ln w="0">
            <a:noFill/>
          </a:ln>
        </p:spPr>
        <p:txBody>
          <a:bodyPr lIns="90000" tIns="45000" rIns="90000" bIns="45000" anchor="t">
            <a:noAutofit/>
          </a:bodyPr>
          <a:p>
            <a:pPr indent="0" algn="l">
              <a:lnSpc>
                <a:spcPct val="100000"/>
              </a:lnSpc>
              <a:buNone/>
              <a:tabLst>
                <a:tab pos="0" algn="l"/>
              </a:tabLst>
            </a:pPr>
            <a:r>
              <a:rPr lang="en-US" sz="2000" b="0" u="none" strike="noStrike">
                <a:solidFill>
                  <a:srgbClr val="000000"/>
                </a:solidFill>
                <a:effectLst/>
                <a:uFillTx/>
                <a:latin typeface="Arial"/>
              </a:rPr>
              <a:t>The main project already uses RAG retrieval, concept-first work, tool execution, save-and-reopen, review receipts, and lesson write-back, and the process records can be checked. Form and scene splitting, need-coverage selection, and the review of image purpose and size attribution have independent trial results but are not yet fully on the main project's automatic path. Causal gains in efficiency and design quality, plus real comfort, stability, material, and manufacturing performance, still need validation. The next round can switch the needs and product task, check feature extraction and rule reuse, log errors, rework, and data gaps, track rule reads and failures, run controls with one standard, and then run wear and engineering tests separately. Pose refinement is paused for now, the joint candidate awaits review, later multi-view and form regression are pending, and earlier gaps are kept. Method use, content acceptance, product performance, and cross-task validation each record their own results.</a:t>
            </a:r>
            <a:endParaRPr lang="en-US" sz="2000" b="0" u="none" strike="noStrike">
              <a:solidFill>
                <a:srgbClr val="000000"/>
              </a:solidFill>
              <a:effectLst/>
              <a:uFillTx/>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ai-workflow-report — Blank">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p>
            <a:r>
              <a:t>Footer</a:t>
            </a:r>
          </a:p>
        </p:txBody>
      </p:sp>
      <p:sp>
        <p:nvSpPr>
          <p:cNvPr id="3" name="PlaceHolder 2"/>
          <p:cNvSpPr>
            <a:spLocks noGrp="1"/>
          </p:cNvSpPr>
          <p:nvPr>
            <p:ph type="sldNum" idx="2"/>
          </p:nvPr>
        </p:nvSpPr>
        <p:spPr/>
        <p:txBody>
          <a:bodyPr/>
          <a:p>
            <a:fld id="{31592A29-3026-439C-8DBA-68FB99F62505}" type="slidenum">
              <a:t>&lt;#&gt;</a:t>
            </a:fld>
          </a:p>
        </p:txBody>
      </p:sp>
      <p:sp>
        <p:nvSpPr>
          <p:cNvPr id="4" name="PlaceHolder 3"/>
          <p:cNvSpPr>
            <a:spLocks noGrp="1"/>
          </p:cNvSpPr>
          <p:nvPr>
            <p:ph type="dt" idx="3"/>
          </p:nvPr>
        </p:nvSpPr>
        <p:spPr/>
        <p:txBody>
          <a:bodyPr/>
          <a:p>
            <a:r>
              <a:rPr lang="en-US"/>
              <a:t/>
            </a:r>
          </a:p>
        </p:txBody>
      </p:sp>
    </p:spTree>
  </p:cSld>
  <p:clrMapOvr>
    <a:masterClrMapping/>
  </p:clrMapOvr>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ftr" idx="1"/>
          </p:nvPr>
        </p:nvSpPr>
        <p:spPr>
          <a:xfrm>
            <a:off x="3124080" y="6356520"/>
            <a:ext cx="2894400" cy="3639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 name="PlaceHolder 2"/>
          <p:cNvSpPr>
            <a:spLocks noGrp="1"/>
          </p:cNvSpPr>
          <p:nvPr>
            <p:ph type="sldNum" idx="2"/>
          </p:nvPr>
        </p:nvSpPr>
        <p:spPr>
          <a:xfrm>
            <a:off x="6553080" y="6356520"/>
            <a:ext cx="2132640" cy="36396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n-US" sz="1400" b="0" u="none" strike="noStrike">
                <a:solidFill>
                  <a:srgbClr val="000000"/>
                </a:solidFill>
                <a:effectLst/>
                <a:uFillTx/>
                <a:latin typeface="Times New Roman"/>
              </a:defRPr>
            </a:lvl1pPr>
          </a:lstStyle>
          <a:p>
            <a:pPr indent="0" algn="l">
              <a:lnSpc>
                <a:spcPct val="100000"/>
              </a:lnSpc>
              <a:buNone/>
              <a:tabLst>
                <a:tab pos="0" algn="l"/>
              </a:tabLst>
            </a:pPr>
            <a:fld id="{922659A4-5A13-4048-A79C-B6444A229301}"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
        <p:nvSpPr>
          <p:cNvPr id="4" name="PlaceHolder 3"/>
          <p:cNvSpPr>
            <a:spLocks noGrp="1"/>
          </p:cNvSpPr>
          <p:nvPr>
            <p:ph type="dt" idx="3"/>
          </p:nvPr>
        </p:nvSpPr>
        <p:spPr>
          <a:xfrm>
            <a:off x="457200" y="6356520"/>
            <a:ext cx="2132640" cy="36396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5" name="PlaceHolder 4"/>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tabLst>
                <a:tab pos="0" algn="l"/>
              </a:tabLst>
              <a:defRPr lang="en-US" sz="1800" b="0" u="none" strike="noStrike">
                <a:solidFill>
                  <a:schemeClr val="dk1"/>
                </a:solidFill>
                <a:effectLst/>
                <a:uFillTx/>
                <a:latin typeface="Arial"/>
              </a:defRPr>
            </a:lvl1pPr>
          </a:lstStyle>
          <a:p>
            <a:pPr indent="0" algn="l">
              <a:buNone/>
              <a:tabLst>
                <a:tab pos="0" algn="l"/>
              </a:tabLst>
            </a:pPr>
            <a:r>
              <a:rPr lang="en-US" sz="1800" b="0" u="none" strike="noStrike">
                <a:solidFill>
                  <a:schemeClr val="dk1"/>
                </a:solidFill>
                <a:effectLst/>
                <a:uFillTx/>
                <a:latin typeface="Arial"/>
              </a:rPr>
              <a:t>Click to edit the title text format</a:t>
            </a:r>
            <a:endParaRPr lang="en-US" sz="1800" b="0" u="none" strike="noStrike">
              <a:solidFill>
                <a:schemeClr val="dk1"/>
              </a:solidFill>
              <a:effectLst/>
              <a:uFillTx/>
              <a:latin typeface="Arial"/>
            </a:endParaRPr>
          </a:p>
        </p:txBody>
      </p:sp>
      <p:sp>
        <p:nvSpPr>
          <p:cNvPr id="6"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1950" b="0" u="none" strike="noStrike">
                <a:solidFill>
                  <a:schemeClr val="dk1"/>
                </a:solidFill>
                <a:effectLst/>
                <a:uFillTx/>
                <a:latin typeface="Arial"/>
              </a:defRPr>
            </a:lvl1pPr>
            <a:lvl2pPr lvl="1" algn="l">
              <a:spcBef>
                <a:spcPts val="1134"/>
              </a:spcBef>
              <a:buClr>
                <a:srgbClr val="000000"/>
              </a:buClr>
              <a:buSzPct val="75000"/>
              <a:buFont typeface="Symbol" charset="2"/>
              <a:buChar char=""/>
              <a:defRPr lang="en-US" sz="1700" b="0" u="none" strike="noStrike">
                <a:solidFill>
                  <a:schemeClr val="dk1"/>
                </a:solidFill>
                <a:effectLst/>
                <a:uFillTx/>
                <a:latin typeface="Arial"/>
              </a:defRPr>
            </a:lvl2pPr>
            <a:lvl3pPr lvl="2" algn="l">
              <a:spcBef>
                <a:spcPts val="850"/>
              </a:spcBef>
              <a:buClr>
                <a:srgbClr val="000000"/>
              </a:buClr>
              <a:buSzPct val="45000"/>
              <a:buFont typeface="Wingdings" charset="2"/>
              <a:buChar char=""/>
              <a:defRPr lang="en-US" sz="1600" b="0" u="none" strike="noStrike">
                <a:solidFill>
                  <a:schemeClr val="dk1"/>
                </a:solidFill>
                <a:effectLst/>
                <a:uFillTx/>
                <a:latin typeface="Arial"/>
              </a:defRPr>
            </a:lvl3pPr>
            <a:lvl4pPr lvl="3" algn="l">
              <a:spcBef>
                <a:spcPts val="567"/>
              </a:spcBef>
              <a:buClr>
                <a:srgbClr val="000000"/>
              </a:buClr>
              <a:buSzPct val="75000"/>
              <a:buFont typeface="Symbol" charset="2"/>
              <a:buChar char=""/>
              <a:defRPr lang="en-US" sz="1450" b="0" u="none" strike="noStrike">
                <a:solidFill>
                  <a:schemeClr val="dk1"/>
                </a:solidFill>
                <a:effectLst/>
                <a:uFillTx/>
                <a:latin typeface="Arial"/>
              </a:defRPr>
            </a:lvl4pPr>
            <a:lvl5pPr lvl="4" algn="l">
              <a:spcBef>
                <a:spcPts val="283"/>
              </a:spcBef>
              <a:buClr>
                <a:srgbClr val="000000"/>
              </a:buClr>
              <a:buSzPct val="45000"/>
              <a:buFont typeface="Wingdings" charset="2"/>
              <a:buChar char=""/>
              <a:defRPr lang="en-US" sz="2000" b="0" u="none" strike="noStrike">
                <a:solidFill>
                  <a:schemeClr val="dk1"/>
                </a:solidFill>
                <a:effectLst/>
                <a:uFillTx/>
                <a:latin typeface="Arial"/>
              </a:defRPr>
            </a:lvl5pPr>
            <a:lvl6pPr lvl="5" algn="l">
              <a:spcBef>
                <a:spcPts val="283"/>
              </a:spcBef>
              <a:buClr>
                <a:srgbClr val="000000"/>
              </a:buClr>
              <a:buSzPct val="45000"/>
              <a:buFont typeface="Wingdings" charset="2"/>
              <a:buChar char=""/>
              <a:defRPr lang="en-US" sz="2000" b="0" u="none" strike="noStrike">
                <a:solidFill>
                  <a:schemeClr val="dk1"/>
                </a:solidFill>
                <a:effectLst/>
                <a:uFillTx/>
                <a:latin typeface="Arial"/>
              </a:defRPr>
            </a:lvl6pPr>
            <a:lvl7pPr lvl="6" algn="l">
              <a:spcBef>
                <a:spcPts val="283"/>
              </a:spcBef>
              <a:buClr>
                <a:srgbClr val="000000"/>
              </a:buClr>
              <a:buSzPct val="45000"/>
              <a:buFont typeface="Wingdings" charset="2"/>
              <a:buChar char=""/>
              <a:defRPr lang="en-US" sz="2000" b="0" u="none" strike="noStrike">
                <a:solidFill>
                  <a:schemeClr val="dk1"/>
                </a:solidFill>
                <a:effectLst/>
                <a:uFillTx/>
                <a:latin typeface="Arial"/>
              </a:defRPr>
            </a:lvl7pPr>
          </a:lstStyle>
          <a:p>
            <a:pPr indent="-324000" algn="l">
              <a:spcBef>
                <a:spcPts val="1417"/>
              </a:spcBef>
              <a:buClr>
                <a:srgbClr val="000000"/>
              </a:buClr>
              <a:buSzPct val="45000"/>
              <a:buFont typeface="Wingdings" charset="2"/>
              <a:buChar char=""/>
            </a:pPr>
            <a:r>
              <a:rPr lang="en-US" sz="1950" b="0" u="none" strike="noStrike">
                <a:solidFill>
                  <a:schemeClr val="dk1"/>
                </a:solidFill>
                <a:effectLst/>
                <a:uFillTx/>
                <a:latin typeface="Arial"/>
              </a:rPr>
              <a:t>Click to edit the outline text format</a:t>
            </a:r>
            <a:endParaRPr lang="en-US" sz="1950" b="0" u="none" strike="noStrike">
              <a:solidFill>
                <a:schemeClr val="dk1"/>
              </a:solidFill>
              <a:effectLst/>
              <a:uFillTx/>
              <a:latin typeface="Arial"/>
            </a:endParaRPr>
          </a:p>
          <a:p>
            <a:pPr marL="864000" lvl="1" indent="-324000" algn="l">
              <a:spcBef>
                <a:spcPts val="1134"/>
              </a:spcBef>
              <a:buClr>
                <a:srgbClr val="000000"/>
              </a:buClr>
              <a:buSzPct val="75000"/>
              <a:buFont typeface="Symbol" charset="2"/>
              <a:buChar char=""/>
            </a:pPr>
            <a:r>
              <a:rPr lang="en-US" sz="1700" b="0" u="none" strike="noStrike">
                <a:solidFill>
                  <a:schemeClr val="dk1"/>
                </a:solidFill>
                <a:effectLst/>
                <a:uFillTx/>
                <a:latin typeface="Arial"/>
              </a:rPr>
              <a:t>Second Outline Level</a:t>
            </a:r>
            <a:endParaRPr lang="en-US" sz="1700" b="0" u="none" strike="noStrike">
              <a:solidFill>
                <a:schemeClr val="dk1"/>
              </a:solidFill>
              <a:effectLst/>
              <a:uFillTx/>
              <a:latin typeface="Arial"/>
            </a:endParaRPr>
          </a:p>
          <a:p>
            <a:pPr marL="1296000" lvl="2" indent="-288000" algn="l">
              <a:spcBef>
                <a:spcPts val="850"/>
              </a:spcBef>
              <a:buClr>
                <a:srgbClr val="000000"/>
              </a:buClr>
              <a:buSzPct val="45000"/>
              <a:buFont typeface="Wingdings" charset="2"/>
              <a:buChar char=""/>
            </a:pPr>
            <a:r>
              <a:rPr lang="en-US" sz="1600" b="0" u="none" strike="noStrike">
                <a:solidFill>
                  <a:schemeClr val="dk1"/>
                </a:solidFill>
                <a:effectLst/>
                <a:uFillTx/>
                <a:latin typeface="Arial"/>
              </a:rPr>
              <a:t>Third Outline Level</a:t>
            </a:r>
            <a:endParaRPr lang="en-US" sz="1600" b="0" u="none" strike="noStrike">
              <a:solidFill>
                <a:schemeClr val="dk1"/>
              </a:solidFill>
              <a:effectLst/>
              <a:uFillTx/>
              <a:latin typeface="Arial"/>
            </a:endParaRPr>
          </a:p>
          <a:p>
            <a:pPr marL="1728000" lvl="3" indent="-216000" algn="l">
              <a:spcBef>
                <a:spcPts val="567"/>
              </a:spcBef>
              <a:buClr>
                <a:srgbClr val="000000"/>
              </a:buClr>
              <a:buSzPct val="75000"/>
              <a:buFont typeface="Symbol" charset="2"/>
              <a:buChar char=""/>
            </a:pPr>
            <a:r>
              <a:rPr lang="en-US" sz="1450" b="0" u="none" strike="noStrike">
                <a:solidFill>
                  <a:schemeClr val="dk1"/>
                </a:solidFill>
                <a:effectLst/>
                <a:uFillTx/>
                <a:latin typeface="Arial"/>
              </a:rPr>
              <a:t>Fourth Outline Level</a:t>
            </a:r>
            <a:endParaRPr lang="en-US" sz="1450" b="0" u="none" strike="noStrike">
              <a:solidFill>
                <a:schemeClr val="dk1"/>
              </a:solidFill>
              <a:effectLst/>
              <a:uFillTx/>
              <a:latin typeface="Arial"/>
            </a:endParaRPr>
          </a:p>
          <a:p>
            <a:pPr marL="2160000" lvl="4" indent="-216000" algn="l">
              <a:spcBef>
                <a:spcPts val="283"/>
              </a:spcBef>
              <a:buClr>
                <a:srgbClr val="000000"/>
              </a:buClr>
              <a:buSzPct val="45000"/>
              <a:buFont typeface="Wingdings" charset="2"/>
              <a:buChar char=""/>
            </a:pPr>
            <a:r>
              <a:rPr lang="en-US" sz="2000" b="0" u="none" strike="noStrike">
                <a:solidFill>
                  <a:schemeClr val="dk1"/>
                </a:solidFill>
                <a:effectLst/>
                <a:uFillTx/>
                <a:latin typeface="Arial"/>
              </a:rPr>
              <a:t>Fifth Outline Level</a:t>
            </a:r>
            <a:endParaRPr lang="en-US" sz="2000" b="0" u="none" strike="noStrike">
              <a:solidFill>
                <a:schemeClr val="dk1"/>
              </a:solidFill>
              <a:effectLst/>
              <a:uFillTx/>
              <a:latin typeface="Arial"/>
            </a:endParaRPr>
          </a:p>
          <a:p>
            <a:pPr marL="2592000" lvl="5" indent="-216000" algn="l">
              <a:spcBef>
                <a:spcPts val="283"/>
              </a:spcBef>
              <a:buClr>
                <a:srgbClr val="000000"/>
              </a:buClr>
              <a:buSzPct val="45000"/>
              <a:buFont typeface="Wingdings" charset="2"/>
              <a:buChar char=""/>
            </a:pPr>
            <a:r>
              <a:rPr lang="en-US" sz="2000" b="0" u="none" strike="noStrike">
                <a:solidFill>
                  <a:schemeClr val="dk1"/>
                </a:solidFill>
                <a:effectLst/>
                <a:uFillTx/>
                <a:latin typeface="Arial"/>
              </a:rPr>
              <a:t>Sixth Outline Level</a:t>
            </a:r>
            <a:endParaRPr lang="en-US" sz="2000" b="0" u="none" strike="noStrike">
              <a:solidFill>
                <a:schemeClr val="dk1"/>
              </a:solidFill>
              <a:effectLst/>
              <a:uFillTx/>
              <a:latin typeface="Arial"/>
            </a:endParaRPr>
          </a:p>
          <a:p>
            <a:pPr marL="3024000" lvl="6" indent="-216000" algn="l">
              <a:spcBef>
                <a:spcPts val="283"/>
              </a:spcBef>
              <a:buClr>
                <a:srgbClr val="000000"/>
              </a:buClr>
              <a:buSzPct val="45000"/>
              <a:buFont typeface="Wingdings" charset="2"/>
              <a:buChar char=""/>
            </a:pPr>
            <a:r>
              <a:rPr lang="en-US" sz="2000" b="0" u="none" strike="noStrike">
                <a:solidFill>
                  <a:schemeClr val="dk1"/>
                </a:solidFill>
                <a:effectLst/>
                <a:uFillTx/>
                <a:latin typeface="Arial"/>
              </a:rPr>
              <a:t>Seventh Outline Level</a:t>
            </a:r>
            <a:endParaRPr lang="en-US" sz="2000" b="0" u="none" strike="noStrike">
              <a:solidFill>
                <a:schemeClr val="dk1"/>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slideLayout" Target="../slideLayouts/slideLayout1.xml"/><Relationship Id="rId8"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7.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slideLayout" Target="../slideLayouts/slideLayout1.xml"/><Relationship Id="rId6"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1.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pSp>
        <p:nvGrpSpPr>
          <p:cNvPr id="13" name="research-title"/>
          <p:cNvGrpSpPr/>
          <p:nvPr/>
        </p:nvGrpSpPr>
        <p:grpSpPr>
          <a:xfrm>
            <a:off x="590400" y="743040"/>
            <a:ext cx="6765480" cy="4162320"/>
            <a:chOff x="590400" y="743040"/>
            <a:chExt cx="6765480" cy="4162320"/>
          </a:xfrm>
        </p:grpSpPr>
        <p:sp>
          <p:nvSpPr>
            <p:cNvPr id="14" name="Rectangle 2"/>
            <p:cNvSpPr/>
            <p:nvPr/>
          </p:nvSpPr>
          <p:spPr>
            <a:xfrm>
              <a:off x="609480" y="743040"/>
              <a:ext cx="532440" cy="46440"/>
            </a:xfrm>
            <a:prstGeom prst="rect">
              <a:avLst/>
            </a:prstGeom>
            <a:solidFill>
              <a:schemeClr val="accent2"/>
            </a:solidFill>
            <a:ln w="0">
              <a:noFill/>
            </a:ln>
          </p:spPr>
          <p:style>
            <a:lnRef idx="0"/>
            <a:fillRef idx="0"/>
            <a:effectRef idx="0"/>
            <a:fontRef idx="minor"/>
          </p:style>
          <p:txBody>
            <a:bodyPr lIns="90000" tIns="2520" rIns="90000" bIns="2520" anchor="t">
              <a:noAutofit/>
            </a:bodyPr>
            <a:p>
              <a:pPr/>
              <a:endParaRPr lang="en-US" sz="1800" b="0" u="none" strike="noStrike">
                <a:solidFill>
                  <a:srgbClr val="FFFFFF"/>
                </a:solidFill>
                <a:effectLst/>
                <a:uFillTx/>
                <a:latin typeface="Arial"/>
              </a:endParaRPr>
            </a:p>
          </p:txBody>
        </p:sp>
        <p:sp>
          <p:nvSpPr>
            <p:cNvPr id="15" name="TextBox 3"/>
            <p:cNvSpPr/>
            <p:nvPr/>
          </p:nvSpPr>
          <p:spPr>
            <a:xfrm>
              <a:off x="601200" y="996840"/>
              <a:ext cx="2448000" cy="321480"/>
            </a:xfrm>
            <a:prstGeom prst="rect">
              <a:avLst/>
            </a:prstGeom>
            <a:noFill/>
            <a:ln w="0">
              <a:noFill/>
            </a:ln>
          </p:spPr>
          <p:style>
            <a:lnRef idx="0"/>
            <a:fillRef idx="0"/>
            <a:effectRef idx="0"/>
            <a:fontRef idx="minor"/>
          </p:style>
          <p:txBody>
            <a:bodyPr wrap="none" lIns="0" tIns="0" rIns="0" bIns="0" anchor="t">
              <a:spAutoFit/>
            </a:bodyPr>
            <a:p>
              <a:pPr/>
              <a:endParaRPr lang="en-US" sz="1800" b="0" u="none" strike="noStrike">
                <a:solidFill>
                  <a:srgbClr val="000000"/>
                </a:solidFill>
                <a:effectLst/>
                <a:uFillTx/>
                <a:latin typeface="Arial"/>
              </a:endParaRPr>
            </a:p>
          </p:txBody>
        </p:sp>
        <p:sp>
          <p:nvSpPr>
            <p:cNvPr id="16" name="TextBox 4"/>
            <p:cNvSpPr/>
            <p:nvPr/>
          </p:nvSpPr>
          <p:spPr>
            <a:xfrm>
              <a:off x="590400" y="1692360"/>
              <a:ext cx="6765480" cy="6699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4400" b="1" u="none" strike="noStrike">
                  <a:solidFill>
                    <a:srgbClr val="13243A"/>
                  </a:solidFill>
                  <a:effectLst/>
                  <a:uFillTx/>
                  <a:latin typeface="Arial"/>
                  <a:ea typeface="Microsoft YaHei"/>
                </a:rPr>
                <a:t>AI for Shape Design</a:t>
              </a:r>
              <a:endParaRPr lang="en-US" sz="4400" b="0" u="none" strike="noStrike">
                <a:solidFill>
                  <a:srgbClr val="000000"/>
                </a:solidFill>
                <a:effectLst/>
                <a:uFillTx/>
                <a:latin typeface="Arial"/>
              </a:endParaRPr>
            </a:p>
          </p:txBody>
        </p:sp>
        <p:sp>
          <p:nvSpPr>
            <p:cNvPr id="17" name="TextBox 5"/>
            <p:cNvSpPr/>
            <p:nvPr/>
          </p:nvSpPr>
          <p:spPr>
            <a:xfrm>
              <a:off x="597240" y="3022560"/>
              <a:ext cx="4951080" cy="925560"/>
            </a:xfrm>
            <a:prstGeom prst="rect">
              <a:avLst/>
            </a:prstGeom>
            <a:noFill/>
            <a:ln w="0">
              <a:noFill/>
            </a:ln>
          </p:spPr>
          <p:style>
            <a:lnRef idx="0"/>
            <a:fillRef idx="0"/>
            <a:effectRef idx="0"/>
            <a:fontRef idx="minor"/>
          </p:style>
          <p:txBody>
            <a:bodyPr wrap="none" lIns="0" tIns="0" rIns="0" bIns="0" anchor="t">
              <a:spAutoFit/>
            </a:bodyPr>
            <a:p>
              <a:pPr defTabSz="457200">
                <a:lnSpc>
                  <a:spcPts val="3600"/>
                </a:lnSpc>
              </a:pPr>
              <a:r>
                <a:rPr lang="en-US" sz="2400" b="0" u="none" strike="noStrike">
                  <a:solidFill>
                    <a:srgbClr val="24364C"/>
                  </a:solidFill>
                  <a:effectLst/>
                  <a:uFillTx/>
                  <a:latin typeface="Arial"/>
                  <a:ea typeface="Microsoft YaHei"/>
                </a:rPr>
                <a:t>Knowledge and tools join the task</a:t>
              </a:r>
              <a:br>
                <a:rPr sz="2400"/>
              </a:br>
              <a:r>
                <a:rPr lang="en-US" sz="2400" b="0" u="none" strike="noStrike">
                  <a:solidFill>
                    <a:srgbClr val="24364C"/>
                  </a:solidFill>
                  <a:effectLst/>
                  <a:uFillTx/>
                  <a:latin typeface="Arial"/>
                  <a:ea typeface="Microsoft YaHei"/>
                </a:rPr>
                <a:t>Review and write-back in every loop</a:t>
              </a:r>
              <a:endParaRPr lang="en-US" sz="2400" b="0" u="none" strike="noStrike">
                <a:solidFill>
                  <a:srgbClr val="000000"/>
                </a:solidFill>
                <a:effectLst/>
                <a:uFillTx/>
                <a:latin typeface="Arial"/>
              </a:endParaRPr>
            </a:p>
          </p:txBody>
        </p:sp>
        <p:sp>
          <p:nvSpPr>
            <p:cNvPr id="18" name="TextBox 6"/>
            <p:cNvSpPr/>
            <p:nvPr/>
          </p:nvSpPr>
          <p:spPr>
            <a:xfrm>
              <a:off x="599760" y="4168800"/>
              <a:ext cx="5385240" cy="380160"/>
            </a:xfrm>
            <a:prstGeom prst="rect">
              <a:avLst/>
            </a:prstGeom>
            <a:noFill/>
            <a:ln w="0">
              <a:noFill/>
            </a:ln>
          </p:spPr>
          <p:style>
            <a:lnRef idx="0"/>
            <a:fillRef idx="0"/>
            <a:effectRef idx="0"/>
            <a:fontRef idx="minor"/>
          </p:style>
          <p:txBody>
            <a:bodyPr wrap="none" lIns="0" tIns="0" rIns="0" bIns="0" anchor="t">
              <a:spAutoFit/>
            </a:bodyPr>
            <a:p>
              <a:pPr/>
              <a:endParaRPr lang="en-US" sz="1800" b="0" u="none" strike="noStrike">
                <a:solidFill>
                  <a:srgbClr val="000000"/>
                </a:solidFill>
                <a:effectLst/>
                <a:uFillTx/>
                <a:latin typeface="Arial"/>
              </a:endParaRPr>
            </a:p>
          </p:txBody>
        </p:sp>
        <p:sp>
          <p:nvSpPr>
            <p:cNvPr id="19" name="TextBox 7"/>
            <p:cNvSpPr/>
            <p:nvPr/>
          </p:nvSpPr>
          <p:spPr>
            <a:xfrm>
              <a:off x="601200" y="4654440"/>
              <a:ext cx="5872320" cy="250920"/>
            </a:xfrm>
            <a:prstGeom prst="rect">
              <a:avLst/>
            </a:prstGeom>
            <a:noFill/>
            <a:ln w="0">
              <a:noFill/>
            </a:ln>
          </p:spPr>
          <p:style>
            <a:lnRef idx="0"/>
            <a:fillRef idx="0"/>
            <a:effectRef idx="0"/>
            <a:fontRef idx="minor"/>
          </p:style>
          <p:txBody>
            <a:bodyPr wrap="none" lIns="0" tIns="0" rIns="0" bIns="0" anchor="t">
              <a:spAutoFit/>
            </a:bodyPr>
            <a:p>
              <a:pPr/>
              <a:endParaRPr lang="en-US" sz="1800" b="0" u="none" strike="noStrike">
                <a:solidFill>
                  <a:srgbClr val="000000"/>
                </a:solidFill>
                <a:effectLst/>
                <a:uFillTx/>
                <a:latin typeface="Arial"/>
              </a:endParaRPr>
            </a:p>
          </p:txBody>
        </p:sp>
      </p:grpSp>
      <p:grpSp>
        <p:nvGrpSpPr>
          <p:cNvPr id="20" name="capability-loop"/>
          <p:cNvGrpSpPr/>
          <p:nvPr/>
        </p:nvGrpSpPr>
        <p:grpSpPr>
          <a:xfrm>
            <a:off x="7915320" y="1324080"/>
            <a:ext cx="3580200" cy="3961080"/>
            <a:chOff x="7915320" y="1324080"/>
            <a:chExt cx="3580200" cy="3961080"/>
          </a:xfrm>
        </p:grpSpPr>
        <p:sp>
          <p:nvSpPr>
            <p:cNvPr id="21" name="Line 9"/>
            <p:cNvSpPr/>
            <p:nvPr/>
          </p:nvSpPr>
          <p:spPr>
            <a:xfrm>
              <a:off x="9524880" y="2295360"/>
              <a:ext cx="1276200" cy="809640"/>
            </a:xfrm>
            <a:prstGeom prst="line">
              <a:avLst/>
            </a:prstGeom>
            <a:ln w="19050">
              <a:solidFill>
                <a:srgbClr val="C5CEDB"/>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22" name="Line 10"/>
            <p:cNvSpPr/>
            <p:nvPr/>
          </p:nvSpPr>
          <p:spPr>
            <a:xfrm flipH="1">
              <a:off x="9524880" y="3504960"/>
              <a:ext cx="1276200" cy="809640"/>
            </a:xfrm>
            <a:prstGeom prst="line">
              <a:avLst/>
            </a:prstGeom>
            <a:ln w="19050">
              <a:solidFill>
                <a:srgbClr val="C5CEDB"/>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23" name="Line 11"/>
            <p:cNvSpPr/>
            <p:nvPr/>
          </p:nvSpPr>
          <p:spPr>
            <a:xfrm flipH="1" flipV="1">
              <a:off x="8258040" y="3504960"/>
              <a:ext cx="866880" cy="809640"/>
            </a:xfrm>
            <a:prstGeom prst="line">
              <a:avLst/>
            </a:prstGeom>
            <a:ln w="19050">
              <a:solidFill>
                <a:srgbClr val="C5CEDB"/>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24" name="Line 12"/>
            <p:cNvSpPr/>
            <p:nvPr/>
          </p:nvSpPr>
          <p:spPr>
            <a:xfrm flipV="1">
              <a:off x="8258040" y="2295360"/>
              <a:ext cx="866880" cy="809640"/>
            </a:xfrm>
            <a:prstGeom prst="line">
              <a:avLst/>
            </a:prstGeom>
            <a:ln w="19050">
              <a:solidFill>
                <a:srgbClr val="C5CEDB"/>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25" name="Ellipse 13"/>
            <p:cNvSpPr/>
            <p:nvPr/>
          </p:nvSpPr>
          <p:spPr>
            <a:xfrm>
              <a:off x="8744040" y="1324080"/>
              <a:ext cx="1161000" cy="1161000"/>
            </a:xfrm>
            <a:prstGeom prst="ellipse">
              <a:avLst/>
            </a:prstGeom>
            <a:solidFill>
              <a:schemeClr val="accent2"/>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26" name="TextBox 14"/>
            <p:cNvSpPr/>
            <p:nvPr/>
          </p:nvSpPr>
          <p:spPr>
            <a:xfrm>
              <a:off x="8780400" y="1616040"/>
              <a:ext cx="1088280" cy="380160"/>
            </a:xfrm>
            <a:prstGeom prst="rect">
              <a:avLst/>
            </a:prstGeom>
            <a:noFill/>
            <a:ln w="0">
              <a:noFill/>
            </a:ln>
          </p:spPr>
          <p:style>
            <a:lnRef idx="0"/>
            <a:fillRef idx="0"/>
            <a:effectRef idx="0"/>
            <a:fontRef idx="minor"/>
          </p:style>
          <p:txBody>
            <a:bodyPr wrap="none" lIns="0" tIns="0" rIns="0" bIns="0" anchor="t">
              <a:spAutoFit/>
            </a:bodyPr>
            <a:p>
              <a:pPr algn="ctr" defTabSz="457200">
                <a:lnSpc>
                  <a:spcPct val="100000"/>
                </a:lnSpc>
              </a:pPr>
              <a:r>
                <a:rPr lang="en-US" sz="1500" b="1" u="none" strike="noStrike">
                  <a:solidFill>
                    <a:srgbClr val="FFFFFF"/>
                  </a:solidFill>
                  <a:effectLst/>
                  <a:uFillTx/>
                  <a:latin typeface="Arial"/>
                  <a:ea typeface="Microsoft YaHei"/>
                </a:rPr>
                <a:t>Knowledge</a:t>
              </a:r>
              <a:endParaRPr lang="en-US" sz="1500" b="0" u="none" strike="noStrike">
                <a:solidFill>
                  <a:srgbClr val="000000"/>
                </a:solidFill>
                <a:effectLst/>
                <a:uFillTx/>
                <a:latin typeface="Arial"/>
              </a:endParaRPr>
            </a:p>
          </p:txBody>
        </p:sp>
        <p:sp>
          <p:nvSpPr>
            <p:cNvPr id="27" name="TextBox 15"/>
            <p:cNvSpPr/>
            <p:nvPr/>
          </p:nvSpPr>
          <p:spPr>
            <a:xfrm>
              <a:off x="8839080" y="1978200"/>
              <a:ext cx="970560" cy="262800"/>
            </a:xfrm>
            <a:prstGeom prst="rect">
              <a:avLst/>
            </a:prstGeom>
            <a:noFill/>
            <a:ln w="0">
              <a:noFill/>
            </a:ln>
          </p:spPr>
          <p:style>
            <a:lnRef idx="0"/>
            <a:fillRef idx="0"/>
            <a:effectRef idx="0"/>
            <a:fontRef idx="minor"/>
          </p:style>
          <p:txBody>
            <a:bodyPr wrap="none" lIns="0" tIns="0" rIns="0" bIns="0" anchor="t">
              <a:spAutoFit/>
            </a:bodyPr>
            <a:p>
              <a:pPr algn="ctr" defTabSz="457200">
                <a:lnSpc>
                  <a:spcPct val="100000"/>
                </a:lnSpc>
              </a:pPr>
              <a:r>
                <a:rPr lang="en-US" sz="1200" b="0" u="none" strike="noStrike">
                  <a:solidFill>
                    <a:srgbClr val="FFFFFF"/>
                  </a:solidFill>
                  <a:effectLst/>
                  <a:uFillTx/>
                  <a:latin typeface="Arial"/>
                  <a:ea typeface="Microsoft YaHei"/>
                </a:rPr>
                <a:t>find evidence</a:t>
              </a:r>
              <a:endParaRPr lang="en-US" sz="1200" b="0" u="none" strike="noStrike">
                <a:solidFill>
                  <a:srgbClr val="000000"/>
                </a:solidFill>
                <a:effectLst/>
                <a:uFillTx/>
                <a:latin typeface="Arial"/>
              </a:endParaRPr>
            </a:p>
          </p:txBody>
        </p:sp>
        <p:sp>
          <p:nvSpPr>
            <p:cNvPr id="28" name="Ellipse 16"/>
            <p:cNvSpPr/>
            <p:nvPr/>
          </p:nvSpPr>
          <p:spPr>
            <a:xfrm>
              <a:off x="10334520" y="2724120"/>
              <a:ext cx="1161000" cy="1161000"/>
            </a:xfrm>
            <a:prstGeom prst="ellipse">
              <a:avLst/>
            </a:prstGeom>
            <a:solidFill>
              <a:schemeClr val="accent6"/>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29" name="TextBox 17"/>
            <p:cNvSpPr/>
            <p:nvPr/>
          </p:nvSpPr>
          <p:spPr>
            <a:xfrm>
              <a:off x="10465920" y="3016080"/>
              <a:ext cx="898200" cy="380160"/>
            </a:xfrm>
            <a:prstGeom prst="rect">
              <a:avLst/>
            </a:prstGeom>
            <a:noFill/>
            <a:ln w="0">
              <a:noFill/>
            </a:ln>
          </p:spPr>
          <p:style>
            <a:lnRef idx="0"/>
            <a:fillRef idx="0"/>
            <a:effectRef idx="0"/>
            <a:fontRef idx="minor"/>
          </p:style>
          <p:txBody>
            <a:bodyPr wrap="none" lIns="0" tIns="0" rIns="0" bIns="0" anchor="t">
              <a:spAutoFit/>
            </a:bodyPr>
            <a:p>
              <a:pPr algn="ctr" defTabSz="457200">
                <a:lnSpc>
                  <a:spcPct val="100000"/>
                </a:lnSpc>
              </a:pPr>
              <a:r>
                <a:rPr lang="en-US" sz="1500" b="1" u="none" strike="noStrike">
                  <a:solidFill>
                    <a:srgbClr val="FFFFFF"/>
                  </a:solidFill>
                  <a:effectLst/>
                  <a:uFillTx/>
                  <a:latin typeface="Arial"/>
                  <a:ea typeface="Microsoft YaHei"/>
                </a:rPr>
                <a:t>Generate</a:t>
              </a:r>
              <a:endParaRPr lang="en-US" sz="1500" b="0" u="none" strike="noStrike">
                <a:solidFill>
                  <a:srgbClr val="000000"/>
                </a:solidFill>
                <a:effectLst/>
                <a:uFillTx/>
                <a:latin typeface="Arial"/>
              </a:endParaRPr>
            </a:p>
          </p:txBody>
        </p:sp>
        <p:sp>
          <p:nvSpPr>
            <p:cNvPr id="30" name="TextBox 18"/>
            <p:cNvSpPr/>
            <p:nvPr/>
          </p:nvSpPr>
          <p:spPr>
            <a:xfrm>
              <a:off x="10425600" y="3378240"/>
              <a:ext cx="978840" cy="262800"/>
            </a:xfrm>
            <a:prstGeom prst="rect">
              <a:avLst/>
            </a:prstGeom>
            <a:noFill/>
            <a:ln w="0">
              <a:noFill/>
            </a:ln>
          </p:spPr>
          <p:style>
            <a:lnRef idx="0"/>
            <a:fillRef idx="0"/>
            <a:effectRef idx="0"/>
            <a:fontRef idx="minor"/>
          </p:style>
          <p:txBody>
            <a:bodyPr wrap="none" lIns="0" tIns="0" rIns="0" bIns="0" anchor="t">
              <a:spAutoFit/>
            </a:bodyPr>
            <a:p>
              <a:pPr algn="ctr" defTabSz="457200">
                <a:lnSpc>
                  <a:spcPct val="100000"/>
                </a:lnSpc>
              </a:pPr>
              <a:r>
                <a:rPr lang="en-US" sz="1200" b="0" u="none" strike="noStrike">
                  <a:solidFill>
                    <a:srgbClr val="FFFFFF"/>
                  </a:solidFill>
                  <a:effectLst/>
                  <a:uFillTx/>
                  <a:latin typeface="Arial"/>
                  <a:ea typeface="Microsoft YaHei"/>
                </a:rPr>
                <a:t>explore ideas</a:t>
              </a:r>
              <a:endParaRPr lang="en-US" sz="1200" b="0" u="none" strike="noStrike">
                <a:solidFill>
                  <a:srgbClr val="000000"/>
                </a:solidFill>
                <a:effectLst/>
                <a:uFillTx/>
                <a:latin typeface="Arial"/>
              </a:endParaRPr>
            </a:p>
          </p:txBody>
        </p:sp>
        <p:sp>
          <p:nvSpPr>
            <p:cNvPr id="31" name="Ellipse 19"/>
            <p:cNvSpPr/>
            <p:nvPr/>
          </p:nvSpPr>
          <p:spPr>
            <a:xfrm>
              <a:off x="8744040" y="4124160"/>
              <a:ext cx="1161000" cy="1161000"/>
            </a:xfrm>
            <a:prstGeom prst="ellipse">
              <a:avLst/>
            </a:prstGeom>
            <a:solidFill>
              <a:srgbClr val="069B8A"/>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32" name="TextBox 20"/>
            <p:cNvSpPr/>
            <p:nvPr/>
          </p:nvSpPr>
          <p:spPr>
            <a:xfrm>
              <a:off x="8922960" y="4416480"/>
              <a:ext cx="802800" cy="380160"/>
            </a:xfrm>
            <a:prstGeom prst="rect">
              <a:avLst/>
            </a:prstGeom>
            <a:noFill/>
            <a:ln w="0">
              <a:noFill/>
            </a:ln>
          </p:spPr>
          <p:style>
            <a:lnRef idx="0"/>
            <a:fillRef idx="0"/>
            <a:effectRef idx="0"/>
            <a:fontRef idx="minor"/>
          </p:style>
          <p:txBody>
            <a:bodyPr wrap="none" lIns="0" tIns="0" rIns="0" bIns="0" anchor="t">
              <a:spAutoFit/>
            </a:bodyPr>
            <a:p>
              <a:pPr algn="ctr" defTabSz="457200">
                <a:lnSpc>
                  <a:spcPct val="100000"/>
                </a:lnSpc>
              </a:pPr>
              <a:r>
                <a:rPr lang="en-US" sz="1500" b="1" u="none" strike="noStrike">
                  <a:solidFill>
                    <a:srgbClr val="FFFFFF"/>
                  </a:solidFill>
                  <a:effectLst/>
                  <a:uFillTx/>
                  <a:latin typeface="Arial"/>
                  <a:ea typeface="Microsoft YaHei"/>
                </a:rPr>
                <a:t>Execute</a:t>
              </a:r>
              <a:endParaRPr lang="en-US" sz="1500" b="0" u="none" strike="noStrike">
                <a:solidFill>
                  <a:srgbClr val="000000"/>
                </a:solidFill>
                <a:effectLst/>
                <a:uFillTx/>
                <a:latin typeface="Arial"/>
              </a:endParaRPr>
            </a:p>
          </p:txBody>
        </p:sp>
        <p:sp>
          <p:nvSpPr>
            <p:cNvPr id="33" name="TextBox 21"/>
            <p:cNvSpPr/>
            <p:nvPr/>
          </p:nvSpPr>
          <p:spPr>
            <a:xfrm>
              <a:off x="8847720" y="4778280"/>
              <a:ext cx="953640" cy="262800"/>
            </a:xfrm>
            <a:prstGeom prst="rect">
              <a:avLst/>
            </a:prstGeom>
            <a:noFill/>
            <a:ln w="0">
              <a:noFill/>
            </a:ln>
          </p:spPr>
          <p:style>
            <a:lnRef idx="0"/>
            <a:fillRef idx="0"/>
            <a:effectRef idx="0"/>
            <a:fontRef idx="minor"/>
          </p:style>
          <p:txBody>
            <a:bodyPr wrap="none" lIns="0" tIns="0" rIns="0" bIns="0" anchor="t">
              <a:spAutoFit/>
            </a:bodyPr>
            <a:p>
              <a:pPr algn="ctr" defTabSz="457200">
                <a:lnSpc>
                  <a:spcPct val="100000"/>
                </a:lnSpc>
              </a:pPr>
              <a:r>
                <a:rPr lang="en-US" sz="1200" b="0" u="none" strike="noStrike">
                  <a:solidFill>
                    <a:srgbClr val="FFFFFF"/>
                  </a:solidFill>
                  <a:effectLst/>
                  <a:uFillTx/>
                  <a:latin typeface="Arial"/>
                  <a:ea typeface="Microsoft YaHei"/>
                </a:rPr>
                <a:t>operate tools</a:t>
              </a:r>
              <a:endParaRPr lang="en-US" sz="1200" b="0" u="none" strike="noStrike">
                <a:solidFill>
                  <a:srgbClr val="000000"/>
                </a:solidFill>
                <a:effectLst/>
                <a:uFillTx/>
                <a:latin typeface="Arial"/>
              </a:endParaRPr>
            </a:p>
          </p:txBody>
        </p:sp>
        <p:sp>
          <p:nvSpPr>
            <p:cNvPr id="34" name="Ellipse 22"/>
            <p:cNvSpPr/>
            <p:nvPr/>
          </p:nvSpPr>
          <p:spPr>
            <a:xfrm>
              <a:off x="7915320" y="2724120"/>
              <a:ext cx="1161000" cy="1161000"/>
            </a:xfrm>
            <a:prstGeom prst="ellipse">
              <a:avLst/>
            </a:prstGeom>
            <a:solidFill>
              <a:srgbClr val="D98D2B"/>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35" name="TextBox 23"/>
            <p:cNvSpPr/>
            <p:nvPr/>
          </p:nvSpPr>
          <p:spPr>
            <a:xfrm>
              <a:off x="8131320" y="3016080"/>
              <a:ext cx="728640" cy="380160"/>
            </a:xfrm>
            <a:prstGeom prst="rect">
              <a:avLst/>
            </a:prstGeom>
            <a:noFill/>
            <a:ln w="0">
              <a:noFill/>
            </a:ln>
          </p:spPr>
          <p:style>
            <a:lnRef idx="0"/>
            <a:fillRef idx="0"/>
            <a:effectRef idx="0"/>
            <a:fontRef idx="minor"/>
          </p:style>
          <p:txBody>
            <a:bodyPr wrap="none" lIns="0" tIns="0" rIns="0" bIns="0" anchor="t">
              <a:spAutoFit/>
            </a:bodyPr>
            <a:p>
              <a:pPr algn="ctr" defTabSz="457200">
                <a:lnSpc>
                  <a:spcPct val="100000"/>
                </a:lnSpc>
              </a:pPr>
              <a:r>
                <a:rPr lang="en-US" sz="1500" b="1" u="none" strike="noStrike">
                  <a:solidFill>
                    <a:srgbClr val="FFFFFF"/>
                  </a:solidFill>
                  <a:effectLst/>
                  <a:uFillTx/>
                  <a:latin typeface="Arial"/>
                  <a:ea typeface="Microsoft YaHei"/>
                </a:rPr>
                <a:t>Review</a:t>
              </a:r>
              <a:endParaRPr lang="en-US" sz="1500" b="0" u="none" strike="noStrike">
                <a:solidFill>
                  <a:srgbClr val="000000"/>
                </a:solidFill>
                <a:effectLst/>
                <a:uFillTx/>
                <a:latin typeface="Arial"/>
              </a:endParaRPr>
            </a:p>
          </p:txBody>
        </p:sp>
        <p:sp>
          <p:nvSpPr>
            <p:cNvPr id="36" name="TextBox 24"/>
            <p:cNvSpPr/>
            <p:nvPr/>
          </p:nvSpPr>
          <p:spPr>
            <a:xfrm>
              <a:off x="7964280" y="3378240"/>
              <a:ext cx="1063440" cy="262800"/>
            </a:xfrm>
            <a:prstGeom prst="rect">
              <a:avLst/>
            </a:prstGeom>
            <a:noFill/>
            <a:ln w="0">
              <a:noFill/>
            </a:ln>
          </p:spPr>
          <p:style>
            <a:lnRef idx="0"/>
            <a:fillRef idx="0"/>
            <a:effectRef idx="0"/>
            <a:fontRef idx="minor"/>
          </p:style>
          <p:txBody>
            <a:bodyPr wrap="none" lIns="0" tIns="0" rIns="0" bIns="0" anchor="t">
              <a:spAutoFit/>
            </a:bodyPr>
            <a:p>
              <a:pPr algn="ctr" defTabSz="457200">
                <a:lnSpc>
                  <a:spcPct val="100000"/>
                </a:lnSpc>
              </a:pPr>
              <a:r>
                <a:rPr lang="en-US" sz="1200" b="0" u="none" strike="noStrike">
                  <a:solidFill>
                    <a:srgbClr val="FFFFFF"/>
                  </a:solidFill>
                  <a:effectLst/>
                  <a:uFillTx/>
                  <a:latin typeface="Arial"/>
                  <a:ea typeface="Microsoft YaHei"/>
                </a:rPr>
                <a:t>record lessons</a:t>
              </a:r>
              <a:endParaRPr lang="en-US" sz="1200" b="0" u="none" strike="noStrike">
                <a:solidFill>
                  <a:srgbClr val="000000"/>
                </a:solidFill>
                <a:effectLst/>
                <a:uFillTx/>
                <a:latin typeface="Arial"/>
              </a:endParaRPr>
            </a:p>
          </p:txBody>
        </p:sp>
      </p:grpSp>
      <p:sp>
        <p:nvSpPr>
          <p:cNvPr id="37" name="Line 26"/>
          <p:cNvSpPr/>
          <p:nvPr/>
        </p:nvSpPr>
        <p:spPr>
          <a:xfrm>
            <a:off x="609480" y="6048360"/>
            <a:ext cx="10971720" cy="8280"/>
          </a:xfrm>
          <a:custGeom>
            <a:avLst/>
            <a:gdLst>
              <a:gd name="textAreaLeft" fmla="*/ 0 w 10971720"/>
              <a:gd name="textAreaRight" fmla="*/ 10972800 w 10971720"/>
              <a:gd name="textAreaTop" fmla="*/ 0 h 8280"/>
              <a:gd name="textAreaBottom" fmla="*/ 9360 h 8280"/>
            </a:gdLst>
            <a:ahLst/>
            <a:cxnLst/>
            <a:rect l="textAreaLeft" t="textAreaTop" r="textAreaRight" b="textAreaBottom"/>
            <a:pathLst>
              <a:path w="10972800" h="9525">
                <a:moveTo>
                  <a:pt x="0" y="0"/>
                </a:moveTo>
                <a:lnTo>
                  <a:pt x="10972800" y="0"/>
                </a:lnTo>
              </a:path>
            </a:pathLst>
          </a:custGeom>
          <a:noFill/>
          <a:ln w="9525">
            <a:solidFill>
              <a:srgbClr val="DCE3EF"/>
            </a:solidFill>
            <a:round/>
          </a:ln>
        </p:spPr>
        <p:style>
          <a:lnRef idx="0"/>
          <a:fillRef idx="0"/>
          <a:effectRef idx="0"/>
          <a:fontRef idx="minor"/>
        </p:style>
        <p:txBody>
          <a:bodyPr lIns="90000" tIns="-35640" rIns="90000" bIns="-35640" anchor="t">
            <a:noAutofit/>
          </a:bodyPr>
          <a:p>
            <a:pPr/>
            <a:endParaRPr lang="en-US" sz="1800" b="0" u="none" strike="noStrike">
              <a:solidFill>
                <a:srgbClr val="000000"/>
              </a:solidFill>
              <a:effectLst/>
              <a:uFillTx/>
              <a:latin typeface="Arial"/>
            </a:endParaRPr>
          </a:p>
        </p:txBody>
      </p:sp>
      <p:sp>
        <p:nvSpPr>
          <p:cNvPr id="38" name="footer-label"/>
          <p:cNvSpPr/>
          <p:nvPr/>
        </p:nvSpPr>
        <p:spPr>
          <a:xfrm>
            <a:off x="602640" y="6388200"/>
            <a:ext cx="4512960" cy="2628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50" b="0" u="none" strike="noStrike">
                <a:solidFill>
                  <a:srgbClr val="66758A"/>
                </a:solidFill>
                <a:effectLst/>
                <a:uFillTx/>
                <a:latin typeface="Arial"/>
                <a:ea typeface="Microsoft YaHei"/>
              </a:rPr>
              <a:t>Focus: AI participation, process iteration, and lesson reuse</a:t>
            </a:r>
            <a:endParaRPr lang="en-US" sz="13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pSp>
        <p:nvGrpSpPr>
          <p:cNvPr id="39" name="header"/>
          <p:cNvGrpSpPr/>
          <p:nvPr/>
        </p:nvGrpSpPr>
        <p:grpSpPr>
          <a:xfrm>
            <a:off x="478440" y="422280"/>
            <a:ext cx="8090280" cy="972360"/>
            <a:chOff x="478440" y="422280"/>
            <a:chExt cx="8090280" cy="972360"/>
          </a:xfrm>
        </p:grpSpPr>
        <p:sp>
          <p:nvSpPr>
            <p:cNvPr id="40" name="TextBox 2"/>
            <p:cNvSpPr/>
            <p:nvPr/>
          </p:nvSpPr>
          <p:spPr>
            <a:xfrm>
              <a:off x="478440" y="422280"/>
              <a:ext cx="8090280" cy="6444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3300" b="1" u="none" strike="noStrike">
                  <a:solidFill>
                    <a:schemeClr val="accent1"/>
                  </a:solidFill>
                  <a:effectLst/>
                  <a:uFillTx/>
                  <a:latin typeface="Arial"/>
                  <a:ea typeface="Microsoft YaHei"/>
                </a:rPr>
                <a:t>Research Questions on AI Collaboration</a:t>
              </a:r>
              <a:endParaRPr lang="en-US" sz="3300" b="0" u="none" strike="noStrike">
                <a:solidFill>
                  <a:srgbClr val="000000"/>
                </a:solidFill>
                <a:effectLst/>
                <a:uFillTx/>
                <a:latin typeface="Arial"/>
              </a:endParaRPr>
            </a:p>
          </p:txBody>
        </p:sp>
        <p:sp>
          <p:nvSpPr>
            <p:cNvPr id="41" name="TextBox 3"/>
            <p:cNvSpPr/>
            <p:nvPr/>
          </p:nvSpPr>
          <p:spPr>
            <a:xfrm>
              <a:off x="487080" y="1073160"/>
              <a:ext cx="7421040" cy="3214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00" b="0" u="none" strike="noStrike">
                  <a:solidFill>
                    <a:srgbClr val="66758A"/>
                  </a:solidFill>
                  <a:effectLst/>
                  <a:uFillTx/>
                  <a:latin typeface="Arial"/>
                  <a:ea typeface="Microsoft YaHei"/>
                </a:rPr>
                <a:t>A continuous design task records AI participation, change feedback, and review results.</a:t>
              </a:r>
              <a:endParaRPr lang="en-US" sz="1500" b="0" u="none" strike="noStrike">
                <a:solidFill>
                  <a:srgbClr val="000000"/>
                </a:solidFill>
                <a:effectLst/>
                <a:uFillTx/>
                <a:latin typeface="Arial"/>
              </a:endParaRPr>
            </a:p>
          </p:txBody>
        </p:sp>
      </p:grpSp>
      <p:grpSp>
        <p:nvGrpSpPr>
          <p:cNvPr id="42" name="question"/>
          <p:cNvGrpSpPr/>
          <p:nvPr/>
        </p:nvGrpSpPr>
        <p:grpSpPr>
          <a:xfrm>
            <a:off x="483120" y="1860480"/>
            <a:ext cx="3782520" cy="4006080"/>
            <a:chOff x="483120" y="1860480"/>
            <a:chExt cx="3782520" cy="4006080"/>
          </a:xfrm>
        </p:grpSpPr>
        <p:sp>
          <p:nvSpPr>
            <p:cNvPr id="43" name="TextBox 5"/>
            <p:cNvSpPr/>
            <p:nvPr/>
          </p:nvSpPr>
          <p:spPr>
            <a:xfrm>
              <a:off x="483120" y="1860480"/>
              <a:ext cx="3780720" cy="4683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2400" b="1" u="none" strike="noStrike">
                  <a:solidFill>
                    <a:schemeClr val="accent1"/>
                  </a:solidFill>
                  <a:effectLst/>
                  <a:uFillTx/>
                  <a:latin typeface="Arial"/>
                  <a:ea typeface="Microsoft YaHei"/>
                </a:rPr>
                <a:t>Four questions to answer</a:t>
              </a:r>
              <a:endParaRPr lang="en-US" sz="2400" b="0" u="none" strike="noStrike">
                <a:solidFill>
                  <a:srgbClr val="000000"/>
                </a:solidFill>
                <a:effectLst/>
                <a:uFillTx/>
                <a:latin typeface="Arial"/>
              </a:endParaRPr>
            </a:p>
          </p:txBody>
        </p:sp>
        <p:sp>
          <p:nvSpPr>
            <p:cNvPr id="44" name="TextBox 6"/>
            <p:cNvSpPr/>
            <p:nvPr/>
          </p:nvSpPr>
          <p:spPr>
            <a:xfrm>
              <a:off x="485280" y="2502000"/>
              <a:ext cx="2784240" cy="3801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700" b="0" u="none" strike="noStrike">
                  <a:solidFill>
                    <a:schemeClr val="dk1"/>
                  </a:solidFill>
                  <a:effectLst/>
                  <a:uFillTx/>
                  <a:latin typeface="Arial"/>
                  <a:ea typeface="Microsoft YaHei"/>
                </a:rPr>
                <a:t>Is there traceable evidence?</a:t>
              </a:r>
              <a:endParaRPr lang="en-US" sz="1700" b="0" u="none" strike="noStrike">
                <a:solidFill>
                  <a:srgbClr val="000000"/>
                </a:solidFill>
                <a:effectLst/>
                <a:uFillTx/>
                <a:latin typeface="Arial"/>
              </a:endParaRPr>
            </a:p>
          </p:txBody>
        </p:sp>
        <p:sp>
          <p:nvSpPr>
            <p:cNvPr id="45" name="TextBox 7"/>
            <p:cNvSpPr/>
            <p:nvPr/>
          </p:nvSpPr>
          <p:spPr>
            <a:xfrm>
              <a:off x="485280" y="3044880"/>
              <a:ext cx="3024360" cy="3801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700" b="0" u="none" strike="noStrike">
                  <a:solidFill>
                    <a:schemeClr val="dk1"/>
                  </a:solidFill>
                  <a:effectLst/>
                  <a:uFillTx/>
                  <a:latin typeface="Arial"/>
                  <a:ea typeface="Microsoft YaHei"/>
                </a:rPr>
                <a:t>Can it run real tool operations?</a:t>
              </a:r>
              <a:endParaRPr lang="en-US" sz="1700" b="0" u="none" strike="noStrike">
                <a:solidFill>
                  <a:srgbClr val="000000"/>
                </a:solidFill>
                <a:effectLst/>
                <a:uFillTx/>
                <a:latin typeface="Arial"/>
              </a:endParaRPr>
            </a:p>
          </p:txBody>
        </p:sp>
        <p:sp>
          <p:nvSpPr>
            <p:cNvPr id="46" name="TextBox 8"/>
            <p:cNvSpPr/>
            <p:nvPr/>
          </p:nvSpPr>
          <p:spPr>
            <a:xfrm>
              <a:off x="485280" y="3587760"/>
              <a:ext cx="3251880" cy="3801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700" b="0" u="none" strike="noStrike">
                  <a:solidFill>
                    <a:schemeClr val="dk1"/>
                  </a:solidFill>
                  <a:effectLst/>
                  <a:uFillTx/>
                  <a:latin typeface="Arial"/>
                  <a:ea typeface="Microsoft YaHei"/>
                </a:rPr>
                <a:t>Can it locate errors and fix them?</a:t>
              </a:r>
              <a:endParaRPr lang="en-US" sz="1700" b="0" u="none" strike="noStrike">
                <a:solidFill>
                  <a:srgbClr val="000000"/>
                </a:solidFill>
                <a:effectLst/>
                <a:uFillTx/>
                <a:latin typeface="Arial"/>
              </a:endParaRPr>
            </a:p>
          </p:txBody>
        </p:sp>
        <p:sp>
          <p:nvSpPr>
            <p:cNvPr id="47" name="TextBox 9"/>
            <p:cNvSpPr/>
            <p:nvPr/>
          </p:nvSpPr>
          <p:spPr>
            <a:xfrm>
              <a:off x="485280" y="4130640"/>
              <a:ext cx="3780360" cy="3801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700" b="0" u="none" strike="noStrike">
                  <a:solidFill>
                    <a:schemeClr val="dk1"/>
                  </a:solidFill>
                  <a:effectLst/>
                  <a:uFillTx/>
                  <a:latin typeface="Arial"/>
                  <a:ea typeface="Microsoft YaHei"/>
                </a:rPr>
                <a:t>Can the next round read past lessons?</a:t>
              </a:r>
              <a:endParaRPr lang="en-US" sz="1700" b="0" u="none" strike="noStrike">
                <a:solidFill>
                  <a:srgbClr val="000000"/>
                </a:solidFill>
                <a:effectLst/>
                <a:uFillTx/>
                <a:latin typeface="Arial"/>
              </a:endParaRPr>
            </a:p>
          </p:txBody>
        </p:sp>
        <p:sp>
          <p:nvSpPr>
            <p:cNvPr id="48" name="Rectangle 10"/>
            <p:cNvSpPr/>
            <p:nvPr/>
          </p:nvSpPr>
          <p:spPr>
            <a:xfrm>
              <a:off x="495360" y="4981680"/>
              <a:ext cx="3713760" cy="884880"/>
            </a:xfrm>
            <a:prstGeom prst="roundRect">
              <a:avLst>
                <a:gd name="adj" fmla="val 10753"/>
              </a:avLst>
            </a:prstGeom>
            <a:solidFill>
              <a:schemeClr val="accent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49" name="TextBox 11"/>
            <p:cNvSpPr/>
            <p:nvPr/>
          </p:nvSpPr>
          <p:spPr>
            <a:xfrm>
              <a:off x="705960" y="5121360"/>
              <a:ext cx="1660320" cy="3214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00" b="0" u="none" strike="noStrike">
                  <a:solidFill>
                    <a:srgbClr val="FFFFFF"/>
                  </a:solidFill>
                  <a:effectLst/>
                  <a:uFillTx/>
                  <a:latin typeface="Arial"/>
                  <a:ea typeface="Microsoft YaHei"/>
                </a:rPr>
                <a:t>Unit of observation</a:t>
              </a:r>
              <a:endParaRPr lang="en-US" sz="1500" b="0" u="none" strike="noStrike">
                <a:solidFill>
                  <a:srgbClr val="000000"/>
                </a:solidFill>
                <a:effectLst/>
                <a:uFillTx/>
                <a:latin typeface="Arial"/>
              </a:endParaRPr>
            </a:p>
          </p:txBody>
        </p:sp>
        <p:sp>
          <p:nvSpPr>
            <p:cNvPr id="50" name="TextBox 12"/>
            <p:cNvSpPr/>
            <p:nvPr/>
          </p:nvSpPr>
          <p:spPr>
            <a:xfrm>
              <a:off x="704520" y="5416560"/>
              <a:ext cx="2976120" cy="3801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700" b="1" u="none" strike="noStrike">
                  <a:solidFill>
                    <a:srgbClr val="FFFFFF"/>
                  </a:solidFill>
                  <a:effectLst/>
                  <a:uFillTx/>
                  <a:latin typeface="Arial"/>
                  <a:ea typeface="Microsoft YaHei"/>
                </a:rPr>
                <a:t>Feedback, changes, reviews</a:t>
              </a:r>
              <a:endParaRPr lang="en-US" sz="1700" b="0" u="none" strike="noStrike">
                <a:solidFill>
                  <a:srgbClr val="000000"/>
                </a:solidFill>
                <a:effectLst/>
                <a:uFillTx/>
                <a:latin typeface="Arial"/>
              </a:endParaRPr>
            </a:p>
          </p:txBody>
        </p:sp>
      </p:grpSp>
      <p:sp>
        <p:nvSpPr>
          <p:cNvPr id="51" name="Line 14"/>
          <p:cNvSpPr/>
          <p:nvPr/>
        </p:nvSpPr>
        <p:spPr>
          <a:xfrm>
            <a:off x="4524480" y="1752480"/>
            <a:ext cx="8280" cy="4199400"/>
          </a:xfrm>
          <a:custGeom>
            <a:avLst/>
            <a:gdLst>
              <a:gd name="textAreaLeft" fmla="*/ 0 w 8280"/>
              <a:gd name="textAreaRight" fmla="*/ 9360 w 8280"/>
              <a:gd name="textAreaTop" fmla="*/ 0 h 4199400"/>
              <a:gd name="textAreaBottom" fmla="*/ 4200480 h 4199400"/>
            </a:gdLst>
            <a:ahLst/>
            <a:cxnLst/>
            <a:rect l="textAreaLeft" t="textAreaTop" r="textAreaRight" b="textAreaBottom"/>
            <a:pathLst>
              <a:path w="9525" h="4200525">
                <a:moveTo>
                  <a:pt x="0" y="0"/>
                </a:moveTo>
                <a:lnTo>
                  <a:pt x="0" y="4200525"/>
                </a:lnTo>
              </a:path>
            </a:pathLst>
          </a:custGeom>
          <a:noFill/>
          <a:ln w="9525">
            <a:solidFill>
              <a:srgbClr val="DCE3EF"/>
            </a:solidFill>
            <a:round/>
          </a:ln>
        </p:spPr>
        <p:style>
          <a:lnRef idx="0"/>
          <a:fillRef idx="0"/>
          <a:effectRef idx="0"/>
          <a:fontRef idx="minor"/>
        </p:style>
        <p:txBody>
          <a:bodyPr lIns="4320" tIns="45000" rIns="4320" bIns="45000" anchor="t">
            <a:noAutofit/>
          </a:bodyPr>
          <a:p>
            <a:pPr/>
            <a:endParaRPr lang="en-US" sz="1800" b="0" u="none" strike="noStrike">
              <a:solidFill>
                <a:srgbClr val="000000"/>
              </a:solidFill>
              <a:effectLst/>
              <a:uFillTx/>
              <a:latin typeface="Arial"/>
            </a:endParaRPr>
          </a:p>
        </p:txBody>
      </p:sp>
      <p:grpSp>
        <p:nvGrpSpPr>
          <p:cNvPr id="52" name="study-design"/>
          <p:cNvGrpSpPr/>
          <p:nvPr/>
        </p:nvGrpSpPr>
        <p:grpSpPr>
          <a:xfrm>
            <a:off x="4883760" y="1755720"/>
            <a:ext cx="6850440" cy="3412440"/>
            <a:chOff x="4883760" y="1755720"/>
            <a:chExt cx="6850440" cy="3412440"/>
          </a:xfrm>
        </p:grpSpPr>
        <p:sp>
          <p:nvSpPr>
            <p:cNvPr id="53" name="TextBox 15"/>
            <p:cNvSpPr/>
            <p:nvPr/>
          </p:nvSpPr>
          <p:spPr>
            <a:xfrm>
              <a:off x="4883760" y="1755720"/>
              <a:ext cx="4086000" cy="4683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2400" b="1" u="none" strike="noStrike">
                  <a:solidFill>
                    <a:schemeClr val="accent1"/>
                  </a:solidFill>
                  <a:effectLst/>
                  <a:uFillTx/>
                  <a:latin typeface="Arial"/>
                  <a:ea typeface="Microsoft YaHei"/>
                </a:rPr>
                <a:t>Methods and their evidence</a:t>
              </a:r>
              <a:endParaRPr lang="en-US" sz="2400" b="0" u="none" strike="noStrike">
                <a:solidFill>
                  <a:srgbClr val="000000"/>
                </a:solidFill>
                <a:effectLst/>
                <a:uFillTx/>
                <a:latin typeface="Arial"/>
              </a:endParaRPr>
            </a:p>
          </p:txBody>
        </p:sp>
        <p:sp>
          <p:nvSpPr>
            <p:cNvPr id="54" name="Ellipse 16"/>
            <p:cNvSpPr/>
            <p:nvPr/>
          </p:nvSpPr>
          <p:spPr>
            <a:xfrm>
              <a:off x="4915080" y="2438280"/>
              <a:ext cx="360720" cy="360720"/>
            </a:xfrm>
            <a:prstGeom prst="ellipse">
              <a:avLst/>
            </a:prstGeom>
            <a:solidFill>
              <a:srgbClr val="13243A"/>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55" name="TextBox 17"/>
            <p:cNvSpPr/>
            <p:nvPr/>
          </p:nvSpPr>
          <p:spPr>
            <a:xfrm>
              <a:off x="5466960" y="2473200"/>
              <a:ext cx="1655280" cy="3801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700" b="1" u="none" strike="noStrike">
                  <a:solidFill>
                    <a:schemeClr val="accent1"/>
                  </a:solidFill>
                  <a:effectLst/>
                  <a:uFillTx/>
                  <a:latin typeface="Arial"/>
                  <a:ea typeface="Microsoft YaHei"/>
                </a:rPr>
                <a:t>Methods added</a:t>
              </a:r>
              <a:endParaRPr lang="en-US" sz="1700" b="0" u="none" strike="noStrike">
                <a:solidFill>
                  <a:srgbClr val="000000"/>
                </a:solidFill>
                <a:effectLst/>
                <a:uFillTx/>
                <a:latin typeface="Arial"/>
              </a:endParaRPr>
            </a:p>
          </p:txBody>
        </p:sp>
        <p:sp>
          <p:nvSpPr>
            <p:cNvPr id="56" name="TextBox 18"/>
            <p:cNvSpPr/>
            <p:nvPr/>
          </p:nvSpPr>
          <p:spPr>
            <a:xfrm>
              <a:off x="7468920" y="2511360"/>
              <a:ext cx="3735720" cy="3214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00" b="0" u="none" strike="noStrike">
                  <a:solidFill>
                    <a:schemeClr val="dk1"/>
                  </a:solidFill>
                  <a:effectLst/>
                  <a:uFillTx/>
                  <a:latin typeface="Arial"/>
                  <a:ea typeface="Microsoft YaHei"/>
                </a:rPr>
                <a:t>Knowledge retrieval, concept-first, tool links</a:t>
              </a:r>
              <a:endParaRPr lang="en-US" sz="1500" b="0" u="none" strike="noStrike">
                <a:solidFill>
                  <a:srgbClr val="000000"/>
                </a:solidFill>
                <a:effectLst/>
                <a:uFillTx/>
                <a:latin typeface="Arial"/>
              </a:endParaRPr>
            </a:p>
          </p:txBody>
        </p:sp>
        <p:sp>
          <p:nvSpPr>
            <p:cNvPr id="57" name="Line 19"/>
            <p:cNvSpPr/>
            <p:nvPr/>
          </p:nvSpPr>
          <p:spPr>
            <a:xfrm>
              <a:off x="5095800" y="2828880"/>
              <a:ext cx="8280" cy="351360"/>
            </a:xfrm>
            <a:custGeom>
              <a:avLst/>
              <a:gdLst>
                <a:gd name="textAreaLeft" fmla="*/ 0 w 8280"/>
                <a:gd name="textAreaRight" fmla="*/ 9360 w 8280"/>
                <a:gd name="textAreaTop" fmla="*/ 0 h 351360"/>
                <a:gd name="textAreaBottom" fmla="*/ 352440 h 351360"/>
              </a:gdLst>
              <a:ahLst/>
              <a:cxnLst/>
              <a:rect l="textAreaLeft" t="textAreaTop" r="textAreaRight" b="textAreaBottom"/>
              <a:pathLst>
                <a:path w="9525" h="352425">
                  <a:moveTo>
                    <a:pt x="0" y="0"/>
                  </a:moveTo>
                  <a:lnTo>
                    <a:pt x="0" y="352425"/>
                  </a:lnTo>
                </a:path>
              </a:pathLst>
            </a:custGeom>
            <a:noFill/>
            <a:ln w="28575">
              <a:solidFill>
                <a:srgbClr val="DCE3EF"/>
              </a:solidFill>
              <a:round/>
            </a:ln>
          </p:spPr>
          <p:style>
            <a:lnRef idx="0"/>
            <a:fillRef idx="0"/>
            <a:effectRef idx="0"/>
            <a:fontRef idx="minor"/>
          </p:style>
          <p:txBody>
            <a:bodyPr lIns="4320" tIns="45000" rIns="4320" bIns="45000" anchor="t">
              <a:noAutofit/>
            </a:bodyPr>
            <a:p>
              <a:pPr/>
              <a:endParaRPr lang="en-US" sz="1800" b="0" u="none" strike="noStrike">
                <a:solidFill>
                  <a:srgbClr val="000000"/>
                </a:solidFill>
                <a:effectLst/>
                <a:uFillTx/>
                <a:latin typeface="Arial"/>
              </a:endParaRPr>
            </a:p>
          </p:txBody>
        </p:sp>
        <p:sp>
          <p:nvSpPr>
            <p:cNvPr id="58" name="Ellipse 20"/>
            <p:cNvSpPr/>
            <p:nvPr/>
          </p:nvSpPr>
          <p:spPr>
            <a:xfrm>
              <a:off x="4915080" y="3209760"/>
              <a:ext cx="360720" cy="360720"/>
            </a:xfrm>
            <a:prstGeom prst="ellipse">
              <a:avLst/>
            </a:prstGeom>
            <a:solidFill>
              <a:srgbClr val="13243A"/>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59" name="TextBox 21"/>
            <p:cNvSpPr/>
            <p:nvPr/>
          </p:nvSpPr>
          <p:spPr>
            <a:xfrm>
              <a:off x="5466960" y="3244680"/>
              <a:ext cx="1896120" cy="3801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700" b="1" u="none" strike="noStrike">
                  <a:solidFill>
                    <a:schemeClr val="accent1"/>
                  </a:solidFill>
                  <a:effectLst/>
                  <a:uFillTx/>
                  <a:latin typeface="Arial"/>
                  <a:ea typeface="Microsoft YaHei"/>
                </a:rPr>
                <a:t>Process evidence</a:t>
              </a:r>
              <a:endParaRPr lang="en-US" sz="1700" b="0" u="none" strike="noStrike">
                <a:solidFill>
                  <a:srgbClr val="000000"/>
                </a:solidFill>
                <a:effectLst/>
                <a:uFillTx/>
                <a:latin typeface="Arial"/>
              </a:endParaRPr>
            </a:p>
          </p:txBody>
        </p:sp>
        <p:sp>
          <p:nvSpPr>
            <p:cNvPr id="60" name="TextBox 22"/>
            <p:cNvSpPr/>
            <p:nvPr/>
          </p:nvSpPr>
          <p:spPr>
            <a:xfrm>
              <a:off x="7468920" y="3282840"/>
              <a:ext cx="3672000" cy="3214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00" b="0" u="none" strike="noStrike">
                  <a:solidFill>
                    <a:schemeClr val="dk1"/>
                  </a:solidFill>
                  <a:effectLst/>
                  <a:uFillTx/>
                  <a:latin typeface="Arial"/>
                  <a:ea typeface="Microsoft YaHei"/>
                </a:rPr>
                <a:t>History images, operation logs, rules, code</a:t>
              </a:r>
              <a:endParaRPr lang="en-US" sz="1500" b="0" u="none" strike="noStrike">
                <a:solidFill>
                  <a:srgbClr val="000000"/>
                </a:solidFill>
                <a:effectLst/>
                <a:uFillTx/>
                <a:latin typeface="Arial"/>
              </a:endParaRPr>
            </a:p>
          </p:txBody>
        </p:sp>
        <p:sp>
          <p:nvSpPr>
            <p:cNvPr id="61" name="Line 23"/>
            <p:cNvSpPr/>
            <p:nvPr/>
          </p:nvSpPr>
          <p:spPr>
            <a:xfrm>
              <a:off x="5095800" y="3600360"/>
              <a:ext cx="8280" cy="351360"/>
            </a:xfrm>
            <a:custGeom>
              <a:avLst/>
              <a:gdLst>
                <a:gd name="textAreaLeft" fmla="*/ 0 w 8280"/>
                <a:gd name="textAreaRight" fmla="*/ 9360 w 8280"/>
                <a:gd name="textAreaTop" fmla="*/ 0 h 351360"/>
                <a:gd name="textAreaBottom" fmla="*/ 352440 h 351360"/>
              </a:gdLst>
              <a:ahLst/>
              <a:cxnLst/>
              <a:rect l="textAreaLeft" t="textAreaTop" r="textAreaRight" b="textAreaBottom"/>
              <a:pathLst>
                <a:path w="9525" h="352425">
                  <a:moveTo>
                    <a:pt x="0" y="0"/>
                  </a:moveTo>
                  <a:lnTo>
                    <a:pt x="0" y="352425"/>
                  </a:lnTo>
                </a:path>
              </a:pathLst>
            </a:custGeom>
            <a:noFill/>
            <a:ln w="28575">
              <a:solidFill>
                <a:srgbClr val="DCE3EF"/>
              </a:solidFill>
              <a:round/>
            </a:ln>
          </p:spPr>
          <p:style>
            <a:lnRef idx="0"/>
            <a:fillRef idx="0"/>
            <a:effectRef idx="0"/>
            <a:fontRef idx="minor"/>
          </p:style>
          <p:txBody>
            <a:bodyPr lIns="4320" tIns="45000" rIns="4320" bIns="45000" anchor="t">
              <a:noAutofit/>
            </a:bodyPr>
            <a:p>
              <a:pPr/>
              <a:endParaRPr lang="en-US" sz="1800" b="0" u="none" strike="noStrike">
                <a:solidFill>
                  <a:srgbClr val="000000"/>
                </a:solidFill>
                <a:effectLst/>
                <a:uFillTx/>
                <a:latin typeface="Arial"/>
              </a:endParaRPr>
            </a:p>
          </p:txBody>
        </p:sp>
        <p:sp>
          <p:nvSpPr>
            <p:cNvPr id="62" name="Ellipse 24"/>
            <p:cNvSpPr/>
            <p:nvPr/>
          </p:nvSpPr>
          <p:spPr>
            <a:xfrm>
              <a:off x="4915080" y="3981600"/>
              <a:ext cx="360720" cy="360720"/>
            </a:xfrm>
            <a:prstGeom prst="ellipse">
              <a:avLst/>
            </a:prstGeom>
            <a:solidFill>
              <a:srgbClr val="13243A"/>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63" name="TextBox 25"/>
            <p:cNvSpPr/>
            <p:nvPr/>
          </p:nvSpPr>
          <p:spPr>
            <a:xfrm>
              <a:off x="5466960" y="4016520"/>
              <a:ext cx="1523880" cy="3801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700" b="1" u="none" strike="noStrike">
                  <a:solidFill>
                    <a:schemeClr val="accent1"/>
                  </a:solidFill>
                  <a:effectLst/>
                  <a:uFillTx/>
                  <a:latin typeface="Arial"/>
                  <a:ea typeface="Microsoft YaHei"/>
                </a:rPr>
                <a:t>Result checks</a:t>
              </a:r>
              <a:endParaRPr lang="en-US" sz="1700" b="0" u="none" strike="noStrike">
                <a:solidFill>
                  <a:srgbClr val="000000"/>
                </a:solidFill>
                <a:effectLst/>
                <a:uFillTx/>
                <a:latin typeface="Arial"/>
              </a:endParaRPr>
            </a:p>
          </p:txBody>
        </p:sp>
        <p:sp>
          <p:nvSpPr>
            <p:cNvPr id="64" name="TextBox 26"/>
            <p:cNvSpPr/>
            <p:nvPr/>
          </p:nvSpPr>
          <p:spPr>
            <a:xfrm>
              <a:off x="7468920" y="4054320"/>
              <a:ext cx="3873600" cy="3214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00" b="0" u="none" strike="noStrike">
                  <a:solidFill>
                    <a:schemeClr val="dk1"/>
                  </a:solidFill>
                  <a:effectLst/>
                  <a:uFillTx/>
                  <a:latin typeface="Arial"/>
                  <a:ea typeface="Microsoft YaHei"/>
                </a:rPr>
                <a:t>Save and reopen, shape checks, user review</a:t>
              </a:r>
              <a:endParaRPr lang="en-US" sz="1500" b="0" u="none" strike="noStrike">
                <a:solidFill>
                  <a:srgbClr val="000000"/>
                </a:solidFill>
                <a:effectLst/>
                <a:uFillTx/>
                <a:latin typeface="Arial"/>
              </a:endParaRPr>
            </a:p>
          </p:txBody>
        </p:sp>
        <p:sp>
          <p:nvSpPr>
            <p:cNvPr id="65" name="Line 27"/>
            <p:cNvSpPr/>
            <p:nvPr/>
          </p:nvSpPr>
          <p:spPr>
            <a:xfrm>
              <a:off x="5095800" y="4371840"/>
              <a:ext cx="8280" cy="351360"/>
            </a:xfrm>
            <a:custGeom>
              <a:avLst/>
              <a:gdLst>
                <a:gd name="textAreaLeft" fmla="*/ 0 w 8280"/>
                <a:gd name="textAreaRight" fmla="*/ 9360 w 8280"/>
                <a:gd name="textAreaTop" fmla="*/ 0 h 351360"/>
                <a:gd name="textAreaBottom" fmla="*/ 352440 h 351360"/>
              </a:gdLst>
              <a:ahLst/>
              <a:cxnLst/>
              <a:rect l="textAreaLeft" t="textAreaTop" r="textAreaRight" b="textAreaBottom"/>
              <a:pathLst>
                <a:path w="9525" h="352425">
                  <a:moveTo>
                    <a:pt x="0" y="0"/>
                  </a:moveTo>
                  <a:lnTo>
                    <a:pt x="0" y="352425"/>
                  </a:lnTo>
                </a:path>
              </a:pathLst>
            </a:custGeom>
            <a:noFill/>
            <a:ln w="28575">
              <a:solidFill>
                <a:srgbClr val="DCE3EF"/>
              </a:solidFill>
              <a:round/>
            </a:ln>
          </p:spPr>
          <p:style>
            <a:lnRef idx="0"/>
            <a:fillRef idx="0"/>
            <a:effectRef idx="0"/>
            <a:fontRef idx="minor"/>
          </p:style>
          <p:txBody>
            <a:bodyPr lIns="4320" tIns="45000" rIns="4320" bIns="45000" anchor="t">
              <a:noAutofit/>
            </a:bodyPr>
            <a:p>
              <a:pPr/>
              <a:endParaRPr lang="en-US" sz="1800" b="0" u="none" strike="noStrike">
                <a:solidFill>
                  <a:srgbClr val="000000"/>
                </a:solidFill>
                <a:effectLst/>
                <a:uFillTx/>
                <a:latin typeface="Arial"/>
              </a:endParaRPr>
            </a:p>
          </p:txBody>
        </p:sp>
        <p:sp>
          <p:nvSpPr>
            <p:cNvPr id="66" name="Ellipse 28"/>
            <p:cNvSpPr/>
            <p:nvPr/>
          </p:nvSpPr>
          <p:spPr>
            <a:xfrm>
              <a:off x="4915080" y="4753080"/>
              <a:ext cx="360720" cy="360720"/>
            </a:xfrm>
            <a:prstGeom prst="ellipse">
              <a:avLst/>
            </a:prstGeom>
            <a:solidFill>
              <a:srgbClr val="13243A"/>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67" name="TextBox 29"/>
            <p:cNvSpPr/>
            <p:nvPr/>
          </p:nvSpPr>
          <p:spPr>
            <a:xfrm>
              <a:off x="5466960" y="4788000"/>
              <a:ext cx="1463760" cy="3801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700" b="1" u="none" strike="noStrike">
                  <a:solidFill>
                    <a:schemeClr val="accent1"/>
                  </a:solidFill>
                  <a:effectLst/>
                  <a:uFillTx/>
                  <a:latin typeface="Arial"/>
                  <a:ea typeface="Microsoft YaHei"/>
                </a:rPr>
                <a:t>Lesson reuse</a:t>
              </a:r>
              <a:endParaRPr lang="en-US" sz="1700" b="0" u="none" strike="noStrike">
                <a:solidFill>
                  <a:srgbClr val="000000"/>
                </a:solidFill>
                <a:effectLst/>
                <a:uFillTx/>
                <a:latin typeface="Arial"/>
              </a:endParaRPr>
            </a:p>
          </p:txBody>
        </p:sp>
        <p:sp>
          <p:nvSpPr>
            <p:cNvPr id="68" name="TextBox 30"/>
            <p:cNvSpPr/>
            <p:nvPr/>
          </p:nvSpPr>
          <p:spPr>
            <a:xfrm>
              <a:off x="7468920" y="4826160"/>
              <a:ext cx="4265280" cy="3214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00" b="0" u="none" strike="noStrike">
                  <a:solidFill>
                    <a:schemeClr val="dk1"/>
                  </a:solidFill>
                  <a:effectLst/>
                  <a:uFillTx/>
                  <a:latin typeface="Arial"/>
                  <a:ea typeface="Microsoft YaHei"/>
                </a:rPr>
                <a:t>Update workflow and entries, then regression-test</a:t>
              </a:r>
              <a:endParaRPr lang="en-US" sz="1500" b="0" u="none" strike="noStrike">
                <a:solidFill>
                  <a:srgbClr val="000000"/>
                </a:solidFill>
                <a:effectLst/>
                <a:uFillTx/>
                <a:latin typeface="Arial"/>
              </a:endParaRPr>
            </a:p>
          </p:txBody>
        </p:sp>
      </p:grpSp>
      <p:sp>
        <p:nvSpPr>
          <p:cNvPr id="69" name="footer-label"/>
          <p:cNvSpPr/>
          <p:nvPr/>
        </p:nvSpPr>
        <p:spPr>
          <a:xfrm>
            <a:off x="488520" y="6407280"/>
            <a:ext cx="5799600" cy="2628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50" b="0" u="none" strike="noStrike">
                <a:solidFill>
                  <a:srgbClr val="66758A"/>
                </a:solidFill>
                <a:effectLst/>
                <a:uFillTx/>
                <a:latin typeface="Arial"/>
                <a:ea typeface="Microsoft YaHei"/>
              </a:rPr>
              <a:t>Case observation checks the process. Gains still need controlled validation.</a:t>
            </a:r>
            <a:endParaRPr lang="en-US" sz="13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pSp>
        <p:nvGrpSpPr>
          <p:cNvPr id="70" name="header"/>
          <p:cNvGrpSpPr/>
          <p:nvPr/>
        </p:nvGrpSpPr>
        <p:grpSpPr>
          <a:xfrm>
            <a:off x="478440" y="422280"/>
            <a:ext cx="8121960" cy="972360"/>
            <a:chOff x="478440" y="422280"/>
            <a:chExt cx="8121960" cy="972360"/>
          </a:xfrm>
        </p:grpSpPr>
        <p:sp>
          <p:nvSpPr>
            <p:cNvPr id="71" name="TextBox 2"/>
            <p:cNvSpPr/>
            <p:nvPr/>
          </p:nvSpPr>
          <p:spPr>
            <a:xfrm>
              <a:off x="478440" y="422280"/>
              <a:ext cx="8121960" cy="6444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3300" b="1" u="none" strike="noStrike">
                  <a:solidFill>
                    <a:schemeClr val="accent1"/>
                  </a:solidFill>
                  <a:effectLst/>
                  <a:uFillTx/>
                  <a:latin typeface="Arial"/>
                  <a:ea typeface="Microsoft YaHei"/>
                </a:rPr>
                <a:t>Design Task Execution and Review Flow</a:t>
              </a:r>
              <a:endParaRPr lang="en-US" sz="3300" b="0" u="none" strike="noStrike">
                <a:solidFill>
                  <a:srgbClr val="000000"/>
                </a:solidFill>
                <a:effectLst/>
                <a:uFillTx/>
                <a:latin typeface="Arial"/>
              </a:endParaRPr>
            </a:p>
          </p:txBody>
        </p:sp>
        <p:sp>
          <p:nvSpPr>
            <p:cNvPr id="72" name="TextBox 3"/>
            <p:cNvSpPr/>
            <p:nvPr/>
          </p:nvSpPr>
          <p:spPr>
            <a:xfrm>
              <a:off x="487080" y="1073160"/>
              <a:ext cx="7892640" cy="3214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450" b="0" u="none" strike="noStrike">
                  <a:solidFill>
                    <a:srgbClr val="66758A"/>
                  </a:solidFill>
                  <a:effectLst/>
                  <a:uFillTx/>
                  <a:latin typeface="Arial"/>
                  <a:ea typeface="Microsoft YaHei"/>
                </a:rPr>
                <a:t>AI analyzes needs and runs the task. People review concepts, major changes, and deliverables.</a:t>
              </a:r>
              <a:endParaRPr lang="en-US" sz="1450" b="0" u="none" strike="noStrike">
                <a:solidFill>
                  <a:srgbClr val="000000"/>
                </a:solidFill>
                <a:effectLst/>
                <a:uFillTx/>
                <a:latin typeface="Arial"/>
              </a:endParaRPr>
            </a:p>
          </p:txBody>
        </p:sp>
      </p:grpSp>
      <p:grpSp>
        <p:nvGrpSpPr>
          <p:cNvPr id="73" name="concept-chain"/>
          <p:cNvGrpSpPr/>
          <p:nvPr/>
        </p:nvGrpSpPr>
        <p:grpSpPr>
          <a:xfrm>
            <a:off x="488520" y="1749600"/>
            <a:ext cx="11207160" cy="1786680"/>
            <a:chOff x="488520" y="1749600"/>
            <a:chExt cx="11207160" cy="1786680"/>
          </a:xfrm>
        </p:grpSpPr>
        <p:sp>
          <p:nvSpPr>
            <p:cNvPr id="74" name="TextBox 5"/>
            <p:cNvSpPr/>
            <p:nvPr/>
          </p:nvSpPr>
          <p:spPr>
            <a:xfrm>
              <a:off x="488520" y="1749600"/>
              <a:ext cx="4536000" cy="2628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0" u="none" strike="noStrike">
                  <a:solidFill>
                    <a:srgbClr val="66758A"/>
                  </a:solidFill>
                  <a:effectLst/>
                  <a:uFillTx/>
                  <a:latin typeface="Arial"/>
                  <a:ea typeface="Microsoft YaHei"/>
                </a:rPr>
                <a:t>Input: user description, confirmed constraints, current project state</a:t>
              </a:r>
              <a:endParaRPr lang="en-US" sz="1200" b="0" u="none" strike="noStrike">
                <a:solidFill>
                  <a:srgbClr val="000000"/>
                </a:solidFill>
                <a:effectLst/>
                <a:uFillTx/>
                <a:latin typeface="Arial"/>
              </a:endParaRPr>
            </a:p>
          </p:txBody>
        </p:sp>
        <p:sp>
          <p:nvSpPr>
            <p:cNvPr id="75" name="Rectangle 6"/>
            <p:cNvSpPr/>
            <p:nvPr/>
          </p:nvSpPr>
          <p:spPr>
            <a:xfrm>
              <a:off x="495360" y="2190600"/>
              <a:ext cx="2142000" cy="875160"/>
            </a:xfrm>
            <a:prstGeom prst="roundRect">
              <a:avLst>
                <a:gd name="adj" fmla="val 9783"/>
              </a:avLst>
            </a:prstGeom>
            <a:solidFill>
              <a:srgbClr val="EEF2FF"/>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76" name="TextBox 7"/>
            <p:cNvSpPr/>
            <p:nvPr/>
          </p:nvSpPr>
          <p:spPr>
            <a:xfrm>
              <a:off x="723600" y="2311560"/>
              <a:ext cx="1764000" cy="3801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750" b="1" u="none" strike="noStrike">
                  <a:solidFill>
                    <a:schemeClr val="accent2"/>
                  </a:solidFill>
                  <a:effectLst/>
                  <a:uFillTx/>
                  <a:latin typeface="Arial"/>
                  <a:ea typeface="Microsoft YaHei"/>
                </a:rPr>
                <a:t>Structure needs</a:t>
              </a:r>
              <a:endParaRPr lang="en-US" sz="1750" b="0" u="none" strike="noStrike">
                <a:solidFill>
                  <a:srgbClr val="000000"/>
                </a:solidFill>
                <a:effectLst/>
                <a:uFillTx/>
                <a:latin typeface="Arial"/>
              </a:endParaRPr>
            </a:p>
          </p:txBody>
        </p:sp>
        <p:sp>
          <p:nvSpPr>
            <p:cNvPr id="77" name="TextBox 8"/>
            <p:cNvSpPr/>
            <p:nvPr/>
          </p:nvSpPr>
          <p:spPr>
            <a:xfrm>
              <a:off x="725040" y="2664000"/>
              <a:ext cx="2081520" cy="3214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450" b="0" u="none" strike="noStrike">
                  <a:solidFill>
                    <a:schemeClr val="dk1"/>
                  </a:solidFill>
                  <a:effectLst/>
                  <a:uFillTx/>
                  <a:latin typeface="Arial"/>
                  <a:ea typeface="Microsoft YaHei"/>
                </a:rPr>
                <a:t>Traits / conflicts / gaps</a:t>
              </a:r>
              <a:endParaRPr lang="en-US" sz="1450" b="0" u="none" strike="noStrike">
                <a:solidFill>
                  <a:srgbClr val="000000"/>
                </a:solidFill>
                <a:effectLst/>
                <a:uFillTx/>
                <a:latin typeface="Arial"/>
              </a:endParaRPr>
            </a:p>
          </p:txBody>
        </p:sp>
        <p:sp>
          <p:nvSpPr>
            <p:cNvPr id="78" name="Line 9"/>
            <p:cNvSpPr/>
            <p:nvPr/>
          </p:nvSpPr>
          <p:spPr>
            <a:xfrm>
              <a:off x="2695320" y="2628720"/>
              <a:ext cx="457200" cy="360"/>
            </a:xfrm>
            <a:prstGeom prst="line">
              <a:avLst/>
            </a:prstGeom>
            <a:ln w="19050">
              <a:solidFill>
                <a:srgbClr val="66758A"/>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79" name="Rectangle 10"/>
            <p:cNvSpPr/>
            <p:nvPr/>
          </p:nvSpPr>
          <p:spPr>
            <a:xfrm>
              <a:off x="3219480" y="2190600"/>
              <a:ext cx="2142000" cy="875160"/>
            </a:xfrm>
            <a:prstGeom prst="roundRect">
              <a:avLst>
                <a:gd name="adj" fmla="val 9783"/>
              </a:avLst>
            </a:prstGeom>
            <a:solidFill>
              <a:srgbClr val="EEF2FF"/>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80" name="TextBox 11"/>
            <p:cNvSpPr/>
            <p:nvPr/>
          </p:nvSpPr>
          <p:spPr>
            <a:xfrm>
              <a:off x="3447720" y="2311560"/>
              <a:ext cx="1593720" cy="3801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750" b="1" u="none" strike="noStrike">
                  <a:solidFill>
                    <a:schemeClr val="accent2"/>
                  </a:solidFill>
                  <a:effectLst/>
                  <a:uFillTx/>
                  <a:latin typeface="Arial"/>
                  <a:ea typeface="Microsoft YaHei"/>
                </a:rPr>
                <a:t>Find evidence</a:t>
              </a:r>
              <a:endParaRPr lang="en-US" sz="1750" b="0" u="none" strike="noStrike">
                <a:solidFill>
                  <a:srgbClr val="000000"/>
                </a:solidFill>
                <a:effectLst/>
                <a:uFillTx/>
                <a:latin typeface="Arial"/>
              </a:endParaRPr>
            </a:p>
          </p:txBody>
        </p:sp>
        <p:sp>
          <p:nvSpPr>
            <p:cNvPr id="81" name="TextBox 12"/>
            <p:cNvSpPr/>
            <p:nvPr/>
          </p:nvSpPr>
          <p:spPr>
            <a:xfrm>
              <a:off x="3449160" y="2664000"/>
              <a:ext cx="1792800" cy="3214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450" b="0" u="none" strike="noStrike">
                  <a:solidFill>
                    <a:schemeClr val="dk1"/>
                  </a:solidFill>
                  <a:effectLst/>
                  <a:uFillTx/>
                  <a:latin typeface="Arial"/>
                  <a:ea typeface="Microsoft YaHei"/>
                </a:rPr>
                <a:t>Sources and limits</a:t>
              </a:r>
              <a:endParaRPr lang="en-US" sz="1450" b="0" u="none" strike="noStrike">
                <a:solidFill>
                  <a:srgbClr val="000000"/>
                </a:solidFill>
                <a:effectLst/>
                <a:uFillTx/>
                <a:latin typeface="Arial"/>
              </a:endParaRPr>
            </a:p>
          </p:txBody>
        </p:sp>
        <p:sp>
          <p:nvSpPr>
            <p:cNvPr id="82" name="Line 13"/>
            <p:cNvSpPr/>
            <p:nvPr/>
          </p:nvSpPr>
          <p:spPr>
            <a:xfrm>
              <a:off x="5419440" y="2628720"/>
              <a:ext cx="457200" cy="360"/>
            </a:xfrm>
            <a:prstGeom prst="line">
              <a:avLst/>
            </a:prstGeom>
            <a:ln w="19050">
              <a:solidFill>
                <a:srgbClr val="66758A"/>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83" name="Rectangle 14"/>
            <p:cNvSpPr/>
            <p:nvPr/>
          </p:nvSpPr>
          <p:spPr>
            <a:xfrm>
              <a:off x="5943600" y="2190600"/>
              <a:ext cx="2142000" cy="875160"/>
            </a:xfrm>
            <a:prstGeom prst="roundRect">
              <a:avLst>
                <a:gd name="adj" fmla="val 9783"/>
              </a:avLst>
            </a:prstGeom>
            <a:solidFill>
              <a:srgbClr val="F3EEFF"/>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84" name="TextBox 15"/>
            <p:cNvSpPr/>
            <p:nvPr/>
          </p:nvSpPr>
          <p:spPr>
            <a:xfrm>
              <a:off x="6171840" y="2311560"/>
              <a:ext cx="445320" cy="26604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750" b="1" u="none" strike="noStrike">
                  <a:solidFill>
                    <a:schemeClr val="accent6"/>
                  </a:solidFill>
                  <a:effectLst/>
                  <a:uFillTx/>
                  <a:latin typeface="Arial"/>
                  <a:ea typeface="Microsoft YaHei"/>
                </a:rPr>
                <a:t>Idea</a:t>
              </a:r>
              <a:endParaRPr lang="en-US" sz="1750" b="0" u="none" strike="noStrike">
                <a:solidFill>
                  <a:srgbClr val="000000"/>
                </a:solidFill>
                <a:effectLst/>
                <a:uFillTx/>
                <a:latin typeface="Arial"/>
              </a:endParaRPr>
            </a:p>
          </p:txBody>
        </p:sp>
        <p:sp>
          <p:nvSpPr>
            <p:cNvPr id="85" name="TextBox 16"/>
            <p:cNvSpPr/>
            <p:nvPr/>
          </p:nvSpPr>
          <p:spPr>
            <a:xfrm>
              <a:off x="6173280" y="2664000"/>
              <a:ext cx="1792800" cy="3214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450" b="0" u="none" strike="noStrike">
                  <a:solidFill>
                    <a:schemeClr val="dk1"/>
                  </a:solidFill>
                  <a:effectLst/>
                  <a:uFillTx/>
                  <a:latin typeface="Arial"/>
                  <a:ea typeface="Microsoft YaHei"/>
                </a:rPr>
                <a:t>Comparable options</a:t>
              </a:r>
              <a:endParaRPr lang="en-US" sz="1450" b="0" u="none" strike="noStrike">
                <a:solidFill>
                  <a:srgbClr val="000000"/>
                </a:solidFill>
                <a:effectLst/>
                <a:uFillTx/>
                <a:latin typeface="Arial"/>
              </a:endParaRPr>
            </a:p>
          </p:txBody>
        </p:sp>
        <p:sp>
          <p:nvSpPr>
            <p:cNvPr id="86" name="Line 17"/>
            <p:cNvSpPr/>
            <p:nvPr/>
          </p:nvSpPr>
          <p:spPr>
            <a:xfrm>
              <a:off x="8143560" y="2628720"/>
              <a:ext cx="457200" cy="360"/>
            </a:xfrm>
            <a:prstGeom prst="line">
              <a:avLst/>
            </a:prstGeom>
            <a:ln w="19050">
              <a:solidFill>
                <a:srgbClr val="66758A"/>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87" name="Rectangle 18"/>
            <p:cNvSpPr/>
            <p:nvPr/>
          </p:nvSpPr>
          <p:spPr>
            <a:xfrm>
              <a:off x="8667720" y="2190600"/>
              <a:ext cx="3027960" cy="875160"/>
            </a:xfrm>
            <a:prstGeom prst="roundRect">
              <a:avLst>
                <a:gd name="adj" fmla="val 9783"/>
              </a:avLst>
            </a:prstGeom>
            <a:solidFill>
              <a:srgbClr val="FFF2DD"/>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88" name="TextBox 19"/>
            <p:cNvSpPr/>
            <p:nvPr/>
          </p:nvSpPr>
          <p:spPr>
            <a:xfrm>
              <a:off x="8895960" y="2311560"/>
              <a:ext cx="1856160" cy="3801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750" b="1" u="none" strike="noStrike">
                  <a:solidFill>
                    <a:srgbClr val="A76813"/>
                  </a:solidFill>
                  <a:effectLst/>
                  <a:uFillTx/>
                  <a:latin typeface="Arial"/>
                  <a:ea typeface="Microsoft YaHei"/>
                </a:rPr>
                <a:t>Human: select</a:t>
              </a:r>
              <a:endParaRPr lang="en-US" sz="1750" b="0" u="none" strike="noStrike">
                <a:solidFill>
                  <a:srgbClr val="000000"/>
                </a:solidFill>
                <a:effectLst/>
                <a:uFillTx/>
                <a:latin typeface="Arial"/>
              </a:endParaRPr>
            </a:p>
          </p:txBody>
        </p:sp>
        <p:sp>
          <p:nvSpPr>
            <p:cNvPr id="89" name="TextBox 20"/>
            <p:cNvSpPr/>
            <p:nvPr/>
          </p:nvSpPr>
          <p:spPr>
            <a:xfrm>
              <a:off x="8897400" y="2664000"/>
              <a:ext cx="2303640" cy="3214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450" b="0" u="none" strike="noStrike">
                  <a:solidFill>
                    <a:schemeClr val="dk1"/>
                  </a:solidFill>
                  <a:effectLst/>
                  <a:uFillTx/>
                  <a:latin typeface="Arial"/>
                  <a:ea typeface="Microsoft YaHei"/>
                </a:rPr>
                <a:t>Concept / side / views</a:t>
              </a:r>
              <a:endParaRPr lang="en-US" sz="1450" b="0" u="none" strike="noStrike">
                <a:solidFill>
                  <a:srgbClr val="000000"/>
                </a:solidFill>
                <a:effectLst/>
                <a:uFillTx/>
                <a:latin typeface="Arial"/>
              </a:endParaRPr>
            </a:p>
          </p:txBody>
        </p:sp>
        <p:sp>
          <p:nvSpPr>
            <p:cNvPr id="90" name="TextBox 21"/>
            <p:cNvSpPr/>
            <p:nvPr/>
          </p:nvSpPr>
          <p:spPr>
            <a:xfrm>
              <a:off x="488520" y="3273480"/>
              <a:ext cx="1402200" cy="2628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0" u="none" strike="noStrike">
                  <a:solidFill>
                    <a:srgbClr val="66758A"/>
                  </a:solidFill>
                  <a:effectLst/>
                  <a:uFillTx/>
                  <a:latin typeface="Arial"/>
                  <a:ea typeface="Microsoft YaHei"/>
                </a:rPr>
                <a:t>Output: needs table</a:t>
              </a:r>
              <a:endParaRPr lang="en-US" sz="1200" b="0" u="none" strike="noStrike">
                <a:solidFill>
                  <a:srgbClr val="000000"/>
                </a:solidFill>
                <a:effectLst/>
                <a:uFillTx/>
                <a:latin typeface="Arial"/>
              </a:endParaRPr>
            </a:p>
          </p:txBody>
        </p:sp>
        <p:sp>
          <p:nvSpPr>
            <p:cNvPr id="91" name="TextBox 22"/>
            <p:cNvSpPr/>
            <p:nvPr/>
          </p:nvSpPr>
          <p:spPr>
            <a:xfrm>
              <a:off x="3212640" y="3273480"/>
              <a:ext cx="2291400" cy="2628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0" u="none" strike="noStrike">
                  <a:solidFill>
                    <a:srgbClr val="66758A"/>
                  </a:solidFill>
                  <a:effectLst/>
                  <a:uFillTx/>
                  <a:latin typeface="Arial"/>
                  <a:ea typeface="Microsoft YaHei"/>
                </a:rPr>
                <a:t>Output: traceable reference pack</a:t>
              </a:r>
              <a:endParaRPr lang="en-US" sz="1200" b="0" u="none" strike="noStrike">
                <a:solidFill>
                  <a:srgbClr val="000000"/>
                </a:solidFill>
                <a:effectLst/>
                <a:uFillTx/>
                <a:latin typeface="Arial"/>
              </a:endParaRPr>
            </a:p>
          </p:txBody>
        </p:sp>
        <p:sp>
          <p:nvSpPr>
            <p:cNvPr id="92" name="TextBox 23"/>
            <p:cNvSpPr/>
            <p:nvPr/>
          </p:nvSpPr>
          <p:spPr>
            <a:xfrm>
              <a:off x="5936760" y="3273480"/>
              <a:ext cx="1580040" cy="2628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0" u="none" strike="noStrike">
                  <a:solidFill>
                    <a:srgbClr val="66758A"/>
                  </a:solidFill>
                  <a:effectLst/>
                  <a:uFillTx/>
                  <a:latin typeface="Arial"/>
                  <a:ea typeface="Microsoft YaHei"/>
                </a:rPr>
                <a:t>Output: concept board</a:t>
              </a:r>
              <a:endParaRPr lang="en-US" sz="1200" b="0" u="none" strike="noStrike">
                <a:solidFill>
                  <a:srgbClr val="000000"/>
                </a:solidFill>
                <a:effectLst/>
                <a:uFillTx/>
                <a:latin typeface="Arial"/>
              </a:endParaRPr>
            </a:p>
          </p:txBody>
        </p:sp>
        <p:sp>
          <p:nvSpPr>
            <p:cNvPr id="93" name="TextBox 24"/>
            <p:cNvSpPr/>
            <p:nvPr/>
          </p:nvSpPr>
          <p:spPr>
            <a:xfrm>
              <a:off x="8660880" y="3273480"/>
              <a:ext cx="2215080" cy="2628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0" u="none" strike="noStrike">
                  <a:solidFill>
                    <a:srgbClr val="66758A"/>
                  </a:solidFill>
                  <a:effectLst/>
                  <a:uFillTx/>
                  <a:latin typeface="Arial"/>
                  <a:ea typeface="Microsoft YaHei"/>
                </a:rPr>
                <a:t>Output: single current reference</a:t>
              </a:r>
              <a:endParaRPr lang="en-US" sz="1200" b="0" u="none" strike="noStrike">
                <a:solidFill>
                  <a:srgbClr val="000000"/>
                </a:solidFill>
                <a:effectLst/>
                <a:uFillTx/>
                <a:latin typeface="Arial"/>
              </a:endParaRPr>
            </a:p>
          </p:txBody>
        </p:sp>
      </p:grpSp>
      <p:grpSp>
        <p:nvGrpSpPr>
          <p:cNvPr id="94" name="execution-chain"/>
          <p:cNvGrpSpPr/>
          <p:nvPr/>
        </p:nvGrpSpPr>
        <p:grpSpPr>
          <a:xfrm>
            <a:off x="488520" y="3600360"/>
            <a:ext cx="11313720" cy="1907640"/>
            <a:chOff x="488520" y="3600360"/>
            <a:chExt cx="11313720" cy="1907640"/>
          </a:xfrm>
        </p:grpSpPr>
        <p:sp>
          <p:nvSpPr>
            <p:cNvPr id="95" name="Line 26"/>
            <p:cNvSpPr/>
            <p:nvPr/>
          </p:nvSpPr>
          <p:spPr>
            <a:xfrm>
              <a:off x="1638360" y="3762360"/>
              <a:ext cx="8647560" cy="8280"/>
            </a:xfrm>
            <a:custGeom>
              <a:avLst/>
              <a:gdLst>
                <a:gd name="textAreaLeft" fmla="*/ 0 w 8647560"/>
                <a:gd name="textAreaRight" fmla="*/ 8648640 w 8647560"/>
                <a:gd name="textAreaTop" fmla="*/ 0 h 8280"/>
                <a:gd name="textAreaBottom" fmla="*/ 9360 h 8280"/>
              </a:gdLst>
              <a:ahLst/>
              <a:cxnLst/>
              <a:rect l="textAreaLeft" t="textAreaTop" r="textAreaRight" b="textAreaBottom"/>
              <a:pathLst>
                <a:path w="8648700" h="9525">
                  <a:moveTo>
                    <a:pt x="8648700" y="0"/>
                  </a:moveTo>
                  <a:lnTo>
                    <a:pt x="0" y="0"/>
                  </a:lnTo>
                </a:path>
              </a:pathLst>
            </a:custGeom>
            <a:noFill/>
            <a:ln w="19050">
              <a:solidFill>
                <a:srgbClr val="66758A"/>
              </a:solidFill>
              <a:round/>
            </a:ln>
          </p:spPr>
          <p:style>
            <a:lnRef idx="0"/>
            <a:fillRef idx="0"/>
            <a:effectRef idx="0"/>
            <a:fontRef idx="minor"/>
          </p:style>
          <p:txBody>
            <a:bodyPr lIns="90000" tIns="-35640" rIns="90000" bIns="-35640" anchor="t">
              <a:noAutofit/>
            </a:bodyPr>
            <a:p>
              <a:pPr/>
              <a:endParaRPr lang="en-US" sz="1800" b="0" u="none" strike="noStrike">
                <a:solidFill>
                  <a:srgbClr val="000000"/>
                </a:solidFill>
                <a:effectLst/>
                <a:uFillTx/>
                <a:latin typeface="Arial"/>
              </a:endParaRPr>
            </a:p>
          </p:txBody>
        </p:sp>
        <p:sp>
          <p:nvSpPr>
            <p:cNvPr id="96" name="Line 27"/>
            <p:cNvSpPr/>
            <p:nvPr/>
          </p:nvSpPr>
          <p:spPr>
            <a:xfrm>
              <a:off x="10287000" y="3600360"/>
              <a:ext cx="8280" cy="160920"/>
            </a:xfrm>
            <a:custGeom>
              <a:avLst/>
              <a:gdLst>
                <a:gd name="textAreaLeft" fmla="*/ 0 w 8280"/>
                <a:gd name="textAreaRight" fmla="*/ 9360 w 8280"/>
                <a:gd name="textAreaTop" fmla="*/ 0 h 160920"/>
                <a:gd name="textAreaBottom" fmla="*/ 162000 h 160920"/>
              </a:gdLst>
              <a:ahLst/>
              <a:cxnLst/>
              <a:rect l="textAreaLeft" t="textAreaTop" r="textAreaRight" b="textAreaBottom"/>
              <a:pathLst>
                <a:path w="9525" h="161925">
                  <a:moveTo>
                    <a:pt x="0" y="0"/>
                  </a:moveTo>
                  <a:lnTo>
                    <a:pt x="0" y="161925"/>
                  </a:lnTo>
                </a:path>
              </a:pathLst>
            </a:custGeom>
            <a:noFill/>
            <a:ln w="19050">
              <a:solidFill>
                <a:srgbClr val="66758A"/>
              </a:solidFill>
              <a:round/>
            </a:ln>
          </p:spPr>
          <p:style>
            <a:lnRef idx="0"/>
            <a:fillRef idx="0"/>
            <a:effectRef idx="0"/>
            <a:fontRef idx="minor"/>
          </p:style>
          <p:txBody>
            <a:bodyPr lIns="4320" tIns="45000" rIns="4320" bIns="45000" anchor="t">
              <a:noAutofit/>
            </a:bodyPr>
            <a:p>
              <a:pPr/>
              <a:endParaRPr lang="en-US" sz="1800" b="0" u="none" strike="noStrike">
                <a:solidFill>
                  <a:srgbClr val="000000"/>
                </a:solidFill>
                <a:effectLst/>
                <a:uFillTx/>
                <a:latin typeface="Arial"/>
              </a:endParaRPr>
            </a:p>
          </p:txBody>
        </p:sp>
        <p:sp>
          <p:nvSpPr>
            <p:cNvPr id="97" name="Line 28"/>
            <p:cNvSpPr/>
            <p:nvPr/>
          </p:nvSpPr>
          <p:spPr>
            <a:xfrm>
              <a:off x="1638000" y="3762360"/>
              <a:ext cx="360" cy="304560"/>
            </a:xfrm>
            <a:prstGeom prst="line">
              <a:avLst/>
            </a:prstGeom>
            <a:ln w="19050">
              <a:solidFill>
                <a:srgbClr val="66758A"/>
              </a:solidFill>
              <a:round/>
              <a:tailEnd len="lg" type="triangle" w="lg"/>
            </a:ln>
          </p:spPr>
          <p:style>
            <a:lnRef idx="0"/>
            <a:fillRef idx="0"/>
            <a:effectRef idx="0"/>
            <a:fontRef idx="minor"/>
          </p:style>
          <p:txBody>
            <a:bodyPr lIns="0" tIns="45000" rIns="0" bIns="45000" anchor="t" anchorCtr="1">
              <a:noAutofit/>
            </a:bodyPr>
            <a:p>
              <a:pPr/>
              <a:endParaRPr lang="en-US" sz="1800" b="0" u="none" strike="noStrike">
                <a:solidFill>
                  <a:srgbClr val="000000"/>
                </a:solidFill>
                <a:effectLst/>
                <a:uFillTx/>
                <a:latin typeface="Arial"/>
              </a:endParaRPr>
            </a:p>
          </p:txBody>
        </p:sp>
        <p:sp>
          <p:nvSpPr>
            <p:cNvPr id="98" name="Rectangle 29"/>
            <p:cNvSpPr/>
            <p:nvPr/>
          </p:nvSpPr>
          <p:spPr>
            <a:xfrm>
              <a:off x="495360" y="4152960"/>
              <a:ext cx="2142000" cy="875160"/>
            </a:xfrm>
            <a:prstGeom prst="roundRect">
              <a:avLst>
                <a:gd name="adj" fmla="val 9783"/>
              </a:avLst>
            </a:prstGeom>
            <a:solidFill>
              <a:srgbClr val="E8F6F2"/>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99" name="TextBox 30"/>
            <p:cNvSpPr/>
            <p:nvPr/>
          </p:nvSpPr>
          <p:spPr>
            <a:xfrm>
              <a:off x="723600" y="4273560"/>
              <a:ext cx="1856160" cy="3801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750" b="1" u="none" strike="noStrike">
                  <a:solidFill>
                    <a:srgbClr val="069B8A"/>
                  </a:solidFill>
                  <a:effectLst/>
                  <a:uFillTx/>
                  <a:latin typeface="Arial"/>
                  <a:ea typeface="Microsoft YaHei"/>
                </a:rPr>
                <a:t>Form and model</a:t>
              </a:r>
              <a:endParaRPr lang="en-US" sz="1750" b="0" u="none" strike="noStrike">
                <a:solidFill>
                  <a:srgbClr val="000000"/>
                </a:solidFill>
                <a:effectLst/>
                <a:uFillTx/>
                <a:latin typeface="Arial"/>
              </a:endParaRPr>
            </a:p>
          </p:txBody>
        </p:sp>
        <p:sp>
          <p:nvSpPr>
            <p:cNvPr id="100" name="TextBox 31"/>
            <p:cNvSpPr/>
            <p:nvPr/>
          </p:nvSpPr>
          <p:spPr>
            <a:xfrm>
              <a:off x="725040" y="4626000"/>
              <a:ext cx="1859400" cy="3214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450" b="0" u="none" strike="noStrike">
                  <a:solidFill>
                    <a:schemeClr val="dk1"/>
                  </a:solidFill>
                  <a:effectLst/>
                  <a:uFillTx/>
                  <a:latin typeface="Arial"/>
                  <a:ea typeface="Microsoft YaHei"/>
                </a:rPr>
                <a:t>Parts / ratio / fit</a:t>
              </a:r>
              <a:endParaRPr lang="en-US" sz="1450" b="0" u="none" strike="noStrike">
                <a:solidFill>
                  <a:srgbClr val="000000"/>
                </a:solidFill>
                <a:effectLst/>
                <a:uFillTx/>
                <a:latin typeface="Arial"/>
              </a:endParaRPr>
            </a:p>
          </p:txBody>
        </p:sp>
        <p:sp>
          <p:nvSpPr>
            <p:cNvPr id="101" name="Line 32"/>
            <p:cNvSpPr/>
            <p:nvPr/>
          </p:nvSpPr>
          <p:spPr>
            <a:xfrm>
              <a:off x="2695320" y="4590720"/>
              <a:ext cx="457200" cy="360"/>
            </a:xfrm>
            <a:prstGeom prst="line">
              <a:avLst/>
            </a:prstGeom>
            <a:ln w="19050">
              <a:solidFill>
                <a:srgbClr val="66758A"/>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102" name="Rectangle 33"/>
            <p:cNvSpPr/>
            <p:nvPr/>
          </p:nvSpPr>
          <p:spPr>
            <a:xfrm>
              <a:off x="3219480" y="4152960"/>
              <a:ext cx="2142000" cy="875160"/>
            </a:xfrm>
            <a:prstGeom prst="roundRect">
              <a:avLst>
                <a:gd name="adj" fmla="val 9783"/>
              </a:avLst>
            </a:prstGeom>
            <a:solidFill>
              <a:srgbClr val="E8F6F2"/>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03" name="TextBox 34"/>
            <p:cNvSpPr/>
            <p:nvPr/>
          </p:nvSpPr>
          <p:spPr>
            <a:xfrm>
              <a:off x="3447720" y="4273560"/>
              <a:ext cx="1593720" cy="3801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750" b="1" u="none" strike="noStrike">
                  <a:solidFill>
                    <a:srgbClr val="069B8A"/>
                  </a:solidFill>
                  <a:effectLst/>
                  <a:uFillTx/>
                  <a:latin typeface="Arial"/>
                  <a:ea typeface="Microsoft YaHei"/>
                </a:rPr>
                <a:t>Run real tools</a:t>
              </a:r>
              <a:endParaRPr lang="en-US" sz="1750" b="0" u="none" strike="noStrike">
                <a:solidFill>
                  <a:srgbClr val="000000"/>
                </a:solidFill>
                <a:effectLst/>
                <a:uFillTx/>
                <a:latin typeface="Arial"/>
              </a:endParaRPr>
            </a:p>
          </p:txBody>
        </p:sp>
        <p:sp>
          <p:nvSpPr>
            <p:cNvPr id="104" name="TextBox 35"/>
            <p:cNvSpPr/>
            <p:nvPr/>
          </p:nvSpPr>
          <p:spPr>
            <a:xfrm>
              <a:off x="3449160" y="4626000"/>
              <a:ext cx="1859400" cy="3214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450" b="0" u="none" strike="noStrike">
                  <a:solidFill>
                    <a:schemeClr val="dk1"/>
                  </a:solidFill>
                  <a:effectLst/>
                  <a:uFillTx/>
                  <a:latin typeface="Arial"/>
                  <a:ea typeface="Microsoft YaHei"/>
                </a:rPr>
                <a:t>Model / save / reopen</a:t>
              </a:r>
              <a:endParaRPr lang="en-US" sz="1450" b="0" u="none" strike="noStrike">
                <a:solidFill>
                  <a:srgbClr val="000000"/>
                </a:solidFill>
                <a:effectLst/>
                <a:uFillTx/>
                <a:latin typeface="Arial"/>
              </a:endParaRPr>
            </a:p>
          </p:txBody>
        </p:sp>
        <p:sp>
          <p:nvSpPr>
            <p:cNvPr id="105" name="Line 36"/>
            <p:cNvSpPr/>
            <p:nvPr/>
          </p:nvSpPr>
          <p:spPr>
            <a:xfrm>
              <a:off x="5419440" y="4590720"/>
              <a:ext cx="457200" cy="360"/>
            </a:xfrm>
            <a:prstGeom prst="line">
              <a:avLst/>
            </a:prstGeom>
            <a:ln w="19050">
              <a:solidFill>
                <a:srgbClr val="66758A"/>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106" name="Rectangle 37"/>
            <p:cNvSpPr/>
            <p:nvPr/>
          </p:nvSpPr>
          <p:spPr>
            <a:xfrm>
              <a:off x="5943600" y="4152960"/>
              <a:ext cx="2513880" cy="875160"/>
            </a:xfrm>
            <a:prstGeom prst="roundRect">
              <a:avLst>
                <a:gd name="adj" fmla="val 9783"/>
              </a:avLst>
            </a:prstGeom>
            <a:solidFill>
              <a:srgbClr val="FFF2DD"/>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07" name="TextBox 38"/>
            <p:cNvSpPr/>
            <p:nvPr/>
          </p:nvSpPr>
          <p:spPr>
            <a:xfrm>
              <a:off x="6171840" y="4273560"/>
              <a:ext cx="1863360" cy="3801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750" b="1" u="none" strike="noStrike">
                  <a:solidFill>
                    <a:srgbClr val="A76813"/>
                  </a:solidFill>
                  <a:effectLst/>
                  <a:uFillTx/>
                  <a:latin typeface="Arial"/>
                  <a:ea typeface="Microsoft YaHei"/>
                </a:rPr>
                <a:t>Geometry review</a:t>
              </a:r>
              <a:endParaRPr lang="en-US" sz="1750" b="0" u="none" strike="noStrike">
                <a:solidFill>
                  <a:srgbClr val="000000"/>
                </a:solidFill>
                <a:effectLst/>
                <a:uFillTx/>
                <a:latin typeface="Arial"/>
              </a:endParaRPr>
            </a:p>
          </p:txBody>
        </p:sp>
        <p:sp>
          <p:nvSpPr>
            <p:cNvPr id="108" name="TextBox 39"/>
            <p:cNvSpPr/>
            <p:nvPr/>
          </p:nvSpPr>
          <p:spPr>
            <a:xfrm>
              <a:off x="6173280" y="4626000"/>
              <a:ext cx="2081520" cy="3214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450" b="0" u="none" strike="noStrike">
                  <a:solidFill>
                    <a:schemeClr val="dk1"/>
                  </a:solidFill>
                  <a:effectLst/>
                  <a:uFillTx/>
                  <a:latin typeface="Arial"/>
                  <a:ea typeface="Microsoft YaHei"/>
                </a:rPr>
                <a:t>Geometry / angle / limits</a:t>
              </a:r>
              <a:endParaRPr lang="en-US" sz="1450" b="0" u="none" strike="noStrike">
                <a:solidFill>
                  <a:srgbClr val="000000"/>
                </a:solidFill>
                <a:effectLst/>
                <a:uFillTx/>
                <a:latin typeface="Arial"/>
              </a:endParaRPr>
            </a:p>
          </p:txBody>
        </p:sp>
        <p:sp>
          <p:nvSpPr>
            <p:cNvPr id="109" name="Line 40"/>
            <p:cNvSpPr/>
            <p:nvPr/>
          </p:nvSpPr>
          <p:spPr>
            <a:xfrm>
              <a:off x="8458200" y="4590720"/>
              <a:ext cx="1257120" cy="360"/>
            </a:xfrm>
            <a:prstGeom prst="line">
              <a:avLst/>
            </a:prstGeom>
            <a:ln w="19050">
              <a:solidFill>
                <a:srgbClr val="66758A"/>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110" name="Freeform 41"/>
            <p:cNvSpPr/>
            <p:nvPr/>
          </p:nvSpPr>
          <p:spPr>
            <a:xfrm>
              <a:off x="9848880" y="4067280"/>
              <a:ext cx="1332360" cy="951480"/>
            </a:xfrm>
            <a:prstGeom prst="diamond">
              <a:avLst/>
            </a:prstGeom>
            <a:solidFill>
              <a:srgbClr val="FFF2DD"/>
            </a:solidFill>
            <a:ln w="19050">
              <a:solidFill>
                <a:srgbClr val="D98D2B"/>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11" name="TextBox 42"/>
            <p:cNvSpPr/>
            <p:nvPr/>
          </p:nvSpPr>
          <p:spPr>
            <a:xfrm>
              <a:off x="10172160" y="4406760"/>
              <a:ext cx="686160" cy="321480"/>
            </a:xfrm>
            <a:prstGeom prst="rect">
              <a:avLst/>
            </a:prstGeom>
            <a:noFill/>
            <a:ln w="0">
              <a:noFill/>
            </a:ln>
          </p:spPr>
          <p:style>
            <a:lnRef idx="0"/>
            <a:fillRef idx="0"/>
            <a:effectRef idx="0"/>
            <a:fontRef idx="minor"/>
          </p:style>
          <p:txBody>
            <a:bodyPr wrap="none" lIns="0" tIns="0" rIns="0" bIns="0" anchor="t">
              <a:spAutoFit/>
            </a:bodyPr>
            <a:p>
              <a:pPr algn="ctr" defTabSz="457200">
                <a:lnSpc>
                  <a:spcPct val="100000"/>
                </a:lnSpc>
              </a:pPr>
              <a:r>
                <a:rPr lang="en-US" sz="1450" b="1" u="none" strike="noStrike">
                  <a:solidFill>
                    <a:schemeClr val="accent1"/>
                  </a:solidFill>
                  <a:effectLst/>
                  <a:uFillTx/>
                  <a:latin typeface="Arial"/>
                  <a:ea typeface="Microsoft YaHei"/>
                </a:rPr>
                <a:t>Accept</a:t>
              </a:r>
              <a:endParaRPr lang="en-US" sz="1450" b="0" u="none" strike="noStrike">
                <a:solidFill>
                  <a:srgbClr val="000000"/>
                </a:solidFill>
                <a:effectLst/>
                <a:uFillTx/>
                <a:latin typeface="Arial"/>
              </a:endParaRPr>
            </a:p>
          </p:txBody>
        </p:sp>
        <p:sp>
          <p:nvSpPr>
            <p:cNvPr id="112" name="TextBox 43"/>
            <p:cNvSpPr/>
            <p:nvPr/>
          </p:nvSpPr>
          <p:spPr>
            <a:xfrm>
              <a:off x="488520" y="5245200"/>
              <a:ext cx="1664640" cy="2628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0" u="none" strike="noStrike">
                  <a:solidFill>
                    <a:srgbClr val="66758A"/>
                  </a:solidFill>
                  <a:effectLst/>
                  <a:uFillTx/>
                  <a:latin typeface="Arial"/>
                  <a:ea typeface="Microsoft YaHei"/>
                </a:rPr>
                <a:t>Output: checkable CAD</a:t>
              </a:r>
              <a:endParaRPr lang="en-US" sz="1200" b="0" u="none" strike="noStrike">
                <a:solidFill>
                  <a:srgbClr val="000000"/>
                </a:solidFill>
                <a:effectLst/>
                <a:uFillTx/>
                <a:latin typeface="Arial"/>
              </a:endParaRPr>
            </a:p>
          </p:txBody>
        </p:sp>
        <p:sp>
          <p:nvSpPr>
            <p:cNvPr id="113" name="TextBox 44"/>
            <p:cNvSpPr/>
            <p:nvPr/>
          </p:nvSpPr>
          <p:spPr>
            <a:xfrm>
              <a:off x="3212640" y="5245200"/>
              <a:ext cx="1901880" cy="2628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0" u="none" strike="noStrike">
                  <a:solidFill>
                    <a:srgbClr val="66758A"/>
                  </a:solidFill>
                  <a:effectLst/>
                  <a:uFillTx/>
                  <a:latin typeface="Arial"/>
                  <a:ea typeface="Microsoft YaHei"/>
                </a:rPr>
                <a:t>Output: saved-state receipt</a:t>
              </a:r>
              <a:endParaRPr lang="en-US" sz="1200" b="0" u="none" strike="noStrike">
                <a:solidFill>
                  <a:srgbClr val="000000"/>
                </a:solidFill>
                <a:effectLst/>
                <a:uFillTx/>
                <a:latin typeface="Arial"/>
              </a:endParaRPr>
            </a:p>
          </p:txBody>
        </p:sp>
        <p:sp>
          <p:nvSpPr>
            <p:cNvPr id="114" name="TextBox 45"/>
            <p:cNvSpPr/>
            <p:nvPr/>
          </p:nvSpPr>
          <p:spPr>
            <a:xfrm>
              <a:off x="5936760" y="5245200"/>
              <a:ext cx="2147400" cy="2628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0" u="none" strike="noStrike">
                  <a:solidFill>
                    <a:srgbClr val="66758A"/>
                  </a:solidFill>
                  <a:effectLst/>
                  <a:uFillTx/>
                  <a:latin typeface="Arial"/>
                  <a:ea typeface="Microsoft YaHei"/>
                </a:rPr>
                <a:t>Output: issue list and evidence</a:t>
              </a:r>
              <a:endParaRPr lang="en-US" sz="1200" b="0" u="none" strike="noStrike">
                <a:solidFill>
                  <a:srgbClr val="000000"/>
                </a:solidFill>
                <a:effectLst/>
                <a:uFillTx/>
                <a:latin typeface="Arial"/>
              </a:endParaRPr>
            </a:p>
          </p:txBody>
        </p:sp>
        <p:sp>
          <p:nvSpPr>
            <p:cNvPr id="115" name="TextBox 46"/>
            <p:cNvSpPr/>
            <p:nvPr/>
          </p:nvSpPr>
          <p:spPr>
            <a:xfrm>
              <a:off x="10137240" y="5245200"/>
              <a:ext cx="1665000" cy="2628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0" u="none" strike="noStrike">
                  <a:solidFill>
                    <a:srgbClr val="A76813"/>
                  </a:solidFill>
                  <a:effectLst/>
                  <a:uFillTx/>
                  <a:latin typeface="Arial"/>
                  <a:ea typeface="Microsoft YaHei"/>
                </a:rPr>
                <a:t>Release on acceptance</a:t>
              </a:r>
              <a:endParaRPr lang="en-US" sz="1200" b="0" u="none" strike="noStrike">
                <a:solidFill>
                  <a:srgbClr val="000000"/>
                </a:solidFill>
                <a:effectLst/>
                <a:uFillTx/>
                <a:latin typeface="Arial"/>
              </a:endParaRPr>
            </a:p>
          </p:txBody>
        </p:sp>
      </p:grpSp>
      <p:grpSp>
        <p:nvGrpSpPr>
          <p:cNvPr id="116" name="feedback-loop"/>
          <p:cNvGrpSpPr/>
          <p:nvPr/>
        </p:nvGrpSpPr>
        <p:grpSpPr>
          <a:xfrm>
            <a:off x="1638000" y="5667120"/>
            <a:ext cx="8885880" cy="446760"/>
            <a:chOff x="1638000" y="5667120"/>
            <a:chExt cx="8885880" cy="446760"/>
          </a:xfrm>
        </p:grpSpPr>
        <p:sp>
          <p:nvSpPr>
            <p:cNvPr id="117" name="Line 48"/>
            <p:cNvSpPr/>
            <p:nvPr/>
          </p:nvSpPr>
          <p:spPr>
            <a:xfrm>
              <a:off x="10515600" y="5667480"/>
              <a:ext cx="8280" cy="437040"/>
            </a:xfrm>
            <a:custGeom>
              <a:avLst/>
              <a:gdLst>
                <a:gd name="textAreaLeft" fmla="*/ 0 w 8280"/>
                <a:gd name="textAreaRight" fmla="*/ 9360 w 8280"/>
                <a:gd name="textAreaTop" fmla="*/ 0 h 437040"/>
                <a:gd name="textAreaBottom" fmla="*/ 438120 h 437040"/>
              </a:gdLst>
              <a:ahLst/>
              <a:cxnLst/>
              <a:rect l="textAreaLeft" t="textAreaTop" r="textAreaRight" b="textAreaBottom"/>
              <a:pathLst>
                <a:path w="9525" h="438150">
                  <a:moveTo>
                    <a:pt x="0" y="0"/>
                  </a:moveTo>
                  <a:lnTo>
                    <a:pt x="0" y="438150"/>
                  </a:lnTo>
                </a:path>
              </a:pathLst>
            </a:custGeom>
            <a:noFill/>
            <a:ln w="19050">
              <a:solidFill>
                <a:srgbClr val="D98D2B"/>
              </a:solidFill>
              <a:prstDash val="dash"/>
              <a:round/>
            </a:ln>
          </p:spPr>
          <p:style>
            <a:lnRef idx="0"/>
            <a:fillRef idx="0"/>
            <a:effectRef idx="0"/>
            <a:fontRef idx="minor"/>
          </p:style>
          <p:txBody>
            <a:bodyPr lIns="4320" tIns="45000" rIns="4320" bIns="45000" anchor="t">
              <a:noAutofit/>
            </a:bodyPr>
            <a:p>
              <a:pPr/>
              <a:endParaRPr lang="en-US" sz="1800" b="0" u="none" strike="noStrike">
                <a:solidFill>
                  <a:srgbClr val="000000"/>
                </a:solidFill>
                <a:effectLst/>
                <a:uFillTx/>
                <a:latin typeface="Arial"/>
              </a:endParaRPr>
            </a:p>
          </p:txBody>
        </p:sp>
        <p:sp>
          <p:nvSpPr>
            <p:cNvPr id="118" name="Line 49"/>
            <p:cNvSpPr/>
            <p:nvPr/>
          </p:nvSpPr>
          <p:spPr>
            <a:xfrm>
              <a:off x="1638360" y="6105600"/>
              <a:ext cx="8876160" cy="8280"/>
            </a:xfrm>
            <a:custGeom>
              <a:avLst/>
              <a:gdLst>
                <a:gd name="textAreaLeft" fmla="*/ 0 w 8876160"/>
                <a:gd name="textAreaRight" fmla="*/ 8877240 w 8876160"/>
                <a:gd name="textAreaTop" fmla="*/ 0 h 8280"/>
                <a:gd name="textAreaBottom" fmla="*/ 9360 h 8280"/>
              </a:gdLst>
              <a:ahLst/>
              <a:cxnLst/>
              <a:rect l="textAreaLeft" t="textAreaTop" r="textAreaRight" b="textAreaBottom"/>
              <a:pathLst>
                <a:path w="8877300" h="9525">
                  <a:moveTo>
                    <a:pt x="8877300" y="0"/>
                  </a:moveTo>
                  <a:lnTo>
                    <a:pt x="0" y="0"/>
                  </a:lnTo>
                </a:path>
              </a:pathLst>
            </a:custGeom>
            <a:noFill/>
            <a:ln w="19050">
              <a:solidFill>
                <a:srgbClr val="D98D2B"/>
              </a:solidFill>
              <a:prstDash val="dash"/>
              <a:round/>
            </a:ln>
          </p:spPr>
          <p:style>
            <a:lnRef idx="0"/>
            <a:fillRef idx="0"/>
            <a:effectRef idx="0"/>
            <a:fontRef idx="minor"/>
          </p:style>
          <p:txBody>
            <a:bodyPr lIns="90000" tIns="-35640" rIns="90000" bIns="-35640" anchor="t">
              <a:noAutofit/>
            </a:bodyPr>
            <a:p>
              <a:pPr/>
              <a:endParaRPr lang="en-US" sz="1800" b="0" u="none" strike="noStrike">
                <a:solidFill>
                  <a:srgbClr val="000000"/>
                </a:solidFill>
                <a:effectLst/>
                <a:uFillTx/>
                <a:latin typeface="Arial"/>
              </a:endParaRPr>
            </a:p>
          </p:txBody>
        </p:sp>
        <p:sp>
          <p:nvSpPr>
            <p:cNvPr id="119" name="Line 50"/>
            <p:cNvSpPr/>
            <p:nvPr/>
          </p:nvSpPr>
          <p:spPr>
            <a:xfrm flipV="1">
              <a:off x="1638000" y="5667120"/>
              <a:ext cx="360" cy="438120"/>
            </a:xfrm>
            <a:prstGeom prst="line">
              <a:avLst/>
            </a:prstGeom>
            <a:ln w="19050">
              <a:solidFill>
                <a:srgbClr val="D98D2B"/>
              </a:solidFill>
              <a:round/>
              <a:tailEnd len="lg" type="triangle" w="lg"/>
            </a:ln>
          </p:spPr>
          <p:style>
            <a:lnRef idx="0"/>
            <a:fillRef idx="0"/>
            <a:effectRef idx="0"/>
            <a:fontRef idx="minor"/>
          </p:style>
          <p:txBody>
            <a:bodyPr lIns="0" tIns="45000" rIns="0" bIns="45000" anchor="t" anchorCtr="1">
              <a:noAutofit/>
            </a:bodyPr>
            <a:p>
              <a:pPr/>
              <a:endParaRPr lang="en-US" sz="1800" b="0" u="none" strike="noStrike">
                <a:solidFill>
                  <a:srgbClr val="000000"/>
                </a:solidFill>
                <a:effectLst/>
                <a:uFillTx/>
                <a:latin typeface="Arial"/>
              </a:endParaRPr>
            </a:p>
          </p:txBody>
        </p:sp>
        <p:sp>
          <p:nvSpPr>
            <p:cNvPr id="120" name="TextBox 51"/>
            <p:cNvSpPr/>
            <p:nvPr/>
          </p:nvSpPr>
          <p:spPr>
            <a:xfrm>
              <a:off x="3192120" y="5711760"/>
              <a:ext cx="6291720" cy="3214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450" b="0" u="none" strike="noStrike">
                  <a:solidFill>
                    <a:srgbClr val="A76813"/>
                  </a:solidFill>
                  <a:effectLst/>
                  <a:uFillTx/>
                  <a:latin typeface="Arial"/>
                  <a:ea typeface="Microsoft YaHei"/>
                </a:rPr>
                <a:t>On a failed review, locate, fix, and recheck. Write back lessons at task close.</a:t>
              </a:r>
              <a:endParaRPr lang="en-US" sz="1450" b="0" u="none" strike="noStrike">
                <a:solidFill>
                  <a:srgbClr val="000000"/>
                </a:solidFill>
                <a:effectLst/>
                <a:uFillTx/>
                <a:latin typeface="Arial"/>
              </a:endParaRPr>
            </a:p>
          </p:txBody>
        </p:sp>
      </p:grpSp>
      <p:sp>
        <p:nvSpPr>
          <p:cNvPr id="121" name="footer-label"/>
          <p:cNvSpPr/>
          <p:nvPr/>
        </p:nvSpPr>
        <p:spPr>
          <a:xfrm>
            <a:off x="488520" y="6407280"/>
            <a:ext cx="5162760" cy="2628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0" u="none" strike="noStrike">
                <a:solidFill>
                  <a:srgbClr val="66758A"/>
                </a:solidFill>
                <a:effectLst/>
                <a:uFillTx/>
                <a:latin typeface="Arial"/>
                <a:ea typeface="Microsoft YaHei"/>
              </a:rPr>
              <a:t>Each round first checks the tool connection and resumes after it is restored.</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pSp>
        <p:nvGrpSpPr>
          <p:cNvPr id="122" name="header"/>
          <p:cNvGrpSpPr/>
          <p:nvPr/>
        </p:nvGrpSpPr>
        <p:grpSpPr>
          <a:xfrm>
            <a:off x="478440" y="422280"/>
            <a:ext cx="10226520" cy="972360"/>
            <a:chOff x="478440" y="422280"/>
            <a:chExt cx="10226520" cy="972360"/>
          </a:xfrm>
        </p:grpSpPr>
        <p:sp>
          <p:nvSpPr>
            <p:cNvPr id="123" name="TextBox 2"/>
            <p:cNvSpPr/>
            <p:nvPr/>
          </p:nvSpPr>
          <p:spPr>
            <a:xfrm>
              <a:off x="478440" y="422280"/>
              <a:ext cx="8502480" cy="6444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3300" b="1" u="none" strike="noStrike">
                  <a:solidFill>
                    <a:schemeClr val="accent1"/>
                  </a:solidFill>
                  <a:effectLst/>
                  <a:uFillTx/>
                  <a:latin typeface="Arial"/>
                  <a:ea typeface="Microsoft YaHei"/>
                </a:rPr>
                <a:t>Feature Extraction from User Descriptions</a:t>
              </a:r>
              <a:endParaRPr lang="en-US" sz="3300" b="0" u="none" strike="noStrike">
                <a:solidFill>
                  <a:srgbClr val="000000"/>
                </a:solidFill>
                <a:effectLst/>
                <a:uFillTx/>
                <a:latin typeface="Arial"/>
              </a:endParaRPr>
            </a:p>
          </p:txBody>
        </p:sp>
        <p:sp>
          <p:nvSpPr>
            <p:cNvPr id="124" name="TextBox 3"/>
            <p:cNvSpPr/>
            <p:nvPr/>
          </p:nvSpPr>
          <p:spPr>
            <a:xfrm>
              <a:off x="487080" y="1073160"/>
              <a:ext cx="10217880" cy="3214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0" u="none" strike="noStrike">
                  <a:solidFill>
                    <a:srgbClr val="66758A"/>
                  </a:solidFill>
                  <a:effectLst/>
                  <a:uFillTx/>
                  <a:latin typeface="Arial"/>
                  <a:ea typeface="Microsoft YaHei"/>
                </a:rPr>
                <a:t>AI extracts design features from the description, retrieves data by need dimension, and organizes candidates.</a:t>
              </a:r>
              <a:endParaRPr lang="en-US" sz="1650" b="0" u="none" strike="noStrike">
                <a:solidFill>
                  <a:srgbClr val="000000"/>
                </a:solidFill>
                <a:effectLst/>
                <a:uFillTx/>
                <a:latin typeface="Arial"/>
              </a:endParaRPr>
            </a:p>
          </p:txBody>
        </p:sp>
      </p:grpSp>
      <p:grpSp>
        <p:nvGrpSpPr>
          <p:cNvPr id="125" name="feature-pipeline"/>
          <p:cNvGrpSpPr/>
          <p:nvPr/>
        </p:nvGrpSpPr>
        <p:grpSpPr>
          <a:xfrm>
            <a:off x="485280" y="1739880"/>
            <a:ext cx="11251440" cy="1783080"/>
            <a:chOff x="485280" y="1739880"/>
            <a:chExt cx="11251440" cy="1783080"/>
          </a:xfrm>
        </p:grpSpPr>
        <p:sp>
          <p:nvSpPr>
            <p:cNvPr id="126" name="TextBox 5"/>
            <p:cNvSpPr/>
            <p:nvPr/>
          </p:nvSpPr>
          <p:spPr>
            <a:xfrm>
              <a:off x="485280" y="1739880"/>
              <a:ext cx="3498120" cy="3801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1" u="none" strike="noStrike">
                  <a:solidFill>
                    <a:schemeClr val="accent1"/>
                  </a:solidFill>
                  <a:effectLst/>
                  <a:uFillTx/>
                  <a:latin typeface="Arial"/>
                  <a:ea typeface="Microsoft YaHei"/>
                </a:rPr>
                <a:t>Natural-language description</a:t>
              </a:r>
              <a:endParaRPr lang="en-US" sz="1950" b="0" u="none" strike="noStrike">
                <a:solidFill>
                  <a:srgbClr val="000000"/>
                </a:solidFill>
                <a:effectLst/>
                <a:uFillTx/>
                <a:latin typeface="Arial"/>
              </a:endParaRPr>
            </a:p>
          </p:txBody>
        </p:sp>
        <p:sp>
          <p:nvSpPr>
            <p:cNvPr id="127" name="TextBox 6"/>
            <p:cNvSpPr/>
            <p:nvPr/>
          </p:nvSpPr>
          <p:spPr>
            <a:xfrm>
              <a:off x="487080" y="2254320"/>
              <a:ext cx="2867400" cy="3214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0" u="none" strike="noStrike">
                  <a:solidFill>
                    <a:schemeClr val="dk1"/>
                  </a:solidFill>
                  <a:effectLst/>
                  <a:uFillTx/>
                  <a:latin typeface="Arial"/>
                  <a:ea typeface="Microsoft YaHei"/>
                </a:rPr>
                <a:t>Problem, context, preferences</a:t>
              </a:r>
              <a:endParaRPr lang="en-US" sz="1650" b="0" u="none" strike="noStrike">
                <a:solidFill>
                  <a:srgbClr val="000000"/>
                </a:solidFill>
                <a:effectLst/>
                <a:uFillTx/>
                <a:latin typeface="Arial"/>
              </a:endParaRPr>
            </a:p>
          </p:txBody>
        </p:sp>
        <p:sp>
          <p:nvSpPr>
            <p:cNvPr id="128" name="Rectangle 7"/>
            <p:cNvSpPr/>
            <p:nvPr/>
          </p:nvSpPr>
          <p:spPr>
            <a:xfrm>
              <a:off x="495360" y="2685960"/>
              <a:ext cx="3075480" cy="837000"/>
            </a:xfrm>
            <a:prstGeom prst="roundRect">
              <a:avLst>
                <a:gd name="adj" fmla="val 9091"/>
              </a:avLst>
            </a:prstGeom>
            <a:solidFill>
              <a:schemeClr val="lt1"/>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29" name="TextBox 8"/>
            <p:cNvSpPr/>
            <p:nvPr/>
          </p:nvSpPr>
          <p:spPr>
            <a:xfrm>
              <a:off x="650520" y="2778120"/>
              <a:ext cx="1164240" cy="2628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00" b="0" u="none" strike="noStrike">
                  <a:solidFill>
                    <a:srgbClr val="66758A"/>
                  </a:solidFill>
                  <a:effectLst/>
                  <a:uFillTx/>
                  <a:latin typeface="Arial"/>
                  <a:ea typeface="Microsoft YaHei"/>
                </a:rPr>
                <a:t>Example input:</a:t>
              </a:r>
              <a:endParaRPr lang="en-US" sz="1300" b="0" u="none" strike="noStrike">
                <a:solidFill>
                  <a:srgbClr val="000000"/>
                </a:solidFill>
                <a:effectLst/>
                <a:uFillTx/>
                <a:latin typeface="Arial"/>
              </a:endParaRPr>
            </a:p>
          </p:txBody>
        </p:sp>
        <p:sp>
          <p:nvSpPr>
            <p:cNvPr id="130" name="TextBox 9"/>
            <p:cNvSpPr/>
            <p:nvPr/>
          </p:nvSpPr>
          <p:spPr>
            <a:xfrm>
              <a:off x="650520" y="3054240"/>
              <a:ext cx="3522600" cy="2628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00" b="0" u="none" strike="noStrike">
                  <a:solidFill>
                    <a:schemeClr val="dk1"/>
                  </a:solidFill>
                  <a:effectLst/>
                  <a:uFillTx/>
                  <a:latin typeface="Arial"/>
                  <a:ea typeface="Microsoft YaHei"/>
                </a:rPr>
                <a:t>in-ear, stable in sport and sleep, youthful colors</a:t>
              </a:r>
              <a:endParaRPr lang="en-US" sz="1300" b="0" u="none" strike="noStrike">
                <a:solidFill>
                  <a:srgbClr val="000000"/>
                </a:solidFill>
                <a:effectLst/>
                <a:uFillTx/>
                <a:latin typeface="Arial"/>
              </a:endParaRPr>
            </a:p>
          </p:txBody>
        </p:sp>
        <p:sp>
          <p:nvSpPr>
            <p:cNvPr id="131" name="Line 10"/>
            <p:cNvSpPr/>
            <p:nvPr/>
          </p:nvSpPr>
          <p:spPr>
            <a:xfrm>
              <a:off x="3666960" y="2571480"/>
              <a:ext cx="399960" cy="360"/>
            </a:xfrm>
            <a:prstGeom prst="line">
              <a:avLst/>
            </a:prstGeom>
            <a:ln w="19050">
              <a:solidFill>
                <a:srgbClr val="66758A"/>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132" name="TextBox 11"/>
            <p:cNvSpPr/>
            <p:nvPr/>
          </p:nvSpPr>
          <p:spPr>
            <a:xfrm>
              <a:off x="4333320" y="1739880"/>
              <a:ext cx="2700000" cy="3801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1" u="none" strike="noStrike">
                  <a:solidFill>
                    <a:srgbClr val="13243A"/>
                  </a:solidFill>
                  <a:effectLst/>
                  <a:uFillTx/>
                  <a:latin typeface="Arial"/>
                  <a:ea typeface="Microsoft YaHei"/>
                </a:rPr>
                <a:t>Split need dimensions</a:t>
              </a:r>
              <a:endParaRPr lang="en-US" sz="1950" b="0" u="none" strike="noStrike">
                <a:solidFill>
                  <a:srgbClr val="000000"/>
                </a:solidFill>
                <a:effectLst/>
                <a:uFillTx/>
                <a:latin typeface="Arial"/>
              </a:endParaRPr>
            </a:p>
          </p:txBody>
        </p:sp>
        <p:sp>
          <p:nvSpPr>
            <p:cNvPr id="133" name="TextBox 12"/>
            <p:cNvSpPr/>
            <p:nvPr/>
          </p:nvSpPr>
          <p:spPr>
            <a:xfrm>
              <a:off x="4335120" y="2254320"/>
              <a:ext cx="3003120" cy="3214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0" u="none" strike="noStrike">
                  <a:solidFill>
                    <a:schemeClr val="dk1"/>
                  </a:solidFill>
                  <a:effectLst/>
                  <a:uFillTx/>
                  <a:latin typeface="Arial"/>
                  <a:ea typeface="Microsoft YaHei"/>
                </a:rPr>
                <a:t>Form / scene / function / look</a:t>
              </a:r>
              <a:endParaRPr lang="en-US" sz="1650" b="0" u="none" strike="noStrike">
                <a:solidFill>
                  <a:srgbClr val="000000"/>
                </a:solidFill>
                <a:effectLst/>
                <a:uFillTx/>
                <a:latin typeface="Arial"/>
              </a:endParaRPr>
            </a:p>
          </p:txBody>
        </p:sp>
        <p:sp>
          <p:nvSpPr>
            <p:cNvPr id="134" name="TextBox 13"/>
            <p:cNvSpPr/>
            <p:nvPr/>
          </p:nvSpPr>
          <p:spPr>
            <a:xfrm>
              <a:off x="4335120" y="2692440"/>
              <a:ext cx="3624120" cy="3214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0" u="none" strike="noStrike">
                  <a:solidFill>
                    <a:schemeClr val="dk1"/>
                  </a:solidFill>
                  <a:effectLst/>
                  <a:uFillTx/>
                  <a:latin typeface="Arial"/>
                  <a:ea typeface="Microsoft YaHei"/>
                </a:rPr>
                <a:t>Mark constraints, conflicts, open items</a:t>
              </a:r>
              <a:endParaRPr lang="en-US" sz="1650" b="0" u="none" strike="noStrike">
                <a:solidFill>
                  <a:srgbClr val="000000"/>
                </a:solidFill>
                <a:effectLst/>
                <a:uFillTx/>
                <a:latin typeface="Arial"/>
              </a:endParaRPr>
            </a:p>
          </p:txBody>
        </p:sp>
        <p:sp>
          <p:nvSpPr>
            <p:cNvPr id="135" name="TextBox 14"/>
            <p:cNvSpPr/>
            <p:nvPr/>
          </p:nvSpPr>
          <p:spPr>
            <a:xfrm>
              <a:off x="4336560" y="3168720"/>
              <a:ext cx="2485440" cy="2628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00" b="0" u="none" strike="noStrike">
                  <a:solidFill>
                    <a:srgbClr val="66758A"/>
                  </a:solidFill>
                  <a:effectLst/>
                  <a:uFillTx/>
                  <a:latin typeface="Arial"/>
                  <a:ea typeface="Microsoft YaHei"/>
                </a:rPr>
                <a:t>Sleep is a scene. In-ear is a form</a:t>
              </a:r>
              <a:endParaRPr lang="en-US" sz="1300" b="0" u="none" strike="noStrike">
                <a:solidFill>
                  <a:srgbClr val="000000"/>
                </a:solidFill>
                <a:effectLst/>
                <a:uFillTx/>
                <a:latin typeface="Arial"/>
              </a:endParaRPr>
            </a:p>
          </p:txBody>
        </p:sp>
        <p:sp>
          <p:nvSpPr>
            <p:cNvPr id="136" name="Line 15"/>
            <p:cNvSpPr/>
            <p:nvPr/>
          </p:nvSpPr>
          <p:spPr>
            <a:xfrm>
              <a:off x="7667280" y="2571480"/>
              <a:ext cx="400320" cy="360"/>
            </a:xfrm>
            <a:prstGeom prst="line">
              <a:avLst/>
            </a:prstGeom>
            <a:ln w="19050">
              <a:solidFill>
                <a:srgbClr val="66758A"/>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137" name="TextBox 16"/>
            <p:cNvSpPr/>
            <p:nvPr/>
          </p:nvSpPr>
          <p:spPr>
            <a:xfrm>
              <a:off x="8343360" y="1739880"/>
              <a:ext cx="2645640" cy="3801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1" u="none" strike="noStrike">
                  <a:solidFill>
                    <a:srgbClr val="13243A"/>
                  </a:solidFill>
                  <a:effectLst/>
                  <a:uFillTx/>
                  <a:latin typeface="Arial"/>
                  <a:ea typeface="Microsoft YaHei"/>
                </a:rPr>
                <a:t>Retrieve and combine</a:t>
              </a:r>
              <a:endParaRPr lang="en-US" sz="1950" b="0" u="none" strike="noStrike">
                <a:solidFill>
                  <a:srgbClr val="000000"/>
                </a:solidFill>
                <a:effectLst/>
                <a:uFillTx/>
                <a:latin typeface="Arial"/>
              </a:endParaRPr>
            </a:p>
          </p:txBody>
        </p:sp>
        <p:sp>
          <p:nvSpPr>
            <p:cNvPr id="138" name="TextBox 17"/>
            <p:cNvSpPr/>
            <p:nvPr/>
          </p:nvSpPr>
          <p:spPr>
            <a:xfrm>
              <a:off x="8345160" y="2254320"/>
              <a:ext cx="3391560" cy="3214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0" u="none" strike="noStrike">
                  <a:solidFill>
                    <a:schemeClr val="dk1"/>
                  </a:solidFill>
                  <a:effectLst/>
                  <a:uFillTx/>
                  <a:latin typeface="Arial"/>
                  <a:ea typeface="Microsoft YaHei"/>
                </a:rPr>
                <a:t>Query per dimension, then combine</a:t>
              </a:r>
              <a:endParaRPr lang="en-US" sz="1650" b="0" u="none" strike="noStrike">
                <a:solidFill>
                  <a:srgbClr val="000000"/>
                </a:solidFill>
                <a:effectLst/>
                <a:uFillTx/>
                <a:latin typeface="Arial"/>
              </a:endParaRPr>
            </a:p>
          </p:txBody>
        </p:sp>
        <p:sp>
          <p:nvSpPr>
            <p:cNvPr id="139" name="TextBox 18"/>
            <p:cNvSpPr/>
            <p:nvPr/>
          </p:nvSpPr>
          <p:spPr>
            <a:xfrm>
              <a:off x="8345160" y="2692440"/>
              <a:ext cx="3345120" cy="3214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0" u="none" strike="noStrike">
                  <a:solidFill>
                    <a:schemeClr val="dk1"/>
                  </a:solidFill>
                  <a:effectLst/>
                  <a:uFillTx/>
                  <a:latin typeface="Arial"/>
                  <a:ea typeface="Microsoft YaHei"/>
                </a:rPr>
                <a:t>Deduplicate, keep uncovered items</a:t>
              </a:r>
              <a:endParaRPr lang="en-US" sz="1650" b="0" u="none" strike="noStrike">
                <a:solidFill>
                  <a:srgbClr val="000000"/>
                </a:solidFill>
                <a:effectLst/>
                <a:uFillTx/>
                <a:latin typeface="Arial"/>
              </a:endParaRPr>
            </a:p>
          </p:txBody>
        </p:sp>
        <p:sp>
          <p:nvSpPr>
            <p:cNvPr id="140" name="TextBox 19"/>
            <p:cNvSpPr/>
            <p:nvPr/>
          </p:nvSpPr>
          <p:spPr>
            <a:xfrm>
              <a:off x="8346600" y="3168720"/>
              <a:ext cx="3183120" cy="2628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00" b="0" u="none" strike="noStrike">
                  <a:solidFill>
                    <a:srgbClr val="66758A"/>
                  </a:solidFill>
                  <a:effectLst/>
                  <a:uFillTx/>
                  <a:latin typeface="Arial"/>
                  <a:ea typeface="Microsoft YaHei"/>
                </a:rPr>
                <a:t>Lexical and semantic search keep sources</a:t>
              </a:r>
              <a:endParaRPr lang="en-US" sz="1300" b="0" u="none" strike="noStrike">
                <a:solidFill>
                  <a:srgbClr val="000000"/>
                </a:solidFill>
                <a:effectLst/>
                <a:uFillTx/>
                <a:latin typeface="Arial"/>
              </a:endParaRPr>
            </a:p>
          </p:txBody>
        </p:sp>
      </p:grpSp>
      <p:grpSp>
        <p:nvGrpSpPr>
          <p:cNvPr id="141" name="constraint-separation"/>
          <p:cNvGrpSpPr/>
          <p:nvPr/>
        </p:nvGrpSpPr>
        <p:grpSpPr>
          <a:xfrm>
            <a:off x="495360" y="3895560"/>
            <a:ext cx="11200320" cy="918720"/>
            <a:chOff x="495360" y="3895560"/>
            <a:chExt cx="11200320" cy="918720"/>
          </a:xfrm>
        </p:grpSpPr>
        <p:sp>
          <p:nvSpPr>
            <p:cNvPr id="142" name="Line 21"/>
            <p:cNvSpPr/>
            <p:nvPr/>
          </p:nvSpPr>
          <p:spPr>
            <a:xfrm>
              <a:off x="495360" y="3895560"/>
              <a:ext cx="11200320" cy="8280"/>
            </a:xfrm>
            <a:custGeom>
              <a:avLst/>
              <a:gdLst>
                <a:gd name="textAreaLeft" fmla="*/ 0 w 11200320"/>
                <a:gd name="textAreaRight" fmla="*/ 11201400 w 11200320"/>
                <a:gd name="textAreaTop" fmla="*/ 0 h 8280"/>
                <a:gd name="textAreaBottom" fmla="*/ 9360 h 8280"/>
              </a:gdLst>
              <a:ahLst/>
              <a:cxnLst/>
              <a:rect l="textAreaLeft" t="textAreaTop" r="textAreaRight" b="textAreaBottom"/>
              <a:pathLst>
                <a:path w="11201400" h="9525">
                  <a:moveTo>
                    <a:pt x="0" y="0"/>
                  </a:moveTo>
                  <a:lnTo>
                    <a:pt x="11201400" y="0"/>
                  </a:lnTo>
                </a:path>
              </a:pathLst>
            </a:custGeom>
            <a:noFill/>
            <a:ln w="9525">
              <a:solidFill>
                <a:srgbClr val="DCE3EF"/>
              </a:solidFill>
              <a:round/>
            </a:ln>
          </p:spPr>
          <p:style>
            <a:lnRef idx="0"/>
            <a:fillRef idx="0"/>
            <a:effectRef idx="0"/>
            <a:fontRef idx="minor"/>
          </p:style>
          <p:txBody>
            <a:bodyPr lIns="90000" tIns="-35640" rIns="90000" bIns="-35640" anchor="t">
              <a:noAutofit/>
            </a:bodyPr>
            <a:p>
              <a:pPr/>
              <a:endParaRPr lang="en-US" sz="1800" b="0" u="none" strike="noStrike">
                <a:solidFill>
                  <a:srgbClr val="000000"/>
                </a:solidFill>
                <a:effectLst/>
                <a:uFillTx/>
                <a:latin typeface="Arial"/>
              </a:endParaRPr>
            </a:p>
          </p:txBody>
        </p:sp>
        <p:sp>
          <p:nvSpPr>
            <p:cNvPr id="143" name="Ellipse 22"/>
            <p:cNvSpPr/>
            <p:nvPr/>
          </p:nvSpPr>
          <p:spPr>
            <a:xfrm>
              <a:off x="533520" y="4181400"/>
              <a:ext cx="360720" cy="360720"/>
            </a:xfrm>
            <a:prstGeom prst="ellipse">
              <a:avLst/>
            </a:prstGeom>
            <a:solidFill>
              <a:srgbClr val="13243A"/>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44" name="TextBox 23"/>
            <p:cNvSpPr/>
            <p:nvPr/>
          </p:nvSpPr>
          <p:spPr>
            <a:xfrm>
              <a:off x="1056960" y="4054320"/>
              <a:ext cx="2039760" cy="3801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1" u="none" strike="noStrike">
                  <a:solidFill>
                    <a:schemeClr val="accent1"/>
                  </a:solidFill>
                  <a:effectLst/>
                  <a:uFillTx/>
                  <a:latin typeface="Arial"/>
                  <a:ea typeface="Microsoft YaHei"/>
                </a:rPr>
                <a:t>Hard constraints</a:t>
              </a:r>
              <a:endParaRPr lang="en-US" sz="1950" b="0" u="none" strike="noStrike">
                <a:solidFill>
                  <a:srgbClr val="000000"/>
                </a:solidFill>
                <a:effectLst/>
                <a:uFillTx/>
                <a:latin typeface="Arial"/>
              </a:endParaRPr>
            </a:p>
          </p:txBody>
        </p:sp>
        <p:sp>
          <p:nvSpPr>
            <p:cNvPr id="145" name="TextBox 24"/>
            <p:cNvSpPr/>
            <p:nvPr/>
          </p:nvSpPr>
          <p:spPr>
            <a:xfrm>
              <a:off x="1058400" y="4492800"/>
              <a:ext cx="1993680" cy="3214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0" u="none" strike="noStrike">
                  <a:solidFill>
                    <a:schemeClr val="dk1"/>
                  </a:solidFill>
                  <a:effectLst/>
                  <a:uFillTx/>
                  <a:latin typeface="Arial"/>
                  <a:ea typeface="Microsoft YaHei"/>
                </a:rPr>
                <a:t>Limits that must hold</a:t>
              </a:r>
              <a:endParaRPr lang="en-US" sz="1650" b="0" u="none" strike="noStrike">
                <a:solidFill>
                  <a:srgbClr val="000000"/>
                </a:solidFill>
                <a:effectLst/>
                <a:uFillTx/>
                <a:latin typeface="Arial"/>
              </a:endParaRPr>
            </a:p>
          </p:txBody>
        </p:sp>
        <p:sp>
          <p:nvSpPr>
            <p:cNvPr id="146" name="Ellipse 25"/>
            <p:cNvSpPr/>
            <p:nvPr/>
          </p:nvSpPr>
          <p:spPr>
            <a:xfrm>
              <a:off x="4381560" y="4181400"/>
              <a:ext cx="360720" cy="360720"/>
            </a:xfrm>
            <a:prstGeom prst="ellipse">
              <a:avLst/>
            </a:prstGeom>
            <a:solidFill>
              <a:srgbClr val="13243A"/>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47" name="TextBox 26"/>
            <p:cNvSpPr/>
            <p:nvPr/>
          </p:nvSpPr>
          <p:spPr>
            <a:xfrm>
              <a:off x="4905000" y="4054320"/>
              <a:ext cx="2026440" cy="3801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1" u="none" strike="noStrike">
                  <a:solidFill>
                    <a:schemeClr val="accent1"/>
                  </a:solidFill>
                  <a:effectLst/>
                  <a:uFillTx/>
                  <a:latin typeface="Arial"/>
                  <a:ea typeface="Microsoft YaHei"/>
                </a:rPr>
                <a:t>Soft preferences</a:t>
              </a:r>
              <a:endParaRPr lang="en-US" sz="1950" b="0" u="none" strike="noStrike">
                <a:solidFill>
                  <a:srgbClr val="000000"/>
                </a:solidFill>
                <a:effectLst/>
                <a:uFillTx/>
                <a:latin typeface="Arial"/>
              </a:endParaRPr>
            </a:p>
          </p:txBody>
        </p:sp>
        <p:sp>
          <p:nvSpPr>
            <p:cNvPr id="148" name="TextBox 27"/>
            <p:cNvSpPr/>
            <p:nvPr/>
          </p:nvSpPr>
          <p:spPr>
            <a:xfrm>
              <a:off x="4906440" y="4492800"/>
              <a:ext cx="2343600" cy="3214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0" u="none" strike="noStrike">
                  <a:solidFill>
                    <a:schemeClr val="dk1"/>
                  </a:solidFill>
                  <a:effectLst/>
                  <a:uFillTx/>
                  <a:latin typeface="Arial"/>
                  <a:ea typeface="Microsoft YaHei"/>
                </a:rPr>
                <a:t>Used for ranking options</a:t>
              </a:r>
              <a:endParaRPr lang="en-US" sz="1650" b="0" u="none" strike="noStrike">
                <a:solidFill>
                  <a:srgbClr val="000000"/>
                </a:solidFill>
                <a:effectLst/>
                <a:uFillTx/>
                <a:latin typeface="Arial"/>
              </a:endParaRPr>
            </a:p>
          </p:txBody>
        </p:sp>
        <p:sp>
          <p:nvSpPr>
            <p:cNvPr id="149" name="Ellipse 28"/>
            <p:cNvSpPr/>
            <p:nvPr/>
          </p:nvSpPr>
          <p:spPr>
            <a:xfrm>
              <a:off x="8229600" y="4181400"/>
              <a:ext cx="360720" cy="360720"/>
            </a:xfrm>
            <a:prstGeom prst="ellipse">
              <a:avLst/>
            </a:prstGeom>
            <a:solidFill>
              <a:srgbClr val="13243A"/>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50" name="TextBox 29"/>
            <p:cNvSpPr/>
            <p:nvPr/>
          </p:nvSpPr>
          <p:spPr>
            <a:xfrm>
              <a:off x="8753040" y="4054320"/>
              <a:ext cx="1154520" cy="3801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1" u="none" strike="noStrike">
                  <a:solidFill>
                    <a:schemeClr val="accent1"/>
                  </a:solidFill>
                  <a:effectLst/>
                  <a:uFillTx/>
                  <a:latin typeface="Arial"/>
                  <a:ea typeface="Microsoft YaHei"/>
                </a:rPr>
                <a:t>To clarify</a:t>
              </a:r>
              <a:endParaRPr lang="en-US" sz="1950" b="0" u="none" strike="noStrike">
                <a:solidFill>
                  <a:srgbClr val="000000"/>
                </a:solidFill>
                <a:effectLst/>
                <a:uFillTx/>
                <a:latin typeface="Arial"/>
              </a:endParaRPr>
            </a:p>
          </p:txBody>
        </p:sp>
        <p:sp>
          <p:nvSpPr>
            <p:cNvPr id="151" name="TextBox 30"/>
            <p:cNvSpPr/>
            <p:nvPr/>
          </p:nvSpPr>
          <p:spPr>
            <a:xfrm>
              <a:off x="8754480" y="4492800"/>
              <a:ext cx="2903400" cy="3214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0" u="none" strike="noStrike">
                  <a:solidFill>
                    <a:schemeClr val="dk1"/>
                  </a:solidFill>
                  <a:effectLst/>
                  <a:uFillTx/>
                  <a:latin typeface="Arial"/>
                  <a:ea typeface="Microsoft YaHei"/>
                </a:rPr>
                <a:t>Ask when sizes are missing</a:t>
              </a:r>
              <a:endParaRPr lang="en-US" sz="1650" b="0" u="none" strike="noStrike">
                <a:solidFill>
                  <a:srgbClr val="000000"/>
                </a:solidFill>
                <a:effectLst/>
                <a:uFillTx/>
                <a:latin typeface="Arial"/>
              </a:endParaRPr>
            </a:p>
          </p:txBody>
        </p:sp>
      </p:grpSp>
      <p:grpSp>
        <p:nvGrpSpPr>
          <p:cNvPr id="152" name="retrieval-iteration"/>
          <p:cNvGrpSpPr/>
          <p:nvPr/>
        </p:nvGrpSpPr>
        <p:grpSpPr>
          <a:xfrm>
            <a:off x="495360" y="5229360"/>
            <a:ext cx="11200320" cy="922680"/>
            <a:chOff x="495360" y="5229360"/>
            <a:chExt cx="11200320" cy="922680"/>
          </a:xfrm>
        </p:grpSpPr>
        <p:sp>
          <p:nvSpPr>
            <p:cNvPr id="153" name="Rectangle 32"/>
            <p:cNvSpPr/>
            <p:nvPr/>
          </p:nvSpPr>
          <p:spPr>
            <a:xfrm>
              <a:off x="495360" y="5229360"/>
              <a:ext cx="11200320" cy="922680"/>
            </a:xfrm>
            <a:prstGeom prst="roundRect">
              <a:avLst>
                <a:gd name="adj" fmla="val 9278"/>
              </a:avLst>
            </a:prstGeom>
            <a:solidFill>
              <a:srgbClr val="F1F4FA"/>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54" name="TextBox 33"/>
            <p:cNvSpPr/>
            <p:nvPr/>
          </p:nvSpPr>
          <p:spPr>
            <a:xfrm>
              <a:off x="713880" y="5349960"/>
              <a:ext cx="1593720" cy="3801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1" u="none" strike="noStrike">
                  <a:solidFill>
                    <a:srgbClr val="13243A"/>
                  </a:solidFill>
                  <a:effectLst/>
                  <a:uFillTx/>
                  <a:latin typeface="Arial"/>
                  <a:ea typeface="Microsoft YaHei"/>
                </a:rPr>
                <a:t>Trial result</a:t>
              </a:r>
              <a:endParaRPr lang="en-US" sz="1950" b="0" u="none" strike="noStrike">
                <a:solidFill>
                  <a:srgbClr val="000000"/>
                </a:solidFill>
                <a:effectLst/>
                <a:uFillTx/>
                <a:latin typeface="Arial"/>
              </a:endParaRPr>
            </a:p>
          </p:txBody>
        </p:sp>
        <p:sp>
          <p:nvSpPr>
            <p:cNvPr id="155" name="TextBox 34"/>
            <p:cNvSpPr/>
            <p:nvPr/>
          </p:nvSpPr>
          <p:spPr>
            <a:xfrm>
              <a:off x="3230280" y="5388120"/>
              <a:ext cx="5659560" cy="3214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0" u="none" strike="noStrike">
                  <a:solidFill>
                    <a:srgbClr val="13243A"/>
                  </a:solidFill>
                  <a:effectLst/>
                  <a:uFillTx/>
                  <a:latin typeface="Arial"/>
                  <a:ea typeface="Microsoft YaHei"/>
                </a:rPr>
                <a:t>After deduplication, two different products cover more needs</a:t>
              </a:r>
              <a:endParaRPr lang="en-US" sz="1650" b="0" u="none" strike="noStrike">
                <a:solidFill>
                  <a:srgbClr val="000000"/>
                </a:solidFill>
                <a:effectLst/>
                <a:uFillTx/>
                <a:latin typeface="Arial"/>
              </a:endParaRPr>
            </a:p>
          </p:txBody>
        </p:sp>
        <p:sp>
          <p:nvSpPr>
            <p:cNvPr id="156" name="TextBox 35"/>
            <p:cNvSpPr/>
            <p:nvPr/>
          </p:nvSpPr>
          <p:spPr>
            <a:xfrm>
              <a:off x="717120" y="5797440"/>
              <a:ext cx="10118160" cy="2628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00" b="0" u="none" strike="noStrike">
                  <a:solidFill>
                    <a:srgbClr val="66758A"/>
                  </a:solidFill>
                  <a:effectLst/>
                  <a:uFillTx/>
                  <a:latin typeface="Arial"/>
                  <a:ea typeface="Microsoft YaHei"/>
                </a:rPr>
                <a:t>Dimension split and coverage selection passed an independent trial. Not yet integrated into the main project. Wear performance untested.</a:t>
              </a:r>
              <a:endParaRPr lang="en-US" sz="1300" b="0" u="none" strike="noStrike">
                <a:solidFill>
                  <a:srgbClr val="000000"/>
                </a:solidFill>
                <a:effectLst/>
                <a:uFillTx/>
                <a:latin typeface="Arial"/>
              </a:endParaRPr>
            </a:p>
          </p:txBody>
        </p:sp>
      </p:grpSp>
      <p:sp>
        <p:nvSpPr>
          <p:cNvPr id="157" name="footer-label"/>
          <p:cNvSpPr/>
          <p:nvPr/>
        </p:nvSpPr>
        <p:spPr>
          <a:xfrm>
            <a:off x="488520" y="6407280"/>
            <a:ext cx="6157080" cy="1987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00" b="0" u="none" strike="noStrike">
                <a:solidFill>
                  <a:srgbClr val="66758A"/>
                </a:solidFill>
                <a:effectLst/>
                <a:uFillTx/>
                <a:latin typeface="Arial"/>
                <a:ea typeface="Microsoft YaHei"/>
              </a:rPr>
              <a:t>The example shows the method. Users still confirm constraint strength and priorities.</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pSp>
        <p:nvGrpSpPr>
          <p:cNvPr id="158" name="header"/>
          <p:cNvGrpSpPr/>
          <p:nvPr/>
        </p:nvGrpSpPr>
        <p:grpSpPr>
          <a:xfrm>
            <a:off x="478440" y="422280"/>
            <a:ext cx="9573480" cy="972360"/>
            <a:chOff x="478440" y="422280"/>
            <a:chExt cx="9573480" cy="972360"/>
          </a:xfrm>
        </p:grpSpPr>
        <p:sp>
          <p:nvSpPr>
            <p:cNvPr id="159" name="TextBox 2"/>
            <p:cNvSpPr/>
            <p:nvPr/>
          </p:nvSpPr>
          <p:spPr>
            <a:xfrm>
              <a:off x="478440" y="422280"/>
              <a:ext cx="9573480" cy="6444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3300" b="1" u="none" strike="noStrike">
                  <a:solidFill>
                    <a:schemeClr val="accent1"/>
                  </a:solidFill>
                  <a:effectLst/>
                  <a:uFillTx/>
                  <a:latin typeface="Arial"/>
                  <a:ea typeface="Microsoft YaHei"/>
                </a:rPr>
                <a:t>RAG Knowledge Retrieval and Design Evidence</a:t>
              </a:r>
              <a:endParaRPr lang="en-US" sz="3300" b="0" u="none" strike="noStrike">
                <a:solidFill>
                  <a:srgbClr val="000000"/>
                </a:solidFill>
                <a:effectLst/>
                <a:uFillTx/>
                <a:latin typeface="Arial"/>
              </a:endParaRPr>
            </a:p>
          </p:txBody>
        </p:sp>
        <p:sp>
          <p:nvSpPr>
            <p:cNvPr id="160" name="TextBox 3"/>
            <p:cNvSpPr/>
            <p:nvPr/>
          </p:nvSpPr>
          <p:spPr>
            <a:xfrm>
              <a:off x="487080" y="1073160"/>
              <a:ext cx="9263880" cy="3214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0" u="none" strike="noStrike">
                  <a:solidFill>
                    <a:srgbClr val="66758A"/>
                  </a:solidFill>
                  <a:effectLst/>
                  <a:uFillTx/>
                  <a:latin typeface="Arial"/>
                  <a:ea typeface="Microsoft YaHei"/>
                </a:rPr>
                <a:t>RAG (retrieval-augmented generation) reads product cases, ear data, and tool docs to ground the design.</a:t>
              </a:r>
              <a:endParaRPr lang="en-US" sz="1550" b="0" u="none" strike="noStrike">
                <a:solidFill>
                  <a:srgbClr val="000000"/>
                </a:solidFill>
                <a:effectLst/>
                <a:uFillTx/>
                <a:latin typeface="Arial"/>
              </a:endParaRPr>
            </a:p>
          </p:txBody>
        </p:sp>
      </p:grpSp>
      <p:grpSp>
        <p:nvGrpSpPr>
          <p:cNvPr id="161" name="knowledge-routing"/>
          <p:cNvGrpSpPr/>
          <p:nvPr/>
        </p:nvGrpSpPr>
        <p:grpSpPr>
          <a:xfrm>
            <a:off x="495360" y="1724040"/>
            <a:ext cx="11200320" cy="1770480"/>
            <a:chOff x="495360" y="1724040"/>
            <a:chExt cx="11200320" cy="1770480"/>
          </a:xfrm>
        </p:grpSpPr>
        <p:sp>
          <p:nvSpPr>
            <p:cNvPr id="162" name="Rectangle 5"/>
            <p:cNvSpPr/>
            <p:nvPr/>
          </p:nvSpPr>
          <p:spPr>
            <a:xfrm>
              <a:off x="495360" y="1724040"/>
              <a:ext cx="3504240" cy="1770480"/>
            </a:xfrm>
            <a:prstGeom prst="roundRect">
              <a:avLst>
                <a:gd name="adj" fmla="val 5376"/>
              </a:avLst>
            </a:prstGeom>
            <a:solidFill>
              <a:srgbClr val="EEF2FF"/>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63" name="TextBox 6"/>
            <p:cNvSpPr/>
            <p:nvPr/>
          </p:nvSpPr>
          <p:spPr>
            <a:xfrm>
              <a:off x="713880" y="1844640"/>
              <a:ext cx="2768760" cy="3801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1" u="none" strike="noStrike">
                  <a:solidFill>
                    <a:schemeClr val="accent2"/>
                  </a:solidFill>
                  <a:effectLst/>
                  <a:uFillTx/>
                  <a:latin typeface="Arial"/>
                  <a:ea typeface="Microsoft YaHei"/>
                </a:rPr>
                <a:t>Design data: trade-offs</a:t>
              </a:r>
              <a:endParaRPr lang="en-US" sz="1950" b="0" u="none" strike="noStrike">
                <a:solidFill>
                  <a:srgbClr val="000000"/>
                </a:solidFill>
                <a:effectLst/>
                <a:uFillTx/>
                <a:latin typeface="Arial"/>
              </a:endParaRPr>
            </a:p>
          </p:txBody>
        </p:sp>
        <p:sp>
          <p:nvSpPr>
            <p:cNvPr id="164" name="TextBox 7"/>
            <p:cNvSpPr/>
            <p:nvPr/>
          </p:nvSpPr>
          <p:spPr>
            <a:xfrm>
              <a:off x="715680" y="2311560"/>
              <a:ext cx="3125520" cy="3214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0" u="none" strike="noStrike">
                  <a:solidFill>
                    <a:schemeClr val="dk1"/>
                  </a:solidFill>
                  <a:effectLst/>
                  <a:uFillTx/>
                  <a:latin typeface="Arial"/>
                  <a:ea typeface="Microsoft YaHei"/>
                </a:rPr>
                <a:t>Product cases, images, feedback</a:t>
              </a:r>
              <a:endParaRPr lang="en-US" sz="1550" b="0" u="none" strike="noStrike">
                <a:solidFill>
                  <a:srgbClr val="000000"/>
                </a:solidFill>
                <a:effectLst/>
                <a:uFillTx/>
                <a:latin typeface="Arial"/>
              </a:endParaRPr>
            </a:p>
          </p:txBody>
        </p:sp>
        <p:sp>
          <p:nvSpPr>
            <p:cNvPr id="165" name="TextBox 8"/>
            <p:cNvSpPr/>
            <p:nvPr/>
          </p:nvSpPr>
          <p:spPr>
            <a:xfrm>
              <a:off x="715680" y="2701800"/>
              <a:ext cx="3125520" cy="3214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0" u="none" strike="noStrike">
                  <a:solidFill>
                    <a:schemeClr val="dk1"/>
                  </a:solidFill>
                  <a:effectLst/>
                  <a:uFillTx/>
                  <a:latin typeface="Arial"/>
                  <a:ea typeface="Microsoft YaHei"/>
                </a:rPr>
                <a:t>Structure, support, materials</a:t>
              </a:r>
              <a:endParaRPr lang="en-US" sz="1550" b="0" u="none" strike="noStrike">
                <a:solidFill>
                  <a:srgbClr val="000000"/>
                </a:solidFill>
                <a:effectLst/>
                <a:uFillTx/>
                <a:latin typeface="Arial"/>
              </a:endParaRPr>
            </a:p>
          </p:txBody>
        </p:sp>
        <p:sp>
          <p:nvSpPr>
            <p:cNvPr id="166" name="TextBox 9"/>
            <p:cNvSpPr/>
            <p:nvPr/>
          </p:nvSpPr>
          <p:spPr>
            <a:xfrm>
              <a:off x="717120" y="3139920"/>
              <a:ext cx="2760840" cy="2628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00" b="0" u="none" strike="noStrike">
                  <a:solidFill>
                    <a:srgbClr val="66758A"/>
                  </a:solidFill>
                  <a:effectLst/>
                  <a:uFillTx/>
                  <a:latin typeface="Arial"/>
                  <a:ea typeface="Microsoft YaHei"/>
                </a:rPr>
                <a:t>Main evidence retrieved for this case</a:t>
              </a:r>
              <a:endParaRPr lang="en-US" sz="1300" b="0" u="none" strike="noStrike">
                <a:solidFill>
                  <a:srgbClr val="000000"/>
                </a:solidFill>
                <a:effectLst/>
                <a:uFillTx/>
                <a:latin typeface="Arial"/>
              </a:endParaRPr>
            </a:p>
          </p:txBody>
        </p:sp>
        <p:sp>
          <p:nvSpPr>
            <p:cNvPr id="167" name="Rectangle 10"/>
            <p:cNvSpPr/>
            <p:nvPr/>
          </p:nvSpPr>
          <p:spPr>
            <a:xfrm>
              <a:off x="4343400" y="1724040"/>
              <a:ext cx="3504240" cy="1770480"/>
            </a:xfrm>
            <a:prstGeom prst="roundRect">
              <a:avLst>
                <a:gd name="adj" fmla="val 5376"/>
              </a:avLst>
            </a:prstGeom>
            <a:solidFill>
              <a:srgbClr val="EEF2FF"/>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68" name="TextBox 11"/>
            <p:cNvSpPr/>
            <p:nvPr/>
          </p:nvSpPr>
          <p:spPr>
            <a:xfrm>
              <a:off x="4561920" y="1844640"/>
              <a:ext cx="2643840" cy="3801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1" u="none" strike="noStrike">
                  <a:solidFill>
                    <a:srgbClr val="3662EA"/>
                  </a:solidFill>
                  <a:effectLst/>
                  <a:uFillTx/>
                  <a:latin typeface="Arial"/>
                  <a:ea typeface="Microsoft YaHei"/>
                </a:rPr>
                <a:t>Ear data: constraints</a:t>
              </a:r>
              <a:endParaRPr lang="en-US" sz="1950" b="0" u="none" strike="noStrike">
                <a:solidFill>
                  <a:srgbClr val="000000"/>
                </a:solidFill>
                <a:effectLst/>
                <a:uFillTx/>
                <a:latin typeface="Arial"/>
              </a:endParaRPr>
            </a:p>
          </p:txBody>
        </p:sp>
        <p:sp>
          <p:nvSpPr>
            <p:cNvPr id="169" name="TextBox 12"/>
            <p:cNvSpPr/>
            <p:nvPr/>
          </p:nvSpPr>
          <p:spPr>
            <a:xfrm>
              <a:off x="4563720" y="2311560"/>
              <a:ext cx="3125520" cy="3214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0" u="none" strike="noStrike">
                  <a:solidFill>
                    <a:schemeClr val="dk1"/>
                  </a:solidFill>
                  <a:effectLst/>
                  <a:uFillTx/>
                  <a:latin typeface="Arial"/>
                  <a:ea typeface="Microsoft YaHei"/>
                </a:rPr>
                <a:t>Ear regions, sizes, contact limits</a:t>
              </a:r>
              <a:endParaRPr lang="en-US" sz="1550" b="0" u="none" strike="noStrike">
                <a:solidFill>
                  <a:srgbClr val="000000"/>
                </a:solidFill>
                <a:effectLst/>
                <a:uFillTx/>
                <a:latin typeface="Arial"/>
              </a:endParaRPr>
            </a:p>
          </p:txBody>
        </p:sp>
        <p:sp>
          <p:nvSpPr>
            <p:cNvPr id="170" name="TextBox 13"/>
            <p:cNvSpPr/>
            <p:nvPr/>
          </p:nvSpPr>
          <p:spPr>
            <a:xfrm>
              <a:off x="4563720" y="2701800"/>
              <a:ext cx="3212280" cy="3214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0" u="none" strike="noStrike">
                  <a:solidFill>
                    <a:schemeClr val="dk1"/>
                  </a:solidFill>
                  <a:effectLst/>
                  <a:uFillTx/>
                  <a:latin typeface="Arial"/>
                  <a:ea typeface="Microsoft YaHei"/>
                </a:rPr>
                <a:t>Placement and fit. Comfort untested</a:t>
              </a:r>
              <a:endParaRPr lang="en-US" sz="1550" b="0" u="none" strike="noStrike">
                <a:solidFill>
                  <a:srgbClr val="000000"/>
                </a:solidFill>
                <a:effectLst/>
                <a:uFillTx/>
                <a:latin typeface="Arial"/>
              </a:endParaRPr>
            </a:p>
          </p:txBody>
        </p:sp>
        <p:sp>
          <p:nvSpPr>
            <p:cNvPr id="171" name="TextBox 14"/>
            <p:cNvSpPr/>
            <p:nvPr/>
          </p:nvSpPr>
          <p:spPr>
            <a:xfrm>
              <a:off x="4565160" y="3139920"/>
              <a:ext cx="3238560" cy="2628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00" b="0" u="none" strike="noStrike">
                  <a:solidFill>
                    <a:srgbClr val="66758A"/>
                  </a:solidFill>
                  <a:effectLst/>
                  <a:uFillTx/>
                  <a:latin typeface="Arial"/>
                  <a:ea typeface="Microsoft YaHei"/>
                </a:rPr>
                <a:t>Separate knowledge base, chosen per task</a:t>
              </a:r>
              <a:endParaRPr lang="en-US" sz="1300" b="0" u="none" strike="noStrike">
                <a:solidFill>
                  <a:srgbClr val="000000"/>
                </a:solidFill>
                <a:effectLst/>
                <a:uFillTx/>
                <a:latin typeface="Arial"/>
              </a:endParaRPr>
            </a:p>
          </p:txBody>
        </p:sp>
        <p:sp>
          <p:nvSpPr>
            <p:cNvPr id="172" name="Rectangle 15"/>
            <p:cNvSpPr/>
            <p:nvPr/>
          </p:nvSpPr>
          <p:spPr>
            <a:xfrm>
              <a:off x="8191440" y="1724040"/>
              <a:ext cx="3504240" cy="1770480"/>
            </a:xfrm>
            <a:prstGeom prst="roundRect">
              <a:avLst>
                <a:gd name="adj" fmla="val 5376"/>
              </a:avLst>
            </a:prstGeom>
            <a:solidFill>
              <a:srgbClr val="EEF2FF"/>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73" name="TextBox 16"/>
            <p:cNvSpPr/>
            <p:nvPr/>
          </p:nvSpPr>
          <p:spPr>
            <a:xfrm>
              <a:off x="8410320" y="1844640"/>
              <a:ext cx="2643840" cy="3801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1" u="none" strike="noStrike">
                  <a:solidFill>
                    <a:srgbClr val="3662EA"/>
                  </a:solidFill>
                  <a:effectLst/>
                  <a:uFillTx/>
                  <a:latin typeface="Arial"/>
                  <a:ea typeface="Microsoft YaHei"/>
                </a:rPr>
                <a:t>Tool data: operations</a:t>
              </a:r>
              <a:endParaRPr lang="en-US" sz="1950" b="0" u="none" strike="noStrike">
                <a:solidFill>
                  <a:srgbClr val="000000"/>
                </a:solidFill>
                <a:effectLst/>
                <a:uFillTx/>
                <a:latin typeface="Arial"/>
              </a:endParaRPr>
            </a:p>
          </p:txBody>
        </p:sp>
        <p:sp>
          <p:nvSpPr>
            <p:cNvPr id="174" name="TextBox 17"/>
            <p:cNvSpPr/>
            <p:nvPr/>
          </p:nvSpPr>
          <p:spPr>
            <a:xfrm>
              <a:off x="8411760" y="2311560"/>
              <a:ext cx="3119760" cy="3214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0" u="none" strike="noStrike">
                  <a:solidFill>
                    <a:schemeClr val="dk1"/>
                  </a:solidFill>
                  <a:effectLst/>
                  <a:uFillTx/>
                  <a:latin typeface="Arial"/>
                  <a:ea typeface="Microsoft YaHei"/>
                </a:rPr>
                <a:t>FreeCAD docs, modeling, checks</a:t>
              </a:r>
              <a:endParaRPr lang="en-US" sz="1550" b="0" u="none" strike="noStrike">
                <a:solidFill>
                  <a:srgbClr val="000000"/>
                </a:solidFill>
                <a:effectLst/>
                <a:uFillTx/>
                <a:latin typeface="Arial"/>
              </a:endParaRPr>
            </a:p>
          </p:txBody>
        </p:sp>
        <p:sp>
          <p:nvSpPr>
            <p:cNvPr id="175" name="TextBox 18"/>
            <p:cNvSpPr/>
            <p:nvPr/>
          </p:nvSpPr>
          <p:spPr>
            <a:xfrm>
              <a:off x="8411760" y="2701800"/>
              <a:ext cx="2720160" cy="3214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0" u="none" strike="noStrike">
                  <a:solidFill>
                    <a:schemeClr val="dk1"/>
                  </a:solidFill>
                  <a:effectLst/>
                  <a:uFillTx/>
                  <a:latin typeface="Arial"/>
                  <a:ea typeface="Microsoft YaHei"/>
                </a:rPr>
                <a:t>Guides operations and checks</a:t>
              </a:r>
              <a:endParaRPr lang="en-US" sz="1550" b="0" u="none" strike="noStrike">
                <a:solidFill>
                  <a:srgbClr val="000000"/>
                </a:solidFill>
                <a:effectLst/>
                <a:uFillTx/>
                <a:latin typeface="Arial"/>
              </a:endParaRPr>
            </a:p>
          </p:txBody>
        </p:sp>
        <p:sp>
          <p:nvSpPr>
            <p:cNvPr id="176" name="TextBox 19"/>
            <p:cNvSpPr/>
            <p:nvPr/>
          </p:nvSpPr>
          <p:spPr>
            <a:xfrm>
              <a:off x="8413200" y="3139920"/>
              <a:ext cx="3072960" cy="2628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00" b="0" u="none" strike="noStrike">
                  <a:solidFill>
                    <a:srgbClr val="66758A"/>
                  </a:solidFill>
                  <a:effectLst/>
                  <a:uFillTx/>
                  <a:latin typeface="Arial"/>
                  <a:ea typeface="Microsoft YaHei"/>
                </a:rPr>
                <a:t>Retrieved apart from product design data</a:t>
              </a:r>
              <a:endParaRPr lang="en-US" sz="1300" b="0" u="none" strike="noStrike">
                <a:solidFill>
                  <a:srgbClr val="000000"/>
                </a:solidFill>
                <a:effectLst/>
                <a:uFillTx/>
                <a:latin typeface="Arial"/>
              </a:endParaRPr>
            </a:p>
          </p:txBody>
        </p:sp>
      </p:grpSp>
      <p:grpSp>
        <p:nvGrpSpPr>
          <p:cNvPr id="177" name="decision-example"/>
          <p:cNvGrpSpPr/>
          <p:nvPr/>
        </p:nvGrpSpPr>
        <p:grpSpPr>
          <a:xfrm>
            <a:off x="483120" y="3889440"/>
            <a:ext cx="11212560" cy="2342520"/>
            <a:chOff x="483120" y="3889440"/>
            <a:chExt cx="11212560" cy="2342520"/>
          </a:xfrm>
        </p:grpSpPr>
        <p:sp>
          <p:nvSpPr>
            <p:cNvPr id="178" name="TextBox 21"/>
            <p:cNvSpPr/>
            <p:nvPr/>
          </p:nvSpPr>
          <p:spPr>
            <a:xfrm>
              <a:off x="483120" y="3889440"/>
              <a:ext cx="6745320" cy="4683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2400" b="1" u="none" strike="noStrike">
                  <a:solidFill>
                    <a:schemeClr val="accent1"/>
                  </a:solidFill>
                  <a:effectLst/>
                  <a:uFillTx/>
                  <a:latin typeface="Arial"/>
                  <a:ea typeface="Microsoft YaHei"/>
                </a:rPr>
                <a:t>How retrieved data supports design decisions</a:t>
              </a:r>
              <a:endParaRPr lang="en-US" sz="2400" b="0" u="none" strike="noStrike">
                <a:solidFill>
                  <a:srgbClr val="000000"/>
                </a:solidFill>
                <a:effectLst/>
                <a:uFillTx/>
                <a:latin typeface="Arial"/>
              </a:endParaRPr>
            </a:p>
          </p:txBody>
        </p:sp>
        <p:sp>
          <p:nvSpPr>
            <p:cNvPr id="179" name="TextBox 22"/>
            <p:cNvSpPr/>
            <p:nvPr/>
          </p:nvSpPr>
          <p:spPr>
            <a:xfrm>
              <a:off x="487080" y="4473720"/>
              <a:ext cx="4830840" cy="3214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0" u="none" strike="noStrike">
                  <a:solidFill>
                    <a:schemeClr val="dk1"/>
                  </a:solidFill>
                  <a:effectLst/>
                  <a:uFillTx/>
                  <a:latin typeface="Arial"/>
                  <a:ea typeface="Microsoft YaHei"/>
                </a:rPr>
                <a:t>Small-volume cases: fewer functions, simpler structure</a:t>
              </a:r>
              <a:endParaRPr lang="en-US" sz="1550" b="0" u="none" strike="noStrike">
                <a:solidFill>
                  <a:srgbClr val="000000"/>
                </a:solidFill>
                <a:effectLst/>
                <a:uFillTx/>
                <a:latin typeface="Arial"/>
              </a:endParaRPr>
            </a:p>
          </p:txBody>
        </p:sp>
        <p:sp>
          <p:nvSpPr>
            <p:cNvPr id="180" name="TextBox 23"/>
            <p:cNvSpPr/>
            <p:nvPr/>
          </p:nvSpPr>
          <p:spPr>
            <a:xfrm>
              <a:off x="487080" y="4873680"/>
              <a:ext cx="4164120" cy="3214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0" u="none" strike="noStrike">
                  <a:solidFill>
                    <a:schemeClr val="dk1"/>
                  </a:solidFill>
                  <a:effectLst/>
                  <a:uFillTx/>
                  <a:latin typeface="Arial"/>
                  <a:ea typeface="Microsoft YaHei"/>
                </a:rPr>
                <a:t>Soft-support cases: hard shell vs. contact parts</a:t>
              </a:r>
              <a:endParaRPr lang="en-US" sz="1550" b="0" u="none" strike="noStrike">
                <a:solidFill>
                  <a:srgbClr val="000000"/>
                </a:solidFill>
                <a:effectLst/>
                <a:uFillTx/>
                <a:latin typeface="Arial"/>
              </a:endParaRPr>
            </a:p>
          </p:txBody>
        </p:sp>
        <p:sp>
          <p:nvSpPr>
            <p:cNvPr id="181" name="TextBox 24"/>
            <p:cNvSpPr/>
            <p:nvPr/>
          </p:nvSpPr>
          <p:spPr>
            <a:xfrm>
              <a:off x="487080" y="5273640"/>
              <a:ext cx="4827960" cy="3214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0" u="none" strike="noStrike">
                  <a:solidFill>
                    <a:schemeClr val="dk1"/>
                  </a:solidFill>
                  <a:effectLst/>
                  <a:uFillTx/>
                  <a:latin typeface="Arial"/>
                  <a:ea typeface="Microsoft YaHei"/>
                </a:rPr>
                <a:t>User feedback: charging, controls, long-term trade-offs</a:t>
              </a:r>
              <a:endParaRPr lang="en-US" sz="1550" b="0" u="none" strike="noStrike">
                <a:solidFill>
                  <a:srgbClr val="000000"/>
                </a:solidFill>
                <a:effectLst/>
                <a:uFillTx/>
                <a:latin typeface="Arial"/>
              </a:endParaRPr>
            </a:p>
          </p:txBody>
        </p:sp>
        <p:sp>
          <p:nvSpPr>
            <p:cNvPr id="182" name="Line 25"/>
            <p:cNvSpPr/>
            <p:nvPr/>
          </p:nvSpPr>
          <p:spPr>
            <a:xfrm>
              <a:off x="5524200" y="5076720"/>
              <a:ext cx="762120" cy="360"/>
            </a:xfrm>
            <a:prstGeom prst="line">
              <a:avLst/>
            </a:prstGeom>
            <a:ln w="28575">
              <a:solidFill>
                <a:srgbClr val="3662EA"/>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183" name="Rectangle 26"/>
            <p:cNvSpPr/>
            <p:nvPr/>
          </p:nvSpPr>
          <p:spPr>
            <a:xfrm>
              <a:off x="6543720" y="4429080"/>
              <a:ext cx="5151960" cy="1370520"/>
            </a:xfrm>
            <a:prstGeom prst="roundRect">
              <a:avLst>
                <a:gd name="adj" fmla="val 6944"/>
              </a:avLst>
            </a:prstGeom>
            <a:solidFill>
              <a:schemeClr val="accent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84" name="TextBox 27"/>
            <p:cNvSpPr/>
            <p:nvPr/>
          </p:nvSpPr>
          <p:spPr>
            <a:xfrm>
              <a:off x="6781320" y="4578480"/>
              <a:ext cx="4407480" cy="3801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1" u="none" strike="noStrike">
                  <a:solidFill>
                    <a:srgbClr val="FFFFFF"/>
                  </a:solidFill>
                  <a:effectLst/>
                  <a:uFillTx/>
                  <a:latin typeface="Arial"/>
                  <a:ea typeface="Microsoft YaHei"/>
                </a:rPr>
                <a:t>Record advice, evidence, open items</a:t>
              </a:r>
              <a:endParaRPr lang="en-US" sz="1950" b="0" u="none" strike="noStrike">
                <a:solidFill>
                  <a:srgbClr val="000000"/>
                </a:solidFill>
                <a:effectLst/>
                <a:uFillTx/>
                <a:latin typeface="Arial"/>
              </a:endParaRPr>
            </a:p>
          </p:txBody>
        </p:sp>
        <p:sp>
          <p:nvSpPr>
            <p:cNvPr id="185" name="TextBox 28"/>
            <p:cNvSpPr/>
            <p:nvPr/>
          </p:nvSpPr>
          <p:spPr>
            <a:xfrm>
              <a:off x="6783120" y="5025960"/>
              <a:ext cx="3836160" cy="3214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0" u="none" strike="noStrike">
                  <a:solidFill>
                    <a:srgbClr val="FFFFFF"/>
                  </a:solidFill>
                  <a:effectLst/>
                  <a:uFillTx/>
                  <a:latin typeface="Arial"/>
                  <a:ea typeface="Microsoft YaHei"/>
                </a:rPr>
                <a:t>Which features to borrow, and from where?</a:t>
              </a:r>
              <a:endParaRPr lang="en-US" sz="1550" b="0" u="none" strike="noStrike">
                <a:solidFill>
                  <a:srgbClr val="000000"/>
                </a:solidFill>
                <a:effectLst/>
                <a:uFillTx/>
                <a:latin typeface="Arial"/>
              </a:endParaRPr>
            </a:p>
          </p:txBody>
        </p:sp>
        <p:sp>
          <p:nvSpPr>
            <p:cNvPr id="186" name="TextBox 29"/>
            <p:cNvSpPr/>
            <p:nvPr/>
          </p:nvSpPr>
          <p:spPr>
            <a:xfrm>
              <a:off x="6783120" y="5369040"/>
              <a:ext cx="4503240" cy="3214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0" u="none" strike="noStrike">
                  <a:solidFill>
                    <a:srgbClr val="FFFFFF"/>
                  </a:solidFill>
                  <a:effectLst/>
                  <a:uFillTx/>
                  <a:latin typeface="Arial"/>
                  <a:ea typeface="Microsoft YaHei"/>
                </a:rPr>
                <a:t>Which sizes and wear performance lack evidence?</a:t>
              </a:r>
              <a:endParaRPr lang="en-US" sz="1550" b="0" u="none" strike="noStrike">
                <a:solidFill>
                  <a:srgbClr val="000000"/>
                </a:solidFill>
                <a:effectLst/>
                <a:uFillTx/>
                <a:latin typeface="Arial"/>
              </a:endParaRPr>
            </a:p>
          </p:txBody>
        </p:sp>
        <p:sp>
          <p:nvSpPr>
            <p:cNvPr id="187" name="TextBox 30"/>
            <p:cNvSpPr/>
            <p:nvPr/>
          </p:nvSpPr>
          <p:spPr>
            <a:xfrm>
              <a:off x="488520" y="5969160"/>
              <a:ext cx="7771680" cy="2628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00" b="0" u="none" strike="noStrike">
                  <a:solidFill>
                    <a:srgbClr val="66758A"/>
                  </a:solidFill>
                  <a:effectLst/>
                  <a:uFillTx/>
                  <a:latin typeface="Arial"/>
                  <a:ea typeface="Microsoft YaHei"/>
                </a:rPr>
                <a:t>References include QuietOn, Kokoon, Ozlo, and Nothing Ear, each with source type and applicable limits.</a:t>
              </a:r>
              <a:endParaRPr lang="en-US" sz="1300" b="0" u="none" strike="noStrike">
                <a:solidFill>
                  <a:srgbClr val="000000"/>
                </a:solidFill>
                <a:effectLst/>
                <a:uFillTx/>
                <a:latin typeface="Arial"/>
              </a:endParaRPr>
            </a:p>
          </p:txBody>
        </p:sp>
      </p:grpSp>
      <p:sp>
        <p:nvSpPr>
          <p:cNvPr id="188" name="footer-label"/>
          <p:cNvSpPr/>
          <p:nvPr/>
        </p:nvSpPr>
        <p:spPr>
          <a:xfrm>
            <a:off x="488520" y="6407280"/>
            <a:ext cx="4917240" cy="2628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00" b="0" u="none" strike="noStrike">
                <a:solidFill>
                  <a:srgbClr val="66758A"/>
                </a:solidFill>
                <a:effectLst/>
                <a:uFillTx/>
                <a:latin typeface="Arial"/>
                <a:ea typeface="Microsoft YaHei"/>
              </a:rPr>
              <a:t>Retrieval relevance and source credibility are assessed separately</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pSp>
        <p:nvGrpSpPr>
          <p:cNvPr id="189" name="header"/>
          <p:cNvGrpSpPr/>
          <p:nvPr/>
        </p:nvGrpSpPr>
        <p:grpSpPr>
          <a:xfrm>
            <a:off x="478440" y="422280"/>
            <a:ext cx="8424720" cy="972360"/>
            <a:chOff x="478440" y="422280"/>
            <a:chExt cx="8424720" cy="972360"/>
          </a:xfrm>
        </p:grpSpPr>
        <p:sp>
          <p:nvSpPr>
            <p:cNvPr id="190" name="TextBox 2"/>
            <p:cNvSpPr/>
            <p:nvPr/>
          </p:nvSpPr>
          <p:spPr>
            <a:xfrm>
              <a:off x="478440" y="422280"/>
              <a:ext cx="7036200" cy="6444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3300" b="1" u="none" strike="noStrike">
                  <a:solidFill>
                    <a:srgbClr val="13243A"/>
                  </a:solidFill>
                  <a:effectLst/>
                  <a:uFillTx/>
                  <a:latin typeface="Arial"/>
                  <a:ea typeface="Microsoft YaHei"/>
                </a:rPr>
                <a:t>Evidence Review of Retrieved Data</a:t>
              </a:r>
              <a:endParaRPr lang="en-US" sz="3300" b="0" u="none" strike="noStrike">
                <a:solidFill>
                  <a:srgbClr val="000000"/>
                </a:solidFill>
                <a:effectLst/>
                <a:uFillTx/>
                <a:latin typeface="Arial"/>
              </a:endParaRPr>
            </a:p>
          </p:txBody>
        </p:sp>
        <p:sp>
          <p:nvSpPr>
            <p:cNvPr id="191" name="TextBox 3"/>
            <p:cNvSpPr/>
            <p:nvPr/>
          </p:nvSpPr>
          <p:spPr>
            <a:xfrm>
              <a:off x="487080" y="1073160"/>
              <a:ext cx="8416080" cy="3214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00" b="0" u="none" strike="noStrike">
                  <a:solidFill>
                    <a:srgbClr val="66758A"/>
                  </a:solidFill>
                  <a:effectLst/>
                  <a:uFillTx/>
                  <a:latin typeface="Arial"/>
                  <a:ea typeface="Microsoft YaHei"/>
                </a:rPr>
                <a:t>Review source, visible facts, and inference to decide which design conclusions each item supports.</a:t>
              </a:r>
              <a:endParaRPr lang="en-US" sz="1500" b="0" u="none" strike="noStrike">
                <a:solidFill>
                  <a:srgbClr val="000000"/>
                </a:solidFill>
                <a:effectLst/>
                <a:uFillTx/>
                <a:latin typeface="Arial"/>
              </a:endParaRPr>
            </a:p>
          </p:txBody>
        </p:sp>
      </p:grpSp>
      <p:grpSp>
        <p:nvGrpSpPr>
          <p:cNvPr id="192" name="evidence-classes"/>
          <p:cNvGrpSpPr/>
          <p:nvPr/>
        </p:nvGrpSpPr>
        <p:grpSpPr>
          <a:xfrm>
            <a:off x="485280" y="1863720"/>
            <a:ext cx="11354400" cy="1158120"/>
            <a:chOff x="485280" y="1863720"/>
            <a:chExt cx="11354400" cy="1158120"/>
          </a:xfrm>
        </p:grpSpPr>
        <p:sp>
          <p:nvSpPr>
            <p:cNvPr id="193" name="TextBox 5"/>
            <p:cNvSpPr/>
            <p:nvPr/>
          </p:nvSpPr>
          <p:spPr>
            <a:xfrm>
              <a:off x="485280" y="1863720"/>
              <a:ext cx="1888920" cy="3801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1" u="none" strike="noStrike">
                  <a:solidFill>
                    <a:srgbClr val="3662EA"/>
                  </a:solidFill>
                  <a:effectLst/>
                  <a:uFillTx/>
                  <a:latin typeface="Arial"/>
                  <a:ea typeface="Microsoft YaHei"/>
                </a:rPr>
                <a:t>Source records</a:t>
              </a:r>
              <a:endParaRPr lang="en-US" sz="1950" b="0" u="none" strike="noStrike">
                <a:solidFill>
                  <a:srgbClr val="000000"/>
                </a:solidFill>
                <a:effectLst/>
                <a:uFillTx/>
                <a:latin typeface="Arial"/>
              </a:endParaRPr>
            </a:p>
          </p:txBody>
        </p:sp>
        <p:sp>
          <p:nvSpPr>
            <p:cNvPr id="194" name="TextBox 6"/>
            <p:cNvSpPr/>
            <p:nvPr/>
          </p:nvSpPr>
          <p:spPr>
            <a:xfrm>
              <a:off x="487080" y="2320920"/>
              <a:ext cx="3249000" cy="3214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00" b="0" u="none" strike="noStrike">
                  <a:solidFill>
                    <a:srgbClr val="13243A"/>
                  </a:solidFill>
                  <a:effectLst/>
                  <a:uFillTx/>
                  <a:latin typeface="Arial"/>
                  <a:ea typeface="Microsoft YaHei"/>
                </a:rPr>
                <a:t>Vendor notes, reviews, user feedback</a:t>
              </a:r>
              <a:endParaRPr lang="en-US" sz="1500" b="0" u="none" strike="noStrike">
                <a:solidFill>
                  <a:srgbClr val="000000"/>
                </a:solidFill>
                <a:effectLst/>
                <a:uFillTx/>
                <a:latin typeface="Arial"/>
              </a:endParaRPr>
            </a:p>
          </p:txBody>
        </p:sp>
        <p:sp>
          <p:nvSpPr>
            <p:cNvPr id="195" name="TextBox 7"/>
            <p:cNvSpPr/>
            <p:nvPr/>
          </p:nvSpPr>
          <p:spPr>
            <a:xfrm>
              <a:off x="488520" y="2759040"/>
              <a:ext cx="2607480" cy="2628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50" b="0" u="none" strike="noStrike">
                  <a:solidFill>
                    <a:srgbClr val="66758A"/>
                  </a:solidFill>
                  <a:effectLst/>
                  <a:uFillTx/>
                  <a:latin typeface="Arial"/>
                  <a:ea typeface="Microsoft YaHei"/>
                </a:rPr>
                <a:t>Keep author and source category</a:t>
              </a:r>
              <a:endParaRPr lang="en-US" sz="1350" b="0" u="none" strike="noStrike">
                <a:solidFill>
                  <a:srgbClr val="000000"/>
                </a:solidFill>
                <a:effectLst/>
                <a:uFillTx/>
                <a:latin typeface="Arial"/>
              </a:endParaRPr>
            </a:p>
          </p:txBody>
        </p:sp>
        <p:sp>
          <p:nvSpPr>
            <p:cNvPr id="196" name="TextBox 8"/>
            <p:cNvSpPr/>
            <p:nvPr/>
          </p:nvSpPr>
          <p:spPr>
            <a:xfrm>
              <a:off x="4524120" y="1863720"/>
              <a:ext cx="2260080" cy="3801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1" u="none" strike="noStrike">
                  <a:solidFill>
                    <a:srgbClr val="3662EA"/>
                  </a:solidFill>
                  <a:effectLst/>
                  <a:uFillTx/>
                  <a:latin typeface="Arial"/>
                  <a:ea typeface="Microsoft YaHei"/>
                </a:rPr>
                <a:t>Image observation</a:t>
              </a:r>
              <a:endParaRPr lang="en-US" sz="1950" b="0" u="none" strike="noStrike">
                <a:solidFill>
                  <a:srgbClr val="000000"/>
                </a:solidFill>
                <a:effectLst/>
                <a:uFillTx/>
                <a:latin typeface="Arial"/>
              </a:endParaRPr>
            </a:p>
          </p:txBody>
        </p:sp>
        <p:sp>
          <p:nvSpPr>
            <p:cNvPr id="197" name="TextBox 9"/>
            <p:cNvSpPr/>
            <p:nvPr/>
          </p:nvSpPr>
          <p:spPr>
            <a:xfrm>
              <a:off x="4525560" y="2320920"/>
              <a:ext cx="3756600" cy="3214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00" b="0" u="none" strike="noStrike">
                  <a:solidFill>
                    <a:srgbClr val="13243A"/>
                  </a:solidFill>
                  <a:effectLst/>
                  <a:uFillTx/>
                  <a:latin typeface="Arial"/>
                  <a:ea typeface="Microsoft YaHei"/>
                </a:rPr>
                <a:t>Outline, material zones, accessory relations</a:t>
              </a:r>
              <a:endParaRPr lang="en-US" sz="1500" b="0" u="none" strike="noStrike">
                <a:solidFill>
                  <a:srgbClr val="000000"/>
                </a:solidFill>
                <a:effectLst/>
                <a:uFillTx/>
                <a:latin typeface="Arial"/>
              </a:endParaRPr>
            </a:p>
          </p:txBody>
        </p:sp>
        <p:sp>
          <p:nvSpPr>
            <p:cNvPr id="198" name="TextBox 10"/>
            <p:cNvSpPr/>
            <p:nvPr/>
          </p:nvSpPr>
          <p:spPr>
            <a:xfrm>
              <a:off x="4527000" y="2759040"/>
              <a:ext cx="3300120" cy="2628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50" b="0" u="none" strike="noStrike">
                  <a:solidFill>
                    <a:srgbClr val="66758A"/>
                  </a:solidFill>
                  <a:effectLst/>
                  <a:uFillTx/>
                  <a:latin typeface="Arial"/>
                  <a:ea typeface="Microsoft YaHei"/>
                </a:rPr>
                <a:t>Sizes and use effects need other evidence</a:t>
              </a:r>
              <a:endParaRPr lang="en-US" sz="1350" b="0" u="none" strike="noStrike">
                <a:solidFill>
                  <a:srgbClr val="000000"/>
                </a:solidFill>
                <a:effectLst/>
                <a:uFillTx/>
                <a:latin typeface="Arial"/>
              </a:endParaRPr>
            </a:p>
          </p:txBody>
        </p:sp>
        <p:sp>
          <p:nvSpPr>
            <p:cNvPr id="199" name="TextBox 11"/>
            <p:cNvSpPr/>
            <p:nvPr/>
          </p:nvSpPr>
          <p:spPr>
            <a:xfrm>
              <a:off x="8562600" y="1863720"/>
              <a:ext cx="2150280" cy="3801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1" u="none" strike="noStrike">
                  <a:solidFill>
                    <a:srgbClr val="3662EA"/>
                  </a:solidFill>
                  <a:effectLst/>
                  <a:uFillTx/>
                  <a:latin typeface="Arial"/>
                  <a:ea typeface="Microsoft YaHei"/>
                </a:rPr>
                <a:t>Inference records</a:t>
              </a:r>
              <a:endParaRPr lang="en-US" sz="1950" b="0" u="none" strike="noStrike">
                <a:solidFill>
                  <a:srgbClr val="000000"/>
                </a:solidFill>
                <a:effectLst/>
                <a:uFillTx/>
                <a:latin typeface="Arial"/>
              </a:endParaRPr>
            </a:p>
          </p:txBody>
        </p:sp>
        <p:sp>
          <p:nvSpPr>
            <p:cNvPr id="200" name="TextBox 12"/>
            <p:cNvSpPr/>
            <p:nvPr/>
          </p:nvSpPr>
          <p:spPr>
            <a:xfrm>
              <a:off x="8564040" y="2320920"/>
              <a:ext cx="2920680" cy="3214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00" b="0" u="none" strike="noStrike">
                  <a:solidFill>
                    <a:srgbClr val="13243A"/>
                  </a:solidFill>
                  <a:effectLst/>
                  <a:uFillTx/>
                  <a:latin typeface="Arial"/>
                  <a:ea typeface="Microsoft YaHei"/>
                </a:rPr>
                <a:t>AI inferences recorded separately</a:t>
              </a:r>
              <a:endParaRPr lang="en-US" sz="1500" b="0" u="none" strike="noStrike">
                <a:solidFill>
                  <a:srgbClr val="000000"/>
                </a:solidFill>
                <a:effectLst/>
                <a:uFillTx/>
                <a:latin typeface="Arial"/>
              </a:endParaRPr>
            </a:p>
          </p:txBody>
        </p:sp>
        <p:sp>
          <p:nvSpPr>
            <p:cNvPr id="201" name="TextBox 13"/>
            <p:cNvSpPr/>
            <p:nvPr/>
          </p:nvSpPr>
          <p:spPr>
            <a:xfrm>
              <a:off x="8565480" y="2759040"/>
              <a:ext cx="3274200" cy="2628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50" b="0" u="none" strike="noStrike">
                  <a:solidFill>
                    <a:srgbClr val="66758A"/>
                  </a:solidFill>
                  <a:effectLst/>
                  <a:uFillTx/>
                  <a:latin typeface="Arial"/>
                  <a:ea typeface="Microsoft YaHei"/>
                </a:rPr>
                <a:t>Unsupported conclusions marked as open</a:t>
              </a:r>
              <a:endParaRPr lang="en-US" sz="1350" b="0" u="none" strike="noStrike">
                <a:solidFill>
                  <a:srgbClr val="000000"/>
                </a:solidFill>
                <a:effectLst/>
                <a:uFillTx/>
                <a:latin typeface="Arial"/>
              </a:endParaRPr>
            </a:p>
          </p:txBody>
        </p:sp>
      </p:grpSp>
      <p:sp>
        <p:nvSpPr>
          <p:cNvPr id="202" name="Line 15"/>
          <p:cNvSpPr/>
          <p:nvPr/>
        </p:nvSpPr>
        <p:spPr>
          <a:xfrm>
            <a:off x="495360" y="3362400"/>
            <a:ext cx="11200320" cy="8280"/>
          </a:xfrm>
          <a:custGeom>
            <a:avLst/>
            <a:gdLst>
              <a:gd name="textAreaLeft" fmla="*/ 0 w 11200320"/>
              <a:gd name="textAreaRight" fmla="*/ 11201400 w 11200320"/>
              <a:gd name="textAreaTop" fmla="*/ 0 h 8280"/>
              <a:gd name="textAreaBottom" fmla="*/ 9360 h 8280"/>
            </a:gdLst>
            <a:ahLst/>
            <a:cxnLst/>
            <a:rect l="textAreaLeft" t="textAreaTop" r="textAreaRight" b="textAreaBottom"/>
            <a:pathLst>
              <a:path w="11201400" h="9525">
                <a:moveTo>
                  <a:pt x="0" y="0"/>
                </a:moveTo>
                <a:lnTo>
                  <a:pt x="11201400" y="0"/>
                </a:lnTo>
              </a:path>
            </a:pathLst>
          </a:custGeom>
          <a:noFill/>
          <a:ln w="9525">
            <a:solidFill>
              <a:srgbClr val="DCE3EF"/>
            </a:solidFill>
            <a:round/>
          </a:ln>
        </p:spPr>
        <p:style>
          <a:lnRef idx="0"/>
          <a:fillRef idx="0"/>
          <a:effectRef idx="0"/>
          <a:fontRef idx="minor"/>
        </p:style>
        <p:txBody>
          <a:bodyPr lIns="90000" tIns="-35640" rIns="90000" bIns="-35640" anchor="t">
            <a:noAutofit/>
          </a:bodyPr>
          <a:p>
            <a:pPr/>
            <a:endParaRPr lang="en-US" sz="1800" b="0" u="none" strike="noStrike">
              <a:solidFill>
                <a:srgbClr val="000000"/>
              </a:solidFill>
              <a:effectLst/>
              <a:uFillTx/>
              <a:latin typeface="Arial"/>
            </a:endParaRPr>
          </a:p>
        </p:txBody>
      </p:sp>
      <p:grpSp>
        <p:nvGrpSpPr>
          <p:cNvPr id="203" name="evidence-review-process"/>
          <p:cNvGrpSpPr/>
          <p:nvPr/>
        </p:nvGrpSpPr>
        <p:grpSpPr>
          <a:xfrm>
            <a:off x="483120" y="3670200"/>
            <a:ext cx="11297880" cy="1534320"/>
            <a:chOff x="483120" y="3670200"/>
            <a:chExt cx="11297880" cy="1534320"/>
          </a:xfrm>
        </p:grpSpPr>
        <p:sp>
          <p:nvSpPr>
            <p:cNvPr id="204" name="TextBox 16"/>
            <p:cNvSpPr/>
            <p:nvPr/>
          </p:nvSpPr>
          <p:spPr>
            <a:xfrm>
              <a:off x="483120" y="3670200"/>
              <a:ext cx="5610600" cy="4683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2400" b="1" u="none" strike="noStrike">
                  <a:solidFill>
                    <a:srgbClr val="13243A"/>
                  </a:solidFill>
                  <a:effectLst/>
                  <a:uFillTx/>
                  <a:latin typeface="Arial"/>
                  <a:ea typeface="Microsoft YaHei"/>
                </a:rPr>
                <a:t>Review flow before data enters design</a:t>
              </a:r>
              <a:endParaRPr lang="en-US" sz="2400" b="0" u="none" strike="noStrike">
                <a:solidFill>
                  <a:srgbClr val="000000"/>
                </a:solidFill>
                <a:effectLst/>
                <a:uFillTx/>
                <a:latin typeface="Arial"/>
              </a:endParaRPr>
            </a:p>
          </p:txBody>
        </p:sp>
        <p:sp>
          <p:nvSpPr>
            <p:cNvPr id="205" name="TextBox 17"/>
            <p:cNvSpPr/>
            <p:nvPr/>
          </p:nvSpPr>
          <p:spPr>
            <a:xfrm>
              <a:off x="485280" y="4187880"/>
              <a:ext cx="1971720" cy="3801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1" u="none" strike="noStrike">
                  <a:solidFill>
                    <a:srgbClr val="13243A"/>
                  </a:solidFill>
                  <a:effectLst/>
                  <a:uFillTx/>
                  <a:latin typeface="Arial"/>
                  <a:ea typeface="Microsoft YaHei"/>
                </a:rPr>
                <a:t>01 Verify source</a:t>
              </a:r>
              <a:endParaRPr lang="en-US" sz="1950" b="0" u="none" strike="noStrike">
                <a:solidFill>
                  <a:srgbClr val="000000"/>
                </a:solidFill>
                <a:effectLst/>
                <a:uFillTx/>
                <a:latin typeface="Arial"/>
              </a:endParaRPr>
            </a:p>
          </p:txBody>
        </p:sp>
        <p:sp>
          <p:nvSpPr>
            <p:cNvPr id="206" name="TextBox 18"/>
            <p:cNvSpPr/>
            <p:nvPr/>
          </p:nvSpPr>
          <p:spPr>
            <a:xfrm>
              <a:off x="487080" y="4578480"/>
              <a:ext cx="3206520" cy="3214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00" b="0" u="none" strike="noStrike">
                  <a:solidFill>
                    <a:srgbClr val="66758A"/>
                  </a:solidFill>
                  <a:effectLst/>
                  <a:uFillTx/>
                  <a:latin typeface="Arial"/>
                  <a:ea typeface="Microsoft YaHei"/>
                </a:rPr>
                <a:t>Check original text and image source</a:t>
              </a:r>
              <a:endParaRPr lang="en-US" sz="1500" b="0" u="none" strike="noStrike">
                <a:solidFill>
                  <a:srgbClr val="000000"/>
                </a:solidFill>
                <a:effectLst/>
                <a:uFillTx/>
                <a:latin typeface="Arial"/>
              </a:endParaRPr>
            </a:p>
          </p:txBody>
        </p:sp>
        <p:sp>
          <p:nvSpPr>
            <p:cNvPr id="207" name="TextBox 19"/>
            <p:cNvSpPr/>
            <p:nvPr/>
          </p:nvSpPr>
          <p:spPr>
            <a:xfrm>
              <a:off x="487080" y="4883040"/>
              <a:ext cx="2560680" cy="3214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00" b="0" u="none" strike="noStrike">
                  <a:solidFill>
                    <a:srgbClr val="66758A"/>
                  </a:solidFill>
                  <a:effectLst/>
                  <a:uFillTx/>
                  <a:latin typeface="Arial"/>
                  <a:ea typeface="Microsoft YaHei"/>
                </a:rPr>
                <a:t>Record author and conditions</a:t>
              </a:r>
              <a:endParaRPr lang="en-US" sz="1500" b="0" u="none" strike="noStrike">
                <a:solidFill>
                  <a:srgbClr val="000000"/>
                </a:solidFill>
                <a:effectLst/>
                <a:uFillTx/>
                <a:latin typeface="Arial"/>
              </a:endParaRPr>
            </a:p>
          </p:txBody>
        </p:sp>
        <p:sp>
          <p:nvSpPr>
            <p:cNvPr id="208" name="Line 20"/>
            <p:cNvSpPr/>
            <p:nvPr/>
          </p:nvSpPr>
          <p:spPr>
            <a:xfrm>
              <a:off x="4105080" y="4552920"/>
              <a:ext cx="619200" cy="360"/>
            </a:xfrm>
            <a:prstGeom prst="line">
              <a:avLst/>
            </a:prstGeom>
            <a:ln w="19050">
              <a:solidFill>
                <a:srgbClr val="66758A"/>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209" name="TextBox 21"/>
            <p:cNvSpPr/>
            <p:nvPr/>
          </p:nvSpPr>
          <p:spPr>
            <a:xfrm>
              <a:off x="5000400" y="4187880"/>
              <a:ext cx="2177280" cy="3801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1" u="none" strike="noStrike">
                  <a:solidFill>
                    <a:srgbClr val="13243A"/>
                  </a:solidFill>
                  <a:effectLst/>
                  <a:uFillTx/>
                  <a:latin typeface="Arial"/>
                  <a:ea typeface="Microsoft YaHei"/>
                </a:rPr>
                <a:t>02 Match purpose</a:t>
              </a:r>
              <a:endParaRPr lang="en-US" sz="1950" b="0" u="none" strike="noStrike">
                <a:solidFill>
                  <a:srgbClr val="000000"/>
                </a:solidFill>
                <a:effectLst/>
                <a:uFillTx/>
                <a:latin typeface="Arial"/>
              </a:endParaRPr>
            </a:p>
          </p:txBody>
        </p:sp>
        <p:sp>
          <p:nvSpPr>
            <p:cNvPr id="210" name="TextBox 22"/>
            <p:cNvSpPr/>
            <p:nvPr/>
          </p:nvSpPr>
          <p:spPr>
            <a:xfrm>
              <a:off x="5001840" y="4578480"/>
              <a:ext cx="2814840" cy="3214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00" b="0" u="none" strike="noStrike">
                  <a:solidFill>
                    <a:srgbClr val="66758A"/>
                  </a:solidFill>
                  <a:effectLst/>
                  <a:uFillTx/>
                  <a:latin typeface="Arial"/>
                  <a:ea typeface="Microsoft YaHei"/>
                </a:rPr>
                <a:t>Shape reference or support data</a:t>
              </a:r>
              <a:endParaRPr lang="en-US" sz="1500" b="0" u="none" strike="noStrike">
                <a:solidFill>
                  <a:srgbClr val="000000"/>
                </a:solidFill>
                <a:effectLst/>
                <a:uFillTx/>
                <a:latin typeface="Arial"/>
              </a:endParaRPr>
            </a:p>
          </p:txBody>
        </p:sp>
        <p:sp>
          <p:nvSpPr>
            <p:cNvPr id="211" name="TextBox 23"/>
            <p:cNvSpPr/>
            <p:nvPr/>
          </p:nvSpPr>
          <p:spPr>
            <a:xfrm>
              <a:off x="5001840" y="4883040"/>
              <a:ext cx="2867400" cy="3214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00" b="0" u="none" strike="noStrike">
                  <a:solidFill>
                    <a:srgbClr val="66758A"/>
                  </a:solidFill>
                  <a:effectLst/>
                  <a:uFillTx/>
                  <a:latin typeface="Arial"/>
                  <a:ea typeface="Microsoft YaHei"/>
                </a:rPr>
                <a:t>Sizes must map to a specific part</a:t>
              </a:r>
              <a:endParaRPr lang="en-US" sz="1500" b="0" u="none" strike="noStrike">
                <a:solidFill>
                  <a:srgbClr val="000000"/>
                </a:solidFill>
                <a:effectLst/>
                <a:uFillTx/>
                <a:latin typeface="Arial"/>
              </a:endParaRPr>
            </a:p>
          </p:txBody>
        </p:sp>
        <p:sp>
          <p:nvSpPr>
            <p:cNvPr id="212" name="Line 24"/>
            <p:cNvSpPr/>
            <p:nvPr/>
          </p:nvSpPr>
          <p:spPr>
            <a:xfrm>
              <a:off x="7924680" y="4552920"/>
              <a:ext cx="476280" cy="360"/>
            </a:xfrm>
            <a:prstGeom prst="line">
              <a:avLst/>
            </a:prstGeom>
            <a:ln w="19050">
              <a:solidFill>
                <a:srgbClr val="66758A"/>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213" name="TextBox 25"/>
            <p:cNvSpPr/>
            <p:nvPr/>
          </p:nvSpPr>
          <p:spPr>
            <a:xfrm>
              <a:off x="8658000" y="4187880"/>
              <a:ext cx="2397960" cy="3801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1" u="none" strike="noStrike">
                  <a:solidFill>
                    <a:srgbClr val="13243A"/>
                  </a:solidFill>
                  <a:effectLst/>
                  <a:uFillTx/>
                  <a:latin typeface="Arial"/>
                  <a:ea typeface="Microsoft YaHei"/>
                </a:rPr>
                <a:t>03 Keep open items</a:t>
              </a:r>
              <a:endParaRPr lang="en-US" sz="1950" b="0" u="none" strike="noStrike">
                <a:solidFill>
                  <a:srgbClr val="000000"/>
                </a:solidFill>
                <a:effectLst/>
                <a:uFillTx/>
                <a:latin typeface="Arial"/>
              </a:endParaRPr>
            </a:p>
          </p:txBody>
        </p:sp>
        <p:sp>
          <p:nvSpPr>
            <p:cNvPr id="214" name="TextBox 26"/>
            <p:cNvSpPr/>
            <p:nvPr/>
          </p:nvSpPr>
          <p:spPr>
            <a:xfrm>
              <a:off x="8659440" y="4578480"/>
              <a:ext cx="3121560" cy="3214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00" b="0" u="none" strike="noStrike">
                  <a:solidFill>
                    <a:srgbClr val="66758A"/>
                  </a:solidFill>
                  <a:effectLst/>
                  <a:uFillTx/>
                  <a:latin typeface="Arial"/>
                  <a:ea typeface="Microsoft YaHei"/>
                </a:rPr>
                <a:t>File inference apart from source text</a:t>
              </a:r>
              <a:endParaRPr lang="en-US" sz="1500" b="0" u="none" strike="noStrike">
                <a:solidFill>
                  <a:srgbClr val="000000"/>
                </a:solidFill>
                <a:effectLst/>
                <a:uFillTx/>
                <a:latin typeface="Arial"/>
              </a:endParaRPr>
            </a:p>
          </p:txBody>
        </p:sp>
        <p:sp>
          <p:nvSpPr>
            <p:cNvPr id="215" name="TextBox 27"/>
            <p:cNvSpPr/>
            <p:nvPr/>
          </p:nvSpPr>
          <p:spPr>
            <a:xfrm>
              <a:off x="8659440" y="4883040"/>
              <a:ext cx="2729880" cy="3214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00" b="0" u="none" strike="noStrike">
                  <a:solidFill>
                    <a:srgbClr val="66758A"/>
                  </a:solidFill>
                  <a:effectLst/>
                  <a:uFillTx/>
                  <a:latin typeface="Arial"/>
                  <a:ea typeface="Microsoft YaHei"/>
                </a:rPr>
                <a:t>Not modeled on weak evidence</a:t>
              </a:r>
              <a:endParaRPr lang="en-US" sz="1500" b="0" u="none" strike="noStrike">
                <a:solidFill>
                  <a:srgbClr val="000000"/>
                </a:solidFill>
                <a:effectLst/>
                <a:uFillTx/>
                <a:latin typeface="Arial"/>
              </a:endParaRPr>
            </a:p>
          </p:txBody>
        </p:sp>
      </p:grpSp>
      <p:grpSp>
        <p:nvGrpSpPr>
          <p:cNvPr id="216" name="audit-result"/>
          <p:cNvGrpSpPr/>
          <p:nvPr/>
        </p:nvGrpSpPr>
        <p:grpSpPr>
          <a:xfrm>
            <a:off x="495360" y="5467320"/>
            <a:ext cx="11200320" cy="694080"/>
            <a:chOff x="495360" y="5467320"/>
            <a:chExt cx="11200320" cy="694080"/>
          </a:xfrm>
        </p:grpSpPr>
        <p:sp>
          <p:nvSpPr>
            <p:cNvPr id="217" name="Rectangle 29"/>
            <p:cNvSpPr/>
            <p:nvPr/>
          </p:nvSpPr>
          <p:spPr>
            <a:xfrm>
              <a:off x="495360" y="5467320"/>
              <a:ext cx="11200320" cy="694080"/>
            </a:xfrm>
            <a:prstGeom prst="roundRect">
              <a:avLst>
                <a:gd name="adj" fmla="val 12329"/>
              </a:avLst>
            </a:prstGeom>
            <a:solidFill>
              <a:srgbClr val="F1F4FA"/>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18" name="TextBox 30"/>
            <p:cNvSpPr/>
            <p:nvPr/>
          </p:nvSpPr>
          <p:spPr>
            <a:xfrm>
              <a:off x="715680" y="5692680"/>
              <a:ext cx="7545240" cy="3214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00" b="0" u="none" strike="noStrike">
                  <a:solidFill>
                    <a:srgbClr val="13243A"/>
                  </a:solidFill>
                  <a:effectLst/>
                  <a:uFillTx/>
                  <a:latin typeface="Arial"/>
                  <a:ea typeface="Microsoft YaHei"/>
                </a:rPr>
                <a:t>An independent trial reviewed 166 images: 119 as shape references, 47 as support data.</a:t>
              </a:r>
              <a:endParaRPr lang="en-US" sz="1500" b="0" u="none" strike="noStrike">
                <a:solidFill>
                  <a:srgbClr val="000000"/>
                </a:solidFill>
                <a:effectLst/>
                <a:uFillTx/>
                <a:latin typeface="Arial"/>
              </a:endParaRPr>
            </a:p>
          </p:txBody>
        </p:sp>
      </p:grpSp>
      <p:sp>
        <p:nvSpPr>
          <p:cNvPr id="219" name="footer-label"/>
          <p:cNvSpPr/>
          <p:nvPr/>
        </p:nvSpPr>
        <p:spPr>
          <a:xfrm>
            <a:off x="488520" y="6407280"/>
            <a:ext cx="6015240" cy="2628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50" b="0" u="none" strike="noStrike">
                <a:solidFill>
                  <a:srgbClr val="66758A"/>
                </a:solidFill>
                <a:effectLst/>
                <a:uFillTx/>
                <a:latin typeface="Arial"/>
                <a:ea typeface="Microsoft YaHei"/>
              </a:rPr>
              <a:t>Comfort, sport stability, and retrieval quality gains still need separate validation</a:t>
            </a:r>
            <a:endParaRPr lang="en-US" sz="13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pSp>
        <p:nvGrpSpPr>
          <p:cNvPr id="220" name="header"/>
          <p:cNvGrpSpPr/>
          <p:nvPr/>
        </p:nvGrpSpPr>
        <p:grpSpPr>
          <a:xfrm>
            <a:off x="478440" y="422280"/>
            <a:ext cx="7364520" cy="972360"/>
            <a:chOff x="478440" y="422280"/>
            <a:chExt cx="7364520" cy="972360"/>
          </a:xfrm>
        </p:grpSpPr>
        <p:sp>
          <p:nvSpPr>
            <p:cNvPr id="221" name="TextBox 2"/>
            <p:cNvSpPr/>
            <p:nvPr/>
          </p:nvSpPr>
          <p:spPr>
            <a:xfrm>
              <a:off x="478440" y="422280"/>
              <a:ext cx="6949440" cy="6444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3300" b="1" u="none" strike="noStrike">
                  <a:solidFill>
                    <a:schemeClr val="accent1"/>
                  </a:solidFill>
                  <a:effectLst/>
                  <a:uFillTx/>
                  <a:latin typeface="Arial"/>
                  <a:ea typeface="Microsoft YaHei"/>
                </a:rPr>
                <a:t>MCP Tool Calls and Result Checks</a:t>
              </a:r>
              <a:endParaRPr lang="en-US" sz="3300" b="0" u="none" strike="noStrike">
                <a:solidFill>
                  <a:srgbClr val="000000"/>
                </a:solidFill>
                <a:effectLst/>
                <a:uFillTx/>
                <a:latin typeface="Arial"/>
              </a:endParaRPr>
            </a:p>
          </p:txBody>
        </p:sp>
        <p:sp>
          <p:nvSpPr>
            <p:cNvPr id="222" name="TextBox 3"/>
            <p:cNvSpPr/>
            <p:nvPr/>
          </p:nvSpPr>
          <p:spPr>
            <a:xfrm>
              <a:off x="487080" y="1073160"/>
              <a:ext cx="7355880" cy="3214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0" u="none" strike="noStrike">
                  <a:solidFill>
                    <a:srgbClr val="66758A"/>
                  </a:solidFill>
                  <a:effectLst/>
                  <a:uFillTx/>
                  <a:latin typeface="Arial"/>
                  <a:ea typeface="Microsoft YaHei"/>
                </a:rPr>
                <a:t>MCP connects tools, RAG provides evidence, and people review scope and results.</a:t>
              </a:r>
              <a:endParaRPr lang="en-US" sz="1550" b="0" u="none" strike="noStrike">
                <a:solidFill>
                  <a:srgbClr val="000000"/>
                </a:solidFill>
                <a:effectLst/>
                <a:uFillTx/>
                <a:latin typeface="Arial"/>
              </a:endParaRPr>
            </a:p>
          </p:txBody>
        </p:sp>
      </p:grpSp>
      <p:grpSp>
        <p:nvGrpSpPr>
          <p:cNvPr id="223" name="actors-and-context"/>
          <p:cNvGrpSpPr/>
          <p:nvPr/>
        </p:nvGrpSpPr>
        <p:grpSpPr>
          <a:xfrm>
            <a:off x="657360" y="1825560"/>
            <a:ext cx="6818760" cy="2293200"/>
            <a:chOff x="657360" y="1825560"/>
            <a:chExt cx="6818760" cy="2293200"/>
          </a:xfrm>
        </p:grpSpPr>
        <p:sp>
          <p:nvSpPr>
            <p:cNvPr id="224" name="Ellipse 5"/>
            <p:cNvSpPr/>
            <p:nvPr/>
          </p:nvSpPr>
          <p:spPr>
            <a:xfrm>
              <a:off x="657360" y="2181240"/>
              <a:ext cx="1427760" cy="1427760"/>
            </a:xfrm>
            <a:prstGeom prst="ellipse">
              <a:avLst/>
            </a:prstGeom>
            <a:solidFill>
              <a:srgbClr val="FFF2DD"/>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25" name="TextBox 6"/>
            <p:cNvSpPr/>
            <p:nvPr/>
          </p:nvSpPr>
          <p:spPr>
            <a:xfrm>
              <a:off x="818640" y="2565360"/>
              <a:ext cx="1105200" cy="468360"/>
            </a:xfrm>
            <a:prstGeom prst="rect">
              <a:avLst/>
            </a:prstGeom>
            <a:noFill/>
            <a:ln w="0">
              <a:noFill/>
            </a:ln>
          </p:spPr>
          <p:style>
            <a:lnRef idx="0"/>
            <a:fillRef idx="0"/>
            <a:effectRef idx="0"/>
            <a:fontRef idx="minor"/>
          </p:style>
          <p:txBody>
            <a:bodyPr wrap="none" lIns="0" tIns="0" rIns="0" bIns="0" anchor="t">
              <a:spAutoFit/>
            </a:bodyPr>
            <a:p>
              <a:pPr algn="ctr" defTabSz="457200">
                <a:lnSpc>
                  <a:spcPct val="100000"/>
                </a:lnSpc>
              </a:pPr>
              <a:r>
                <a:rPr lang="en-US" sz="2400" b="1" u="none" strike="noStrike">
                  <a:solidFill>
                    <a:schemeClr val="accent1"/>
                  </a:solidFill>
                  <a:effectLst/>
                  <a:uFillTx/>
                  <a:latin typeface="Arial"/>
                  <a:ea typeface="Microsoft YaHei"/>
                </a:rPr>
                <a:t>Human</a:t>
              </a:r>
              <a:endParaRPr lang="en-US" sz="2400" b="0" u="none" strike="noStrike">
                <a:solidFill>
                  <a:srgbClr val="000000"/>
                </a:solidFill>
                <a:effectLst/>
                <a:uFillTx/>
                <a:latin typeface="Arial"/>
              </a:endParaRPr>
            </a:p>
          </p:txBody>
        </p:sp>
        <p:sp>
          <p:nvSpPr>
            <p:cNvPr id="226" name="TextBox 7"/>
            <p:cNvSpPr/>
            <p:nvPr/>
          </p:nvSpPr>
          <p:spPr>
            <a:xfrm>
              <a:off x="823320" y="3025800"/>
              <a:ext cx="1095480" cy="262800"/>
            </a:xfrm>
            <a:prstGeom prst="rect">
              <a:avLst/>
            </a:prstGeom>
            <a:noFill/>
            <a:ln w="0">
              <a:noFill/>
            </a:ln>
          </p:spPr>
          <p:style>
            <a:lnRef idx="0"/>
            <a:fillRef idx="0"/>
            <a:effectRef idx="0"/>
            <a:fontRef idx="minor"/>
          </p:style>
          <p:txBody>
            <a:bodyPr wrap="none" lIns="0" tIns="0" rIns="0" bIns="0" anchor="t">
              <a:spAutoFit/>
            </a:bodyPr>
            <a:p>
              <a:pPr algn="ctr" defTabSz="457200">
                <a:lnSpc>
                  <a:spcPct val="100000"/>
                </a:lnSpc>
              </a:pPr>
              <a:r>
                <a:rPr lang="en-US" sz="1250" b="0" u="none" strike="noStrike">
                  <a:solidFill>
                    <a:srgbClr val="A76813"/>
                  </a:solidFill>
                  <a:effectLst/>
                  <a:uFillTx/>
                  <a:latin typeface="Arial"/>
                  <a:ea typeface="Microsoft YaHei"/>
                </a:rPr>
                <a:t>needs / review</a:t>
              </a:r>
              <a:endParaRPr lang="en-US" sz="1250" b="0" u="none" strike="noStrike">
                <a:solidFill>
                  <a:srgbClr val="000000"/>
                </a:solidFill>
                <a:effectLst/>
                <a:uFillTx/>
                <a:latin typeface="Arial"/>
              </a:endParaRPr>
            </a:p>
          </p:txBody>
        </p:sp>
        <p:sp>
          <p:nvSpPr>
            <p:cNvPr id="227" name="Line 8"/>
            <p:cNvSpPr/>
            <p:nvPr/>
          </p:nvSpPr>
          <p:spPr>
            <a:xfrm>
              <a:off x="2190600" y="2895480"/>
              <a:ext cx="1857240" cy="360"/>
            </a:xfrm>
            <a:prstGeom prst="line">
              <a:avLst/>
            </a:prstGeom>
            <a:ln w="19050">
              <a:solidFill>
                <a:srgbClr val="069B8A"/>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228" name="TextBox 9"/>
            <p:cNvSpPr/>
            <p:nvPr/>
          </p:nvSpPr>
          <p:spPr>
            <a:xfrm>
              <a:off x="2326680" y="2444760"/>
              <a:ext cx="1651680" cy="2628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50" b="0" u="none" strike="noStrike">
                  <a:solidFill>
                    <a:srgbClr val="66758A"/>
                  </a:solidFill>
                  <a:effectLst/>
                  <a:uFillTx/>
                  <a:latin typeface="Arial"/>
                  <a:ea typeface="Microsoft YaHei"/>
                </a:rPr>
                <a:t>Scope and protections</a:t>
              </a:r>
              <a:endParaRPr lang="en-US" sz="1250" b="0" u="none" strike="noStrike">
                <a:solidFill>
                  <a:srgbClr val="000000"/>
                </a:solidFill>
                <a:effectLst/>
                <a:uFillTx/>
                <a:latin typeface="Arial"/>
              </a:endParaRPr>
            </a:p>
          </p:txBody>
        </p:sp>
        <p:sp>
          <p:nvSpPr>
            <p:cNvPr id="229" name="Freeform 10"/>
            <p:cNvSpPr/>
            <p:nvPr/>
          </p:nvSpPr>
          <p:spPr>
            <a:xfrm>
              <a:off x="4200480" y="2305080"/>
              <a:ext cx="3275640" cy="1141920"/>
            </a:xfrm>
            <a:prstGeom prst="hexagon">
              <a:avLst>
                <a:gd name="adj" fmla="val 25000"/>
                <a:gd name="vf" fmla="val 115470"/>
              </a:avLst>
            </a:prstGeom>
            <a:solidFill>
              <a:schemeClr val="accent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230" name="TextBox 11"/>
            <p:cNvSpPr/>
            <p:nvPr/>
          </p:nvSpPr>
          <p:spPr>
            <a:xfrm>
              <a:off x="4972320" y="2479680"/>
              <a:ext cx="1731960" cy="468360"/>
            </a:xfrm>
            <a:prstGeom prst="rect">
              <a:avLst/>
            </a:prstGeom>
            <a:noFill/>
            <a:ln w="0">
              <a:noFill/>
            </a:ln>
          </p:spPr>
          <p:style>
            <a:lnRef idx="0"/>
            <a:fillRef idx="0"/>
            <a:effectRef idx="0"/>
            <a:fontRef idx="minor"/>
          </p:style>
          <p:txBody>
            <a:bodyPr wrap="none" lIns="0" tIns="0" rIns="0" bIns="0" anchor="t">
              <a:spAutoFit/>
            </a:bodyPr>
            <a:p>
              <a:pPr algn="ctr" defTabSz="457200">
                <a:lnSpc>
                  <a:spcPct val="100000"/>
                </a:lnSpc>
              </a:pPr>
              <a:r>
                <a:rPr lang="en-US" sz="2400" b="1" u="none" strike="noStrike">
                  <a:solidFill>
                    <a:srgbClr val="FFFFFF"/>
                  </a:solidFill>
                  <a:effectLst/>
                  <a:uFillTx/>
                  <a:latin typeface="Arial"/>
                  <a:ea typeface="Microsoft YaHei"/>
                </a:rPr>
                <a:t>AI executor</a:t>
              </a:r>
              <a:endParaRPr lang="en-US" sz="2400" b="0" u="none" strike="noStrike">
                <a:solidFill>
                  <a:srgbClr val="000000"/>
                </a:solidFill>
                <a:effectLst/>
                <a:uFillTx/>
                <a:latin typeface="Arial"/>
              </a:endParaRPr>
            </a:p>
          </p:txBody>
        </p:sp>
        <p:sp>
          <p:nvSpPr>
            <p:cNvPr id="231" name="TextBox 12"/>
            <p:cNvSpPr/>
            <p:nvPr/>
          </p:nvSpPr>
          <p:spPr>
            <a:xfrm>
              <a:off x="4386600" y="2930400"/>
              <a:ext cx="2903400" cy="321480"/>
            </a:xfrm>
            <a:prstGeom prst="rect">
              <a:avLst/>
            </a:prstGeom>
            <a:noFill/>
            <a:ln w="0">
              <a:noFill/>
            </a:ln>
          </p:spPr>
          <p:style>
            <a:lnRef idx="0"/>
            <a:fillRef idx="0"/>
            <a:effectRef idx="0"/>
            <a:fontRef idx="minor"/>
          </p:style>
          <p:txBody>
            <a:bodyPr wrap="none" lIns="0" tIns="0" rIns="0" bIns="0" anchor="t">
              <a:spAutoFit/>
            </a:bodyPr>
            <a:p>
              <a:pPr algn="ctr" defTabSz="457200">
                <a:lnSpc>
                  <a:spcPct val="100000"/>
                </a:lnSpc>
              </a:pPr>
              <a:r>
                <a:rPr lang="en-US" sz="1550" b="0" u="none" strike="noStrike">
                  <a:solidFill>
                    <a:srgbClr val="FFFFFF"/>
                  </a:solidFill>
                  <a:effectLst/>
                  <a:uFillTx/>
                  <a:latin typeface="Arial"/>
                  <a:ea typeface="Microsoft YaHei"/>
                </a:rPr>
                <a:t>Plan tasks, pick tools, check</a:t>
              </a:r>
              <a:endParaRPr lang="en-US" sz="1550" b="0" u="none" strike="noStrike">
                <a:solidFill>
                  <a:srgbClr val="000000"/>
                </a:solidFill>
                <a:effectLst/>
                <a:uFillTx/>
                <a:latin typeface="Arial"/>
              </a:endParaRPr>
            </a:p>
          </p:txBody>
        </p:sp>
        <p:sp>
          <p:nvSpPr>
            <p:cNvPr id="232" name="TextBox 13"/>
            <p:cNvSpPr/>
            <p:nvPr/>
          </p:nvSpPr>
          <p:spPr>
            <a:xfrm>
              <a:off x="4325400" y="1825560"/>
              <a:ext cx="3146760" cy="3214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0" u="none" strike="noStrike">
                  <a:solidFill>
                    <a:schemeClr val="accent2"/>
                  </a:solidFill>
                  <a:effectLst/>
                  <a:uFillTx/>
                  <a:latin typeface="Arial"/>
                  <a:ea typeface="Microsoft YaHei"/>
                </a:rPr>
                <a:t>Knowledge, confirmed project state</a:t>
              </a:r>
              <a:endParaRPr lang="en-US" sz="1550" b="0" u="none" strike="noStrike">
                <a:solidFill>
                  <a:srgbClr val="000000"/>
                </a:solidFill>
                <a:effectLst/>
                <a:uFillTx/>
                <a:latin typeface="Arial"/>
              </a:endParaRPr>
            </a:p>
          </p:txBody>
        </p:sp>
        <p:sp>
          <p:nvSpPr>
            <p:cNvPr id="233" name="TextBox 14"/>
            <p:cNvSpPr/>
            <p:nvPr/>
          </p:nvSpPr>
          <p:spPr>
            <a:xfrm>
              <a:off x="4325400" y="3797280"/>
              <a:ext cx="2681280" cy="3214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0" u="none" strike="noStrike">
                  <a:solidFill>
                    <a:srgbClr val="66758A"/>
                  </a:solidFill>
                  <a:effectLst/>
                  <a:uFillTx/>
                  <a:latin typeface="Arial"/>
                  <a:ea typeface="Microsoft YaHei"/>
                </a:rPr>
                <a:t>Restore a failed tool link first</a:t>
              </a:r>
              <a:endParaRPr lang="en-US" sz="1550" b="0" u="none" strike="noStrike">
                <a:solidFill>
                  <a:srgbClr val="000000"/>
                </a:solidFill>
                <a:effectLst/>
                <a:uFillTx/>
                <a:latin typeface="Arial"/>
              </a:endParaRPr>
            </a:p>
          </p:txBody>
        </p:sp>
      </p:grpSp>
      <p:grpSp>
        <p:nvGrpSpPr>
          <p:cNvPr id="234" name="tool-boundaries"/>
          <p:cNvGrpSpPr/>
          <p:nvPr/>
        </p:nvGrpSpPr>
        <p:grpSpPr>
          <a:xfrm>
            <a:off x="7858080" y="1762200"/>
            <a:ext cx="3837600" cy="2694600"/>
            <a:chOff x="7858080" y="1762200"/>
            <a:chExt cx="3837600" cy="2694600"/>
          </a:xfrm>
        </p:grpSpPr>
        <p:sp>
          <p:nvSpPr>
            <p:cNvPr id="235" name="Rectangle 16"/>
            <p:cNvSpPr/>
            <p:nvPr/>
          </p:nvSpPr>
          <p:spPr>
            <a:xfrm>
              <a:off x="7858080" y="1762200"/>
              <a:ext cx="3837600" cy="2694600"/>
            </a:xfrm>
            <a:prstGeom prst="roundRect">
              <a:avLst>
                <a:gd name="adj" fmla="val 3534"/>
              </a:avLst>
            </a:prstGeom>
            <a:solidFill>
              <a:srgbClr val="E8F6F2"/>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36" name="TextBox 17"/>
            <p:cNvSpPr/>
            <p:nvPr/>
          </p:nvSpPr>
          <p:spPr>
            <a:xfrm>
              <a:off x="8086320" y="1892160"/>
              <a:ext cx="2874960" cy="3801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800" b="1" u="none" strike="noStrike">
                  <a:solidFill>
                    <a:srgbClr val="069B8A"/>
                  </a:solidFill>
                  <a:effectLst/>
                  <a:uFillTx/>
                  <a:latin typeface="Arial"/>
                  <a:ea typeface="Microsoft YaHei"/>
                </a:rPr>
                <a:t>Tool interfaces and scope</a:t>
              </a:r>
              <a:endParaRPr lang="en-US" sz="1800" b="0" u="none" strike="noStrike">
                <a:solidFill>
                  <a:srgbClr val="000000"/>
                </a:solidFill>
                <a:effectLst/>
                <a:uFillTx/>
                <a:latin typeface="Arial"/>
              </a:endParaRPr>
            </a:p>
          </p:txBody>
        </p:sp>
        <p:sp>
          <p:nvSpPr>
            <p:cNvPr id="237" name="TextBox 18"/>
            <p:cNvSpPr/>
            <p:nvPr/>
          </p:nvSpPr>
          <p:spPr>
            <a:xfrm>
              <a:off x="8087760" y="2349360"/>
              <a:ext cx="3125520" cy="3214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0" u="none" strike="noStrike">
                  <a:solidFill>
                    <a:schemeClr val="accent1"/>
                  </a:solidFill>
                  <a:effectLst/>
                  <a:uFillTx/>
                  <a:latin typeface="Arial"/>
                  <a:ea typeface="Microsoft YaHei"/>
                </a:rPr>
                <a:t>Headless: docs, scripts, export</a:t>
              </a:r>
              <a:endParaRPr lang="en-US" sz="1550" b="0" u="none" strike="noStrike">
                <a:solidFill>
                  <a:srgbClr val="000000"/>
                </a:solidFill>
                <a:effectLst/>
                <a:uFillTx/>
                <a:latin typeface="Arial"/>
              </a:endParaRPr>
            </a:p>
          </p:txBody>
        </p:sp>
        <p:sp>
          <p:nvSpPr>
            <p:cNvPr id="238" name="TextBox 19"/>
            <p:cNvSpPr/>
            <p:nvPr/>
          </p:nvSpPr>
          <p:spPr>
            <a:xfrm>
              <a:off x="8089560" y="2701800"/>
              <a:ext cx="3521880" cy="2628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50" b="0" u="none" strike="noStrike">
                  <a:solidFill>
                    <a:srgbClr val="66758A"/>
                  </a:solidFill>
                  <a:effectLst/>
                  <a:uFillTx/>
                  <a:latin typeface="Arial"/>
                  <a:ea typeface="Microsoft YaHei"/>
                </a:rPr>
                <a:t>Static script check, isolated process, result check</a:t>
              </a:r>
              <a:endParaRPr lang="en-US" sz="1250" b="0" u="none" strike="noStrike">
                <a:solidFill>
                  <a:srgbClr val="000000"/>
                </a:solidFill>
                <a:effectLst/>
                <a:uFillTx/>
                <a:latin typeface="Arial"/>
              </a:endParaRPr>
            </a:p>
          </p:txBody>
        </p:sp>
        <p:sp>
          <p:nvSpPr>
            <p:cNvPr id="239" name="Line 20"/>
            <p:cNvSpPr/>
            <p:nvPr/>
          </p:nvSpPr>
          <p:spPr>
            <a:xfrm>
              <a:off x="8096400" y="3105000"/>
              <a:ext cx="3361320" cy="8280"/>
            </a:xfrm>
            <a:custGeom>
              <a:avLst/>
              <a:gdLst>
                <a:gd name="textAreaLeft" fmla="*/ 0 w 3361320"/>
                <a:gd name="textAreaRight" fmla="*/ 3362400 w 3361320"/>
                <a:gd name="textAreaTop" fmla="*/ 0 h 8280"/>
                <a:gd name="textAreaBottom" fmla="*/ 9360 h 8280"/>
              </a:gdLst>
              <a:ahLst/>
              <a:cxnLst/>
              <a:rect l="textAreaLeft" t="textAreaTop" r="textAreaRight" b="textAreaBottom"/>
              <a:pathLst>
                <a:path w="3362325" h="9525">
                  <a:moveTo>
                    <a:pt x="0" y="0"/>
                  </a:moveTo>
                  <a:lnTo>
                    <a:pt x="3362325" y="0"/>
                  </a:lnTo>
                </a:path>
              </a:pathLst>
            </a:custGeom>
            <a:noFill/>
            <a:ln w="9525">
              <a:solidFill>
                <a:srgbClr val="B9DCD3"/>
              </a:solidFill>
              <a:round/>
            </a:ln>
          </p:spPr>
          <p:style>
            <a:lnRef idx="0"/>
            <a:fillRef idx="0"/>
            <a:effectRef idx="0"/>
            <a:fontRef idx="minor"/>
          </p:style>
          <p:txBody>
            <a:bodyPr lIns="90000" tIns="-35640" rIns="90000" bIns="-35640" anchor="t">
              <a:noAutofit/>
            </a:bodyPr>
            <a:p>
              <a:pPr/>
              <a:endParaRPr lang="en-US" sz="1800" b="0" u="none" strike="noStrike">
                <a:solidFill>
                  <a:srgbClr val="000000"/>
                </a:solidFill>
                <a:effectLst/>
                <a:uFillTx/>
                <a:latin typeface="Arial"/>
              </a:endParaRPr>
            </a:p>
          </p:txBody>
        </p:sp>
        <p:sp>
          <p:nvSpPr>
            <p:cNvPr id="240" name="TextBox 21"/>
            <p:cNvSpPr/>
            <p:nvPr/>
          </p:nvSpPr>
          <p:spPr>
            <a:xfrm>
              <a:off x="8087760" y="3273480"/>
              <a:ext cx="3201120" cy="3214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0" u="none" strike="noStrike">
                  <a:solidFill>
                    <a:schemeClr val="accent1"/>
                  </a:solidFill>
                  <a:effectLst/>
                  <a:uFillTx/>
                  <a:latin typeface="Arial"/>
                  <a:ea typeface="Microsoft YaHei"/>
                </a:rPr>
                <a:t>CAD GUI bridge: read / limited edits</a:t>
              </a:r>
              <a:endParaRPr lang="en-US" sz="1550" b="0" u="none" strike="noStrike">
                <a:solidFill>
                  <a:srgbClr val="000000"/>
                </a:solidFill>
                <a:effectLst/>
                <a:uFillTx/>
                <a:latin typeface="Arial"/>
              </a:endParaRPr>
            </a:p>
          </p:txBody>
        </p:sp>
        <p:sp>
          <p:nvSpPr>
            <p:cNvPr id="241" name="TextBox 22"/>
            <p:cNvSpPr/>
            <p:nvPr/>
          </p:nvSpPr>
          <p:spPr>
            <a:xfrm>
              <a:off x="8089560" y="3625920"/>
              <a:ext cx="3389760" cy="2628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50" b="0" u="none" strike="noStrike">
                  <a:solidFill>
                    <a:srgbClr val="66758A"/>
                  </a:solidFill>
                  <a:effectLst/>
                  <a:uFillTx/>
                  <a:latin typeface="Arial"/>
                  <a:ea typeface="Microsoft YaHei"/>
                </a:rPr>
                <a:t>GUI prototype supports verified operations only</a:t>
              </a:r>
              <a:endParaRPr lang="en-US" sz="1250" b="0" u="none" strike="noStrike">
                <a:solidFill>
                  <a:srgbClr val="000000"/>
                </a:solidFill>
                <a:effectLst/>
                <a:uFillTx/>
                <a:latin typeface="Arial"/>
              </a:endParaRPr>
            </a:p>
          </p:txBody>
        </p:sp>
        <p:sp>
          <p:nvSpPr>
            <p:cNvPr id="242" name="TextBox 23"/>
            <p:cNvSpPr/>
            <p:nvPr/>
          </p:nvSpPr>
          <p:spPr>
            <a:xfrm>
              <a:off x="8089560" y="3997440"/>
              <a:ext cx="2931120" cy="2628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50" b="0" u="none" strike="noStrike">
                  <a:solidFill>
                    <a:srgbClr val="66758A"/>
                  </a:solidFill>
                  <a:effectLst/>
                  <a:uFillTx/>
                  <a:latin typeface="Arial"/>
                  <a:ea typeface="Microsoft YaHei"/>
                </a:rPr>
                <a:t>Real window and document still checked</a:t>
              </a:r>
              <a:endParaRPr lang="en-US" sz="1250" b="0" u="none" strike="noStrike">
                <a:solidFill>
                  <a:srgbClr val="000000"/>
                </a:solidFill>
                <a:effectLst/>
                <a:uFillTx/>
                <a:latin typeface="Arial"/>
              </a:endParaRPr>
            </a:p>
          </p:txBody>
        </p:sp>
      </p:grpSp>
      <p:grpSp>
        <p:nvGrpSpPr>
          <p:cNvPr id="243" name="verification-feedback"/>
          <p:cNvGrpSpPr/>
          <p:nvPr/>
        </p:nvGrpSpPr>
        <p:grpSpPr>
          <a:xfrm>
            <a:off x="495360" y="2904840"/>
            <a:ext cx="11200320" cy="3133080"/>
            <a:chOff x="495360" y="2904840"/>
            <a:chExt cx="11200320" cy="3133080"/>
          </a:xfrm>
        </p:grpSpPr>
        <p:sp>
          <p:nvSpPr>
            <p:cNvPr id="244" name="Line 25"/>
            <p:cNvSpPr/>
            <p:nvPr/>
          </p:nvSpPr>
          <p:spPr>
            <a:xfrm>
              <a:off x="7515000" y="2904840"/>
              <a:ext cx="219240" cy="360"/>
            </a:xfrm>
            <a:prstGeom prst="line">
              <a:avLst/>
            </a:prstGeom>
            <a:ln w="19050">
              <a:solidFill>
                <a:srgbClr val="069B8A"/>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245" name="Rectangle 26"/>
            <p:cNvSpPr/>
            <p:nvPr/>
          </p:nvSpPr>
          <p:spPr>
            <a:xfrm>
              <a:off x="495360" y="4791240"/>
              <a:ext cx="11200320" cy="1246680"/>
            </a:xfrm>
            <a:prstGeom prst="roundRect">
              <a:avLst>
                <a:gd name="adj" fmla="val 6870"/>
              </a:avLst>
            </a:prstGeom>
            <a:solidFill>
              <a:schemeClr val="accent5"/>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46" name="TextBox 27"/>
            <p:cNvSpPr/>
            <p:nvPr/>
          </p:nvSpPr>
          <p:spPr>
            <a:xfrm>
              <a:off x="723600" y="4902120"/>
              <a:ext cx="2066400" cy="3801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800" b="1" u="none" strike="noStrike">
                  <a:solidFill>
                    <a:schemeClr val="accent1"/>
                  </a:solidFill>
                  <a:effectLst/>
                  <a:uFillTx/>
                  <a:latin typeface="Arial"/>
                  <a:ea typeface="Microsoft YaHei"/>
                </a:rPr>
                <a:t>Result review flow</a:t>
              </a:r>
              <a:endParaRPr lang="en-US" sz="1800" b="0" u="none" strike="noStrike">
                <a:solidFill>
                  <a:srgbClr val="000000"/>
                </a:solidFill>
                <a:effectLst/>
                <a:uFillTx/>
                <a:latin typeface="Arial"/>
              </a:endParaRPr>
            </a:p>
          </p:txBody>
        </p:sp>
        <p:sp>
          <p:nvSpPr>
            <p:cNvPr id="247" name="TextBox 28"/>
            <p:cNvSpPr/>
            <p:nvPr/>
          </p:nvSpPr>
          <p:spPr>
            <a:xfrm>
              <a:off x="2868120" y="4940280"/>
              <a:ext cx="904320" cy="3214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0" u="none" strike="noStrike">
                  <a:solidFill>
                    <a:srgbClr val="069B8A"/>
                  </a:solidFill>
                  <a:effectLst/>
                  <a:uFillTx/>
                  <a:latin typeface="Arial"/>
                  <a:ea typeface="Microsoft YaHei"/>
                </a:rPr>
                <a:t>Save file</a:t>
              </a:r>
              <a:endParaRPr lang="en-US" sz="1550" b="0" u="none" strike="noStrike">
                <a:solidFill>
                  <a:srgbClr val="000000"/>
                </a:solidFill>
                <a:effectLst/>
                <a:uFillTx/>
                <a:latin typeface="Arial"/>
              </a:endParaRPr>
            </a:p>
          </p:txBody>
        </p:sp>
        <p:sp>
          <p:nvSpPr>
            <p:cNvPr id="248" name="Line 29"/>
            <p:cNvSpPr/>
            <p:nvPr/>
          </p:nvSpPr>
          <p:spPr>
            <a:xfrm>
              <a:off x="3971880" y="5076720"/>
              <a:ext cx="514080" cy="360"/>
            </a:xfrm>
            <a:prstGeom prst="line">
              <a:avLst/>
            </a:prstGeom>
            <a:ln w="19050">
              <a:solidFill>
                <a:srgbClr val="069B8A"/>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249" name="TextBox 30"/>
            <p:cNvSpPr/>
            <p:nvPr/>
          </p:nvSpPr>
          <p:spPr>
            <a:xfrm>
              <a:off x="4658760" y="4940280"/>
              <a:ext cx="904320" cy="3214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0" u="none" strike="noStrike">
                  <a:solidFill>
                    <a:srgbClr val="069B8A"/>
                  </a:solidFill>
                  <a:effectLst/>
                  <a:uFillTx/>
                  <a:latin typeface="Arial"/>
                  <a:ea typeface="Microsoft YaHei"/>
                </a:rPr>
                <a:t>Reopen</a:t>
              </a:r>
              <a:endParaRPr lang="en-US" sz="1550" b="0" u="none" strike="noStrike">
                <a:solidFill>
                  <a:srgbClr val="000000"/>
                </a:solidFill>
                <a:effectLst/>
                <a:uFillTx/>
                <a:latin typeface="Arial"/>
              </a:endParaRPr>
            </a:p>
          </p:txBody>
        </p:sp>
        <p:sp>
          <p:nvSpPr>
            <p:cNvPr id="250" name="Line 31"/>
            <p:cNvSpPr/>
            <p:nvPr/>
          </p:nvSpPr>
          <p:spPr>
            <a:xfrm>
              <a:off x="5762520" y="5076720"/>
              <a:ext cx="514440" cy="360"/>
            </a:xfrm>
            <a:prstGeom prst="line">
              <a:avLst/>
            </a:prstGeom>
            <a:ln w="19050">
              <a:solidFill>
                <a:srgbClr val="069B8A"/>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251" name="TextBox 32"/>
            <p:cNvSpPr/>
            <p:nvPr/>
          </p:nvSpPr>
          <p:spPr>
            <a:xfrm>
              <a:off x="6449400" y="4940280"/>
              <a:ext cx="1210320" cy="3214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0" u="none" strike="noStrike">
                  <a:solidFill>
                    <a:srgbClr val="069B8A"/>
                  </a:solidFill>
                  <a:effectLst/>
                  <a:uFillTx/>
                  <a:latin typeface="Arial"/>
                  <a:ea typeface="Microsoft YaHei"/>
                </a:rPr>
                <a:t>Shape check</a:t>
              </a:r>
              <a:endParaRPr lang="en-US" sz="1550" b="0" u="none" strike="noStrike">
                <a:solidFill>
                  <a:srgbClr val="000000"/>
                </a:solidFill>
                <a:effectLst/>
                <a:uFillTx/>
                <a:latin typeface="Arial"/>
              </a:endParaRPr>
            </a:p>
          </p:txBody>
        </p:sp>
        <p:sp>
          <p:nvSpPr>
            <p:cNvPr id="252" name="Line 33"/>
            <p:cNvSpPr/>
            <p:nvPr/>
          </p:nvSpPr>
          <p:spPr>
            <a:xfrm>
              <a:off x="7743600" y="5076720"/>
              <a:ext cx="514440" cy="360"/>
            </a:xfrm>
            <a:prstGeom prst="line">
              <a:avLst/>
            </a:prstGeom>
            <a:ln w="19050">
              <a:solidFill>
                <a:srgbClr val="069B8A"/>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253" name="TextBox 34"/>
            <p:cNvSpPr/>
            <p:nvPr/>
          </p:nvSpPr>
          <p:spPr>
            <a:xfrm>
              <a:off x="8430840" y="4940280"/>
              <a:ext cx="2698200" cy="3214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0" u="none" strike="noStrike">
                  <a:solidFill>
                    <a:srgbClr val="A76813"/>
                  </a:solidFill>
                  <a:effectLst/>
                  <a:uFillTx/>
                  <a:latin typeface="Arial"/>
                  <a:ea typeface="Microsoft YaHei"/>
                </a:rPr>
                <a:t>A/B receipt and human review</a:t>
              </a:r>
              <a:endParaRPr lang="en-US" sz="1550" b="0" u="none" strike="noStrike">
                <a:solidFill>
                  <a:srgbClr val="000000"/>
                </a:solidFill>
                <a:effectLst/>
                <a:uFillTx/>
                <a:latin typeface="Arial"/>
              </a:endParaRPr>
            </a:p>
          </p:txBody>
        </p:sp>
        <p:sp>
          <p:nvSpPr>
            <p:cNvPr id="254" name="TextBox 35"/>
            <p:cNvSpPr/>
            <p:nvPr/>
          </p:nvSpPr>
          <p:spPr>
            <a:xfrm>
              <a:off x="725040" y="5445000"/>
              <a:ext cx="9172080" cy="3214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0" u="none" strike="noStrike">
                  <a:solidFill>
                    <a:srgbClr val="66758A"/>
                  </a:solidFill>
                  <a:effectLst/>
                  <a:uFillTx/>
                  <a:latin typeface="Arial"/>
                  <a:ea typeface="Microsoft YaHei"/>
                </a:rPr>
                <a:t>Failed checks return to execution. Major trade-offs return to design review. People accept the final result.</a:t>
              </a:r>
              <a:endParaRPr lang="en-US" sz="1550" b="0" u="none" strike="noStrike">
                <a:solidFill>
                  <a:srgbClr val="000000"/>
                </a:solidFill>
                <a:effectLst/>
                <a:uFillTx/>
                <a:latin typeface="Arial"/>
              </a:endParaRPr>
            </a:p>
          </p:txBody>
        </p:sp>
        <p:sp>
          <p:nvSpPr>
            <p:cNvPr id="255" name="Line 36"/>
            <p:cNvSpPr/>
            <p:nvPr/>
          </p:nvSpPr>
          <p:spPr>
            <a:xfrm>
              <a:off x="5838840" y="4619520"/>
              <a:ext cx="5304240" cy="8280"/>
            </a:xfrm>
            <a:custGeom>
              <a:avLst/>
              <a:gdLst>
                <a:gd name="textAreaLeft" fmla="*/ 0 w 5304240"/>
                <a:gd name="textAreaRight" fmla="*/ 5305320 w 5304240"/>
                <a:gd name="textAreaTop" fmla="*/ 0 h 8280"/>
                <a:gd name="textAreaBottom" fmla="*/ 9360 h 8280"/>
              </a:gdLst>
              <a:ahLst/>
              <a:cxnLst/>
              <a:rect l="textAreaLeft" t="textAreaTop" r="textAreaRight" b="textAreaBottom"/>
              <a:pathLst>
                <a:path w="5305425" h="9525">
                  <a:moveTo>
                    <a:pt x="5305425" y="0"/>
                  </a:moveTo>
                  <a:lnTo>
                    <a:pt x="0" y="0"/>
                  </a:lnTo>
                </a:path>
              </a:pathLst>
            </a:custGeom>
            <a:noFill/>
            <a:ln w="19050">
              <a:solidFill>
                <a:srgbClr val="D98D2B"/>
              </a:solidFill>
              <a:prstDash val="dash"/>
              <a:round/>
            </a:ln>
          </p:spPr>
          <p:style>
            <a:lnRef idx="0"/>
            <a:fillRef idx="0"/>
            <a:effectRef idx="0"/>
            <a:fontRef idx="minor"/>
          </p:style>
          <p:txBody>
            <a:bodyPr lIns="90000" tIns="-35640" rIns="90000" bIns="-35640" anchor="t">
              <a:noAutofit/>
            </a:bodyPr>
            <a:p>
              <a:pPr/>
              <a:endParaRPr lang="en-US" sz="1800" b="0" u="none" strike="noStrike">
                <a:solidFill>
                  <a:srgbClr val="000000"/>
                </a:solidFill>
                <a:effectLst/>
                <a:uFillTx/>
                <a:latin typeface="Arial"/>
              </a:endParaRPr>
            </a:p>
          </p:txBody>
        </p:sp>
        <p:sp>
          <p:nvSpPr>
            <p:cNvPr id="256" name="Line 37"/>
            <p:cNvSpPr/>
            <p:nvPr/>
          </p:nvSpPr>
          <p:spPr>
            <a:xfrm flipV="1">
              <a:off x="5838480" y="4295520"/>
              <a:ext cx="360" cy="324000"/>
            </a:xfrm>
            <a:prstGeom prst="line">
              <a:avLst/>
            </a:prstGeom>
            <a:ln w="19050">
              <a:solidFill>
                <a:srgbClr val="D98D2B"/>
              </a:solidFill>
              <a:round/>
              <a:tailEnd len="lg" type="triangle" w="lg"/>
            </a:ln>
          </p:spPr>
          <p:style>
            <a:lnRef idx="0"/>
            <a:fillRef idx="0"/>
            <a:effectRef idx="0"/>
            <a:fontRef idx="minor"/>
          </p:style>
          <p:txBody>
            <a:bodyPr lIns="0" tIns="45000" rIns="0" bIns="45000" anchor="t" anchorCtr="1">
              <a:noAutofit/>
            </a:bodyPr>
            <a:p>
              <a:pPr/>
              <a:endParaRPr lang="en-US" sz="1800" b="0" u="none" strike="noStrike">
                <a:solidFill>
                  <a:srgbClr val="000000"/>
                </a:solidFill>
                <a:effectLst/>
                <a:uFillTx/>
                <a:latin typeface="Arial"/>
              </a:endParaRPr>
            </a:p>
          </p:txBody>
        </p:sp>
      </p:grpSp>
      <p:sp>
        <p:nvSpPr>
          <p:cNvPr id="257" name="footer-label"/>
          <p:cNvSpPr/>
          <p:nvPr/>
        </p:nvSpPr>
        <p:spPr>
          <a:xfrm>
            <a:off x="488520" y="6407280"/>
            <a:ext cx="6192720" cy="2628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50" b="0" u="none" strike="noStrike">
                <a:solidFill>
                  <a:srgbClr val="66758A"/>
                </a:solidFill>
                <a:effectLst/>
                <a:uFillTx/>
                <a:latin typeface="Arial"/>
                <a:ea typeface="Microsoft YaHei"/>
              </a:rPr>
              <a:t>Interfaces split work by verified capability. Actual files are checked after each operation.</a:t>
            </a:r>
            <a:endParaRPr lang="en-US" sz="12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258" name="header"/>
          <p:cNvGrpSpPr/>
          <p:nvPr/>
        </p:nvGrpSpPr>
        <p:grpSpPr>
          <a:xfrm>
            <a:off x="478440" y="422280"/>
            <a:ext cx="11209320" cy="972720"/>
            <a:chOff x="478440" y="422280"/>
            <a:chExt cx="11209320" cy="972720"/>
          </a:xfrm>
        </p:grpSpPr>
        <p:sp>
          <p:nvSpPr>
            <p:cNvPr id="259" name="TextBox 2"/>
            <p:cNvSpPr/>
            <p:nvPr/>
          </p:nvSpPr>
          <p:spPr>
            <a:xfrm>
              <a:off x="478440" y="422280"/>
              <a:ext cx="11200680" cy="64476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3300" b="1" u="none" strike="noStrike">
                  <a:solidFill>
                    <a:srgbClr val="13243A"/>
                  </a:solidFill>
                  <a:effectLst/>
                  <a:uFillTx/>
                  <a:latin typeface="Arial"/>
                  <a:ea typeface="Microsoft YaHei"/>
                </a:rPr>
                <a:t>Concept Image Inputs, Evidence, and Drawing Plan</a:t>
              </a:r>
              <a:endParaRPr lang="en-US" sz="3300" b="0" u="none" strike="noStrike">
                <a:solidFill>
                  <a:srgbClr val="000000"/>
                </a:solidFill>
                <a:effectLst/>
                <a:uFillTx/>
                <a:latin typeface="Arial"/>
              </a:endParaRPr>
            </a:p>
          </p:txBody>
        </p:sp>
        <p:sp>
          <p:nvSpPr>
            <p:cNvPr id="260" name="TextBox 3"/>
            <p:cNvSpPr/>
            <p:nvPr/>
          </p:nvSpPr>
          <p:spPr>
            <a:xfrm>
              <a:off x="487080" y="1073160"/>
              <a:ext cx="11200680" cy="32184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500" b="0" u="none" strike="noStrike">
                  <a:solidFill>
                    <a:srgbClr val="66758A"/>
                  </a:solidFill>
                  <a:effectLst/>
                  <a:uFillTx/>
                  <a:latin typeface="Arial"/>
                  <a:ea typeface="Microsoft YaHei"/>
                </a:rPr>
                <a:t>Using the Fin Wing direction as an example, this shows how user needs become an executable generation Prompt.</a:t>
              </a:r>
              <a:endParaRPr lang="en-US" sz="1500" b="0" u="none" strike="noStrike">
                <a:solidFill>
                  <a:srgbClr val="000000"/>
                </a:solidFill>
                <a:effectLst/>
                <a:uFillTx/>
                <a:latin typeface="Arial"/>
              </a:endParaRPr>
            </a:p>
          </p:txBody>
        </p:sp>
      </p:grpSp>
      <p:sp>
        <p:nvSpPr>
          <p:cNvPr id="261" name="footer-label"/>
          <p:cNvSpPr/>
          <p:nvPr/>
        </p:nvSpPr>
        <p:spPr>
          <a:xfrm>
            <a:off x="488520" y="6407280"/>
            <a:ext cx="10667160" cy="26316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350" b="0" u="none" strike="noStrike">
                <a:solidFill>
                  <a:srgbClr val="66758A"/>
                </a:solidFill>
                <a:effectLst/>
                <a:uFillTx/>
                <a:latin typeface="Arial"/>
                <a:ea typeface="Microsoft YaHei"/>
              </a:rPr>
              <a:t>Retrieval and Prompt are archived; data-to-parameter bindings were not saved, so the drawing plan is a review summary.</a:t>
            </a:r>
            <a:endParaRPr lang="en-US" sz="1350" b="0" u="none" strike="noStrike">
              <a:solidFill>
                <a:srgbClr val="000000"/>
              </a:solidFill>
              <a:effectLst/>
              <a:uFillTx/>
              <a:latin typeface="Arial"/>
            </a:endParaRPr>
          </a:p>
        </p:txBody>
      </p:sp>
      <p:grpSp>
        <p:nvGrpSpPr>
          <p:cNvPr id="262" name="example-input"/>
          <p:cNvGrpSpPr/>
          <p:nvPr/>
        </p:nvGrpSpPr>
        <p:grpSpPr>
          <a:xfrm>
            <a:off x="495360" y="1581120"/>
            <a:ext cx="11200680" cy="761400"/>
            <a:chOff x="495360" y="1581120"/>
            <a:chExt cx="11200680" cy="761400"/>
          </a:xfrm>
        </p:grpSpPr>
        <p:sp>
          <p:nvSpPr>
            <p:cNvPr id="263" name="Rectangle 7"/>
            <p:cNvSpPr/>
            <p:nvPr/>
          </p:nvSpPr>
          <p:spPr>
            <a:xfrm>
              <a:off x="495360" y="1581120"/>
              <a:ext cx="11200680" cy="761400"/>
            </a:xfrm>
            <a:prstGeom prst="roundRect">
              <a:avLst>
                <a:gd name="adj" fmla="val 10000"/>
              </a:avLst>
            </a:prstGeom>
            <a:solidFill>
              <a:srgbClr val="F7F8FC"/>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64" name="TextBox 8"/>
            <p:cNvSpPr/>
            <p:nvPr/>
          </p:nvSpPr>
          <p:spPr>
            <a:xfrm>
              <a:off x="658440" y="1673280"/>
              <a:ext cx="1188360" cy="32184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00" b="1" u="none" strike="noStrike">
                  <a:solidFill>
                    <a:srgbClr val="A76813"/>
                  </a:solidFill>
                  <a:effectLst/>
                  <a:uFillTx/>
                  <a:latin typeface="Arial"/>
                  <a:ea typeface="Microsoft YaHei"/>
                </a:rPr>
                <a:t>User input</a:t>
              </a:r>
              <a:endParaRPr lang="en-US" sz="1500" b="0" u="none" strike="noStrike">
                <a:solidFill>
                  <a:srgbClr val="000000"/>
                </a:solidFill>
                <a:effectLst/>
                <a:uFillTx/>
                <a:latin typeface="Arial"/>
              </a:endParaRPr>
            </a:p>
          </p:txBody>
        </p:sp>
        <p:sp>
          <p:nvSpPr>
            <p:cNvPr id="265" name="TextBox 9"/>
            <p:cNvSpPr/>
            <p:nvPr/>
          </p:nvSpPr>
          <p:spPr>
            <a:xfrm>
              <a:off x="1925280" y="1673280"/>
              <a:ext cx="9509400" cy="32184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00" b="0" u="none" strike="noStrike">
                  <a:solidFill>
                    <a:srgbClr val="24364C"/>
                  </a:solidFill>
                  <a:effectLst/>
                  <a:uFillTx/>
                  <a:latin typeface="Arial"/>
                  <a:ea typeface="Microsoft YaHei"/>
                </a:rPr>
                <a:t>In-ear, comfortable, biomimetic, moderate size; stable in sport, stays on in sleep, youthful colors.</a:t>
              </a:r>
              <a:endParaRPr lang="en-US" sz="1500" b="0" u="none" strike="noStrike">
                <a:solidFill>
                  <a:srgbClr val="000000"/>
                </a:solidFill>
                <a:effectLst/>
                <a:uFillTx/>
                <a:latin typeface="Arial"/>
              </a:endParaRPr>
            </a:p>
          </p:txBody>
        </p:sp>
        <p:sp>
          <p:nvSpPr>
            <p:cNvPr id="266" name="TextBox 10"/>
            <p:cNvSpPr/>
            <p:nvPr/>
          </p:nvSpPr>
          <p:spPr>
            <a:xfrm>
              <a:off x="1926720" y="2006640"/>
              <a:ext cx="9509400" cy="2631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50" b="0" u="none" strike="noStrike">
                  <a:solidFill>
                    <a:srgbClr val="66758A"/>
                  </a:solidFill>
                  <a:effectLst/>
                  <a:uFillTx/>
                  <a:latin typeface="Arial"/>
                  <a:ea typeface="Microsoft YaHei"/>
                </a:rPr>
                <a:t>Split into product form, use scenarios, and look preferences; comfort and stability remain goals to verify.</a:t>
              </a:r>
              <a:endParaRPr lang="en-US" sz="1350" b="0" u="none" strike="noStrike">
                <a:solidFill>
                  <a:srgbClr val="000000"/>
                </a:solidFill>
                <a:effectLst/>
                <a:uFillTx/>
                <a:latin typeface="Arial"/>
              </a:endParaRPr>
            </a:p>
          </p:txBody>
        </p:sp>
      </p:grpSp>
      <p:grpSp>
        <p:nvGrpSpPr>
          <p:cNvPr id="267" name="rag-evidence"/>
          <p:cNvGrpSpPr/>
          <p:nvPr/>
        </p:nvGrpSpPr>
        <p:grpSpPr>
          <a:xfrm>
            <a:off x="637920" y="2540160"/>
            <a:ext cx="3248640" cy="2120400"/>
            <a:chOff x="637920" y="2540160"/>
            <a:chExt cx="3248640" cy="2120400"/>
          </a:xfrm>
        </p:grpSpPr>
        <p:sp>
          <p:nvSpPr>
            <p:cNvPr id="268" name="TextBox 12"/>
            <p:cNvSpPr/>
            <p:nvPr/>
          </p:nvSpPr>
          <p:spPr>
            <a:xfrm>
              <a:off x="637920" y="2540160"/>
              <a:ext cx="3245760" cy="380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1" u="none" strike="noStrike">
                  <a:solidFill>
                    <a:srgbClr val="3662EA"/>
                  </a:solidFill>
                  <a:effectLst/>
                  <a:uFillTx/>
                  <a:latin typeface="Arial"/>
                  <a:ea typeface="Microsoft YaHei"/>
                </a:rPr>
                <a:t>1 RAG evidence</a:t>
              </a:r>
              <a:endParaRPr lang="en-US" sz="1950" b="0" u="none" strike="noStrike">
                <a:solidFill>
                  <a:srgbClr val="000000"/>
                </a:solidFill>
                <a:effectLst/>
                <a:uFillTx/>
                <a:latin typeface="Arial"/>
              </a:endParaRPr>
            </a:p>
          </p:txBody>
        </p:sp>
        <p:sp>
          <p:nvSpPr>
            <p:cNvPr id="269" name="TextBox 13"/>
            <p:cNvSpPr/>
            <p:nvPr/>
          </p:nvSpPr>
          <p:spPr>
            <a:xfrm>
              <a:off x="640800" y="2882880"/>
              <a:ext cx="3245760" cy="2631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50" b="0" u="none" strike="noStrike">
                  <a:solidFill>
                    <a:srgbClr val="66758A"/>
                  </a:solidFill>
                  <a:effectLst/>
                  <a:uFillTx/>
                  <a:latin typeface="Arial"/>
                  <a:ea typeface="Microsoft YaHei"/>
                </a:rPr>
                <a:t>Real keyword search returned 4 cases</a:t>
              </a:r>
              <a:endParaRPr lang="en-US" sz="1350" b="0" u="none" strike="noStrike">
                <a:solidFill>
                  <a:srgbClr val="000000"/>
                </a:solidFill>
                <a:effectLst/>
                <a:uFillTx/>
                <a:latin typeface="Arial"/>
              </a:endParaRPr>
            </a:p>
          </p:txBody>
        </p:sp>
        <p:sp>
          <p:nvSpPr>
            <p:cNvPr id="270" name="TextBox 14"/>
            <p:cNvSpPr/>
            <p:nvPr/>
          </p:nvSpPr>
          <p:spPr>
            <a:xfrm>
              <a:off x="640080" y="3165480"/>
              <a:ext cx="3245760" cy="2926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50" b="0" u="none" strike="noStrike">
                  <a:solidFill>
                    <a:srgbClr val="24364C"/>
                  </a:solidFill>
                  <a:effectLst/>
                  <a:uFillTx/>
                  <a:latin typeface="Arial"/>
                  <a:ea typeface="Microsoft YaHei"/>
                </a:rPr>
                <a:t>In-ear, comfort, low profile, soft hold</a:t>
              </a:r>
              <a:endParaRPr lang="en-US" sz="1350" b="0" u="none" strike="noStrike">
                <a:solidFill>
                  <a:srgbClr val="000000"/>
                </a:solidFill>
                <a:effectLst/>
                <a:uFillTx/>
                <a:latin typeface="Arial"/>
              </a:endParaRPr>
            </a:p>
          </p:txBody>
        </p:sp>
        <p:sp>
          <p:nvSpPr>
            <p:cNvPr id="271" name="TextBox 15"/>
            <p:cNvSpPr/>
            <p:nvPr/>
          </p:nvSpPr>
          <p:spPr>
            <a:xfrm>
              <a:off x="639360" y="3502080"/>
              <a:ext cx="3245760" cy="32184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00" b="1" u="none" strike="noStrike">
                  <a:solidFill>
                    <a:srgbClr val="13243A"/>
                  </a:solidFill>
                  <a:effectLst/>
                  <a:uFillTx/>
                  <a:latin typeface="Arial"/>
                  <a:ea typeface="Microsoft YaHei"/>
                </a:rPr>
                <a:t>Huawei ear-clip: hard/soft split</a:t>
              </a:r>
              <a:endParaRPr lang="en-US" sz="1500" b="0" u="none" strike="noStrike">
                <a:solidFill>
                  <a:srgbClr val="000000"/>
                </a:solidFill>
                <a:effectLst/>
                <a:uFillTx/>
                <a:latin typeface="Arial"/>
              </a:endParaRPr>
            </a:p>
          </p:txBody>
        </p:sp>
        <p:sp>
          <p:nvSpPr>
            <p:cNvPr id="272" name="TextBox 16"/>
            <p:cNvSpPr/>
            <p:nvPr/>
          </p:nvSpPr>
          <p:spPr>
            <a:xfrm>
              <a:off x="640800" y="3787920"/>
              <a:ext cx="3245760" cy="2631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50" b="0" u="none" strike="noStrike">
                  <a:solidFill>
                    <a:srgbClr val="66758A"/>
                  </a:solidFill>
                  <a:effectLst/>
                  <a:uFillTx/>
                  <a:latin typeface="Arial"/>
                  <a:ea typeface="Microsoft YaHei"/>
                </a:rPr>
                <a:t>Vendor data; cross-form materials</a:t>
              </a:r>
              <a:endParaRPr lang="en-US" sz="1350" b="0" u="none" strike="noStrike">
                <a:solidFill>
                  <a:srgbClr val="000000"/>
                </a:solidFill>
                <a:effectLst/>
                <a:uFillTx/>
                <a:latin typeface="Arial"/>
              </a:endParaRPr>
            </a:p>
          </p:txBody>
        </p:sp>
        <p:sp>
          <p:nvSpPr>
            <p:cNvPr id="273" name="TextBox 17"/>
            <p:cNvSpPr/>
            <p:nvPr/>
          </p:nvSpPr>
          <p:spPr>
            <a:xfrm>
              <a:off x="639360" y="4111560"/>
              <a:ext cx="3245760" cy="32184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00" b="1" u="none" strike="noStrike">
                  <a:solidFill>
                    <a:srgbClr val="13243A"/>
                  </a:solidFill>
                  <a:effectLst/>
                  <a:uFillTx/>
                  <a:latin typeface="Arial"/>
                  <a:ea typeface="Microsoft YaHei"/>
                </a:rPr>
                <a:t>QuietOn sleep plugs: low profile</a:t>
              </a:r>
              <a:endParaRPr lang="en-US" sz="1500" b="0" u="none" strike="noStrike">
                <a:solidFill>
                  <a:srgbClr val="000000"/>
                </a:solidFill>
                <a:effectLst/>
                <a:uFillTx/>
                <a:latin typeface="Arial"/>
              </a:endParaRPr>
            </a:p>
          </p:txBody>
        </p:sp>
        <p:sp>
          <p:nvSpPr>
            <p:cNvPr id="274" name="TextBox 18"/>
            <p:cNvSpPr/>
            <p:nvPr/>
          </p:nvSpPr>
          <p:spPr>
            <a:xfrm>
              <a:off x="640800" y="4397400"/>
              <a:ext cx="3245760" cy="2631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50" b="0" u="none" strike="noStrike">
                  <a:solidFill>
                    <a:srgbClr val="66758A"/>
                  </a:solidFill>
                  <a:effectLst/>
                  <a:uFillTx/>
                  <a:latin typeface="Arial"/>
                  <a:ea typeface="Microsoft YaHei"/>
                </a:rPr>
                <a:t>Vendor data; low volume limits features</a:t>
              </a:r>
              <a:endParaRPr lang="en-US" sz="1350" b="0" u="none" strike="noStrike">
                <a:solidFill>
                  <a:srgbClr val="000000"/>
                </a:solidFill>
                <a:effectLst/>
                <a:uFillTx/>
                <a:latin typeface="Arial"/>
              </a:endParaRPr>
            </a:p>
          </p:txBody>
        </p:sp>
      </p:grpSp>
      <p:sp>
        <p:nvSpPr>
          <p:cNvPr id="275" name="Line 20"/>
          <p:cNvSpPr/>
          <p:nvPr/>
        </p:nvSpPr>
        <p:spPr>
          <a:xfrm>
            <a:off x="3962160" y="3590640"/>
            <a:ext cx="314280" cy="360"/>
          </a:xfrm>
          <a:prstGeom prst="line">
            <a:avLst/>
          </a:prstGeom>
          <a:ln w="19050">
            <a:solidFill>
              <a:srgbClr val="66758A"/>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grpSp>
        <p:nvGrpSpPr>
          <p:cNvPr id="276" name="drawing-plan"/>
          <p:cNvGrpSpPr/>
          <p:nvPr/>
        </p:nvGrpSpPr>
        <p:grpSpPr>
          <a:xfrm>
            <a:off x="4428720" y="2540160"/>
            <a:ext cx="3440880" cy="2120400"/>
            <a:chOff x="4428720" y="2540160"/>
            <a:chExt cx="3440880" cy="2120400"/>
          </a:xfrm>
        </p:grpSpPr>
        <p:sp>
          <p:nvSpPr>
            <p:cNvPr id="277" name="TextBox 21"/>
            <p:cNvSpPr/>
            <p:nvPr/>
          </p:nvSpPr>
          <p:spPr>
            <a:xfrm>
              <a:off x="4428720" y="2540160"/>
              <a:ext cx="3437640" cy="380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1" u="none" strike="noStrike">
                  <a:solidFill>
                    <a:srgbClr val="3662EA"/>
                  </a:solidFill>
                  <a:effectLst/>
                  <a:uFillTx/>
                  <a:latin typeface="Arial"/>
                  <a:ea typeface="Microsoft YaHei"/>
                </a:rPr>
                <a:t>2 Drawing plan review</a:t>
              </a:r>
              <a:endParaRPr lang="en-US" sz="1950" b="0" u="none" strike="noStrike">
                <a:solidFill>
                  <a:srgbClr val="000000"/>
                </a:solidFill>
                <a:effectLst/>
                <a:uFillTx/>
                <a:latin typeface="Arial"/>
              </a:endParaRPr>
            </a:p>
          </p:txBody>
        </p:sp>
        <p:sp>
          <p:nvSpPr>
            <p:cNvPr id="278" name="TextBox 22"/>
            <p:cNvSpPr/>
            <p:nvPr/>
          </p:nvSpPr>
          <p:spPr>
            <a:xfrm>
              <a:off x="4431960" y="2882880"/>
              <a:ext cx="3437640" cy="2631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50" b="0" u="none" strike="noStrike">
                  <a:solidFill>
                    <a:srgbClr val="66758A"/>
                  </a:solidFill>
                  <a:effectLst/>
                  <a:uFillTx/>
                  <a:latin typeface="Arial"/>
                  <a:ea typeface="Microsoft YaHei"/>
                </a:rPr>
                <a:t>Summarized from the archived Prompt</a:t>
              </a:r>
              <a:endParaRPr lang="en-US" sz="1350" b="0" u="none" strike="noStrike">
                <a:solidFill>
                  <a:srgbClr val="000000"/>
                </a:solidFill>
                <a:effectLst/>
                <a:uFillTx/>
                <a:latin typeface="Arial"/>
              </a:endParaRPr>
            </a:p>
          </p:txBody>
        </p:sp>
        <p:sp>
          <p:nvSpPr>
            <p:cNvPr id="279" name="TextBox 23"/>
            <p:cNvSpPr/>
            <p:nvPr/>
          </p:nvSpPr>
          <p:spPr>
            <a:xfrm>
              <a:off x="4430160" y="3178080"/>
              <a:ext cx="3437640" cy="32184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00" b="0" u="none" strike="noStrike">
                  <a:solidFill>
                    <a:srgbClr val="24364C"/>
                  </a:solidFill>
                  <a:effectLst/>
                  <a:uFillTx/>
                  <a:latin typeface="Arial"/>
                  <a:ea typeface="Microsoft YaHei"/>
                </a:rPr>
                <a:t>Fin Wing: oval body + wide soft fin</a:t>
              </a:r>
              <a:endParaRPr lang="en-US" sz="1500" b="0" u="none" strike="noStrike">
                <a:solidFill>
                  <a:srgbClr val="000000"/>
                </a:solidFill>
                <a:effectLst/>
                <a:uFillTx/>
                <a:latin typeface="Arial"/>
              </a:endParaRPr>
            </a:p>
          </p:txBody>
        </p:sp>
        <p:sp>
          <p:nvSpPr>
            <p:cNvPr id="280" name="TextBox 24"/>
            <p:cNvSpPr/>
            <p:nvPr/>
          </p:nvSpPr>
          <p:spPr>
            <a:xfrm>
              <a:off x="4430160" y="3492360"/>
              <a:ext cx="3437640" cy="32184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00" b="0" u="none" strike="noStrike">
                  <a:solidFill>
                    <a:srgbClr val="24364C"/>
                  </a:solidFill>
                  <a:effectLst/>
                  <a:uFillTx/>
                  <a:latin typeface="Arial"/>
                  <a:ea typeface="Microsoft YaHei"/>
                </a:rPr>
                <a:t>Blue-gray shell + teal matte soft gel</a:t>
              </a:r>
              <a:endParaRPr lang="en-US" sz="1500" b="0" u="none" strike="noStrike">
                <a:solidFill>
                  <a:srgbClr val="000000"/>
                </a:solidFill>
                <a:effectLst/>
                <a:uFillTx/>
                <a:latin typeface="Arial"/>
              </a:endParaRPr>
            </a:p>
          </p:txBody>
        </p:sp>
        <p:sp>
          <p:nvSpPr>
            <p:cNvPr id="281" name="TextBox 25"/>
            <p:cNvSpPr/>
            <p:nvPr/>
          </p:nvSpPr>
          <p:spPr>
            <a:xfrm>
              <a:off x="4430160" y="3807000"/>
              <a:ext cx="3437640" cy="32184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00" b="0" u="none" strike="noStrike">
                  <a:solidFill>
                    <a:srgbClr val="24364C"/>
                  </a:solidFill>
                  <a:effectLst/>
                  <a:uFillTx/>
                  <a:latin typeface="Arial"/>
                  <a:ea typeface="Microsoft YaHei"/>
                </a:rPr>
                <a:t>Assumed: soft fin support limits bulge</a:t>
              </a:r>
              <a:endParaRPr lang="en-US" sz="1500" b="0" u="none" strike="noStrike">
                <a:solidFill>
                  <a:srgbClr val="000000"/>
                </a:solidFill>
                <a:effectLst/>
                <a:uFillTx/>
                <a:latin typeface="Arial"/>
              </a:endParaRPr>
            </a:p>
          </p:txBody>
        </p:sp>
        <p:sp>
          <p:nvSpPr>
            <p:cNvPr id="282" name="TextBox 26"/>
            <p:cNvSpPr/>
            <p:nvPr/>
          </p:nvSpPr>
          <p:spPr>
            <a:xfrm>
              <a:off x="4431960" y="4130640"/>
              <a:ext cx="3437640" cy="2631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50" b="0" u="none" strike="noStrike">
                  <a:solidFill>
                    <a:srgbClr val="66758A"/>
                  </a:solidFill>
                  <a:effectLst/>
                  <a:uFillTx/>
                  <a:latin typeface="Arial"/>
                  <a:ea typeface="Microsoft YaHei"/>
                </a:rPr>
                <a:t>Left ear, short-neck tip, shared parts</a:t>
              </a:r>
              <a:endParaRPr lang="en-US" sz="1350" b="0" u="none" strike="noStrike">
                <a:solidFill>
                  <a:srgbClr val="000000"/>
                </a:solidFill>
                <a:effectLst/>
                <a:uFillTx/>
                <a:latin typeface="Arial"/>
              </a:endParaRPr>
            </a:p>
          </p:txBody>
        </p:sp>
        <p:sp>
          <p:nvSpPr>
            <p:cNvPr id="283" name="TextBox 27"/>
            <p:cNvSpPr/>
            <p:nvPr/>
          </p:nvSpPr>
          <p:spPr>
            <a:xfrm>
              <a:off x="4431960" y="4397400"/>
              <a:ext cx="3437640" cy="2631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50" b="0" u="none" strike="noStrike">
                  <a:solidFill>
                    <a:srgbClr val="66758A"/>
                  </a:solidFill>
                  <a:effectLst/>
                  <a:uFillTx/>
                  <a:latin typeface="Arial"/>
                  <a:ea typeface="Microsoft YaHei"/>
                </a:rPr>
                <a:t>Left worn, center four views, right hero</a:t>
              </a:r>
              <a:endParaRPr lang="en-US" sz="1350" b="0" u="none" strike="noStrike">
                <a:solidFill>
                  <a:srgbClr val="000000"/>
                </a:solidFill>
                <a:effectLst/>
                <a:uFillTx/>
                <a:latin typeface="Arial"/>
              </a:endParaRPr>
            </a:p>
          </p:txBody>
        </p:sp>
      </p:grpSp>
      <p:sp>
        <p:nvSpPr>
          <p:cNvPr id="284" name="Line 29"/>
          <p:cNvSpPr/>
          <p:nvPr/>
        </p:nvSpPr>
        <p:spPr>
          <a:xfrm>
            <a:off x="7934040" y="3590640"/>
            <a:ext cx="219240" cy="360"/>
          </a:xfrm>
          <a:prstGeom prst="line">
            <a:avLst/>
          </a:prstGeom>
          <a:ln w="19050">
            <a:solidFill>
              <a:srgbClr val="66758A"/>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grpSp>
        <p:nvGrpSpPr>
          <p:cNvPr id="285" name="generation-prompt"/>
          <p:cNvGrpSpPr/>
          <p:nvPr/>
        </p:nvGrpSpPr>
        <p:grpSpPr>
          <a:xfrm>
            <a:off x="8295840" y="2540160"/>
            <a:ext cx="3404520" cy="2090160"/>
            <a:chOff x="8295840" y="2540160"/>
            <a:chExt cx="3404520" cy="2090160"/>
          </a:xfrm>
        </p:grpSpPr>
        <p:sp>
          <p:nvSpPr>
            <p:cNvPr id="286" name="TextBox 30"/>
            <p:cNvSpPr/>
            <p:nvPr/>
          </p:nvSpPr>
          <p:spPr>
            <a:xfrm>
              <a:off x="8295840" y="2540160"/>
              <a:ext cx="3401280" cy="380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1" u="none" strike="noStrike">
                  <a:solidFill>
                    <a:srgbClr val="3662EA"/>
                  </a:solidFill>
                  <a:effectLst/>
                  <a:uFillTx/>
                  <a:latin typeface="Arial"/>
                  <a:ea typeface="Microsoft YaHei"/>
                </a:rPr>
                <a:t>3 Assemble the Prompt</a:t>
              </a:r>
              <a:endParaRPr lang="en-US" sz="1950" b="0" u="none" strike="noStrike">
                <a:solidFill>
                  <a:srgbClr val="000000"/>
                </a:solidFill>
                <a:effectLst/>
                <a:uFillTx/>
                <a:latin typeface="Arial"/>
              </a:endParaRPr>
            </a:p>
          </p:txBody>
        </p:sp>
        <p:sp>
          <p:nvSpPr>
            <p:cNvPr id="287" name="TextBox 31"/>
            <p:cNvSpPr/>
            <p:nvPr/>
          </p:nvSpPr>
          <p:spPr>
            <a:xfrm>
              <a:off x="8299080" y="2882880"/>
              <a:ext cx="3401280" cy="2631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50" b="0" u="none" strike="noStrike">
                  <a:solidFill>
                    <a:srgbClr val="66758A"/>
                  </a:solidFill>
                  <a:effectLst/>
                  <a:uFillTx/>
                  <a:latin typeface="Arial"/>
                  <a:ea typeface="Microsoft YaHei"/>
                </a:rPr>
                <a:t>Summary of the original English Prompt</a:t>
              </a:r>
              <a:endParaRPr lang="en-US" sz="1350" b="0" u="none" strike="noStrike">
                <a:solidFill>
                  <a:srgbClr val="000000"/>
                </a:solidFill>
                <a:effectLst/>
                <a:uFillTx/>
                <a:latin typeface="Arial"/>
              </a:endParaRPr>
            </a:p>
          </p:txBody>
        </p:sp>
        <p:sp>
          <p:nvSpPr>
            <p:cNvPr id="288" name="TextBox 32"/>
            <p:cNvSpPr/>
            <p:nvPr/>
          </p:nvSpPr>
          <p:spPr>
            <a:xfrm>
              <a:off x="8297280" y="3165480"/>
              <a:ext cx="3401280" cy="1464840"/>
            </a:xfrm>
            <a:prstGeom prst="rect">
              <a:avLst/>
            </a:prstGeom>
            <a:noFill/>
            <a:ln w="0">
              <a:noFill/>
            </a:ln>
          </p:spPr>
          <p:style>
            <a:lnRef idx="0"/>
            <a:fillRef idx="0"/>
            <a:effectRef idx="0"/>
            <a:fontRef idx="minor"/>
          </p:style>
          <p:txBody>
            <a:bodyPr wrap="none" lIns="0" tIns="0" rIns="0" bIns="0" anchor="t">
              <a:spAutoFit/>
            </a:bodyPr>
            <a:p>
              <a:pPr defTabSz="457200">
                <a:lnSpc>
                  <a:spcPts val="2251"/>
                </a:lnSpc>
              </a:pPr>
              <a:r>
                <a:rPr lang="en-US" sz="1500" b="0" u="none" strike="noStrike">
                  <a:solidFill>
                    <a:srgbClr val="24364C"/>
                  </a:solidFill>
                  <a:effectLst/>
                  <a:uFillTx/>
                  <a:latin typeface="Arial"/>
                  <a:ea typeface="Microsoft YaHei"/>
                </a:rPr>
                <a:t>One left earbud, 3:2 concept board</a:t>
              </a:r>
              <a:br>
                <a:rPr sz="1500"/>
              </a:br>
              <a:r>
                <a:rPr lang="en-US" sz="1500" b="0" u="none" strike="noStrike">
                  <a:solidFill>
                    <a:srgbClr val="24364C"/>
                  </a:solidFill>
                  <a:effectLst/>
                  <a:uFillTx/>
                  <a:latin typeface="Arial"/>
                  <a:ea typeface="Microsoft YaHei"/>
                </a:rPr>
                <a:t>Oval body + short wide rounded fin</a:t>
              </a:r>
              <a:br>
                <a:rPr sz="1500"/>
              </a:br>
              <a:r>
                <a:rPr lang="en-US" sz="1500" b="0" u="none" strike="noStrike">
                  <a:solidFill>
                    <a:srgbClr val="24364C"/>
                  </a:solidFill>
                  <a:effectLst/>
                  <a:uFillTx/>
                  <a:latin typeface="Arial"/>
                  <a:ea typeface="Microsoft YaHei"/>
                </a:rPr>
                <a:t>Blue-gray shell + teal matte soft gel</a:t>
              </a:r>
              <a:br>
                <a:rPr sz="1500"/>
              </a:br>
              <a:r>
                <a:rPr lang="en-US" sz="1500" b="0" u="none" strike="noStrike">
                  <a:solidFill>
                    <a:srgbClr val="24364C"/>
                  </a:solidFill>
                  <a:effectLst/>
                  <a:uFillTx/>
                  <a:latin typeface="Arial"/>
                  <a:ea typeface="Microsoft YaHei"/>
                </a:rPr>
                <a:t>Shared parts, joints, size, occlusion</a:t>
              </a:r>
              <a:br>
                <a:rPr sz="1500"/>
              </a:br>
              <a:r>
                <a:rPr lang="en-US" sz="1500" b="0" u="none" strike="noStrike">
                  <a:solidFill>
                    <a:srgbClr val="24364C"/>
                  </a:solidFill>
                  <a:effectLst/>
                  <a:uFillTx/>
                  <a:latin typeface="Arial"/>
                  <a:ea typeface="Microsoft YaHei"/>
                </a:rPr>
                <a:t>TOP oblique view, no tall hook or grid</a:t>
              </a:r>
              <a:endParaRPr lang="en-US" sz="1500" b="0" u="none" strike="noStrike">
                <a:solidFill>
                  <a:srgbClr val="000000"/>
                </a:solidFill>
                <a:effectLst/>
                <a:uFillTx/>
                <a:latin typeface="Arial"/>
              </a:endParaRPr>
            </a:p>
          </p:txBody>
        </p:sp>
      </p:grpSp>
      <p:grpSp>
        <p:nvGrpSpPr>
          <p:cNvPr id="289" name="concept-output"/>
          <p:cNvGrpSpPr/>
          <p:nvPr/>
        </p:nvGrpSpPr>
        <p:grpSpPr>
          <a:xfrm>
            <a:off x="495360" y="4886280"/>
            <a:ext cx="2142360" cy="1428120"/>
            <a:chOff x="495360" y="4886280"/>
            <a:chExt cx="2142360" cy="1428120"/>
          </a:xfrm>
        </p:grpSpPr>
        <p:pic>
          <p:nvPicPr>
            <p:cNvPr id="290" name="Image 34"/>
            <p:cNvPicPr/>
            <p:nvPr/>
          </p:nvPicPr>
          <p:blipFill>
            <a:blip r:embed="rId1"/>
            <a:stretch/>
          </p:blipFill>
          <p:spPr>
            <a:xfrm>
              <a:off x="495360" y="4886280"/>
              <a:ext cx="2142360" cy="1428120"/>
            </a:xfrm>
            <a:prstGeom prst="rect">
              <a:avLst/>
            </a:prstGeom>
            <a:noFill/>
            <a:ln w="0">
              <a:noFill/>
            </a:ln>
          </p:spPr>
        </p:pic>
      </p:grpSp>
      <p:grpSp>
        <p:nvGrpSpPr>
          <p:cNvPr id="291" name="generation-review"/>
          <p:cNvGrpSpPr/>
          <p:nvPr/>
        </p:nvGrpSpPr>
        <p:grpSpPr>
          <a:xfrm>
            <a:off x="2895480" y="4829040"/>
            <a:ext cx="8800560" cy="1561320"/>
            <a:chOff x="2895480" y="4829040"/>
            <a:chExt cx="8800560" cy="1561320"/>
          </a:xfrm>
        </p:grpSpPr>
        <p:sp>
          <p:nvSpPr>
            <p:cNvPr id="292" name="Rectangle 36"/>
            <p:cNvSpPr/>
            <p:nvPr/>
          </p:nvSpPr>
          <p:spPr>
            <a:xfrm>
              <a:off x="2895480" y="4829040"/>
              <a:ext cx="8800560" cy="1561320"/>
            </a:xfrm>
            <a:prstGeom prst="roundRect">
              <a:avLst>
                <a:gd name="adj" fmla="val 4878"/>
              </a:avLst>
            </a:prstGeom>
            <a:solidFill>
              <a:srgbClr val="F7F8FC"/>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93" name="TextBox 39"/>
            <p:cNvSpPr/>
            <p:nvPr/>
          </p:nvSpPr>
          <p:spPr>
            <a:xfrm>
              <a:off x="3095280" y="4921200"/>
              <a:ext cx="8412120" cy="380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1" u="none" strike="noStrike">
                  <a:solidFill>
                    <a:srgbClr val="069B8A"/>
                  </a:solidFill>
                  <a:effectLst/>
                  <a:uFillTx/>
                  <a:latin typeface="Arial"/>
                  <a:ea typeface="Microsoft YaHei"/>
                </a:rPr>
                <a:t>4 Image tool run and review</a:t>
              </a:r>
              <a:endParaRPr lang="en-US" sz="1950" b="0" u="none" strike="noStrike">
                <a:solidFill>
                  <a:srgbClr val="000000"/>
                </a:solidFill>
                <a:effectLst/>
                <a:uFillTx/>
                <a:latin typeface="Arial"/>
              </a:endParaRPr>
            </a:p>
          </p:txBody>
        </p:sp>
        <p:sp>
          <p:nvSpPr>
            <p:cNvPr id="294" name="TextBox 40"/>
            <p:cNvSpPr/>
            <p:nvPr/>
          </p:nvSpPr>
          <p:spPr>
            <a:xfrm>
              <a:off x="3096720" y="5302080"/>
              <a:ext cx="8412120" cy="32184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00" b="0" u="none" strike="noStrike">
                  <a:solidFill>
                    <a:srgbClr val="24364C"/>
                  </a:solidFill>
                  <a:effectLst/>
                  <a:uFillTx/>
                  <a:latin typeface="Arial"/>
                  <a:ea typeface="Microsoft YaHei"/>
                </a:rPr>
                <a:t>Tool renders the Prompt; six candidates are checked for consistency, then a person selects.</a:t>
              </a:r>
              <a:endParaRPr lang="en-US" sz="1500" b="0" u="none" strike="noStrike">
                <a:solidFill>
                  <a:srgbClr val="000000"/>
                </a:solidFill>
                <a:effectLst/>
                <a:uFillTx/>
                <a:latin typeface="Arial"/>
              </a:endParaRPr>
            </a:p>
          </p:txBody>
        </p:sp>
        <p:sp>
          <p:nvSpPr>
            <p:cNvPr id="295" name="TextBox 41"/>
            <p:cNvSpPr/>
            <p:nvPr/>
          </p:nvSpPr>
          <p:spPr>
            <a:xfrm>
              <a:off x="3097440" y="5641920"/>
              <a:ext cx="8412120" cy="2926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50" b="0" u="none" strike="noStrike">
                  <a:solidFill>
                    <a:srgbClr val="66758A"/>
                  </a:solidFill>
                  <a:effectLst/>
                  <a:uFillTx/>
                  <a:latin typeface="Arial"/>
                  <a:ea typeface="Microsoft YaHei"/>
                </a:rPr>
                <a:t>Candidates: Seed Pod, Pebble, Fin Wing, Spiral, Bloom, Twin Petal.</a:t>
              </a:r>
              <a:endParaRPr lang="en-US" sz="1350" b="0" u="none" strike="noStrike">
                <a:solidFill>
                  <a:srgbClr val="000000"/>
                </a:solidFill>
                <a:effectLst/>
                <a:uFillTx/>
                <a:latin typeface="Arial"/>
              </a:endParaRPr>
            </a:p>
          </p:txBody>
        </p:sp>
        <p:sp>
          <p:nvSpPr>
            <p:cNvPr id="296" name="TextBox 42"/>
            <p:cNvSpPr/>
            <p:nvPr/>
          </p:nvSpPr>
          <p:spPr>
            <a:xfrm>
              <a:off x="3097440" y="5956200"/>
              <a:ext cx="8412120" cy="2926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50" b="0" u="none" strike="noStrike">
                  <a:solidFill>
                    <a:srgbClr val="66758A"/>
                  </a:solidFill>
                  <a:effectLst/>
                  <a:uFillTx/>
                  <a:latin typeface="Arial"/>
                  <a:ea typeface="Microsoft YaHei"/>
                </a:rPr>
                <a:t>Check: left-ear side, joints, materials, and views; deviations go back into the Prompt.</a:t>
              </a:r>
              <a:endParaRPr lang="en-US" sz="1350" b="0" u="none" strike="noStrike">
                <a:solidFill>
                  <a:srgbClr val="000000"/>
                </a:solidFill>
                <a:effectLst/>
                <a:uFillTx/>
                <a:latin typeface="Arial"/>
              </a:endParaRPr>
            </a:p>
          </p:txBody>
        </p:sp>
      </p:gr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pSp>
        <p:nvGrpSpPr>
          <p:cNvPr id="297" name="header"/>
          <p:cNvGrpSpPr/>
          <p:nvPr/>
        </p:nvGrpSpPr>
        <p:grpSpPr>
          <a:xfrm>
            <a:off x="424080" y="204480"/>
            <a:ext cx="11223720" cy="1665000"/>
            <a:chOff x="424080" y="204480"/>
            <a:chExt cx="11223720" cy="1665000"/>
          </a:xfrm>
        </p:grpSpPr>
        <p:sp>
          <p:nvSpPr>
            <p:cNvPr id="298" name="TextBox 2"/>
            <p:cNvSpPr/>
            <p:nvPr/>
          </p:nvSpPr>
          <p:spPr>
            <a:xfrm>
              <a:off x="424080" y="204480"/>
              <a:ext cx="6965280" cy="6444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3300" b="1" u="none" strike="noStrike">
                  <a:solidFill>
                    <a:schemeClr val="accent1"/>
                  </a:solidFill>
                  <a:effectLst/>
                  <a:uFillTx/>
                  <a:latin typeface="Arial"/>
                  <a:ea typeface="Microsoft YaHei"/>
                </a:rPr>
                <a:t>Design Features and Six Concepts</a:t>
              </a:r>
              <a:endParaRPr lang="en-US" sz="3300" b="0" u="none" strike="noStrike">
                <a:solidFill>
                  <a:srgbClr val="000000"/>
                </a:solidFill>
                <a:effectLst/>
                <a:uFillTx/>
                <a:latin typeface="Arial"/>
              </a:endParaRPr>
            </a:p>
          </p:txBody>
        </p:sp>
        <p:sp>
          <p:nvSpPr>
            <p:cNvPr id="299" name="TextBox 3"/>
            <p:cNvSpPr/>
            <p:nvPr/>
          </p:nvSpPr>
          <p:spPr>
            <a:xfrm>
              <a:off x="432360" y="855360"/>
              <a:ext cx="11215440" cy="10141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650" b="0" u="none" strike="noStrike">
                  <a:solidFill>
                    <a:srgbClr val="66758A"/>
                  </a:solidFill>
                  <a:effectLst/>
                  <a:uFillTx/>
                  <a:latin typeface="Arial"/>
                  <a:ea typeface="Microsoft YaHei"/>
                </a:rPr>
                <a:t>Same needs, different outlines, support methods, and hard/soft splits. A person picks the direction.</a:t>
              </a:r>
              <a:endParaRPr lang="en-US" sz="1650" b="0" u="none" strike="noStrike">
                <a:solidFill>
                  <a:srgbClr val="000000"/>
                </a:solidFill>
                <a:effectLst/>
                <a:uFillTx/>
                <a:latin typeface="Arial"/>
              </a:endParaRPr>
            </a:p>
            <a:p>
              <a:pPr defTabSz="457200">
                <a:lnSpc>
                  <a:spcPct val="100000"/>
                </a:lnSpc>
              </a:pPr>
              <a:r>
                <a:rPr lang="en-US" sz="1650" b="0" u="none" strike="noStrike">
                  <a:solidFill>
                    <a:srgbClr val="25372B"/>
                  </a:solidFill>
                  <a:effectLst/>
                  <a:uFillTx/>
                  <a:latin typeface="Arial"/>
                  <a:ea typeface="Arial"/>
                </a:rPr>
                <a:t>“</a:t>
              </a:r>
              <a:r>
                <a:rPr lang="en-US" sz="1650" b="0" u="none" strike="noStrike">
                  <a:solidFill>
                    <a:srgbClr val="66758A"/>
                  </a:solidFill>
                  <a:effectLst/>
                  <a:uFillTx/>
                  <a:latin typeface="Arial"/>
                  <a:ea typeface="Microsoft YaHei"/>
                </a:rPr>
                <a:t>Design an in-ear earbud that is comfortable, biomimetic and moderately sized. It should stay secure during exercise and sleep, with colors that appeal to young people.”</a:t>
              </a:r>
              <a:endParaRPr lang="en-US" sz="1650" b="0" u="none" strike="noStrike">
                <a:solidFill>
                  <a:srgbClr val="000000"/>
                </a:solidFill>
                <a:effectLst/>
                <a:uFillTx/>
                <a:latin typeface="Arial"/>
              </a:endParaRPr>
            </a:p>
            <a:p>
              <a:pPr defTabSz="457200">
                <a:lnSpc>
                  <a:spcPct val="100000"/>
                </a:lnSpc>
              </a:pPr>
              <a:endParaRPr lang="en-US" sz="1650" b="0" u="none" strike="noStrike">
                <a:solidFill>
                  <a:srgbClr val="000000"/>
                </a:solidFill>
                <a:effectLst/>
                <a:uFillTx/>
                <a:latin typeface="Arial"/>
              </a:endParaRPr>
            </a:p>
          </p:txBody>
        </p:sp>
      </p:grpSp>
      <p:grpSp>
        <p:nvGrpSpPr>
          <p:cNvPr id="300" name="concept-gallery"/>
          <p:cNvGrpSpPr/>
          <p:nvPr/>
        </p:nvGrpSpPr>
        <p:grpSpPr>
          <a:xfrm>
            <a:off x="495360" y="1647720"/>
            <a:ext cx="11200320" cy="4123080"/>
            <a:chOff x="495360" y="1647720"/>
            <a:chExt cx="11200320" cy="4123080"/>
          </a:xfrm>
        </p:grpSpPr>
        <p:sp>
          <p:nvSpPr>
            <p:cNvPr id="301" name="Rectangle 5"/>
            <p:cNvSpPr/>
            <p:nvPr/>
          </p:nvSpPr>
          <p:spPr>
            <a:xfrm>
              <a:off x="495360" y="1647720"/>
              <a:ext cx="3494520" cy="1980000"/>
            </a:xfrm>
            <a:prstGeom prst="roundRect">
              <a:avLst>
                <a:gd name="adj" fmla="val 3846"/>
              </a:avLst>
            </a:prstGeom>
            <a:solidFill>
              <a:schemeClr val="accent5"/>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pic>
          <p:nvPicPr>
            <p:cNvPr id="302" name="Image 6"/>
            <p:cNvPicPr/>
            <p:nvPr/>
          </p:nvPicPr>
          <p:blipFill>
            <a:blip r:embed="rId1"/>
            <a:srcRect l="68006" t="30002" r="0" b="6001"/>
            <a:stretch/>
          </p:blipFill>
          <p:spPr>
            <a:xfrm>
              <a:off x="669240" y="1752480"/>
              <a:ext cx="1299240" cy="1732320"/>
            </a:xfrm>
            <a:prstGeom prst="rect">
              <a:avLst/>
            </a:prstGeom>
            <a:noFill/>
            <a:ln w="0">
              <a:noFill/>
            </a:ln>
          </p:spPr>
        </p:pic>
        <p:sp>
          <p:nvSpPr>
            <p:cNvPr id="303" name="TextBox 7"/>
            <p:cNvSpPr/>
            <p:nvPr/>
          </p:nvSpPr>
          <p:spPr>
            <a:xfrm>
              <a:off x="2245320" y="1917720"/>
              <a:ext cx="1460880" cy="4683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2400" b="1" u="none" strike="noStrike">
                  <a:solidFill>
                    <a:schemeClr val="accent1"/>
                  </a:solidFill>
                  <a:effectLst/>
                  <a:uFillTx/>
                  <a:latin typeface="Arial"/>
                  <a:ea typeface="Microsoft YaHei"/>
                </a:rPr>
                <a:t>Seed Pod</a:t>
              </a:r>
              <a:endParaRPr lang="en-US" sz="2400" b="0" u="none" strike="noStrike">
                <a:solidFill>
                  <a:srgbClr val="000000"/>
                </a:solidFill>
                <a:effectLst/>
                <a:uFillTx/>
                <a:latin typeface="Arial"/>
              </a:endParaRPr>
            </a:p>
          </p:txBody>
        </p:sp>
        <p:sp>
          <p:nvSpPr>
            <p:cNvPr id="304" name="TextBox 8"/>
            <p:cNvSpPr/>
            <p:nvPr/>
          </p:nvSpPr>
          <p:spPr>
            <a:xfrm>
              <a:off x="2250720" y="2368440"/>
              <a:ext cx="853560" cy="2628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50" b="0" u="none" strike="noStrike">
                  <a:solidFill>
                    <a:schemeClr val="accent6"/>
                  </a:solidFill>
                  <a:effectLst/>
                  <a:uFillTx/>
                  <a:latin typeface="Arial"/>
                  <a:ea typeface="Microsoft YaHei"/>
                </a:rPr>
                <a:t>Concept 1</a:t>
              </a:r>
              <a:endParaRPr lang="en-US" sz="1350" b="0" u="none" strike="noStrike">
                <a:solidFill>
                  <a:srgbClr val="000000"/>
                </a:solidFill>
                <a:effectLst/>
                <a:uFillTx/>
                <a:latin typeface="Arial"/>
              </a:endParaRPr>
            </a:p>
          </p:txBody>
        </p:sp>
        <p:sp>
          <p:nvSpPr>
            <p:cNvPr id="305" name="TextBox 9"/>
            <p:cNvSpPr/>
            <p:nvPr/>
          </p:nvSpPr>
          <p:spPr>
            <a:xfrm>
              <a:off x="2248920" y="2844720"/>
              <a:ext cx="1649520" cy="3214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650" b="0" u="none" strike="noStrike">
                  <a:solidFill>
                    <a:schemeClr val="dk1"/>
                  </a:solidFill>
                  <a:effectLst/>
                  <a:uFillTx/>
                  <a:latin typeface="Arial"/>
                  <a:ea typeface="Microsoft YaHei"/>
                </a:rPr>
                <a:t>Shallow saddle soft support</a:t>
              </a:r>
              <a:endParaRPr lang="en-US" sz="1650" b="0" u="none" strike="noStrike">
                <a:solidFill>
                  <a:srgbClr val="000000"/>
                </a:solidFill>
                <a:effectLst/>
                <a:uFillTx/>
                <a:latin typeface="Arial"/>
              </a:endParaRPr>
            </a:p>
          </p:txBody>
        </p:sp>
        <p:sp>
          <p:nvSpPr>
            <p:cNvPr id="306" name="Rectangle 10"/>
            <p:cNvSpPr/>
            <p:nvPr/>
          </p:nvSpPr>
          <p:spPr>
            <a:xfrm>
              <a:off x="4343400" y="1647720"/>
              <a:ext cx="3494520" cy="1980000"/>
            </a:xfrm>
            <a:prstGeom prst="roundRect">
              <a:avLst>
                <a:gd name="adj" fmla="val 3846"/>
              </a:avLst>
            </a:prstGeom>
            <a:solidFill>
              <a:schemeClr val="accent5"/>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pic>
          <p:nvPicPr>
            <p:cNvPr id="307" name="Image 11"/>
            <p:cNvPicPr/>
            <p:nvPr/>
          </p:nvPicPr>
          <p:blipFill>
            <a:blip r:embed="rId2"/>
            <a:srcRect l="68006" t="30002" r="0" b="6001"/>
            <a:stretch/>
          </p:blipFill>
          <p:spPr>
            <a:xfrm>
              <a:off x="4517280" y="1752480"/>
              <a:ext cx="1299240" cy="1732320"/>
            </a:xfrm>
            <a:prstGeom prst="rect">
              <a:avLst/>
            </a:prstGeom>
            <a:noFill/>
            <a:ln w="0">
              <a:noFill/>
            </a:ln>
          </p:spPr>
        </p:pic>
        <p:sp>
          <p:nvSpPr>
            <p:cNvPr id="308" name="TextBox 12"/>
            <p:cNvSpPr/>
            <p:nvPr/>
          </p:nvSpPr>
          <p:spPr>
            <a:xfrm>
              <a:off x="6093360" y="1917720"/>
              <a:ext cx="1071360" cy="4683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2400" b="1" u="none" strike="noStrike">
                  <a:solidFill>
                    <a:schemeClr val="accent1"/>
                  </a:solidFill>
                  <a:effectLst/>
                  <a:uFillTx/>
                  <a:latin typeface="Arial"/>
                  <a:ea typeface="Microsoft YaHei"/>
                </a:rPr>
                <a:t>Pebble</a:t>
              </a:r>
              <a:endParaRPr lang="en-US" sz="2400" b="0" u="none" strike="noStrike">
                <a:solidFill>
                  <a:srgbClr val="000000"/>
                </a:solidFill>
                <a:effectLst/>
                <a:uFillTx/>
                <a:latin typeface="Arial"/>
              </a:endParaRPr>
            </a:p>
          </p:txBody>
        </p:sp>
        <p:sp>
          <p:nvSpPr>
            <p:cNvPr id="309" name="TextBox 13"/>
            <p:cNvSpPr/>
            <p:nvPr/>
          </p:nvSpPr>
          <p:spPr>
            <a:xfrm>
              <a:off x="6098760" y="2368440"/>
              <a:ext cx="853560" cy="2628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50" b="0" u="none" strike="noStrike">
                  <a:solidFill>
                    <a:schemeClr val="accent6"/>
                  </a:solidFill>
                  <a:effectLst/>
                  <a:uFillTx/>
                  <a:latin typeface="Arial"/>
                  <a:ea typeface="Microsoft YaHei"/>
                </a:rPr>
                <a:t>Concept 2</a:t>
              </a:r>
              <a:endParaRPr lang="en-US" sz="1350" b="0" u="none" strike="noStrike">
                <a:solidFill>
                  <a:srgbClr val="000000"/>
                </a:solidFill>
                <a:effectLst/>
                <a:uFillTx/>
                <a:latin typeface="Arial"/>
              </a:endParaRPr>
            </a:p>
          </p:txBody>
        </p:sp>
        <p:sp>
          <p:nvSpPr>
            <p:cNvPr id="310" name="TextBox 14"/>
            <p:cNvSpPr/>
            <p:nvPr/>
          </p:nvSpPr>
          <p:spPr>
            <a:xfrm>
              <a:off x="6097320" y="2844720"/>
              <a:ext cx="1649520" cy="3214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650" b="0" u="none" strike="noStrike">
                  <a:solidFill>
                    <a:schemeClr val="dk1"/>
                  </a:solidFill>
                  <a:effectLst/>
                  <a:uFillTx/>
                  <a:latin typeface="Arial"/>
                  <a:ea typeface="Microsoft YaHei"/>
                </a:rPr>
                <a:t>Rounded low profile</a:t>
              </a:r>
              <a:endParaRPr lang="en-US" sz="1650" b="0" u="none" strike="noStrike">
                <a:solidFill>
                  <a:srgbClr val="000000"/>
                </a:solidFill>
                <a:effectLst/>
                <a:uFillTx/>
                <a:latin typeface="Arial"/>
              </a:endParaRPr>
            </a:p>
          </p:txBody>
        </p:sp>
        <p:sp>
          <p:nvSpPr>
            <p:cNvPr id="311" name="Rectangle 15"/>
            <p:cNvSpPr/>
            <p:nvPr/>
          </p:nvSpPr>
          <p:spPr>
            <a:xfrm>
              <a:off x="8191440" y="1647720"/>
              <a:ext cx="3504240" cy="1980000"/>
            </a:xfrm>
            <a:prstGeom prst="roundRect">
              <a:avLst>
                <a:gd name="adj" fmla="val 3846"/>
              </a:avLst>
            </a:prstGeom>
            <a:solidFill>
              <a:schemeClr val="accent5"/>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pic>
          <p:nvPicPr>
            <p:cNvPr id="312" name="Image 16"/>
            <p:cNvPicPr/>
            <p:nvPr/>
          </p:nvPicPr>
          <p:blipFill>
            <a:blip r:embed="rId3"/>
            <a:srcRect l="68006" t="25499" r="0" b="10299"/>
            <a:stretch/>
          </p:blipFill>
          <p:spPr>
            <a:xfrm>
              <a:off x="8367480" y="1752480"/>
              <a:ext cx="1294920" cy="1732320"/>
            </a:xfrm>
            <a:prstGeom prst="rect">
              <a:avLst/>
            </a:prstGeom>
            <a:noFill/>
            <a:ln w="0">
              <a:noFill/>
            </a:ln>
          </p:spPr>
        </p:pic>
        <p:sp>
          <p:nvSpPr>
            <p:cNvPr id="313" name="TextBox 17"/>
            <p:cNvSpPr/>
            <p:nvPr/>
          </p:nvSpPr>
          <p:spPr>
            <a:xfrm>
              <a:off x="9941400" y="1917720"/>
              <a:ext cx="1355760" cy="4683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2400" b="1" u="none" strike="noStrike">
                  <a:solidFill>
                    <a:schemeClr val="accent1"/>
                  </a:solidFill>
                  <a:effectLst/>
                  <a:uFillTx/>
                  <a:latin typeface="Arial"/>
                  <a:ea typeface="Microsoft YaHei"/>
                </a:rPr>
                <a:t>Fin Wing</a:t>
              </a:r>
              <a:endParaRPr lang="en-US" sz="2400" b="0" u="none" strike="noStrike">
                <a:solidFill>
                  <a:srgbClr val="000000"/>
                </a:solidFill>
                <a:effectLst/>
                <a:uFillTx/>
                <a:latin typeface="Arial"/>
              </a:endParaRPr>
            </a:p>
          </p:txBody>
        </p:sp>
        <p:sp>
          <p:nvSpPr>
            <p:cNvPr id="314" name="TextBox 18"/>
            <p:cNvSpPr/>
            <p:nvPr/>
          </p:nvSpPr>
          <p:spPr>
            <a:xfrm>
              <a:off x="9946800" y="2368440"/>
              <a:ext cx="853560" cy="2628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50" b="0" u="none" strike="noStrike">
                  <a:solidFill>
                    <a:schemeClr val="accent6"/>
                  </a:solidFill>
                  <a:effectLst/>
                  <a:uFillTx/>
                  <a:latin typeface="Arial"/>
                  <a:ea typeface="Microsoft YaHei"/>
                </a:rPr>
                <a:t>Concept 3</a:t>
              </a:r>
              <a:endParaRPr lang="en-US" sz="1350" b="0" u="none" strike="noStrike">
                <a:solidFill>
                  <a:srgbClr val="000000"/>
                </a:solidFill>
                <a:effectLst/>
                <a:uFillTx/>
                <a:latin typeface="Arial"/>
              </a:endParaRPr>
            </a:p>
          </p:txBody>
        </p:sp>
        <p:sp>
          <p:nvSpPr>
            <p:cNvPr id="315" name="TextBox 19"/>
            <p:cNvSpPr/>
            <p:nvPr/>
          </p:nvSpPr>
          <p:spPr>
            <a:xfrm>
              <a:off x="9945360" y="2844720"/>
              <a:ext cx="1658880" cy="3214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650" b="0" u="none" strike="noStrike">
                  <a:solidFill>
                    <a:schemeClr val="dk1"/>
                  </a:solidFill>
                  <a:effectLst/>
                  <a:uFillTx/>
                  <a:latin typeface="Arial"/>
                  <a:ea typeface="Microsoft YaHei"/>
                </a:rPr>
                <a:t>Short wide soft fin</a:t>
              </a:r>
              <a:endParaRPr lang="en-US" sz="1650" b="0" u="none" strike="noStrike">
                <a:solidFill>
                  <a:srgbClr val="000000"/>
                </a:solidFill>
                <a:effectLst/>
                <a:uFillTx/>
                <a:latin typeface="Arial"/>
              </a:endParaRPr>
            </a:p>
          </p:txBody>
        </p:sp>
        <p:sp>
          <p:nvSpPr>
            <p:cNvPr id="316" name="Rectangle 20"/>
            <p:cNvSpPr/>
            <p:nvPr/>
          </p:nvSpPr>
          <p:spPr>
            <a:xfrm>
              <a:off x="495360" y="3790800"/>
              <a:ext cx="3494520" cy="1980000"/>
            </a:xfrm>
            <a:prstGeom prst="roundRect">
              <a:avLst>
                <a:gd name="adj" fmla="val 3846"/>
              </a:avLst>
            </a:prstGeom>
            <a:solidFill>
              <a:schemeClr val="accent5"/>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pic>
          <p:nvPicPr>
            <p:cNvPr id="317" name="Image 21"/>
            <p:cNvPicPr/>
            <p:nvPr/>
          </p:nvPicPr>
          <p:blipFill>
            <a:blip r:embed="rId4"/>
            <a:srcRect l="68006" t="30002" r="0" b="6001"/>
            <a:stretch/>
          </p:blipFill>
          <p:spPr>
            <a:xfrm>
              <a:off x="669240" y="3895560"/>
              <a:ext cx="1299240" cy="1732320"/>
            </a:xfrm>
            <a:prstGeom prst="rect">
              <a:avLst/>
            </a:prstGeom>
            <a:noFill/>
            <a:ln w="0">
              <a:noFill/>
            </a:ln>
          </p:spPr>
        </p:pic>
        <p:sp>
          <p:nvSpPr>
            <p:cNvPr id="318" name="TextBox 22"/>
            <p:cNvSpPr/>
            <p:nvPr/>
          </p:nvSpPr>
          <p:spPr>
            <a:xfrm>
              <a:off x="2245320" y="4060800"/>
              <a:ext cx="919080" cy="4683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2400" b="1" u="none" strike="noStrike">
                  <a:solidFill>
                    <a:schemeClr val="accent1"/>
                  </a:solidFill>
                  <a:effectLst/>
                  <a:uFillTx/>
                  <a:latin typeface="Arial"/>
                  <a:ea typeface="Microsoft YaHei"/>
                </a:rPr>
                <a:t>Spiral</a:t>
              </a:r>
              <a:endParaRPr lang="en-US" sz="2400" b="0" u="none" strike="noStrike">
                <a:solidFill>
                  <a:srgbClr val="000000"/>
                </a:solidFill>
                <a:effectLst/>
                <a:uFillTx/>
                <a:latin typeface="Arial"/>
              </a:endParaRPr>
            </a:p>
          </p:txBody>
        </p:sp>
        <p:sp>
          <p:nvSpPr>
            <p:cNvPr id="319" name="TextBox 23"/>
            <p:cNvSpPr/>
            <p:nvPr/>
          </p:nvSpPr>
          <p:spPr>
            <a:xfrm>
              <a:off x="2250720" y="4511520"/>
              <a:ext cx="853560" cy="2628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50" b="0" u="none" strike="noStrike">
                  <a:solidFill>
                    <a:schemeClr val="accent6"/>
                  </a:solidFill>
                  <a:effectLst/>
                  <a:uFillTx/>
                  <a:latin typeface="Arial"/>
                  <a:ea typeface="Microsoft YaHei"/>
                </a:rPr>
                <a:t>Concept 4</a:t>
              </a:r>
              <a:endParaRPr lang="en-US" sz="1350" b="0" u="none" strike="noStrike">
                <a:solidFill>
                  <a:srgbClr val="000000"/>
                </a:solidFill>
                <a:effectLst/>
                <a:uFillTx/>
                <a:latin typeface="Arial"/>
              </a:endParaRPr>
            </a:p>
          </p:txBody>
        </p:sp>
        <p:sp>
          <p:nvSpPr>
            <p:cNvPr id="320" name="TextBox 24"/>
            <p:cNvSpPr/>
            <p:nvPr/>
          </p:nvSpPr>
          <p:spPr>
            <a:xfrm>
              <a:off x="2248920" y="4987800"/>
              <a:ext cx="1649520" cy="3214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650" b="0" u="none" strike="noStrike">
                  <a:solidFill>
                    <a:schemeClr val="dk1"/>
                  </a:solidFill>
                  <a:effectLst/>
                  <a:uFillTx/>
                  <a:latin typeface="Arial"/>
                  <a:ea typeface="Microsoft YaHei"/>
                </a:rPr>
                <a:t>Shallow curled surface</a:t>
              </a:r>
              <a:endParaRPr lang="en-US" sz="1650" b="0" u="none" strike="noStrike">
                <a:solidFill>
                  <a:srgbClr val="000000"/>
                </a:solidFill>
                <a:effectLst/>
                <a:uFillTx/>
                <a:latin typeface="Arial"/>
              </a:endParaRPr>
            </a:p>
          </p:txBody>
        </p:sp>
        <p:sp>
          <p:nvSpPr>
            <p:cNvPr id="321" name="Rectangle 25"/>
            <p:cNvSpPr/>
            <p:nvPr/>
          </p:nvSpPr>
          <p:spPr>
            <a:xfrm>
              <a:off x="4343400" y="3790800"/>
              <a:ext cx="3494520" cy="1980000"/>
            </a:xfrm>
            <a:prstGeom prst="roundRect">
              <a:avLst>
                <a:gd name="adj" fmla="val 3846"/>
              </a:avLst>
            </a:prstGeom>
            <a:solidFill>
              <a:schemeClr val="accent5"/>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pic>
          <p:nvPicPr>
            <p:cNvPr id="322" name="Image 26"/>
            <p:cNvPicPr/>
            <p:nvPr/>
          </p:nvPicPr>
          <p:blipFill>
            <a:blip r:embed="rId5"/>
            <a:srcRect l="68006" t="27000" r="0" b="11199"/>
            <a:stretch/>
          </p:blipFill>
          <p:spPr>
            <a:xfrm>
              <a:off x="4494240" y="3895560"/>
              <a:ext cx="1345320" cy="1732320"/>
            </a:xfrm>
            <a:prstGeom prst="rect">
              <a:avLst/>
            </a:prstGeom>
            <a:noFill/>
            <a:ln w="0">
              <a:noFill/>
            </a:ln>
          </p:spPr>
        </p:pic>
        <p:sp>
          <p:nvSpPr>
            <p:cNvPr id="323" name="TextBox 27"/>
            <p:cNvSpPr/>
            <p:nvPr/>
          </p:nvSpPr>
          <p:spPr>
            <a:xfrm>
              <a:off x="6093360" y="4060800"/>
              <a:ext cx="1020240" cy="4683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2400" b="1" u="none" strike="noStrike">
                  <a:solidFill>
                    <a:schemeClr val="accent1"/>
                  </a:solidFill>
                  <a:effectLst/>
                  <a:uFillTx/>
                  <a:latin typeface="Arial"/>
                  <a:ea typeface="Microsoft YaHei"/>
                </a:rPr>
                <a:t>Bloom</a:t>
              </a:r>
              <a:endParaRPr lang="en-US" sz="2400" b="0" u="none" strike="noStrike">
                <a:solidFill>
                  <a:srgbClr val="000000"/>
                </a:solidFill>
                <a:effectLst/>
                <a:uFillTx/>
                <a:latin typeface="Arial"/>
              </a:endParaRPr>
            </a:p>
          </p:txBody>
        </p:sp>
        <p:sp>
          <p:nvSpPr>
            <p:cNvPr id="324" name="TextBox 28"/>
            <p:cNvSpPr/>
            <p:nvPr/>
          </p:nvSpPr>
          <p:spPr>
            <a:xfrm>
              <a:off x="6098760" y="4511520"/>
              <a:ext cx="853560" cy="2628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50" b="0" u="none" strike="noStrike">
                  <a:solidFill>
                    <a:schemeClr val="accent6"/>
                  </a:solidFill>
                  <a:effectLst/>
                  <a:uFillTx/>
                  <a:latin typeface="Arial"/>
                  <a:ea typeface="Microsoft YaHei"/>
                </a:rPr>
                <a:t>Concept 5</a:t>
              </a:r>
              <a:endParaRPr lang="en-US" sz="1350" b="0" u="none" strike="noStrike">
                <a:solidFill>
                  <a:srgbClr val="000000"/>
                </a:solidFill>
                <a:effectLst/>
                <a:uFillTx/>
                <a:latin typeface="Arial"/>
              </a:endParaRPr>
            </a:p>
          </p:txBody>
        </p:sp>
        <p:sp>
          <p:nvSpPr>
            <p:cNvPr id="325" name="TextBox 29"/>
            <p:cNvSpPr/>
            <p:nvPr/>
          </p:nvSpPr>
          <p:spPr>
            <a:xfrm>
              <a:off x="6097320" y="4987800"/>
              <a:ext cx="1649520" cy="3214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650" b="0" u="none" strike="noStrike">
                  <a:solidFill>
                    <a:schemeClr val="dk1"/>
                  </a:solidFill>
                  <a:effectLst/>
                  <a:uFillTx/>
                  <a:latin typeface="Arial"/>
                  <a:ea typeface="Microsoft YaHei"/>
                </a:rPr>
                <a:t>Petal soft-gel wrap</a:t>
              </a:r>
              <a:endParaRPr lang="en-US" sz="1650" b="0" u="none" strike="noStrike">
                <a:solidFill>
                  <a:srgbClr val="000000"/>
                </a:solidFill>
                <a:effectLst/>
                <a:uFillTx/>
                <a:latin typeface="Arial"/>
              </a:endParaRPr>
            </a:p>
          </p:txBody>
        </p:sp>
        <p:sp>
          <p:nvSpPr>
            <p:cNvPr id="326" name="Rectangle 30"/>
            <p:cNvSpPr/>
            <p:nvPr/>
          </p:nvSpPr>
          <p:spPr>
            <a:xfrm>
              <a:off x="8191440" y="3790800"/>
              <a:ext cx="3504240" cy="1980000"/>
            </a:xfrm>
            <a:prstGeom prst="roundRect">
              <a:avLst>
                <a:gd name="adj" fmla="val 3846"/>
              </a:avLst>
            </a:prstGeom>
            <a:solidFill>
              <a:schemeClr val="accent5"/>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pic>
          <p:nvPicPr>
            <p:cNvPr id="327" name="Image 31"/>
            <p:cNvPicPr/>
            <p:nvPr/>
          </p:nvPicPr>
          <p:blipFill>
            <a:blip r:embed="rId6"/>
            <a:srcRect l="68505" t="25997" r="1499" b="22201"/>
            <a:stretch/>
          </p:blipFill>
          <p:spPr>
            <a:xfrm>
              <a:off x="8315280" y="3942360"/>
              <a:ext cx="1398960" cy="1610640"/>
            </a:xfrm>
            <a:prstGeom prst="rect">
              <a:avLst/>
            </a:prstGeom>
            <a:noFill/>
            <a:ln w="0">
              <a:noFill/>
            </a:ln>
          </p:spPr>
        </p:pic>
        <p:sp>
          <p:nvSpPr>
            <p:cNvPr id="328" name="TextBox 32"/>
            <p:cNvSpPr/>
            <p:nvPr/>
          </p:nvSpPr>
          <p:spPr>
            <a:xfrm>
              <a:off x="9941400" y="4060800"/>
              <a:ext cx="1556640" cy="4683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2400" b="1" u="none" strike="noStrike">
                  <a:solidFill>
                    <a:schemeClr val="accent1"/>
                  </a:solidFill>
                  <a:effectLst/>
                  <a:uFillTx/>
                  <a:latin typeface="Arial"/>
                  <a:ea typeface="Microsoft YaHei"/>
                </a:rPr>
                <a:t>Twin Petal</a:t>
              </a:r>
              <a:endParaRPr lang="en-US" sz="2400" b="0" u="none" strike="noStrike">
                <a:solidFill>
                  <a:srgbClr val="000000"/>
                </a:solidFill>
                <a:effectLst/>
                <a:uFillTx/>
                <a:latin typeface="Arial"/>
              </a:endParaRPr>
            </a:p>
          </p:txBody>
        </p:sp>
        <p:sp>
          <p:nvSpPr>
            <p:cNvPr id="329" name="TextBox 33"/>
            <p:cNvSpPr/>
            <p:nvPr/>
          </p:nvSpPr>
          <p:spPr>
            <a:xfrm>
              <a:off x="9946800" y="4511520"/>
              <a:ext cx="868320" cy="2628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50" b="0" u="none" strike="noStrike">
                  <a:solidFill>
                    <a:schemeClr val="accent6"/>
                  </a:solidFill>
                  <a:effectLst/>
                  <a:uFillTx/>
                  <a:latin typeface="Arial"/>
                  <a:ea typeface="Microsoft YaHei"/>
                </a:rPr>
                <a:t>Concept 6</a:t>
              </a:r>
              <a:endParaRPr lang="en-US" sz="1350" b="0" u="none" strike="noStrike">
                <a:solidFill>
                  <a:srgbClr val="000000"/>
                </a:solidFill>
                <a:effectLst/>
                <a:uFillTx/>
                <a:latin typeface="Arial"/>
              </a:endParaRPr>
            </a:p>
          </p:txBody>
        </p:sp>
        <p:sp>
          <p:nvSpPr>
            <p:cNvPr id="330" name="TextBox 34"/>
            <p:cNvSpPr/>
            <p:nvPr/>
          </p:nvSpPr>
          <p:spPr>
            <a:xfrm>
              <a:off x="9945360" y="4987800"/>
              <a:ext cx="1658880" cy="3214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650" b="0" u="none" strike="noStrike">
                  <a:solidFill>
                    <a:schemeClr val="dk1"/>
                  </a:solidFill>
                  <a:effectLst/>
                  <a:uFillTx/>
                  <a:latin typeface="Arial"/>
                  <a:ea typeface="Microsoft YaHei"/>
                </a:rPr>
                <a:t>Overlapping twin shells</a:t>
              </a:r>
              <a:endParaRPr lang="en-US" sz="1650" b="0" u="none" strike="noStrike">
                <a:solidFill>
                  <a:srgbClr val="000000"/>
                </a:solidFill>
                <a:effectLst/>
                <a:uFillTx/>
                <a:latin typeface="Arial"/>
              </a:endParaRPr>
            </a:p>
          </p:txBody>
        </p:sp>
      </p:grpSp>
      <p:sp>
        <p:nvSpPr>
          <p:cNvPr id="331" name="demo-boundary"/>
          <p:cNvSpPr/>
          <p:nvPr/>
        </p:nvSpPr>
        <p:spPr>
          <a:xfrm>
            <a:off x="488520" y="5997600"/>
            <a:ext cx="4793400" cy="20664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50" b="0" u="none" strike="noStrike">
                <a:solidFill>
                  <a:srgbClr val="66758A"/>
                </a:solidFill>
                <a:effectLst/>
                <a:uFillTx/>
                <a:latin typeface="Arial"/>
                <a:ea typeface="Microsoft YaHei"/>
              </a:rPr>
              <a:t>Six left-ear concepts demonstrate this round's generation flow.</a:t>
            </a:r>
            <a:endParaRPr lang="en-US" sz="1350" b="0" u="none" strike="noStrike">
              <a:solidFill>
                <a:srgbClr val="000000"/>
              </a:solidFill>
              <a:effectLst/>
              <a:uFillTx/>
              <a:latin typeface="Arial"/>
            </a:endParaRPr>
          </a:p>
        </p:txBody>
      </p:sp>
      <p:sp>
        <p:nvSpPr>
          <p:cNvPr id="332" name="footer-label"/>
          <p:cNvSpPr/>
          <p:nvPr/>
        </p:nvSpPr>
        <p:spPr>
          <a:xfrm>
            <a:off x="488520" y="6407280"/>
            <a:ext cx="5456880" cy="2628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50" b="0" u="none" strike="noStrike">
                <a:solidFill>
                  <a:srgbClr val="66758A"/>
                </a:solidFill>
                <a:effectLst/>
                <a:uFillTx/>
                <a:latin typeface="Arial"/>
                <a:ea typeface="Microsoft YaHei"/>
              </a:rPr>
              <a:t>Input features set the generation direction. People compare and select.</a:t>
            </a:r>
            <a:endParaRPr lang="en-US" sz="13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pSp>
        <p:nvGrpSpPr>
          <p:cNvPr id="333" name="header"/>
          <p:cNvGrpSpPr/>
          <p:nvPr/>
        </p:nvGrpSpPr>
        <p:grpSpPr>
          <a:xfrm>
            <a:off x="478440" y="422280"/>
            <a:ext cx="10436040" cy="972360"/>
            <a:chOff x="478440" y="422280"/>
            <a:chExt cx="10436040" cy="972360"/>
          </a:xfrm>
        </p:grpSpPr>
        <p:sp>
          <p:nvSpPr>
            <p:cNvPr id="334" name="TextBox 2"/>
            <p:cNvSpPr/>
            <p:nvPr/>
          </p:nvSpPr>
          <p:spPr>
            <a:xfrm>
              <a:off x="478440" y="422280"/>
              <a:ext cx="7850160" cy="6444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3300" b="1" u="none" strike="noStrike">
                  <a:solidFill>
                    <a:schemeClr val="accent1"/>
                  </a:solidFill>
                  <a:effectLst/>
                  <a:uFillTx/>
                  <a:latin typeface="Arial"/>
                  <a:ea typeface="Microsoft YaHei"/>
                </a:rPr>
                <a:t>Consistency Rules for Concept Images</a:t>
              </a:r>
              <a:endParaRPr lang="en-US" sz="3300" b="0" u="none" strike="noStrike">
                <a:solidFill>
                  <a:srgbClr val="000000"/>
                </a:solidFill>
                <a:effectLst/>
                <a:uFillTx/>
                <a:latin typeface="Arial"/>
              </a:endParaRPr>
            </a:p>
          </p:txBody>
        </p:sp>
        <p:sp>
          <p:nvSpPr>
            <p:cNvPr id="335" name="TextBox 3"/>
            <p:cNvSpPr/>
            <p:nvPr/>
          </p:nvSpPr>
          <p:spPr>
            <a:xfrm>
              <a:off x="487080" y="1073160"/>
              <a:ext cx="10427400" cy="3214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0" u="none" strike="noStrike">
                  <a:solidFill>
                    <a:srgbClr val="66758A"/>
                  </a:solidFill>
                  <a:effectLst/>
                  <a:uFillTx/>
                  <a:latin typeface="Arial"/>
                  <a:ea typeface="Microsoft YaHei"/>
                </a:rPr>
                <a:t>Side, layout, and part relations are written into the generation spec, read by templates, RAG prompts, and tests.</a:t>
              </a:r>
              <a:endParaRPr lang="en-US" sz="1650" b="0" u="none" strike="noStrike">
                <a:solidFill>
                  <a:srgbClr val="000000"/>
                </a:solidFill>
                <a:effectLst/>
                <a:uFillTx/>
                <a:latin typeface="Arial"/>
              </a:endParaRPr>
            </a:p>
          </p:txBody>
        </p:sp>
      </p:grpSp>
      <p:grpSp>
        <p:nvGrpSpPr>
          <p:cNvPr id="336" name="selected-reference"/>
          <p:cNvGrpSpPr/>
          <p:nvPr/>
        </p:nvGrpSpPr>
        <p:grpSpPr>
          <a:xfrm>
            <a:off x="495360" y="1762200"/>
            <a:ext cx="6437880" cy="4294800"/>
            <a:chOff x="495360" y="1762200"/>
            <a:chExt cx="6437880" cy="4294800"/>
          </a:xfrm>
        </p:grpSpPr>
        <p:pic>
          <p:nvPicPr>
            <p:cNvPr id="337" name="Image 5"/>
            <p:cNvPicPr/>
            <p:nvPr/>
          </p:nvPicPr>
          <p:blipFill>
            <a:blip r:embed="rId1"/>
            <a:stretch/>
          </p:blipFill>
          <p:spPr>
            <a:xfrm>
              <a:off x="495360" y="1762200"/>
              <a:ext cx="6437880" cy="4294800"/>
            </a:xfrm>
            <a:prstGeom prst="rect">
              <a:avLst/>
            </a:prstGeom>
            <a:noFill/>
            <a:ln w="0">
              <a:noFill/>
            </a:ln>
          </p:spPr>
        </p:pic>
      </p:grpSp>
      <p:grpSp>
        <p:nvGrpSpPr>
          <p:cNvPr id="338" name="rules-to-consumer"/>
          <p:cNvGrpSpPr/>
          <p:nvPr/>
        </p:nvGrpSpPr>
        <p:grpSpPr>
          <a:xfrm>
            <a:off x="7391520" y="1876320"/>
            <a:ext cx="4388040" cy="4228200"/>
            <a:chOff x="7391520" y="1876320"/>
            <a:chExt cx="4388040" cy="4228200"/>
          </a:xfrm>
        </p:grpSpPr>
        <p:sp>
          <p:nvSpPr>
            <p:cNvPr id="339" name="Ellipse 7"/>
            <p:cNvSpPr/>
            <p:nvPr/>
          </p:nvSpPr>
          <p:spPr>
            <a:xfrm>
              <a:off x="7400880" y="1876320"/>
              <a:ext cx="342000" cy="342000"/>
            </a:xfrm>
            <a:prstGeom prst="ellipse">
              <a:avLst/>
            </a:prstGeom>
            <a:solidFill>
              <a:schemeClr val="accent6"/>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340" name="TextBox 8"/>
            <p:cNvSpPr/>
            <p:nvPr/>
          </p:nvSpPr>
          <p:spPr>
            <a:xfrm>
              <a:off x="7895880" y="1882800"/>
              <a:ext cx="1544400" cy="3801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1" u="none" strike="noStrike">
                  <a:solidFill>
                    <a:schemeClr val="accent1"/>
                  </a:solidFill>
                  <a:effectLst/>
                  <a:uFillTx/>
                  <a:latin typeface="Arial"/>
                  <a:ea typeface="Microsoft YaHei"/>
                </a:rPr>
                <a:t>Left ear only</a:t>
              </a:r>
              <a:endParaRPr lang="en-US" sz="1950" b="0" u="none" strike="noStrike">
                <a:solidFill>
                  <a:srgbClr val="000000"/>
                </a:solidFill>
                <a:effectLst/>
                <a:uFillTx/>
                <a:latin typeface="Arial"/>
              </a:endParaRPr>
            </a:p>
          </p:txBody>
        </p:sp>
        <p:sp>
          <p:nvSpPr>
            <p:cNvPr id="341" name="TextBox 9"/>
            <p:cNvSpPr/>
            <p:nvPr/>
          </p:nvSpPr>
          <p:spPr>
            <a:xfrm>
              <a:off x="7897320" y="2311560"/>
              <a:ext cx="2285280" cy="3214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0" u="none" strike="noStrike">
                  <a:solidFill>
                    <a:schemeClr val="dk1"/>
                  </a:solidFill>
                  <a:effectLst/>
                  <a:uFillTx/>
                  <a:latin typeface="Arial"/>
                  <a:ea typeface="Microsoft YaHei"/>
                </a:rPr>
                <a:t>Original orientation kept</a:t>
              </a:r>
              <a:endParaRPr lang="en-US" sz="1650" b="0" u="none" strike="noStrike">
                <a:solidFill>
                  <a:srgbClr val="000000"/>
                </a:solidFill>
                <a:effectLst/>
                <a:uFillTx/>
                <a:latin typeface="Arial"/>
              </a:endParaRPr>
            </a:p>
          </p:txBody>
        </p:sp>
        <p:sp>
          <p:nvSpPr>
            <p:cNvPr id="342" name="Ellipse 10"/>
            <p:cNvSpPr/>
            <p:nvPr/>
          </p:nvSpPr>
          <p:spPr>
            <a:xfrm>
              <a:off x="7400880" y="2933640"/>
              <a:ext cx="342000" cy="342000"/>
            </a:xfrm>
            <a:prstGeom prst="ellipse">
              <a:avLst/>
            </a:prstGeom>
            <a:solidFill>
              <a:schemeClr val="accent6"/>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343" name="TextBox 11"/>
            <p:cNvSpPr/>
            <p:nvPr/>
          </p:nvSpPr>
          <p:spPr>
            <a:xfrm>
              <a:off x="7895880" y="2940120"/>
              <a:ext cx="1971000" cy="3801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1" u="none" strike="noStrike">
                  <a:solidFill>
                    <a:schemeClr val="accent1"/>
                  </a:solidFill>
                  <a:effectLst/>
                  <a:uFillTx/>
                  <a:latin typeface="Arial"/>
                  <a:ea typeface="Microsoft YaHei"/>
                </a:rPr>
                <a:t>Six-panel layout</a:t>
              </a:r>
              <a:endParaRPr lang="en-US" sz="1950" b="0" u="none" strike="noStrike">
                <a:solidFill>
                  <a:srgbClr val="000000"/>
                </a:solidFill>
                <a:effectLst/>
                <a:uFillTx/>
                <a:latin typeface="Arial"/>
              </a:endParaRPr>
            </a:p>
          </p:txBody>
        </p:sp>
        <p:sp>
          <p:nvSpPr>
            <p:cNvPr id="344" name="TextBox 12"/>
            <p:cNvSpPr/>
            <p:nvPr/>
          </p:nvSpPr>
          <p:spPr>
            <a:xfrm>
              <a:off x="7897320" y="3368520"/>
              <a:ext cx="2747880" cy="3214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0" u="none" strike="noStrike">
                  <a:solidFill>
                    <a:schemeClr val="dk1"/>
                  </a:solidFill>
                  <a:effectLst/>
                  <a:uFillTx/>
                  <a:latin typeface="Arial"/>
                  <a:ea typeface="Microsoft YaHei"/>
                </a:rPr>
                <a:t>Worn / four views / hero</a:t>
              </a:r>
              <a:endParaRPr lang="en-US" sz="1650" b="0" u="none" strike="noStrike">
                <a:solidFill>
                  <a:srgbClr val="000000"/>
                </a:solidFill>
                <a:effectLst/>
                <a:uFillTx/>
                <a:latin typeface="Arial"/>
              </a:endParaRPr>
            </a:p>
          </p:txBody>
        </p:sp>
        <p:sp>
          <p:nvSpPr>
            <p:cNvPr id="345" name="TextBox 13"/>
            <p:cNvSpPr/>
            <p:nvPr/>
          </p:nvSpPr>
          <p:spPr>
            <a:xfrm>
              <a:off x="7897320" y="3701880"/>
              <a:ext cx="2681280" cy="3214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0" u="none" strike="noStrike">
                  <a:solidFill>
                    <a:schemeClr val="dk1"/>
                  </a:solidFill>
                  <a:effectLst/>
                  <a:uFillTx/>
                  <a:latin typeface="Arial"/>
                  <a:ea typeface="Microsoft YaHei"/>
                </a:rPr>
                <a:t>No other panels are kept</a:t>
              </a:r>
              <a:endParaRPr lang="en-US" sz="1650" b="0" u="none" strike="noStrike">
                <a:solidFill>
                  <a:srgbClr val="000000"/>
                </a:solidFill>
                <a:effectLst/>
                <a:uFillTx/>
                <a:latin typeface="Arial"/>
              </a:endParaRPr>
            </a:p>
          </p:txBody>
        </p:sp>
        <p:sp>
          <p:nvSpPr>
            <p:cNvPr id="346" name="Ellipse 14"/>
            <p:cNvSpPr/>
            <p:nvPr/>
          </p:nvSpPr>
          <p:spPr>
            <a:xfrm>
              <a:off x="7400880" y="4314960"/>
              <a:ext cx="342000" cy="342000"/>
            </a:xfrm>
            <a:prstGeom prst="ellipse">
              <a:avLst/>
            </a:prstGeom>
            <a:solidFill>
              <a:schemeClr val="accent6"/>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347" name="TextBox 15"/>
            <p:cNvSpPr/>
            <p:nvPr/>
          </p:nvSpPr>
          <p:spPr>
            <a:xfrm>
              <a:off x="7895880" y="4321080"/>
              <a:ext cx="2962440" cy="3801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1" u="none" strike="noStrike">
                  <a:solidFill>
                    <a:schemeClr val="accent1"/>
                  </a:solidFill>
                  <a:effectLst/>
                  <a:uFillTx/>
                  <a:latin typeface="Arial"/>
                  <a:ea typeface="Microsoft YaHei"/>
                </a:rPr>
                <a:t>Consistent across views</a:t>
              </a:r>
              <a:endParaRPr lang="en-US" sz="1950" b="0" u="none" strike="noStrike">
                <a:solidFill>
                  <a:srgbClr val="000000"/>
                </a:solidFill>
                <a:effectLst/>
                <a:uFillTx/>
                <a:latin typeface="Arial"/>
              </a:endParaRPr>
            </a:p>
          </p:txBody>
        </p:sp>
        <p:sp>
          <p:nvSpPr>
            <p:cNvPr id="348" name="TextBox 16"/>
            <p:cNvSpPr/>
            <p:nvPr/>
          </p:nvSpPr>
          <p:spPr>
            <a:xfrm>
              <a:off x="7897320" y="4749840"/>
              <a:ext cx="3882240" cy="3214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400" b="0" u="none" strike="noStrike">
                  <a:solidFill>
                    <a:schemeClr val="dk1"/>
                  </a:solidFill>
                  <a:effectLst/>
                  <a:uFillTx/>
                  <a:latin typeface="Arial"/>
                  <a:ea typeface="Microsoft YaHei"/>
                </a:rPr>
                <a:t>Shared proportion, joints, materials</a:t>
              </a:r>
              <a:endParaRPr lang="en-US" sz="1400" b="0" u="none" strike="noStrike">
                <a:solidFill>
                  <a:srgbClr val="000000"/>
                </a:solidFill>
                <a:effectLst/>
                <a:uFillTx/>
                <a:latin typeface="Arial"/>
              </a:endParaRPr>
            </a:p>
          </p:txBody>
        </p:sp>
        <p:sp>
          <p:nvSpPr>
            <p:cNvPr id="349" name="Rectangle 17"/>
            <p:cNvSpPr/>
            <p:nvPr/>
          </p:nvSpPr>
          <p:spPr>
            <a:xfrm>
              <a:off x="7391520" y="5305320"/>
              <a:ext cx="4304160" cy="799200"/>
            </a:xfrm>
            <a:prstGeom prst="roundRect">
              <a:avLst>
                <a:gd name="adj" fmla="val 10714"/>
              </a:avLst>
            </a:prstGeom>
            <a:solidFill>
              <a:srgbClr val="F3EEFF"/>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50" name="TextBox 18"/>
            <p:cNvSpPr/>
            <p:nvPr/>
          </p:nvSpPr>
          <p:spPr>
            <a:xfrm>
              <a:off x="7583040" y="5425920"/>
              <a:ext cx="2446920" cy="3214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1" u="none" strike="noStrike">
                  <a:solidFill>
                    <a:schemeClr val="accent6"/>
                  </a:solidFill>
                  <a:effectLst/>
                  <a:uFillTx/>
                  <a:latin typeface="Arial"/>
                  <a:ea typeface="Microsoft YaHei"/>
                </a:rPr>
                <a:t>Next-round entry points</a:t>
              </a:r>
              <a:endParaRPr lang="en-US" sz="1650" b="0" u="none" strike="noStrike">
                <a:solidFill>
                  <a:srgbClr val="000000"/>
                </a:solidFill>
                <a:effectLst/>
                <a:uFillTx/>
                <a:latin typeface="Arial"/>
              </a:endParaRPr>
            </a:p>
          </p:txBody>
        </p:sp>
        <p:sp>
          <p:nvSpPr>
            <p:cNvPr id="351" name="TextBox 19"/>
            <p:cNvSpPr/>
            <p:nvPr/>
          </p:nvSpPr>
          <p:spPr>
            <a:xfrm>
              <a:off x="7584480" y="5778360"/>
              <a:ext cx="3055680" cy="2628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50" b="0" u="none" strike="noStrike">
                  <a:solidFill>
                    <a:schemeClr val="dk1"/>
                  </a:solidFill>
                  <a:effectLst/>
                  <a:uFillTx/>
                  <a:latin typeface="Arial"/>
                  <a:ea typeface="Microsoft YaHei"/>
                </a:rPr>
                <a:t>Spec, references, prompts, tests</a:t>
              </a:r>
              <a:endParaRPr lang="en-US" sz="1350" b="0" u="none" strike="noStrike">
                <a:solidFill>
                  <a:srgbClr val="000000"/>
                </a:solidFill>
                <a:effectLst/>
                <a:uFillTx/>
                <a:latin typeface="Arial"/>
              </a:endParaRPr>
            </a:p>
          </p:txBody>
        </p:sp>
      </p:grpSp>
      <p:sp>
        <p:nvSpPr>
          <p:cNvPr id="352" name="footer-label"/>
          <p:cNvSpPr/>
          <p:nvPr/>
        </p:nvSpPr>
        <p:spPr>
          <a:xfrm>
            <a:off x="488520" y="6407280"/>
            <a:ext cx="6342120" cy="2628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50" b="0" u="none" strike="noStrike">
                <a:solidFill>
                  <a:srgbClr val="66758A"/>
                </a:solidFill>
                <a:effectLst/>
                <a:uFillTx/>
                <a:latin typeface="Arial"/>
                <a:ea typeface="Microsoft YaHei"/>
              </a:rPr>
              <a:t>Consistency rules apply to new concepts. Form, color, and material follow the task.</a:t>
            </a:r>
            <a:endParaRPr lang="en-US" sz="13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pSp>
        <p:nvGrpSpPr>
          <p:cNvPr id="353" name="header"/>
          <p:cNvGrpSpPr/>
          <p:nvPr/>
        </p:nvGrpSpPr>
        <p:grpSpPr>
          <a:xfrm>
            <a:off x="478440" y="384120"/>
            <a:ext cx="11208960" cy="972360"/>
            <a:chOff x="478440" y="384120"/>
            <a:chExt cx="11208960" cy="972360"/>
          </a:xfrm>
        </p:grpSpPr>
        <p:sp>
          <p:nvSpPr>
            <p:cNvPr id="354" name="TextBox 2"/>
            <p:cNvSpPr/>
            <p:nvPr/>
          </p:nvSpPr>
          <p:spPr>
            <a:xfrm>
              <a:off x="478440" y="384120"/>
              <a:ext cx="11200320" cy="64440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3300" b="1" u="none" strike="noStrike">
                  <a:solidFill>
                    <a:srgbClr val="13243A"/>
                  </a:solidFill>
                  <a:effectLst/>
                  <a:uFillTx/>
                  <a:latin typeface="Arial"/>
                  <a:ea typeface="微软雅黑"/>
                </a:rPr>
                <a:t>Growth of AI Collaboration: Stages 1 to 3</a:t>
              </a:r>
              <a:endParaRPr lang="en-US" sz="3300" b="0" u="none" strike="noStrike">
                <a:solidFill>
                  <a:srgbClr val="000000"/>
                </a:solidFill>
                <a:effectLst/>
                <a:uFillTx/>
                <a:latin typeface="Arial"/>
              </a:endParaRPr>
            </a:p>
          </p:txBody>
        </p:sp>
        <p:sp>
          <p:nvSpPr>
            <p:cNvPr id="355" name="TextBox 3"/>
            <p:cNvSpPr/>
            <p:nvPr/>
          </p:nvSpPr>
          <p:spPr>
            <a:xfrm>
              <a:off x="487080" y="1035000"/>
              <a:ext cx="11200320" cy="3214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650" b="0" u="none" strike="noStrike">
                  <a:solidFill>
                    <a:srgbClr val="66758A"/>
                  </a:solidFill>
                  <a:effectLst/>
                  <a:uFillTx/>
                  <a:latin typeface="Arial"/>
                  <a:ea typeface="微软雅黑"/>
                </a:rPr>
                <a:t>Concept images come first. Choose the direction, then turn the concept into an editable 3D model.</a:t>
              </a:r>
              <a:endParaRPr lang="en-US" sz="1650" b="0" u="none" strike="noStrike">
                <a:solidFill>
                  <a:srgbClr val="000000"/>
                </a:solidFill>
                <a:effectLst/>
                <a:uFillTx/>
                <a:latin typeface="Arial"/>
              </a:endParaRPr>
            </a:p>
          </p:txBody>
        </p:sp>
      </p:grpSp>
      <p:sp>
        <p:nvSpPr>
          <p:cNvPr id="356" name="footer-label"/>
          <p:cNvSpPr/>
          <p:nvPr/>
        </p:nvSpPr>
        <p:spPr>
          <a:xfrm>
            <a:off x="488520" y="6473880"/>
            <a:ext cx="6378480" cy="26280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250" b="0" u="none" strike="noStrike">
                <a:solidFill>
                  <a:srgbClr val="66758A"/>
                </a:solidFill>
                <a:effectLst/>
                <a:uFillTx/>
                <a:latin typeface="Arial"/>
                <a:ea typeface="微软雅黑"/>
              </a:rPr>
              <a:t>Six stages grouped by capability. Methods refine each other. Candidates still await review.</a:t>
            </a:r>
            <a:endParaRPr lang="en-US" sz="1250" b="0" u="none" strike="noStrike">
              <a:solidFill>
                <a:srgbClr val="000000"/>
              </a:solidFill>
              <a:effectLst/>
              <a:uFillTx/>
              <a:latin typeface="Arial"/>
            </a:endParaRPr>
          </a:p>
        </p:txBody>
      </p:sp>
      <p:sp>
        <p:nvSpPr>
          <p:cNvPr id="357" name="Line 7"/>
          <p:cNvSpPr/>
          <p:nvPr/>
        </p:nvSpPr>
        <p:spPr>
          <a:xfrm>
            <a:off x="4210200" y="1676520"/>
            <a:ext cx="8280" cy="4428000"/>
          </a:xfrm>
          <a:custGeom>
            <a:avLst/>
            <a:gdLst>
              <a:gd name="textAreaLeft" fmla="*/ 0 w 8280"/>
              <a:gd name="textAreaRight" fmla="*/ 9360 w 8280"/>
              <a:gd name="textAreaTop" fmla="*/ 0 h 4428000"/>
              <a:gd name="textAreaBottom" fmla="*/ 4429080 h 4428000"/>
            </a:gdLst>
            <a:ahLst/>
            <a:cxnLst/>
            <a:rect l="textAreaLeft" t="textAreaTop" r="textAreaRight" b="textAreaBottom"/>
            <a:pathLst>
              <a:path w="9525" h="4429125">
                <a:moveTo>
                  <a:pt x="0" y="0"/>
                </a:moveTo>
                <a:lnTo>
                  <a:pt x="0" y="4429125"/>
                </a:lnTo>
              </a:path>
            </a:pathLst>
          </a:custGeom>
          <a:noFill/>
          <a:ln w="9525">
            <a:solidFill>
              <a:srgbClr val="DCE3EF"/>
            </a:solidFill>
            <a:round/>
          </a:ln>
        </p:spPr>
        <p:style>
          <a:lnRef idx="0"/>
          <a:fillRef idx="0"/>
          <a:effectRef idx="0"/>
          <a:fontRef idx="minor"/>
        </p:style>
        <p:txBody>
          <a:bodyPr lIns="4320" tIns="45000" rIns="4320" bIns="45000" anchor="t">
            <a:noAutofit/>
          </a:bodyPr>
          <a:p>
            <a:pPr/>
            <a:endParaRPr lang="en-US" sz="1800" b="0" u="none" strike="noStrike">
              <a:solidFill>
                <a:srgbClr val="000000"/>
              </a:solidFill>
              <a:effectLst/>
              <a:uFillTx/>
              <a:latin typeface="Arial"/>
            </a:endParaRPr>
          </a:p>
        </p:txBody>
      </p:sp>
      <p:sp>
        <p:nvSpPr>
          <p:cNvPr id="358" name="Line 8"/>
          <p:cNvSpPr/>
          <p:nvPr/>
        </p:nvSpPr>
        <p:spPr>
          <a:xfrm>
            <a:off x="8039160" y="1676520"/>
            <a:ext cx="8280" cy="4428000"/>
          </a:xfrm>
          <a:custGeom>
            <a:avLst/>
            <a:gdLst>
              <a:gd name="textAreaLeft" fmla="*/ 0 w 8280"/>
              <a:gd name="textAreaRight" fmla="*/ 9360 w 8280"/>
              <a:gd name="textAreaTop" fmla="*/ 0 h 4428000"/>
              <a:gd name="textAreaBottom" fmla="*/ 4429080 h 4428000"/>
            </a:gdLst>
            <a:ahLst/>
            <a:cxnLst/>
            <a:rect l="textAreaLeft" t="textAreaTop" r="textAreaRight" b="textAreaBottom"/>
            <a:pathLst>
              <a:path w="9525" h="4429125">
                <a:moveTo>
                  <a:pt x="0" y="0"/>
                </a:moveTo>
                <a:lnTo>
                  <a:pt x="0" y="4429125"/>
                </a:lnTo>
              </a:path>
            </a:pathLst>
          </a:custGeom>
          <a:noFill/>
          <a:ln w="9525">
            <a:solidFill>
              <a:srgbClr val="DCE3EF"/>
            </a:solidFill>
            <a:round/>
          </a:ln>
        </p:spPr>
        <p:style>
          <a:lnRef idx="0"/>
          <a:fillRef idx="0"/>
          <a:effectRef idx="0"/>
          <a:fontRef idx="minor"/>
        </p:style>
        <p:txBody>
          <a:bodyPr lIns="4320" tIns="45000" rIns="4320" bIns="45000" anchor="t">
            <a:noAutofit/>
          </a:bodyPr>
          <a:p>
            <a:pPr/>
            <a:endParaRPr lang="en-US" sz="1800" b="0" u="none" strike="noStrike">
              <a:solidFill>
                <a:srgbClr val="000000"/>
              </a:solidFill>
              <a:effectLst/>
              <a:uFillTx/>
              <a:latin typeface="Arial"/>
            </a:endParaRPr>
          </a:p>
        </p:txBody>
      </p:sp>
      <p:grpSp>
        <p:nvGrpSpPr>
          <p:cNvPr id="359" name="stage-one"/>
          <p:cNvGrpSpPr/>
          <p:nvPr/>
        </p:nvGrpSpPr>
        <p:grpSpPr>
          <a:xfrm>
            <a:off x="495360" y="1711440"/>
            <a:ext cx="3648960" cy="4228200"/>
            <a:chOff x="495360" y="1711440"/>
            <a:chExt cx="3648960" cy="4228200"/>
          </a:xfrm>
        </p:grpSpPr>
        <p:sp>
          <p:nvSpPr>
            <p:cNvPr id="360" name="Rectangle 9"/>
            <p:cNvSpPr/>
            <p:nvPr/>
          </p:nvSpPr>
          <p:spPr>
            <a:xfrm>
              <a:off x="495360" y="1714680"/>
              <a:ext cx="56160" cy="294120"/>
            </a:xfrm>
            <a:prstGeom prst="rect">
              <a:avLst/>
            </a:prstGeom>
            <a:solidFill>
              <a:srgbClr val="069B8A"/>
            </a:solidFill>
            <a:ln w="0">
              <a:noFill/>
            </a:ln>
          </p:spPr>
          <p:style>
            <a:lnRef idx="0"/>
            <a:fillRef idx="0"/>
            <a:effectRef idx="0"/>
            <a:fontRef idx="minor"/>
          </p:style>
          <p:txBody>
            <a:bodyPr lIns="28080" tIns="45000" rIns="28080" bIns="45000" anchor="t">
              <a:noAutofit/>
            </a:bodyPr>
            <a:p>
              <a:pPr/>
              <a:endParaRPr lang="en-US" sz="1800" b="0" u="none" strike="noStrike">
                <a:solidFill>
                  <a:srgbClr val="FFFFFF"/>
                </a:solidFill>
                <a:effectLst/>
                <a:uFillTx/>
                <a:latin typeface="Arial"/>
              </a:endParaRPr>
            </a:p>
          </p:txBody>
        </p:sp>
        <p:sp>
          <p:nvSpPr>
            <p:cNvPr id="361" name="TextBox 10"/>
            <p:cNvSpPr/>
            <p:nvPr/>
          </p:nvSpPr>
          <p:spPr>
            <a:xfrm>
              <a:off x="647280" y="1711440"/>
              <a:ext cx="2246040" cy="3801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1" u="none" strike="noStrike">
                  <a:solidFill>
                    <a:srgbClr val="13243A"/>
                  </a:solidFill>
                  <a:effectLst/>
                  <a:uFillTx/>
                  <a:latin typeface="Arial"/>
                  <a:ea typeface="微软雅黑"/>
                </a:rPr>
                <a:t>1 Rough geometry</a:t>
              </a:r>
              <a:endParaRPr lang="en-US" sz="1950" b="0" u="none" strike="noStrike">
                <a:solidFill>
                  <a:srgbClr val="000000"/>
                </a:solidFill>
                <a:effectLst/>
                <a:uFillTx/>
                <a:latin typeface="Arial"/>
              </a:endParaRPr>
            </a:p>
          </p:txBody>
        </p:sp>
        <p:pic>
          <p:nvPicPr>
            <p:cNvPr id="362" name="Image 11"/>
            <p:cNvPicPr/>
            <p:nvPr/>
          </p:nvPicPr>
          <p:blipFill>
            <a:blip r:embed="rId1"/>
            <a:stretch/>
          </p:blipFill>
          <p:spPr>
            <a:xfrm>
              <a:off x="1326240" y="2219400"/>
              <a:ext cx="1860840" cy="1599120"/>
            </a:xfrm>
            <a:prstGeom prst="rect">
              <a:avLst/>
            </a:prstGeom>
            <a:noFill/>
            <a:ln w="0">
              <a:noFill/>
            </a:ln>
          </p:spPr>
        </p:pic>
        <p:sp>
          <p:nvSpPr>
            <p:cNvPr id="363" name="TextBox 12"/>
            <p:cNvSpPr/>
            <p:nvPr/>
          </p:nvSpPr>
          <p:spPr>
            <a:xfrm>
              <a:off x="621720" y="3892680"/>
              <a:ext cx="3102120" cy="2628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50" b="0" u="none" strike="noStrike">
                  <a:solidFill>
                    <a:srgbClr val="66758A"/>
                  </a:solidFill>
                  <a:effectLst/>
                  <a:uFillTx/>
                  <a:latin typeface="Arial"/>
                  <a:ea typeface="微软雅黑"/>
                </a:rPr>
                <a:t>Early trial: geometry, thin evidence.</a:t>
              </a:r>
              <a:endParaRPr lang="en-US" sz="1250" b="0" u="none" strike="noStrike">
                <a:solidFill>
                  <a:srgbClr val="000000"/>
                </a:solidFill>
                <a:effectLst/>
                <a:uFillTx/>
                <a:latin typeface="Arial"/>
              </a:endParaRPr>
            </a:p>
          </p:txBody>
        </p:sp>
        <p:sp>
          <p:nvSpPr>
            <p:cNvPr id="364" name="TextBox 13"/>
            <p:cNvSpPr/>
            <p:nvPr/>
          </p:nvSpPr>
          <p:spPr>
            <a:xfrm>
              <a:off x="621720" y="4321080"/>
              <a:ext cx="398520" cy="2628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50" b="1" u="none" strike="noStrike">
                  <a:solidFill>
                    <a:srgbClr val="66758A"/>
                  </a:solidFill>
                  <a:effectLst/>
                  <a:uFillTx/>
                  <a:latin typeface="Arial"/>
                  <a:ea typeface="微软雅黑"/>
                </a:rPr>
                <a:t>Skill</a:t>
              </a:r>
              <a:endParaRPr lang="en-US" sz="1250" b="0" u="none" strike="noStrike">
                <a:solidFill>
                  <a:srgbClr val="000000"/>
                </a:solidFill>
                <a:effectLst/>
                <a:uFillTx/>
                <a:latin typeface="Arial"/>
              </a:endParaRPr>
            </a:p>
          </p:txBody>
        </p:sp>
        <p:sp>
          <p:nvSpPr>
            <p:cNvPr id="365" name="TextBox 14"/>
            <p:cNvSpPr/>
            <p:nvPr/>
          </p:nvSpPr>
          <p:spPr>
            <a:xfrm>
              <a:off x="1114200" y="4245120"/>
              <a:ext cx="2866320" cy="3801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0" u="none" strike="noStrike">
                  <a:solidFill>
                    <a:srgbClr val="24364C"/>
                  </a:solidFill>
                  <a:effectLst/>
                  <a:uFillTx/>
                  <a:latin typeface="Arial"/>
                  <a:ea typeface="微软雅黑"/>
                </a:rPr>
                <a:t>Needs to rough geometry</a:t>
              </a:r>
              <a:endParaRPr lang="en-US" sz="1950" b="0" u="none" strike="noStrike">
                <a:solidFill>
                  <a:srgbClr val="000000"/>
                </a:solidFill>
                <a:effectLst/>
                <a:uFillTx/>
                <a:latin typeface="Arial"/>
              </a:endParaRPr>
            </a:p>
          </p:txBody>
        </p:sp>
        <p:sp>
          <p:nvSpPr>
            <p:cNvPr id="366" name="TextBox 15"/>
            <p:cNvSpPr/>
            <p:nvPr/>
          </p:nvSpPr>
          <p:spPr>
            <a:xfrm>
              <a:off x="621720" y="4759200"/>
              <a:ext cx="380880" cy="2628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50" b="1" u="none" strike="noStrike">
                  <a:solidFill>
                    <a:srgbClr val="66758A"/>
                  </a:solidFill>
                  <a:effectLst/>
                  <a:uFillTx/>
                  <a:latin typeface="Arial"/>
                  <a:ea typeface="微软雅黑"/>
                </a:rPr>
                <a:t>Gap</a:t>
              </a:r>
              <a:endParaRPr lang="en-US" sz="1250" b="0" u="none" strike="noStrike">
                <a:solidFill>
                  <a:srgbClr val="000000"/>
                </a:solidFill>
                <a:effectLst/>
                <a:uFillTx/>
                <a:latin typeface="Arial"/>
              </a:endParaRPr>
            </a:p>
          </p:txBody>
        </p:sp>
        <p:sp>
          <p:nvSpPr>
            <p:cNvPr id="367" name="TextBox 16"/>
            <p:cNvSpPr/>
            <p:nvPr/>
          </p:nvSpPr>
          <p:spPr>
            <a:xfrm>
              <a:off x="1114200" y="4683240"/>
              <a:ext cx="2921760" cy="3801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0" u="none" strike="noStrike">
                  <a:solidFill>
                    <a:srgbClr val="66758A"/>
                  </a:solidFill>
                  <a:effectLst/>
                  <a:uFillTx/>
                  <a:latin typeface="Arial"/>
                  <a:ea typeface="微软雅黑"/>
                </a:rPr>
                <a:t>Modeling lacked evidence</a:t>
              </a:r>
              <a:endParaRPr lang="en-US" sz="1950" b="0" u="none" strike="noStrike">
                <a:solidFill>
                  <a:srgbClr val="000000"/>
                </a:solidFill>
                <a:effectLst/>
                <a:uFillTx/>
                <a:latin typeface="Arial"/>
              </a:endParaRPr>
            </a:p>
          </p:txBody>
        </p:sp>
        <p:sp>
          <p:nvSpPr>
            <p:cNvPr id="368" name="TextBox 17"/>
            <p:cNvSpPr/>
            <p:nvPr/>
          </p:nvSpPr>
          <p:spPr>
            <a:xfrm>
              <a:off x="621720" y="5197320"/>
              <a:ext cx="416160" cy="2628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50" b="1" u="none" strike="noStrike">
                  <a:solidFill>
                    <a:srgbClr val="3662EA"/>
                  </a:solidFill>
                  <a:effectLst/>
                  <a:uFillTx/>
                  <a:latin typeface="Arial"/>
                  <a:ea typeface="微软雅黑"/>
                </a:rPr>
                <a:t>Step</a:t>
              </a:r>
              <a:endParaRPr lang="en-US" sz="1250" b="0" u="none" strike="noStrike">
                <a:solidFill>
                  <a:srgbClr val="000000"/>
                </a:solidFill>
                <a:effectLst/>
                <a:uFillTx/>
                <a:latin typeface="Arial"/>
              </a:endParaRPr>
            </a:p>
          </p:txBody>
        </p:sp>
        <p:sp>
          <p:nvSpPr>
            <p:cNvPr id="369" name="TextBox 18"/>
            <p:cNvSpPr/>
            <p:nvPr/>
          </p:nvSpPr>
          <p:spPr>
            <a:xfrm>
              <a:off x="1114200" y="5121360"/>
              <a:ext cx="2865960" cy="3801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0" u="none" strike="noStrike">
                  <a:solidFill>
                    <a:srgbClr val="3662EA"/>
                  </a:solidFill>
                  <a:effectLst/>
                  <a:uFillTx/>
                  <a:latin typeface="Arial"/>
                  <a:ea typeface="微软雅黑"/>
                </a:rPr>
                <a:t>Concept first, human pick</a:t>
              </a:r>
              <a:endParaRPr lang="en-US" sz="1950" b="0" u="none" strike="noStrike">
                <a:solidFill>
                  <a:srgbClr val="000000"/>
                </a:solidFill>
                <a:effectLst/>
                <a:uFillTx/>
                <a:latin typeface="Arial"/>
              </a:endParaRPr>
            </a:p>
          </p:txBody>
        </p:sp>
        <p:sp>
          <p:nvSpPr>
            <p:cNvPr id="370" name="TextBox 19"/>
            <p:cNvSpPr/>
            <p:nvPr/>
          </p:nvSpPr>
          <p:spPr>
            <a:xfrm>
              <a:off x="621720" y="5635800"/>
              <a:ext cx="424800" cy="2628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50" b="1" u="none" strike="noStrike">
                  <a:solidFill>
                    <a:srgbClr val="069B8A"/>
                  </a:solidFill>
                  <a:effectLst/>
                  <a:uFillTx/>
                  <a:latin typeface="Arial"/>
                  <a:ea typeface="微软雅黑"/>
                </a:rPr>
                <a:t>Gain</a:t>
              </a:r>
              <a:endParaRPr lang="en-US" sz="1250" b="0" u="none" strike="noStrike">
                <a:solidFill>
                  <a:srgbClr val="000000"/>
                </a:solidFill>
                <a:effectLst/>
                <a:uFillTx/>
                <a:latin typeface="Arial"/>
              </a:endParaRPr>
            </a:p>
          </p:txBody>
        </p:sp>
        <p:sp>
          <p:nvSpPr>
            <p:cNvPr id="371" name="TextBox 20"/>
            <p:cNvSpPr/>
            <p:nvPr/>
          </p:nvSpPr>
          <p:spPr>
            <a:xfrm>
              <a:off x="1114200" y="5559480"/>
              <a:ext cx="3030120" cy="3801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1" u="none" strike="noStrike">
                  <a:solidFill>
                    <a:srgbClr val="069B8A"/>
                  </a:solidFill>
                  <a:effectLst/>
                  <a:uFillTx/>
                  <a:latin typeface="Arial"/>
                  <a:ea typeface="微软雅黑"/>
                </a:rPr>
                <a:t>Set direction, then model</a:t>
              </a:r>
              <a:endParaRPr lang="en-US" sz="1950" b="0" u="none" strike="noStrike">
                <a:solidFill>
                  <a:srgbClr val="000000"/>
                </a:solidFill>
                <a:effectLst/>
                <a:uFillTx/>
                <a:latin typeface="Arial"/>
              </a:endParaRPr>
            </a:p>
          </p:txBody>
        </p:sp>
      </p:grpSp>
      <p:grpSp>
        <p:nvGrpSpPr>
          <p:cNvPr id="372" name="stage-two"/>
          <p:cNvGrpSpPr/>
          <p:nvPr/>
        </p:nvGrpSpPr>
        <p:grpSpPr>
          <a:xfrm>
            <a:off x="4324320" y="1711440"/>
            <a:ext cx="3354840" cy="4228200"/>
            <a:chOff x="4324320" y="1711440"/>
            <a:chExt cx="3354840" cy="4228200"/>
          </a:xfrm>
        </p:grpSpPr>
        <p:sp>
          <p:nvSpPr>
            <p:cNvPr id="373" name="Rectangle 22"/>
            <p:cNvSpPr/>
            <p:nvPr/>
          </p:nvSpPr>
          <p:spPr>
            <a:xfrm>
              <a:off x="4324320" y="1714680"/>
              <a:ext cx="56160" cy="294120"/>
            </a:xfrm>
            <a:prstGeom prst="rect">
              <a:avLst/>
            </a:prstGeom>
            <a:solidFill>
              <a:srgbClr val="8B5CF6"/>
            </a:solidFill>
            <a:ln w="0">
              <a:noFill/>
            </a:ln>
          </p:spPr>
          <p:style>
            <a:lnRef idx="0"/>
            <a:fillRef idx="0"/>
            <a:effectRef idx="0"/>
            <a:fontRef idx="minor"/>
          </p:style>
          <p:txBody>
            <a:bodyPr lIns="28080" tIns="45000" rIns="28080" bIns="45000" anchor="t">
              <a:noAutofit/>
            </a:bodyPr>
            <a:p>
              <a:pPr/>
              <a:endParaRPr lang="en-US" sz="1800" b="0" u="none" strike="noStrike">
                <a:solidFill>
                  <a:srgbClr val="FFFFFF"/>
                </a:solidFill>
                <a:effectLst/>
                <a:uFillTx/>
                <a:latin typeface="Arial"/>
              </a:endParaRPr>
            </a:p>
          </p:txBody>
        </p:sp>
        <p:sp>
          <p:nvSpPr>
            <p:cNvPr id="374" name="TextBox 23"/>
            <p:cNvSpPr/>
            <p:nvPr/>
          </p:nvSpPr>
          <p:spPr>
            <a:xfrm>
              <a:off x="4476240" y="1711440"/>
              <a:ext cx="2892960" cy="2988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1" u="none" strike="noStrike">
                  <a:solidFill>
                    <a:srgbClr val="13243A"/>
                  </a:solidFill>
                  <a:effectLst/>
                  <a:uFillTx/>
                  <a:latin typeface="Arial"/>
                  <a:ea typeface="微软雅黑"/>
                </a:rPr>
                <a:t>2 </a:t>
              </a:r>
              <a:r>
                <a:rPr lang="en-US" sz="1950" b="1" u="none" strike="noStrike">
                  <a:solidFill>
                    <a:schemeClr val="accent1"/>
                  </a:solidFill>
                  <a:effectLst/>
                  <a:uFillTx/>
                  <a:latin typeface="Arial"/>
                  <a:ea typeface="Microsoft YaHei"/>
                </a:rPr>
                <a:t>2D first, then translate</a:t>
              </a:r>
              <a:endParaRPr lang="en-US" sz="1950" b="0" u="none" strike="noStrike">
                <a:solidFill>
                  <a:srgbClr val="000000"/>
                </a:solidFill>
                <a:effectLst/>
                <a:uFillTx/>
                <a:latin typeface="Arial"/>
              </a:endParaRPr>
            </a:p>
          </p:txBody>
        </p:sp>
        <p:sp>
          <p:nvSpPr>
            <p:cNvPr id="375" name="TextBox 28"/>
            <p:cNvSpPr/>
            <p:nvPr/>
          </p:nvSpPr>
          <p:spPr>
            <a:xfrm>
              <a:off x="4450680" y="3892680"/>
              <a:ext cx="3160080" cy="2628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50" b="0" u="none" strike="noStrike">
                  <a:solidFill>
                    <a:srgbClr val="66758A"/>
                  </a:solidFill>
                  <a:effectLst/>
                  <a:uFillTx/>
                  <a:latin typeface="Arial"/>
                  <a:ea typeface="微软雅黑"/>
                </a:rPr>
                <a:t>Early 2D outline excerpt. Concept fixed first.</a:t>
              </a:r>
              <a:endParaRPr lang="en-US" sz="1250" b="0" u="none" strike="noStrike">
                <a:solidFill>
                  <a:srgbClr val="000000"/>
                </a:solidFill>
                <a:effectLst/>
                <a:uFillTx/>
                <a:latin typeface="Arial"/>
              </a:endParaRPr>
            </a:p>
          </p:txBody>
        </p:sp>
        <p:sp>
          <p:nvSpPr>
            <p:cNvPr id="376" name="TextBox 29"/>
            <p:cNvSpPr/>
            <p:nvPr/>
          </p:nvSpPr>
          <p:spPr>
            <a:xfrm>
              <a:off x="4450680" y="4321080"/>
              <a:ext cx="398520" cy="2628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50" b="1" u="none" strike="noStrike">
                  <a:solidFill>
                    <a:srgbClr val="66758A"/>
                  </a:solidFill>
                  <a:effectLst/>
                  <a:uFillTx/>
                  <a:latin typeface="Arial"/>
                  <a:ea typeface="微软雅黑"/>
                </a:rPr>
                <a:t>Skill</a:t>
              </a:r>
              <a:endParaRPr lang="en-US" sz="1250" b="0" u="none" strike="noStrike">
                <a:solidFill>
                  <a:srgbClr val="000000"/>
                </a:solidFill>
                <a:effectLst/>
                <a:uFillTx/>
                <a:latin typeface="Arial"/>
              </a:endParaRPr>
            </a:p>
          </p:txBody>
        </p:sp>
        <p:sp>
          <p:nvSpPr>
            <p:cNvPr id="377" name="TextBox 30"/>
            <p:cNvSpPr/>
            <p:nvPr/>
          </p:nvSpPr>
          <p:spPr>
            <a:xfrm>
              <a:off x="4943160" y="4245120"/>
              <a:ext cx="2673360" cy="3801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0" u="none" strike="noStrike">
                  <a:solidFill>
                    <a:srgbClr val="24364C"/>
                  </a:solidFill>
                  <a:effectLst/>
                  <a:uFillTx/>
                  <a:latin typeface="Arial"/>
                  <a:ea typeface="微软雅黑"/>
                </a:rPr>
                <a:t>Compared 2D concepts</a:t>
              </a:r>
              <a:endParaRPr lang="en-US" sz="1950" b="0" u="none" strike="noStrike">
                <a:solidFill>
                  <a:srgbClr val="000000"/>
                </a:solidFill>
                <a:effectLst/>
                <a:uFillTx/>
                <a:latin typeface="Arial"/>
              </a:endParaRPr>
            </a:p>
          </p:txBody>
        </p:sp>
        <p:sp>
          <p:nvSpPr>
            <p:cNvPr id="378" name="TextBox 31"/>
            <p:cNvSpPr/>
            <p:nvPr/>
          </p:nvSpPr>
          <p:spPr>
            <a:xfrm>
              <a:off x="4450680" y="4759200"/>
              <a:ext cx="380880" cy="2628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50" b="1" u="none" strike="noStrike">
                  <a:solidFill>
                    <a:srgbClr val="66758A"/>
                  </a:solidFill>
                  <a:effectLst/>
                  <a:uFillTx/>
                  <a:latin typeface="Arial"/>
                  <a:ea typeface="微软雅黑"/>
                </a:rPr>
                <a:t>Gap</a:t>
              </a:r>
              <a:endParaRPr lang="en-US" sz="1250" b="0" u="none" strike="noStrike">
                <a:solidFill>
                  <a:srgbClr val="000000"/>
                </a:solidFill>
                <a:effectLst/>
                <a:uFillTx/>
                <a:latin typeface="Arial"/>
              </a:endParaRPr>
            </a:p>
          </p:txBody>
        </p:sp>
        <p:sp>
          <p:nvSpPr>
            <p:cNvPr id="379" name="TextBox 32"/>
            <p:cNvSpPr/>
            <p:nvPr/>
          </p:nvSpPr>
          <p:spPr>
            <a:xfrm>
              <a:off x="4943160" y="4683240"/>
              <a:ext cx="2398680" cy="2988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0" u="none" strike="noStrike">
                  <a:solidFill>
                    <a:srgbClr val="66758A"/>
                  </a:solidFill>
                  <a:effectLst/>
                  <a:uFillTx/>
                  <a:latin typeface="Arial"/>
                  <a:ea typeface="微软雅黑"/>
                </a:rPr>
                <a:t>No concept guidance</a:t>
              </a:r>
              <a:endParaRPr lang="en-US" sz="1950" b="0" u="none" strike="noStrike">
                <a:solidFill>
                  <a:srgbClr val="000000"/>
                </a:solidFill>
                <a:effectLst/>
                <a:uFillTx/>
                <a:latin typeface="Arial"/>
              </a:endParaRPr>
            </a:p>
          </p:txBody>
        </p:sp>
        <p:sp>
          <p:nvSpPr>
            <p:cNvPr id="380" name="TextBox 33"/>
            <p:cNvSpPr/>
            <p:nvPr/>
          </p:nvSpPr>
          <p:spPr>
            <a:xfrm>
              <a:off x="4450680" y="5197320"/>
              <a:ext cx="416160" cy="2628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50" b="1" u="none" strike="noStrike">
                  <a:solidFill>
                    <a:srgbClr val="3662EA"/>
                  </a:solidFill>
                  <a:effectLst/>
                  <a:uFillTx/>
                  <a:latin typeface="Arial"/>
                  <a:ea typeface="微软雅黑"/>
                </a:rPr>
                <a:t>Step</a:t>
              </a:r>
              <a:endParaRPr lang="en-US" sz="1250" b="0" u="none" strike="noStrike">
                <a:solidFill>
                  <a:srgbClr val="000000"/>
                </a:solidFill>
                <a:effectLst/>
                <a:uFillTx/>
                <a:latin typeface="Arial"/>
              </a:endParaRPr>
            </a:p>
          </p:txBody>
        </p:sp>
        <p:sp>
          <p:nvSpPr>
            <p:cNvPr id="381" name="TextBox 34"/>
            <p:cNvSpPr/>
            <p:nvPr/>
          </p:nvSpPr>
          <p:spPr>
            <a:xfrm>
              <a:off x="4943160" y="5121360"/>
              <a:ext cx="2643840" cy="3801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0" u="none" strike="noStrike">
                  <a:solidFill>
                    <a:srgbClr val="3662EA"/>
                  </a:solidFill>
                  <a:effectLst/>
                  <a:uFillTx/>
                  <a:latin typeface="Arial"/>
                  <a:ea typeface="微软雅黑"/>
                </a:rPr>
                <a:t>Concept first, then lock</a:t>
              </a:r>
              <a:endParaRPr lang="en-US" sz="1950" b="0" u="none" strike="noStrike">
                <a:solidFill>
                  <a:srgbClr val="000000"/>
                </a:solidFill>
                <a:effectLst/>
                <a:uFillTx/>
                <a:latin typeface="Arial"/>
              </a:endParaRPr>
            </a:p>
          </p:txBody>
        </p:sp>
        <p:sp>
          <p:nvSpPr>
            <p:cNvPr id="382" name="TextBox 35"/>
            <p:cNvSpPr/>
            <p:nvPr/>
          </p:nvSpPr>
          <p:spPr>
            <a:xfrm>
              <a:off x="4450680" y="5635800"/>
              <a:ext cx="424800" cy="2628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50" b="1" u="none" strike="noStrike">
                  <a:solidFill>
                    <a:srgbClr val="069B8A"/>
                  </a:solidFill>
                  <a:effectLst/>
                  <a:uFillTx/>
                  <a:latin typeface="Arial"/>
                  <a:ea typeface="微软雅黑"/>
                </a:rPr>
                <a:t>Gain</a:t>
              </a:r>
              <a:endParaRPr lang="en-US" sz="1250" b="0" u="none" strike="noStrike">
                <a:solidFill>
                  <a:srgbClr val="000000"/>
                </a:solidFill>
                <a:effectLst/>
                <a:uFillTx/>
                <a:latin typeface="Arial"/>
              </a:endParaRPr>
            </a:p>
          </p:txBody>
        </p:sp>
        <p:sp>
          <p:nvSpPr>
            <p:cNvPr id="383" name="TextBox 36"/>
            <p:cNvSpPr/>
            <p:nvPr/>
          </p:nvSpPr>
          <p:spPr>
            <a:xfrm>
              <a:off x="4943160" y="5559480"/>
              <a:ext cx="2736000" cy="3801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1" u="none" strike="noStrike">
                  <a:solidFill>
                    <a:srgbClr val="069B8A"/>
                  </a:solidFill>
                  <a:effectLst/>
                  <a:uFillTx/>
                  <a:latin typeface="Arial"/>
                  <a:ea typeface="微软雅黑"/>
                </a:rPr>
                <a:t>Chosen concept to 3D</a:t>
              </a:r>
              <a:endParaRPr lang="en-US" sz="1950" b="0" u="none" strike="noStrike">
                <a:solidFill>
                  <a:srgbClr val="000000"/>
                </a:solidFill>
                <a:effectLst/>
                <a:uFillTx/>
                <a:latin typeface="Arial"/>
              </a:endParaRPr>
            </a:p>
          </p:txBody>
        </p:sp>
      </p:grpSp>
      <p:grpSp>
        <p:nvGrpSpPr>
          <p:cNvPr id="384" name="stage-three"/>
          <p:cNvGrpSpPr/>
          <p:nvPr/>
        </p:nvGrpSpPr>
        <p:grpSpPr>
          <a:xfrm>
            <a:off x="8153280" y="1711440"/>
            <a:ext cx="3663720" cy="4228200"/>
            <a:chOff x="8153280" y="1711440"/>
            <a:chExt cx="3663720" cy="4228200"/>
          </a:xfrm>
        </p:grpSpPr>
        <p:sp>
          <p:nvSpPr>
            <p:cNvPr id="385" name="Rectangle 38"/>
            <p:cNvSpPr/>
            <p:nvPr/>
          </p:nvSpPr>
          <p:spPr>
            <a:xfrm>
              <a:off x="8153280" y="1714680"/>
              <a:ext cx="56160" cy="294120"/>
            </a:xfrm>
            <a:prstGeom prst="rect">
              <a:avLst/>
            </a:prstGeom>
            <a:solidFill>
              <a:srgbClr val="D98D2B"/>
            </a:solidFill>
            <a:ln w="0">
              <a:noFill/>
            </a:ln>
          </p:spPr>
          <p:style>
            <a:lnRef idx="0"/>
            <a:fillRef idx="0"/>
            <a:effectRef idx="0"/>
            <a:fontRef idx="minor"/>
          </p:style>
          <p:txBody>
            <a:bodyPr lIns="28080" tIns="45000" rIns="28080" bIns="45000" anchor="t">
              <a:noAutofit/>
            </a:bodyPr>
            <a:p>
              <a:pPr/>
              <a:endParaRPr lang="en-US" sz="1800" b="0" u="none" strike="noStrike">
                <a:solidFill>
                  <a:srgbClr val="FFFFFF"/>
                </a:solidFill>
                <a:effectLst/>
                <a:uFillTx/>
                <a:latin typeface="Arial"/>
              </a:endParaRPr>
            </a:p>
          </p:txBody>
        </p:sp>
        <p:sp>
          <p:nvSpPr>
            <p:cNvPr id="386" name="TextBox 39"/>
            <p:cNvSpPr/>
            <p:nvPr/>
          </p:nvSpPr>
          <p:spPr>
            <a:xfrm>
              <a:off x="8305560" y="1711440"/>
              <a:ext cx="3003120" cy="3801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1" u="none" strike="noStrike">
                  <a:solidFill>
                    <a:srgbClr val="13243A"/>
                  </a:solidFill>
                  <a:effectLst/>
                  <a:uFillTx/>
                  <a:latin typeface="Arial"/>
                  <a:ea typeface="微软雅黑"/>
                </a:rPr>
                <a:t>3 Concept and 3D review</a:t>
              </a:r>
              <a:endParaRPr lang="en-US" sz="1950" b="0" u="none" strike="noStrike">
                <a:solidFill>
                  <a:srgbClr val="000000"/>
                </a:solidFill>
                <a:effectLst/>
                <a:uFillTx/>
                <a:latin typeface="Arial"/>
              </a:endParaRPr>
            </a:p>
          </p:txBody>
        </p:sp>
        <p:sp>
          <p:nvSpPr>
            <p:cNvPr id="387" name="TextBox 40"/>
            <p:cNvSpPr/>
            <p:nvPr/>
          </p:nvSpPr>
          <p:spPr>
            <a:xfrm>
              <a:off x="8327520" y="2168640"/>
              <a:ext cx="1024920" cy="2628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50" b="0" u="none" strike="noStrike">
                  <a:solidFill>
                    <a:srgbClr val="66758A"/>
                  </a:solidFill>
                  <a:effectLst/>
                  <a:uFillTx/>
                  <a:latin typeface="Arial"/>
                  <a:ea typeface="微软雅黑"/>
                </a:rPr>
                <a:t>Concept front</a:t>
              </a:r>
              <a:endParaRPr lang="en-US" sz="1250" b="0" u="none" strike="noStrike">
                <a:solidFill>
                  <a:srgbClr val="000000"/>
                </a:solidFill>
                <a:effectLst/>
                <a:uFillTx/>
                <a:latin typeface="Arial"/>
              </a:endParaRPr>
            </a:p>
          </p:txBody>
        </p:sp>
        <p:sp>
          <p:nvSpPr>
            <p:cNvPr id="388" name="TextBox 41"/>
            <p:cNvSpPr/>
            <p:nvPr/>
          </p:nvSpPr>
          <p:spPr>
            <a:xfrm>
              <a:off x="9994320" y="2168640"/>
              <a:ext cx="866160" cy="2628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50" b="0" u="none" strike="noStrike">
                  <a:solidFill>
                    <a:srgbClr val="66758A"/>
                  </a:solidFill>
                  <a:effectLst/>
                  <a:uFillTx/>
                  <a:latin typeface="Arial"/>
                  <a:ea typeface="微软雅黑"/>
                </a:rPr>
                <a:t>Model front</a:t>
              </a:r>
              <a:endParaRPr lang="en-US" sz="1250" b="0" u="none" strike="noStrike">
                <a:solidFill>
                  <a:srgbClr val="000000"/>
                </a:solidFill>
                <a:effectLst/>
                <a:uFillTx/>
                <a:latin typeface="Arial"/>
              </a:endParaRPr>
            </a:p>
          </p:txBody>
        </p:sp>
        <p:pic>
          <p:nvPicPr>
            <p:cNvPr id="389" name="Image 42"/>
            <p:cNvPicPr/>
            <p:nvPr/>
          </p:nvPicPr>
          <p:blipFill>
            <a:blip r:embed="rId2"/>
            <a:srcRect l="49304" t="0" r="29303" b="50005"/>
            <a:stretch/>
          </p:blipFill>
          <p:spPr>
            <a:xfrm>
              <a:off x="8344080" y="2476440"/>
              <a:ext cx="916200" cy="1427760"/>
            </a:xfrm>
            <a:prstGeom prst="rect">
              <a:avLst/>
            </a:prstGeom>
            <a:noFill/>
            <a:ln w="0">
              <a:noFill/>
            </a:ln>
          </p:spPr>
        </p:pic>
        <p:pic>
          <p:nvPicPr>
            <p:cNvPr id="390" name="Image 43"/>
            <p:cNvPicPr/>
            <p:nvPr/>
          </p:nvPicPr>
          <p:blipFill>
            <a:blip r:embed="rId3"/>
            <a:stretch/>
          </p:blipFill>
          <p:spPr>
            <a:xfrm>
              <a:off x="10001160" y="2476440"/>
              <a:ext cx="1223640" cy="1427760"/>
            </a:xfrm>
            <a:prstGeom prst="rect">
              <a:avLst/>
            </a:prstGeom>
            <a:noFill/>
            <a:ln w="0">
              <a:noFill/>
            </a:ln>
          </p:spPr>
        </p:pic>
        <p:sp>
          <p:nvSpPr>
            <p:cNvPr id="391" name="Line 44"/>
            <p:cNvSpPr/>
            <p:nvPr/>
          </p:nvSpPr>
          <p:spPr>
            <a:xfrm>
              <a:off x="9439200" y="3190680"/>
              <a:ext cx="371520" cy="360"/>
            </a:xfrm>
            <a:prstGeom prst="line">
              <a:avLst/>
            </a:prstGeom>
            <a:ln w="19050">
              <a:solidFill>
                <a:srgbClr val="3662EA"/>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392" name="TextBox 45"/>
            <p:cNvSpPr/>
            <p:nvPr/>
          </p:nvSpPr>
          <p:spPr>
            <a:xfrm>
              <a:off x="8280000" y="3892680"/>
              <a:ext cx="2920320" cy="2628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50" b="0" u="none" strike="noStrike">
                  <a:solidFill>
                    <a:srgbClr val="66758A"/>
                  </a:solidFill>
                  <a:effectLst/>
                  <a:uFillTx/>
                  <a:latin typeface="Arial"/>
                  <a:ea typeface="微软雅黑"/>
                </a:rPr>
                <a:t>Newer method: one-reference check.</a:t>
              </a:r>
              <a:endParaRPr lang="en-US" sz="1250" b="0" u="none" strike="noStrike">
                <a:solidFill>
                  <a:srgbClr val="000000"/>
                </a:solidFill>
                <a:effectLst/>
                <a:uFillTx/>
                <a:latin typeface="Arial"/>
              </a:endParaRPr>
            </a:p>
          </p:txBody>
        </p:sp>
        <p:sp>
          <p:nvSpPr>
            <p:cNvPr id="393" name="TextBox 48"/>
            <p:cNvSpPr/>
            <p:nvPr/>
          </p:nvSpPr>
          <p:spPr>
            <a:xfrm>
              <a:off x="8280000" y="4321080"/>
              <a:ext cx="398520" cy="2628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50" b="1" u="none" strike="noStrike">
                  <a:solidFill>
                    <a:srgbClr val="66758A"/>
                  </a:solidFill>
                  <a:effectLst/>
                  <a:uFillTx/>
                  <a:latin typeface="Arial"/>
                  <a:ea typeface="微软雅黑"/>
                </a:rPr>
                <a:t>Skill</a:t>
              </a:r>
              <a:endParaRPr lang="en-US" sz="1250" b="0" u="none" strike="noStrike">
                <a:solidFill>
                  <a:srgbClr val="000000"/>
                </a:solidFill>
                <a:effectLst/>
                <a:uFillTx/>
                <a:latin typeface="Arial"/>
              </a:endParaRPr>
            </a:p>
          </p:txBody>
        </p:sp>
        <p:sp>
          <p:nvSpPr>
            <p:cNvPr id="394" name="TextBox 49"/>
            <p:cNvSpPr/>
            <p:nvPr/>
          </p:nvSpPr>
          <p:spPr>
            <a:xfrm>
              <a:off x="8772120" y="4245120"/>
              <a:ext cx="2288520" cy="3801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0" u="none" strike="noStrike">
                  <a:solidFill>
                    <a:srgbClr val="24364C"/>
                  </a:solidFill>
                  <a:effectLst/>
                  <a:uFillTx/>
                  <a:latin typeface="Arial"/>
                  <a:ea typeface="微软雅黑"/>
                </a:rPr>
                <a:t>Editable 3D concept</a:t>
              </a:r>
              <a:endParaRPr lang="en-US" sz="1950" b="0" u="none" strike="noStrike">
                <a:solidFill>
                  <a:srgbClr val="000000"/>
                </a:solidFill>
                <a:effectLst/>
                <a:uFillTx/>
                <a:latin typeface="Arial"/>
              </a:endParaRPr>
            </a:p>
          </p:txBody>
        </p:sp>
        <p:sp>
          <p:nvSpPr>
            <p:cNvPr id="395" name="TextBox 50"/>
            <p:cNvSpPr/>
            <p:nvPr/>
          </p:nvSpPr>
          <p:spPr>
            <a:xfrm>
              <a:off x="8280000" y="4759200"/>
              <a:ext cx="380880" cy="2628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50" b="1" u="none" strike="noStrike">
                  <a:solidFill>
                    <a:srgbClr val="66758A"/>
                  </a:solidFill>
                  <a:effectLst/>
                  <a:uFillTx/>
                  <a:latin typeface="Arial"/>
                  <a:ea typeface="微软雅黑"/>
                </a:rPr>
                <a:t>Gap</a:t>
              </a:r>
              <a:endParaRPr lang="en-US" sz="1250" b="0" u="none" strike="noStrike">
                <a:solidFill>
                  <a:srgbClr val="000000"/>
                </a:solidFill>
                <a:effectLst/>
                <a:uFillTx/>
                <a:latin typeface="Arial"/>
              </a:endParaRPr>
            </a:p>
          </p:txBody>
        </p:sp>
        <p:sp>
          <p:nvSpPr>
            <p:cNvPr id="396" name="TextBox 51"/>
            <p:cNvSpPr/>
            <p:nvPr/>
          </p:nvSpPr>
          <p:spPr>
            <a:xfrm>
              <a:off x="8772120" y="4683240"/>
              <a:ext cx="2640960" cy="3801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0" u="none" strike="noStrike">
                  <a:solidFill>
                    <a:srgbClr val="66758A"/>
                  </a:solidFill>
                  <a:effectLst/>
                  <a:uFillTx/>
                  <a:latin typeface="Arial"/>
                  <a:ea typeface="微软雅黑"/>
                </a:rPr>
                <a:t>Wrong-face circling risk</a:t>
              </a:r>
              <a:endParaRPr lang="en-US" sz="1950" b="0" u="none" strike="noStrike">
                <a:solidFill>
                  <a:srgbClr val="000000"/>
                </a:solidFill>
                <a:effectLst/>
                <a:uFillTx/>
                <a:latin typeface="Arial"/>
              </a:endParaRPr>
            </a:p>
          </p:txBody>
        </p:sp>
        <p:sp>
          <p:nvSpPr>
            <p:cNvPr id="397" name="TextBox 52"/>
            <p:cNvSpPr/>
            <p:nvPr/>
          </p:nvSpPr>
          <p:spPr>
            <a:xfrm>
              <a:off x="8280000" y="5197320"/>
              <a:ext cx="416160" cy="2628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50" b="1" u="none" strike="noStrike">
                  <a:solidFill>
                    <a:srgbClr val="3662EA"/>
                  </a:solidFill>
                  <a:effectLst/>
                  <a:uFillTx/>
                  <a:latin typeface="Arial"/>
                  <a:ea typeface="微软雅黑"/>
                </a:rPr>
                <a:t>Step</a:t>
              </a:r>
              <a:endParaRPr lang="en-US" sz="1250" b="0" u="none" strike="noStrike">
                <a:solidFill>
                  <a:srgbClr val="000000"/>
                </a:solidFill>
                <a:effectLst/>
                <a:uFillTx/>
                <a:latin typeface="Arial"/>
              </a:endParaRPr>
            </a:p>
          </p:txBody>
        </p:sp>
        <p:sp>
          <p:nvSpPr>
            <p:cNvPr id="398" name="TextBox 53"/>
            <p:cNvSpPr/>
            <p:nvPr/>
          </p:nvSpPr>
          <p:spPr>
            <a:xfrm>
              <a:off x="8772120" y="5121360"/>
              <a:ext cx="2673720" cy="3801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0" u="none" strike="noStrike">
                  <a:solidFill>
                    <a:srgbClr val="3662EA"/>
                  </a:solidFill>
                  <a:effectLst/>
                  <a:uFillTx/>
                  <a:latin typeface="Arial"/>
                  <a:ea typeface="微软雅黑"/>
                </a:rPr>
                <a:t>Relabel, check sections</a:t>
              </a:r>
              <a:endParaRPr lang="en-US" sz="1950" b="0" u="none" strike="noStrike">
                <a:solidFill>
                  <a:srgbClr val="000000"/>
                </a:solidFill>
                <a:effectLst/>
                <a:uFillTx/>
                <a:latin typeface="Arial"/>
              </a:endParaRPr>
            </a:p>
          </p:txBody>
        </p:sp>
        <p:sp>
          <p:nvSpPr>
            <p:cNvPr id="399" name="TextBox 54"/>
            <p:cNvSpPr/>
            <p:nvPr/>
          </p:nvSpPr>
          <p:spPr>
            <a:xfrm>
              <a:off x="8280000" y="5635800"/>
              <a:ext cx="424800" cy="2628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50" b="1" u="none" strike="noStrike">
                  <a:solidFill>
                    <a:srgbClr val="069B8A"/>
                  </a:solidFill>
                  <a:effectLst/>
                  <a:uFillTx/>
                  <a:latin typeface="Arial"/>
                  <a:ea typeface="微软雅黑"/>
                </a:rPr>
                <a:t>Gain</a:t>
              </a:r>
              <a:endParaRPr lang="en-US" sz="1250" b="0" u="none" strike="noStrike">
                <a:solidFill>
                  <a:srgbClr val="000000"/>
                </a:solidFill>
                <a:effectLst/>
                <a:uFillTx/>
                <a:latin typeface="Arial"/>
              </a:endParaRPr>
            </a:p>
          </p:txBody>
        </p:sp>
        <p:sp>
          <p:nvSpPr>
            <p:cNvPr id="400" name="TextBox 55"/>
            <p:cNvSpPr/>
            <p:nvPr/>
          </p:nvSpPr>
          <p:spPr>
            <a:xfrm>
              <a:off x="8772120" y="5559480"/>
              <a:ext cx="3044880" cy="3801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1" u="none" strike="noStrike">
                  <a:solidFill>
                    <a:srgbClr val="069B8A"/>
                  </a:solidFill>
                  <a:effectLst/>
                  <a:uFillTx/>
                  <a:latin typeface="Arial"/>
                  <a:ea typeface="微软雅黑"/>
                </a:rPr>
                <a:t>Feedback now checkable</a:t>
              </a:r>
              <a:endParaRPr lang="en-US" sz="1950" b="0" u="none" strike="noStrike">
                <a:solidFill>
                  <a:srgbClr val="000000"/>
                </a:solidFill>
                <a:effectLst/>
                <a:uFillTx/>
                <a:latin typeface="Arial"/>
              </a:endParaRPr>
            </a:p>
          </p:txBody>
        </p:sp>
      </p:grpSp>
      <p:pic>
        <p:nvPicPr>
          <p:cNvPr id="401" name="Image 10"/>
          <p:cNvPicPr/>
          <p:nvPr/>
        </p:nvPicPr>
        <p:blipFill>
          <a:blip r:embed="rId4"/>
          <a:stretch/>
        </p:blipFill>
        <p:spPr>
          <a:xfrm>
            <a:off x="4476240" y="2168640"/>
            <a:ext cx="2210760" cy="1642320"/>
          </a:xfrm>
          <a:prstGeom prst="rect">
            <a:avLst/>
          </a:prstGeom>
          <a:noFill/>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pSp>
        <p:nvGrpSpPr>
          <p:cNvPr id="402" name="header"/>
          <p:cNvGrpSpPr/>
          <p:nvPr/>
        </p:nvGrpSpPr>
        <p:grpSpPr>
          <a:xfrm>
            <a:off x="478440" y="422280"/>
            <a:ext cx="11208960" cy="972360"/>
            <a:chOff x="478440" y="422280"/>
            <a:chExt cx="11208960" cy="972360"/>
          </a:xfrm>
        </p:grpSpPr>
        <p:sp>
          <p:nvSpPr>
            <p:cNvPr id="403" name="TextBox 2"/>
            <p:cNvSpPr/>
            <p:nvPr/>
          </p:nvSpPr>
          <p:spPr>
            <a:xfrm>
              <a:off x="478440" y="422280"/>
              <a:ext cx="11200320" cy="64440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3300" b="1" u="none" strike="noStrike">
                  <a:solidFill>
                    <a:srgbClr val="13243A"/>
                  </a:solidFill>
                  <a:effectLst/>
                  <a:uFillTx/>
                  <a:latin typeface="Arial"/>
                  <a:ea typeface="微软雅黑"/>
                </a:rPr>
                <a:t>Growth of AI Collaboration: Stages 4 to 6</a:t>
              </a:r>
              <a:endParaRPr lang="en-US" sz="3300" b="0" u="none" strike="noStrike">
                <a:solidFill>
                  <a:srgbClr val="000000"/>
                </a:solidFill>
                <a:effectLst/>
                <a:uFillTx/>
                <a:latin typeface="Arial"/>
              </a:endParaRPr>
            </a:p>
          </p:txBody>
        </p:sp>
        <p:sp>
          <p:nvSpPr>
            <p:cNvPr id="404" name="TextBox 3"/>
            <p:cNvSpPr/>
            <p:nvPr/>
          </p:nvSpPr>
          <p:spPr>
            <a:xfrm>
              <a:off x="487080" y="1073160"/>
              <a:ext cx="11200320" cy="32148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650" b="0" u="none" strike="noStrike">
                  <a:solidFill>
                    <a:srgbClr val="66758A"/>
                  </a:solidFill>
                  <a:effectLst/>
                  <a:uFillTx/>
                  <a:latin typeface="Arial"/>
                  <a:ea typeface="微软雅黑"/>
                </a:rPr>
                <a:t>Real sections and ear-region knowledge aid placement. Whole-unit moves and review write-back support later tasks.</a:t>
              </a:r>
              <a:endParaRPr lang="en-US" sz="1650" b="0" u="none" strike="noStrike">
                <a:solidFill>
                  <a:srgbClr val="000000"/>
                </a:solidFill>
                <a:effectLst/>
                <a:uFillTx/>
                <a:latin typeface="Arial"/>
              </a:endParaRPr>
            </a:p>
          </p:txBody>
        </p:sp>
      </p:grpSp>
      <p:sp>
        <p:nvSpPr>
          <p:cNvPr id="405" name="footer-label"/>
          <p:cNvSpPr/>
          <p:nvPr/>
        </p:nvSpPr>
        <p:spPr>
          <a:xfrm>
            <a:off x="488520" y="6407280"/>
            <a:ext cx="7038000" cy="26280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200" b="0" u="none" strike="noStrike">
                <a:solidFill>
                  <a:srgbClr val="66758A"/>
                </a:solidFill>
                <a:effectLst/>
                <a:uFillTx/>
                <a:latin typeface="Arial"/>
                <a:ea typeface="微软雅黑"/>
              </a:rPr>
              <a:t>Ear regions and sections support position checks. Wear and cross-task effects are still under validation.</a:t>
            </a:r>
            <a:endParaRPr lang="en-US" sz="1200" b="0" u="none" strike="noStrike">
              <a:solidFill>
                <a:srgbClr val="000000"/>
              </a:solidFill>
              <a:effectLst/>
              <a:uFillTx/>
              <a:latin typeface="Arial"/>
            </a:endParaRPr>
          </a:p>
        </p:txBody>
      </p:sp>
      <p:sp>
        <p:nvSpPr>
          <p:cNvPr id="406" name="Line 7"/>
          <p:cNvSpPr/>
          <p:nvPr/>
        </p:nvSpPr>
        <p:spPr>
          <a:xfrm>
            <a:off x="4210200" y="1676520"/>
            <a:ext cx="8280" cy="4428000"/>
          </a:xfrm>
          <a:custGeom>
            <a:avLst/>
            <a:gdLst>
              <a:gd name="textAreaLeft" fmla="*/ 0 w 8280"/>
              <a:gd name="textAreaRight" fmla="*/ 9360 w 8280"/>
              <a:gd name="textAreaTop" fmla="*/ 0 h 4428000"/>
              <a:gd name="textAreaBottom" fmla="*/ 4429080 h 4428000"/>
            </a:gdLst>
            <a:ahLst/>
            <a:cxnLst/>
            <a:rect l="textAreaLeft" t="textAreaTop" r="textAreaRight" b="textAreaBottom"/>
            <a:pathLst>
              <a:path w="9525" h="4429125">
                <a:moveTo>
                  <a:pt x="0" y="0"/>
                </a:moveTo>
                <a:lnTo>
                  <a:pt x="0" y="4429125"/>
                </a:lnTo>
              </a:path>
            </a:pathLst>
          </a:custGeom>
          <a:noFill/>
          <a:ln w="9525">
            <a:solidFill>
              <a:srgbClr val="DCE3EF"/>
            </a:solidFill>
            <a:round/>
          </a:ln>
        </p:spPr>
        <p:style>
          <a:lnRef idx="0"/>
          <a:fillRef idx="0"/>
          <a:effectRef idx="0"/>
          <a:fontRef idx="minor"/>
        </p:style>
        <p:txBody>
          <a:bodyPr lIns="4320" tIns="45000" rIns="4320" bIns="45000" anchor="t">
            <a:noAutofit/>
          </a:bodyPr>
          <a:p>
            <a:pPr/>
            <a:endParaRPr lang="en-US" sz="1800" b="0" u="none" strike="noStrike">
              <a:solidFill>
                <a:srgbClr val="000000"/>
              </a:solidFill>
              <a:effectLst/>
              <a:uFillTx/>
              <a:latin typeface="Arial"/>
            </a:endParaRPr>
          </a:p>
        </p:txBody>
      </p:sp>
      <p:sp>
        <p:nvSpPr>
          <p:cNvPr id="407" name="Line 8"/>
          <p:cNvSpPr/>
          <p:nvPr/>
        </p:nvSpPr>
        <p:spPr>
          <a:xfrm>
            <a:off x="8039160" y="1676520"/>
            <a:ext cx="8280" cy="4428000"/>
          </a:xfrm>
          <a:custGeom>
            <a:avLst/>
            <a:gdLst>
              <a:gd name="textAreaLeft" fmla="*/ 0 w 8280"/>
              <a:gd name="textAreaRight" fmla="*/ 9360 w 8280"/>
              <a:gd name="textAreaTop" fmla="*/ 0 h 4428000"/>
              <a:gd name="textAreaBottom" fmla="*/ 4429080 h 4428000"/>
            </a:gdLst>
            <a:ahLst/>
            <a:cxnLst/>
            <a:rect l="textAreaLeft" t="textAreaTop" r="textAreaRight" b="textAreaBottom"/>
            <a:pathLst>
              <a:path w="9525" h="4429125">
                <a:moveTo>
                  <a:pt x="0" y="0"/>
                </a:moveTo>
                <a:lnTo>
                  <a:pt x="0" y="4429125"/>
                </a:lnTo>
              </a:path>
            </a:pathLst>
          </a:custGeom>
          <a:noFill/>
          <a:ln w="9525">
            <a:solidFill>
              <a:srgbClr val="DCE3EF"/>
            </a:solidFill>
            <a:round/>
          </a:ln>
        </p:spPr>
        <p:style>
          <a:lnRef idx="0"/>
          <a:fillRef idx="0"/>
          <a:effectRef idx="0"/>
          <a:fontRef idx="minor"/>
        </p:style>
        <p:txBody>
          <a:bodyPr lIns="4320" tIns="45000" rIns="4320" bIns="45000" anchor="t">
            <a:noAutofit/>
          </a:bodyPr>
          <a:p>
            <a:pPr/>
            <a:endParaRPr lang="en-US" sz="1800" b="0" u="none" strike="noStrike">
              <a:solidFill>
                <a:srgbClr val="000000"/>
              </a:solidFill>
              <a:effectLst/>
              <a:uFillTx/>
              <a:latin typeface="Arial"/>
            </a:endParaRPr>
          </a:p>
        </p:txBody>
      </p:sp>
      <p:grpSp>
        <p:nvGrpSpPr>
          <p:cNvPr id="408" name="stage-four"/>
          <p:cNvGrpSpPr/>
          <p:nvPr/>
        </p:nvGrpSpPr>
        <p:grpSpPr>
          <a:xfrm>
            <a:off x="495360" y="1711440"/>
            <a:ext cx="3613320" cy="4228200"/>
            <a:chOff x="495360" y="1711440"/>
            <a:chExt cx="3613320" cy="4228200"/>
          </a:xfrm>
        </p:grpSpPr>
        <p:sp>
          <p:nvSpPr>
            <p:cNvPr id="409" name="Rectangle 9"/>
            <p:cNvSpPr/>
            <p:nvPr/>
          </p:nvSpPr>
          <p:spPr>
            <a:xfrm>
              <a:off x="495360" y="1714680"/>
              <a:ext cx="56160" cy="294120"/>
            </a:xfrm>
            <a:prstGeom prst="rect">
              <a:avLst/>
            </a:prstGeom>
            <a:solidFill>
              <a:srgbClr val="D98D2B"/>
            </a:solidFill>
            <a:ln w="0">
              <a:noFill/>
            </a:ln>
          </p:spPr>
          <p:style>
            <a:lnRef idx="0"/>
            <a:fillRef idx="0"/>
            <a:effectRef idx="0"/>
            <a:fontRef idx="minor"/>
          </p:style>
          <p:txBody>
            <a:bodyPr lIns="28080" tIns="45000" rIns="28080" bIns="45000" anchor="t">
              <a:noAutofit/>
            </a:bodyPr>
            <a:p>
              <a:pPr/>
              <a:endParaRPr lang="en-US" sz="1800" b="0" u="none" strike="noStrike">
                <a:solidFill>
                  <a:srgbClr val="FFFFFF"/>
                </a:solidFill>
                <a:effectLst/>
                <a:uFillTx/>
                <a:latin typeface="Arial"/>
              </a:endParaRPr>
            </a:p>
          </p:txBody>
        </p:sp>
        <p:sp>
          <p:nvSpPr>
            <p:cNvPr id="410" name="TextBox 10"/>
            <p:cNvSpPr/>
            <p:nvPr/>
          </p:nvSpPr>
          <p:spPr>
            <a:xfrm>
              <a:off x="647280" y="1711440"/>
              <a:ext cx="2574360" cy="3801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800" b="1" u="none" strike="noStrike">
                  <a:solidFill>
                    <a:srgbClr val="13243A"/>
                  </a:solidFill>
                  <a:effectLst/>
                  <a:uFillTx/>
                  <a:latin typeface="Arial"/>
                  <a:ea typeface="微软雅黑"/>
                </a:rPr>
                <a:t>4 Circling and sections</a:t>
              </a:r>
              <a:endParaRPr lang="en-US" sz="1800" b="0" u="none" strike="noStrike">
                <a:solidFill>
                  <a:srgbClr val="000000"/>
                </a:solidFill>
                <a:effectLst/>
                <a:uFillTx/>
                <a:latin typeface="Arial"/>
              </a:endParaRPr>
            </a:p>
          </p:txBody>
        </p:sp>
        <p:grpSp>
          <p:nvGrpSpPr>
            <p:cNvPr id="411" name="real-section-vector"/>
            <p:cNvGrpSpPr/>
            <p:nvPr/>
          </p:nvGrpSpPr>
          <p:grpSpPr>
            <a:xfrm>
              <a:off x="628560" y="2060640"/>
              <a:ext cx="3240720" cy="1904040"/>
              <a:chOff x="628560" y="2060640"/>
              <a:chExt cx="3240720" cy="1904040"/>
            </a:xfrm>
          </p:grpSpPr>
          <p:sp>
            <p:nvSpPr>
              <p:cNvPr id="412" name="TextBox 11"/>
              <p:cNvSpPr/>
              <p:nvPr/>
            </p:nvSpPr>
            <p:spPr>
              <a:xfrm>
                <a:off x="640080" y="2060640"/>
                <a:ext cx="559080" cy="2923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00" b="1" u="none" strike="noStrike">
                    <a:solidFill>
                      <a:srgbClr val="24364C"/>
                    </a:solidFill>
                    <a:effectLst/>
                    <a:uFillTx/>
                    <a:latin typeface="Arial"/>
                    <a:ea typeface="微软雅黑"/>
                  </a:rPr>
                  <a:t>Entry</a:t>
                </a:r>
                <a:endParaRPr lang="en-US" sz="1500" b="0" u="none" strike="noStrike">
                  <a:solidFill>
                    <a:srgbClr val="000000"/>
                  </a:solidFill>
                  <a:effectLst/>
                  <a:uFillTx/>
                  <a:latin typeface="Arial"/>
                </a:endParaRPr>
              </a:p>
            </p:txBody>
          </p:sp>
          <p:sp>
            <p:nvSpPr>
              <p:cNvPr id="413" name="Freeform 12"/>
              <p:cNvSpPr/>
              <p:nvPr/>
            </p:nvSpPr>
            <p:spPr>
              <a:xfrm>
                <a:off x="819360" y="2295360"/>
                <a:ext cx="446400" cy="1398960"/>
              </a:xfrm>
              <a:custGeom>
                <a:avLst/>
                <a:gdLst>
                  <a:gd name="textAreaLeft" fmla="*/ 0 w 446400"/>
                  <a:gd name="textAreaRight" fmla="*/ 447480 w 446400"/>
                  <a:gd name="textAreaTop" fmla="*/ 0 h 1398960"/>
                  <a:gd name="textAreaBottom" fmla="*/ 1400040 h 1398960"/>
                </a:gdLst>
                <a:ahLst/>
                <a:cxnLst/>
                <a:rect l="textAreaLeft" t="textAreaTop" r="textAreaRight" b="textAreaBottom"/>
                <a:pathLst>
                  <a:path w="447465" h="1400175">
                    <a:moveTo>
                      <a:pt x="125187" y="835181"/>
                    </a:moveTo>
                    <a:lnTo>
                      <a:pt x="109947" y="871185"/>
                    </a:lnTo>
                    <a:moveTo>
                      <a:pt x="105023" y="887778"/>
                    </a:moveTo>
                    <a:lnTo>
                      <a:pt x="109947" y="871185"/>
                    </a:lnTo>
                    <a:moveTo>
                      <a:pt x="125187" y="835181"/>
                    </a:moveTo>
                    <a:lnTo>
                      <a:pt x="137893" y="790470"/>
                    </a:lnTo>
                    <a:moveTo>
                      <a:pt x="140703" y="786022"/>
                    </a:moveTo>
                    <a:lnTo>
                      <a:pt x="137893" y="790470"/>
                    </a:lnTo>
                    <a:moveTo>
                      <a:pt x="24470" y="1255147"/>
                    </a:moveTo>
                    <a:lnTo>
                      <a:pt x="22803" y="1248080"/>
                    </a:lnTo>
                    <a:moveTo>
                      <a:pt x="24470" y="1255147"/>
                    </a:moveTo>
                    <a:lnTo>
                      <a:pt x="52245" y="1294924"/>
                    </a:lnTo>
                    <a:moveTo>
                      <a:pt x="58303" y="1307763"/>
                    </a:moveTo>
                    <a:lnTo>
                      <a:pt x="52245" y="1294924"/>
                    </a:lnTo>
                    <a:moveTo>
                      <a:pt x="105023" y="887778"/>
                    </a:moveTo>
                    <a:lnTo>
                      <a:pt x="99517" y="905075"/>
                    </a:lnTo>
                    <a:moveTo>
                      <a:pt x="28089" y="1046093"/>
                    </a:moveTo>
                    <a:lnTo>
                      <a:pt x="51464" y="1002640"/>
                    </a:lnTo>
                    <a:moveTo>
                      <a:pt x="64437" y="979922"/>
                    </a:moveTo>
                    <a:lnTo>
                      <a:pt x="84277" y="933002"/>
                    </a:lnTo>
                    <a:moveTo>
                      <a:pt x="59788" y="986190"/>
                    </a:moveTo>
                    <a:lnTo>
                      <a:pt x="64437" y="979922"/>
                    </a:lnTo>
                    <a:moveTo>
                      <a:pt x="59788" y="986190"/>
                    </a:moveTo>
                    <a:lnTo>
                      <a:pt x="51464" y="1002640"/>
                    </a:lnTo>
                    <a:moveTo>
                      <a:pt x="18555" y="1072553"/>
                    </a:moveTo>
                    <a:lnTo>
                      <a:pt x="28089" y="1046093"/>
                    </a:lnTo>
                    <a:moveTo>
                      <a:pt x="5286" y="1102519"/>
                    </a:moveTo>
                    <a:lnTo>
                      <a:pt x="3715" y="1129789"/>
                    </a:lnTo>
                    <a:moveTo>
                      <a:pt x="0" y="1167936"/>
                    </a:moveTo>
                    <a:lnTo>
                      <a:pt x="3715" y="1129789"/>
                    </a:lnTo>
                    <a:moveTo>
                      <a:pt x="18555" y="1072553"/>
                    </a:moveTo>
                    <a:lnTo>
                      <a:pt x="5286" y="1102519"/>
                    </a:lnTo>
                    <a:moveTo>
                      <a:pt x="99517" y="905075"/>
                    </a:moveTo>
                    <a:lnTo>
                      <a:pt x="84277" y="933002"/>
                    </a:lnTo>
                    <a:moveTo>
                      <a:pt x="58303" y="1307763"/>
                    </a:moveTo>
                    <a:lnTo>
                      <a:pt x="68780" y="1325918"/>
                    </a:lnTo>
                    <a:moveTo>
                      <a:pt x="68780" y="1325918"/>
                    </a:moveTo>
                    <a:lnTo>
                      <a:pt x="99231" y="1353931"/>
                    </a:lnTo>
                    <a:moveTo>
                      <a:pt x="143018" y="1387564"/>
                    </a:moveTo>
                    <a:lnTo>
                      <a:pt x="218656" y="1397660"/>
                    </a:lnTo>
                    <a:moveTo>
                      <a:pt x="143018" y="1387564"/>
                    </a:moveTo>
                    <a:lnTo>
                      <a:pt x="134245" y="1379477"/>
                    </a:lnTo>
                    <a:moveTo>
                      <a:pt x="99231" y="1353931"/>
                    </a:moveTo>
                    <a:lnTo>
                      <a:pt x="134245" y="1379477"/>
                    </a:lnTo>
                    <a:moveTo>
                      <a:pt x="218656" y="1397660"/>
                    </a:moveTo>
                    <a:lnTo>
                      <a:pt x="225095" y="1400175"/>
                    </a:lnTo>
                    <a:moveTo>
                      <a:pt x="241068" y="692048"/>
                    </a:moveTo>
                    <a:lnTo>
                      <a:pt x="260213" y="685524"/>
                    </a:lnTo>
                    <a:moveTo>
                      <a:pt x="260213" y="685524"/>
                    </a:moveTo>
                    <a:lnTo>
                      <a:pt x="268386" y="678799"/>
                    </a:lnTo>
                    <a:moveTo>
                      <a:pt x="156410" y="737864"/>
                    </a:moveTo>
                    <a:lnTo>
                      <a:pt x="157991" y="734778"/>
                    </a:lnTo>
                    <a:moveTo>
                      <a:pt x="147142" y="766001"/>
                    </a:moveTo>
                    <a:lnTo>
                      <a:pt x="156410" y="737864"/>
                    </a:lnTo>
                    <a:moveTo>
                      <a:pt x="157991" y="734778"/>
                    </a:moveTo>
                    <a:lnTo>
                      <a:pt x="173422" y="723243"/>
                    </a:lnTo>
                    <a:moveTo>
                      <a:pt x="147142" y="766001"/>
                    </a:moveTo>
                    <a:lnTo>
                      <a:pt x="140703" y="786022"/>
                    </a:lnTo>
                    <a:moveTo>
                      <a:pt x="201768" y="704450"/>
                    </a:moveTo>
                    <a:lnTo>
                      <a:pt x="173422" y="723243"/>
                    </a:lnTo>
                    <a:moveTo>
                      <a:pt x="241068" y="692048"/>
                    </a:moveTo>
                    <a:lnTo>
                      <a:pt x="201768" y="704450"/>
                    </a:lnTo>
                    <a:moveTo>
                      <a:pt x="65265" y="110176"/>
                    </a:moveTo>
                    <a:lnTo>
                      <a:pt x="70056" y="87058"/>
                    </a:lnTo>
                    <a:moveTo>
                      <a:pt x="65265" y="110176"/>
                    </a:moveTo>
                    <a:lnTo>
                      <a:pt x="60970" y="136665"/>
                    </a:lnTo>
                    <a:moveTo>
                      <a:pt x="299009" y="92774"/>
                    </a:moveTo>
                    <a:lnTo>
                      <a:pt x="303809" y="89668"/>
                    </a:lnTo>
                    <a:moveTo>
                      <a:pt x="293922" y="91745"/>
                    </a:moveTo>
                    <a:lnTo>
                      <a:pt x="299009" y="92774"/>
                    </a:lnTo>
                    <a:moveTo>
                      <a:pt x="277254" y="337252"/>
                    </a:moveTo>
                    <a:lnTo>
                      <a:pt x="296589" y="332356"/>
                    </a:lnTo>
                    <a:moveTo>
                      <a:pt x="296589" y="332356"/>
                    </a:moveTo>
                    <a:lnTo>
                      <a:pt x="333575" y="345777"/>
                    </a:lnTo>
                    <a:moveTo>
                      <a:pt x="333575" y="345777"/>
                    </a:moveTo>
                    <a:lnTo>
                      <a:pt x="344748" y="347910"/>
                    </a:lnTo>
                    <a:moveTo>
                      <a:pt x="244840" y="341843"/>
                    </a:moveTo>
                    <a:lnTo>
                      <a:pt x="260833" y="338442"/>
                    </a:lnTo>
                    <a:moveTo>
                      <a:pt x="277254" y="337252"/>
                    </a:moveTo>
                    <a:lnTo>
                      <a:pt x="260833" y="338442"/>
                    </a:lnTo>
                    <a:moveTo>
                      <a:pt x="223152" y="349910"/>
                    </a:moveTo>
                    <a:lnTo>
                      <a:pt x="244840" y="341843"/>
                    </a:lnTo>
                    <a:moveTo>
                      <a:pt x="355073" y="55597"/>
                    </a:moveTo>
                    <a:lnTo>
                      <a:pt x="356349" y="49835"/>
                    </a:lnTo>
                    <a:moveTo>
                      <a:pt x="356349" y="49835"/>
                    </a:moveTo>
                    <a:lnTo>
                      <a:pt x="368332" y="0"/>
                    </a:lnTo>
                    <a:moveTo>
                      <a:pt x="363493" y="405584"/>
                    </a:moveTo>
                    <a:lnTo>
                      <a:pt x="354235" y="379990"/>
                    </a:lnTo>
                    <a:moveTo>
                      <a:pt x="354235" y="379990"/>
                    </a:moveTo>
                    <a:lnTo>
                      <a:pt x="346443" y="355930"/>
                    </a:lnTo>
                    <a:moveTo>
                      <a:pt x="344748" y="347910"/>
                    </a:moveTo>
                    <a:lnTo>
                      <a:pt x="346443" y="355930"/>
                    </a:lnTo>
                    <a:moveTo>
                      <a:pt x="60970" y="136665"/>
                    </a:moveTo>
                    <a:lnTo>
                      <a:pt x="59446" y="172269"/>
                    </a:lnTo>
                    <a:moveTo>
                      <a:pt x="59446" y="172269"/>
                    </a:moveTo>
                    <a:lnTo>
                      <a:pt x="59474" y="185842"/>
                    </a:lnTo>
                    <a:moveTo>
                      <a:pt x="65627" y="235372"/>
                    </a:moveTo>
                    <a:lnTo>
                      <a:pt x="59474" y="185842"/>
                    </a:lnTo>
                    <a:moveTo>
                      <a:pt x="66046" y="237639"/>
                    </a:moveTo>
                    <a:lnTo>
                      <a:pt x="65627" y="235372"/>
                    </a:lnTo>
                    <a:moveTo>
                      <a:pt x="198311" y="352615"/>
                    </a:moveTo>
                    <a:lnTo>
                      <a:pt x="223152" y="349910"/>
                    </a:lnTo>
                    <a:moveTo>
                      <a:pt x="172155" y="354006"/>
                    </a:moveTo>
                    <a:lnTo>
                      <a:pt x="198311" y="352615"/>
                    </a:lnTo>
                    <a:moveTo>
                      <a:pt x="172155" y="354006"/>
                    </a:moveTo>
                    <a:lnTo>
                      <a:pt x="141551" y="341576"/>
                    </a:lnTo>
                    <a:moveTo>
                      <a:pt x="123168" y="333737"/>
                    </a:moveTo>
                    <a:lnTo>
                      <a:pt x="141551" y="341576"/>
                    </a:lnTo>
                    <a:moveTo>
                      <a:pt x="240535" y="70990"/>
                    </a:moveTo>
                    <a:lnTo>
                      <a:pt x="234410" y="64208"/>
                    </a:lnTo>
                    <a:moveTo>
                      <a:pt x="242926" y="73266"/>
                    </a:moveTo>
                    <a:lnTo>
                      <a:pt x="240535" y="70990"/>
                    </a:lnTo>
                    <a:moveTo>
                      <a:pt x="234410" y="64208"/>
                    </a:moveTo>
                    <a:lnTo>
                      <a:pt x="186176" y="28461"/>
                    </a:lnTo>
                    <a:moveTo>
                      <a:pt x="101394" y="36576"/>
                    </a:moveTo>
                    <a:lnTo>
                      <a:pt x="82658" y="64084"/>
                    </a:lnTo>
                    <a:moveTo>
                      <a:pt x="135093" y="25670"/>
                    </a:moveTo>
                    <a:lnTo>
                      <a:pt x="101394" y="36576"/>
                    </a:lnTo>
                    <a:moveTo>
                      <a:pt x="70056" y="87058"/>
                    </a:moveTo>
                    <a:lnTo>
                      <a:pt x="82658" y="64084"/>
                    </a:lnTo>
                    <a:moveTo>
                      <a:pt x="69637" y="248012"/>
                    </a:moveTo>
                    <a:lnTo>
                      <a:pt x="85306" y="292694"/>
                    </a:lnTo>
                    <a:moveTo>
                      <a:pt x="69637" y="248012"/>
                    </a:moveTo>
                    <a:lnTo>
                      <a:pt x="66046" y="237639"/>
                    </a:lnTo>
                    <a:moveTo>
                      <a:pt x="355073" y="55597"/>
                    </a:moveTo>
                    <a:lnTo>
                      <a:pt x="353158" y="57083"/>
                    </a:lnTo>
                    <a:moveTo>
                      <a:pt x="338538" y="66399"/>
                    </a:moveTo>
                    <a:lnTo>
                      <a:pt x="353158" y="57083"/>
                    </a:lnTo>
                    <a:moveTo>
                      <a:pt x="338538" y="66399"/>
                    </a:moveTo>
                    <a:lnTo>
                      <a:pt x="303809" y="89668"/>
                    </a:lnTo>
                    <a:moveTo>
                      <a:pt x="242926" y="73266"/>
                    </a:moveTo>
                    <a:lnTo>
                      <a:pt x="293922" y="91745"/>
                    </a:lnTo>
                    <a:moveTo>
                      <a:pt x="363493" y="405584"/>
                    </a:moveTo>
                    <a:lnTo>
                      <a:pt x="360931" y="431483"/>
                    </a:lnTo>
                    <a:moveTo>
                      <a:pt x="158877" y="16307"/>
                    </a:moveTo>
                    <a:lnTo>
                      <a:pt x="169383" y="18031"/>
                    </a:lnTo>
                    <a:moveTo>
                      <a:pt x="135093" y="25670"/>
                    </a:moveTo>
                    <a:lnTo>
                      <a:pt x="158877" y="16307"/>
                    </a:lnTo>
                    <a:moveTo>
                      <a:pt x="169383" y="18031"/>
                    </a:moveTo>
                    <a:lnTo>
                      <a:pt x="186176" y="28461"/>
                    </a:lnTo>
                    <a:moveTo>
                      <a:pt x="85306" y="292694"/>
                    </a:moveTo>
                    <a:lnTo>
                      <a:pt x="90268" y="298980"/>
                    </a:lnTo>
                    <a:moveTo>
                      <a:pt x="90268" y="298980"/>
                    </a:moveTo>
                    <a:lnTo>
                      <a:pt x="123168" y="333737"/>
                    </a:lnTo>
                    <a:moveTo>
                      <a:pt x="366398" y="472659"/>
                    </a:moveTo>
                    <a:lnTo>
                      <a:pt x="364617" y="507968"/>
                    </a:lnTo>
                    <a:moveTo>
                      <a:pt x="335147" y="608895"/>
                    </a:moveTo>
                    <a:lnTo>
                      <a:pt x="311820" y="648033"/>
                    </a:lnTo>
                    <a:moveTo>
                      <a:pt x="335147" y="608895"/>
                    </a:moveTo>
                    <a:lnTo>
                      <a:pt x="345615" y="597903"/>
                    </a:lnTo>
                    <a:moveTo>
                      <a:pt x="349625" y="588235"/>
                    </a:moveTo>
                    <a:lnTo>
                      <a:pt x="345615" y="597903"/>
                    </a:lnTo>
                    <a:moveTo>
                      <a:pt x="366398" y="472659"/>
                    </a:moveTo>
                    <a:lnTo>
                      <a:pt x="360931" y="431483"/>
                    </a:lnTo>
                    <a:moveTo>
                      <a:pt x="349625" y="588235"/>
                    </a:moveTo>
                    <a:lnTo>
                      <a:pt x="362722" y="536315"/>
                    </a:lnTo>
                    <a:moveTo>
                      <a:pt x="364617" y="507968"/>
                    </a:moveTo>
                    <a:lnTo>
                      <a:pt x="362722" y="536315"/>
                    </a:lnTo>
                    <a:moveTo>
                      <a:pt x="311820" y="648033"/>
                    </a:moveTo>
                    <a:lnTo>
                      <a:pt x="268386" y="678799"/>
                    </a:lnTo>
                    <a:moveTo>
                      <a:pt x="295408" y="1364990"/>
                    </a:moveTo>
                    <a:lnTo>
                      <a:pt x="235963" y="1398299"/>
                    </a:lnTo>
                    <a:moveTo>
                      <a:pt x="306629" y="1353864"/>
                    </a:moveTo>
                    <a:lnTo>
                      <a:pt x="295408" y="1364990"/>
                    </a:lnTo>
                    <a:moveTo>
                      <a:pt x="306629" y="1353864"/>
                    </a:moveTo>
                    <a:lnTo>
                      <a:pt x="337071" y="1315660"/>
                    </a:lnTo>
                    <a:moveTo>
                      <a:pt x="354035" y="1285646"/>
                    </a:moveTo>
                    <a:lnTo>
                      <a:pt x="383829" y="1223877"/>
                    </a:lnTo>
                    <a:moveTo>
                      <a:pt x="384038" y="1223334"/>
                    </a:moveTo>
                    <a:lnTo>
                      <a:pt x="383829" y="1223877"/>
                    </a:lnTo>
                    <a:moveTo>
                      <a:pt x="337071" y="1315660"/>
                    </a:moveTo>
                    <a:lnTo>
                      <a:pt x="354035" y="1285646"/>
                    </a:lnTo>
                    <a:moveTo>
                      <a:pt x="442903" y="1055818"/>
                    </a:moveTo>
                    <a:lnTo>
                      <a:pt x="432654" y="1081526"/>
                    </a:lnTo>
                    <a:moveTo>
                      <a:pt x="432654" y="1081526"/>
                    </a:moveTo>
                    <a:lnTo>
                      <a:pt x="415061" y="1123026"/>
                    </a:lnTo>
                    <a:moveTo>
                      <a:pt x="400231" y="1172775"/>
                    </a:moveTo>
                    <a:lnTo>
                      <a:pt x="407689" y="1146296"/>
                    </a:lnTo>
                    <a:moveTo>
                      <a:pt x="407689" y="1146296"/>
                    </a:moveTo>
                    <a:lnTo>
                      <a:pt x="415061" y="1123026"/>
                    </a:lnTo>
                    <a:moveTo>
                      <a:pt x="447465" y="1043321"/>
                    </a:moveTo>
                    <a:lnTo>
                      <a:pt x="442903" y="1055818"/>
                    </a:lnTo>
                    <a:moveTo>
                      <a:pt x="394773" y="1186615"/>
                    </a:moveTo>
                    <a:lnTo>
                      <a:pt x="400231" y="1172775"/>
                    </a:lnTo>
                    <a:moveTo>
                      <a:pt x="384219" y="1222648"/>
                    </a:moveTo>
                    <a:lnTo>
                      <a:pt x="394773" y="1186615"/>
                    </a:lnTo>
                    <a:moveTo>
                      <a:pt x="384038" y="1223334"/>
                    </a:moveTo>
                    <a:lnTo>
                      <a:pt x="384219" y="1222648"/>
                    </a:lnTo>
                    <a:moveTo>
                      <a:pt x="225095" y="1400175"/>
                    </a:moveTo>
                    <a:lnTo>
                      <a:pt x="235963" y="1398299"/>
                    </a:lnTo>
                  </a:path>
                </a:pathLst>
              </a:custGeom>
              <a:noFill/>
              <a:ln w="19050">
                <a:solidFill>
                  <a:srgbClr val="7C8F99"/>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414" name="Freeform 13"/>
              <p:cNvSpPr/>
              <p:nvPr/>
            </p:nvSpPr>
            <p:spPr>
              <a:xfrm>
                <a:off x="943560" y="3332880"/>
                <a:ext cx="154080" cy="196560"/>
              </a:xfrm>
              <a:custGeom>
                <a:avLst/>
                <a:gdLst>
                  <a:gd name="textAreaLeft" fmla="*/ 0 w 154080"/>
                  <a:gd name="textAreaRight" fmla="*/ 155160 w 154080"/>
                  <a:gd name="textAreaTop" fmla="*/ 0 h 196560"/>
                  <a:gd name="textAreaBottom" fmla="*/ 197640 h 196560"/>
                </a:gdLst>
                <a:ahLst/>
                <a:cxnLst/>
                <a:rect l="textAreaLeft" t="textAreaTop" r="textAreaRight" b="textAreaBottom"/>
                <a:pathLst>
                  <a:path w="155248" h="197463">
                    <a:moveTo>
                      <a:pt x="88944" y="9573"/>
                    </a:moveTo>
                    <a:lnTo>
                      <a:pt x="93640" y="11268"/>
                    </a:lnTo>
                    <a:moveTo>
                      <a:pt x="94440" y="11668"/>
                    </a:moveTo>
                    <a:lnTo>
                      <a:pt x="107699" y="18183"/>
                    </a:lnTo>
                    <a:moveTo>
                      <a:pt x="107699" y="18183"/>
                    </a:moveTo>
                    <a:lnTo>
                      <a:pt x="116691" y="24022"/>
                    </a:lnTo>
                    <a:moveTo>
                      <a:pt x="93640" y="11268"/>
                    </a:moveTo>
                    <a:lnTo>
                      <a:pt x="94440" y="11668"/>
                    </a:lnTo>
                    <a:moveTo>
                      <a:pt x="116691" y="24022"/>
                    </a:moveTo>
                    <a:lnTo>
                      <a:pt x="120253" y="26337"/>
                    </a:lnTo>
                    <a:moveTo>
                      <a:pt x="124130" y="29651"/>
                    </a:moveTo>
                    <a:lnTo>
                      <a:pt x="131112" y="35614"/>
                    </a:lnTo>
                    <a:moveTo>
                      <a:pt x="131112" y="35614"/>
                    </a:moveTo>
                    <a:lnTo>
                      <a:pt x="135884" y="41062"/>
                    </a:lnTo>
                    <a:moveTo>
                      <a:pt x="120253" y="26337"/>
                    </a:moveTo>
                    <a:lnTo>
                      <a:pt x="124130" y="29651"/>
                    </a:lnTo>
                    <a:moveTo>
                      <a:pt x="140113" y="45882"/>
                    </a:moveTo>
                    <a:lnTo>
                      <a:pt x="143361" y="51016"/>
                    </a:lnTo>
                    <a:moveTo>
                      <a:pt x="135884" y="41062"/>
                    </a:moveTo>
                    <a:lnTo>
                      <a:pt x="140113" y="45882"/>
                    </a:lnTo>
                    <a:moveTo>
                      <a:pt x="143361" y="51016"/>
                    </a:moveTo>
                    <a:lnTo>
                      <a:pt x="147114" y="56960"/>
                    </a:lnTo>
                    <a:moveTo>
                      <a:pt x="150009" y="63894"/>
                    </a:moveTo>
                    <a:lnTo>
                      <a:pt x="152019" y="68704"/>
                    </a:lnTo>
                    <a:moveTo>
                      <a:pt x="152019" y="68704"/>
                    </a:moveTo>
                    <a:lnTo>
                      <a:pt x="153076" y="73466"/>
                    </a:lnTo>
                    <a:moveTo>
                      <a:pt x="147114" y="56960"/>
                    </a:moveTo>
                    <a:lnTo>
                      <a:pt x="150009" y="63894"/>
                    </a:lnTo>
                    <a:moveTo>
                      <a:pt x="153076" y="73466"/>
                    </a:moveTo>
                    <a:lnTo>
                      <a:pt x="154743" y="80924"/>
                    </a:lnTo>
                    <a:moveTo>
                      <a:pt x="154743" y="80924"/>
                    </a:moveTo>
                    <a:lnTo>
                      <a:pt x="155048" y="88554"/>
                    </a:lnTo>
                    <a:moveTo>
                      <a:pt x="155048" y="88554"/>
                    </a:moveTo>
                    <a:lnTo>
                      <a:pt x="155248" y="93440"/>
                    </a:lnTo>
                    <a:moveTo>
                      <a:pt x="155248" y="93440"/>
                    </a:moveTo>
                    <a:lnTo>
                      <a:pt x="154543" y="98622"/>
                    </a:lnTo>
                    <a:moveTo>
                      <a:pt x="154543" y="98622"/>
                    </a:moveTo>
                    <a:lnTo>
                      <a:pt x="153524" y="106051"/>
                    </a:lnTo>
                    <a:moveTo>
                      <a:pt x="151428" y="112747"/>
                    </a:moveTo>
                    <a:lnTo>
                      <a:pt x="149609" y="118586"/>
                    </a:lnTo>
                    <a:moveTo>
                      <a:pt x="149609" y="118586"/>
                    </a:moveTo>
                    <a:lnTo>
                      <a:pt x="146333" y="125206"/>
                    </a:lnTo>
                    <a:moveTo>
                      <a:pt x="153524" y="106051"/>
                    </a:moveTo>
                    <a:lnTo>
                      <a:pt x="151428" y="112747"/>
                    </a:lnTo>
                    <a:moveTo>
                      <a:pt x="146333" y="125206"/>
                    </a:moveTo>
                    <a:lnTo>
                      <a:pt x="143542" y="130845"/>
                    </a:lnTo>
                    <a:moveTo>
                      <a:pt x="143542" y="130845"/>
                    </a:moveTo>
                    <a:lnTo>
                      <a:pt x="140456" y="135331"/>
                    </a:lnTo>
                    <a:moveTo>
                      <a:pt x="140456" y="135331"/>
                    </a:moveTo>
                    <a:lnTo>
                      <a:pt x="135436" y="142627"/>
                    </a:lnTo>
                    <a:moveTo>
                      <a:pt x="135436" y="142627"/>
                    </a:moveTo>
                    <a:lnTo>
                      <a:pt x="132636" y="145742"/>
                    </a:lnTo>
                    <a:moveTo>
                      <a:pt x="132636" y="145742"/>
                    </a:moveTo>
                    <a:lnTo>
                      <a:pt x="125406" y="153781"/>
                    </a:lnTo>
                    <a:moveTo>
                      <a:pt x="125406" y="153781"/>
                    </a:moveTo>
                    <a:lnTo>
                      <a:pt x="123463" y="155477"/>
                    </a:lnTo>
                    <a:moveTo>
                      <a:pt x="123463" y="155477"/>
                    </a:moveTo>
                    <a:lnTo>
                      <a:pt x="113595" y="164116"/>
                    </a:lnTo>
                    <a:moveTo>
                      <a:pt x="113595" y="164116"/>
                    </a:moveTo>
                    <a:lnTo>
                      <a:pt x="113100" y="164468"/>
                    </a:lnTo>
                    <a:moveTo>
                      <a:pt x="113100" y="164468"/>
                    </a:moveTo>
                    <a:lnTo>
                      <a:pt x="110014" y="166621"/>
                    </a:lnTo>
                    <a:moveTo>
                      <a:pt x="109661" y="163992"/>
                    </a:moveTo>
                    <a:lnTo>
                      <a:pt x="109709" y="164392"/>
                    </a:lnTo>
                    <a:moveTo>
                      <a:pt x="109709" y="164392"/>
                    </a:moveTo>
                    <a:lnTo>
                      <a:pt x="110014" y="166621"/>
                    </a:lnTo>
                    <a:moveTo>
                      <a:pt x="89040" y="10287"/>
                    </a:moveTo>
                    <a:lnTo>
                      <a:pt x="89297" y="12211"/>
                    </a:lnTo>
                    <a:moveTo>
                      <a:pt x="88944" y="9573"/>
                    </a:moveTo>
                    <a:lnTo>
                      <a:pt x="89040" y="10287"/>
                    </a:lnTo>
                    <a:moveTo>
                      <a:pt x="2896" y="1105"/>
                    </a:moveTo>
                    <a:lnTo>
                      <a:pt x="8820" y="448"/>
                    </a:lnTo>
                    <a:moveTo>
                      <a:pt x="10401" y="400"/>
                    </a:moveTo>
                    <a:lnTo>
                      <a:pt x="26499" y="0"/>
                    </a:lnTo>
                    <a:moveTo>
                      <a:pt x="26499" y="0"/>
                    </a:moveTo>
                    <a:lnTo>
                      <a:pt x="36909" y="638"/>
                    </a:lnTo>
                    <a:moveTo>
                      <a:pt x="8820" y="448"/>
                    </a:moveTo>
                    <a:lnTo>
                      <a:pt x="10401" y="400"/>
                    </a:lnTo>
                    <a:moveTo>
                      <a:pt x="36909" y="638"/>
                    </a:moveTo>
                    <a:lnTo>
                      <a:pt x="43891" y="1067"/>
                    </a:lnTo>
                    <a:moveTo>
                      <a:pt x="53997" y="2610"/>
                    </a:moveTo>
                    <a:lnTo>
                      <a:pt x="60750" y="3648"/>
                    </a:lnTo>
                    <a:moveTo>
                      <a:pt x="43891" y="1067"/>
                    </a:moveTo>
                    <a:lnTo>
                      <a:pt x="53997" y="2610"/>
                    </a:lnTo>
                    <a:moveTo>
                      <a:pt x="74076" y="7001"/>
                    </a:moveTo>
                    <a:lnTo>
                      <a:pt x="76819" y="7687"/>
                    </a:lnTo>
                    <a:moveTo>
                      <a:pt x="76819" y="7687"/>
                    </a:moveTo>
                    <a:lnTo>
                      <a:pt x="78619" y="8344"/>
                    </a:lnTo>
                    <a:moveTo>
                      <a:pt x="60750" y="3648"/>
                    </a:moveTo>
                    <a:lnTo>
                      <a:pt x="74076" y="7001"/>
                    </a:lnTo>
                    <a:moveTo>
                      <a:pt x="89297" y="12211"/>
                    </a:moveTo>
                    <a:lnTo>
                      <a:pt x="78619" y="8344"/>
                    </a:lnTo>
                    <a:moveTo>
                      <a:pt x="109661" y="163992"/>
                    </a:moveTo>
                    <a:lnTo>
                      <a:pt x="99917" y="170812"/>
                    </a:lnTo>
                    <a:moveTo>
                      <a:pt x="99917" y="170812"/>
                    </a:moveTo>
                    <a:lnTo>
                      <a:pt x="98269" y="171955"/>
                    </a:lnTo>
                    <a:moveTo>
                      <a:pt x="98269" y="171955"/>
                    </a:moveTo>
                    <a:lnTo>
                      <a:pt x="87830" y="177794"/>
                    </a:lnTo>
                    <a:moveTo>
                      <a:pt x="87830" y="177794"/>
                    </a:moveTo>
                    <a:lnTo>
                      <a:pt x="83782" y="180051"/>
                    </a:lnTo>
                    <a:moveTo>
                      <a:pt x="83782" y="180051"/>
                    </a:moveTo>
                    <a:lnTo>
                      <a:pt x="77381" y="182870"/>
                    </a:lnTo>
                    <a:moveTo>
                      <a:pt x="68161" y="186928"/>
                    </a:moveTo>
                    <a:lnTo>
                      <a:pt x="57264" y="190595"/>
                    </a:lnTo>
                    <a:moveTo>
                      <a:pt x="77381" y="182870"/>
                    </a:moveTo>
                    <a:lnTo>
                      <a:pt x="68161" y="186928"/>
                    </a:lnTo>
                    <a:moveTo>
                      <a:pt x="57264" y="190595"/>
                    </a:moveTo>
                    <a:lnTo>
                      <a:pt x="51626" y="192491"/>
                    </a:lnTo>
                    <a:moveTo>
                      <a:pt x="47768" y="193434"/>
                    </a:moveTo>
                    <a:lnTo>
                      <a:pt x="34442" y="196663"/>
                    </a:lnTo>
                    <a:moveTo>
                      <a:pt x="51626" y="192491"/>
                    </a:moveTo>
                    <a:lnTo>
                      <a:pt x="47768" y="193434"/>
                    </a:lnTo>
                    <a:moveTo>
                      <a:pt x="33528" y="196806"/>
                    </a:moveTo>
                    <a:lnTo>
                      <a:pt x="29232" y="197463"/>
                    </a:lnTo>
                    <a:moveTo>
                      <a:pt x="34442" y="196663"/>
                    </a:moveTo>
                    <a:lnTo>
                      <a:pt x="33528" y="196806"/>
                    </a:lnTo>
                    <a:moveTo>
                      <a:pt x="8725" y="22870"/>
                    </a:moveTo>
                    <a:lnTo>
                      <a:pt x="2219" y="23593"/>
                    </a:lnTo>
                    <a:moveTo>
                      <a:pt x="9277" y="22860"/>
                    </a:moveTo>
                    <a:lnTo>
                      <a:pt x="8725" y="22870"/>
                    </a:lnTo>
                    <a:moveTo>
                      <a:pt x="9277" y="22860"/>
                    </a:moveTo>
                    <a:lnTo>
                      <a:pt x="22431" y="22527"/>
                    </a:lnTo>
                    <a:moveTo>
                      <a:pt x="24089" y="22622"/>
                    </a:moveTo>
                    <a:lnTo>
                      <a:pt x="22431" y="22527"/>
                    </a:lnTo>
                    <a:moveTo>
                      <a:pt x="24089" y="22622"/>
                    </a:moveTo>
                    <a:lnTo>
                      <a:pt x="35928" y="23355"/>
                    </a:lnTo>
                    <a:moveTo>
                      <a:pt x="35928" y="23355"/>
                    </a:moveTo>
                    <a:lnTo>
                      <a:pt x="45834" y="24870"/>
                    </a:lnTo>
                    <a:moveTo>
                      <a:pt x="48997" y="25356"/>
                    </a:moveTo>
                    <a:lnTo>
                      <a:pt x="45834" y="24870"/>
                    </a:lnTo>
                    <a:moveTo>
                      <a:pt x="52454" y="26222"/>
                    </a:moveTo>
                    <a:lnTo>
                      <a:pt x="48997" y="25356"/>
                    </a:lnTo>
                    <a:moveTo>
                      <a:pt x="52454" y="26222"/>
                    </a:moveTo>
                    <a:lnTo>
                      <a:pt x="61455" y="28489"/>
                    </a:lnTo>
                    <a:moveTo>
                      <a:pt x="65503" y="29956"/>
                    </a:moveTo>
                    <a:lnTo>
                      <a:pt x="73114" y="32709"/>
                    </a:lnTo>
                    <a:moveTo>
                      <a:pt x="65503" y="29956"/>
                    </a:moveTo>
                    <a:lnTo>
                      <a:pt x="61455" y="28489"/>
                    </a:lnTo>
                    <a:moveTo>
                      <a:pt x="77495" y="34871"/>
                    </a:moveTo>
                    <a:lnTo>
                      <a:pt x="83782" y="37957"/>
                    </a:lnTo>
                    <a:moveTo>
                      <a:pt x="77495" y="34871"/>
                    </a:moveTo>
                    <a:lnTo>
                      <a:pt x="73114" y="32709"/>
                    </a:lnTo>
                    <a:moveTo>
                      <a:pt x="88230" y="40843"/>
                    </a:moveTo>
                    <a:lnTo>
                      <a:pt x="93316" y="44148"/>
                    </a:lnTo>
                    <a:moveTo>
                      <a:pt x="88230" y="40843"/>
                    </a:moveTo>
                    <a:lnTo>
                      <a:pt x="83782" y="37957"/>
                    </a:lnTo>
                    <a:moveTo>
                      <a:pt x="97546" y="47768"/>
                    </a:moveTo>
                    <a:lnTo>
                      <a:pt x="101565" y="51197"/>
                    </a:lnTo>
                    <a:moveTo>
                      <a:pt x="97546" y="47768"/>
                    </a:moveTo>
                    <a:lnTo>
                      <a:pt x="93316" y="44148"/>
                    </a:lnTo>
                    <a:moveTo>
                      <a:pt x="105318" y="55483"/>
                    </a:moveTo>
                    <a:lnTo>
                      <a:pt x="108394" y="58988"/>
                    </a:lnTo>
                    <a:moveTo>
                      <a:pt x="108394" y="58988"/>
                    </a:moveTo>
                    <a:lnTo>
                      <a:pt x="110652" y="62570"/>
                    </a:lnTo>
                    <a:moveTo>
                      <a:pt x="105318" y="55483"/>
                    </a:moveTo>
                    <a:lnTo>
                      <a:pt x="101565" y="51197"/>
                    </a:lnTo>
                    <a:moveTo>
                      <a:pt x="113709" y="67399"/>
                    </a:moveTo>
                    <a:lnTo>
                      <a:pt x="110652" y="62570"/>
                    </a:lnTo>
                    <a:moveTo>
                      <a:pt x="115929" y="72714"/>
                    </a:moveTo>
                    <a:lnTo>
                      <a:pt x="117434" y="76314"/>
                    </a:lnTo>
                    <a:moveTo>
                      <a:pt x="115929" y="72714"/>
                    </a:moveTo>
                    <a:lnTo>
                      <a:pt x="113709" y="67399"/>
                    </a:lnTo>
                    <a:moveTo>
                      <a:pt x="118682" y="81925"/>
                    </a:moveTo>
                    <a:lnTo>
                      <a:pt x="119501" y="85592"/>
                    </a:lnTo>
                    <a:moveTo>
                      <a:pt x="118682" y="81925"/>
                    </a:moveTo>
                    <a:lnTo>
                      <a:pt x="117434" y="76314"/>
                    </a:lnTo>
                    <a:moveTo>
                      <a:pt x="119729" y="91326"/>
                    </a:moveTo>
                    <a:lnTo>
                      <a:pt x="119882" y="95088"/>
                    </a:lnTo>
                    <a:moveTo>
                      <a:pt x="119729" y="91326"/>
                    </a:moveTo>
                    <a:lnTo>
                      <a:pt x="119501" y="85592"/>
                    </a:lnTo>
                    <a:moveTo>
                      <a:pt x="119110" y="100775"/>
                    </a:moveTo>
                    <a:lnTo>
                      <a:pt x="119882" y="95088"/>
                    </a:lnTo>
                    <a:moveTo>
                      <a:pt x="119110" y="100775"/>
                    </a:moveTo>
                    <a:lnTo>
                      <a:pt x="118577" y="104670"/>
                    </a:lnTo>
                    <a:moveTo>
                      <a:pt x="118577" y="104670"/>
                    </a:moveTo>
                    <a:lnTo>
                      <a:pt x="117319" y="108690"/>
                    </a:lnTo>
                    <a:moveTo>
                      <a:pt x="115605" y="114186"/>
                    </a:moveTo>
                    <a:lnTo>
                      <a:pt x="117319" y="108690"/>
                    </a:lnTo>
                    <a:moveTo>
                      <a:pt x="113090" y="119263"/>
                    </a:moveTo>
                    <a:lnTo>
                      <a:pt x="115605" y="114186"/>
                    </a:lnTo>
                    <a:moveTo>
                      <a:pt x="113090" y="119263"/>
                    </a:moveTo>
                    <a:lnTo>
                      <a:pt x="111004" y="123482"/>
                    </a:lnTo>
                    <a:moveTo>
                      <a:pt x="107861" y="128054"/>
                    </a:moveTo>
                    <a:lnTo>
                      <a:pt x="111004" y="123482"/>
                    </a:lnTo>
                    <a:moveTo>
                      <a:pt x="107861" y="128054"/>
                    </a:moveTo>
                    <a:lnTo>
                      <a:pt x="104842" y="132436"/>
                    </a:lnTo>
                    <a:moveTo>
                      <a:pt x="104842" y="132436"/>
                    </a:moveTo>
                    <a:lnTo>
                      <a:pt x="100755" y="136979"/>
                    </a:lnTo>
                    <a:moveTo>
                      <a:pt x="97222" y="140903"/>
                    </a:moveTo>
                    <a:lnTo>
                      <a:pt x="100755" y="136979"/>
                    </a:lnTo>
                    <a:moveTo>
                      <a:pt x="93478" y="144180"/>
                    </a:moveTo>
                    <a:lnTo>
                      <a:pt x="97222" y="140903"/>
                    </a:lnTo>
                    <a:moveTo>
                      <a:pt x="93478" y="144180"/>
                    </a:moveTo>
                    <a:lnTo>
                      <a:pt x="88259" y="148752"/>
                    </a:lnTo>
                    <a:moveTo>
                      <a:pt x="84572" y="151333"/>
                    </a:moveTo>
                    <a:lnTo>
                      <a:pt x="88259" y="148752"/>
                    </a:lnTo>
                    <a:moveTo>
                      <a:pt x="84572" y="151333"/>
                    </a:moveTo>
                    <a:lnTo>
                      <a:pt x="78086" y="155867"/>
                    </a:lnTo>
                    <a:moveTo>
                      <a:pt x="74686" y="157763"/>
                    </a:moveTo>
                    <a:lnTo>
                      <a:pt x="78086" y="155867"/>
                    </a:lnTo>
                    <a:moveTo>
                      <a:pt x="74686" y="157763"/>
                    </a:moveTo>
                    <a:lnTo>
                      <a:pt x="66856" y="162135"/>
                    </a:lnTo>
                    <a:moveTo>
                      <a:pt x="66856" y="162135"/>
                    </a:moveTo>
                    <a:lnTo>
                      <a:pt x="57150" y="166411"/>
                    </a:lnTo>
                    <a:moveTo>
                      <a:pt x="54740" y="167469"/>
                    </a:moveTo>
                    <a:lnTo>
                      <a:pt x="57150" y="166411"/>
                    </a:lnTo>
                    <a:moveTo>
                      <a:pt x="52530" y="168212"/>
                    </a:moveTo>
                    <a:lnTo>
                      <a:pt x="54740" y="167469"/>
                    </a:lnTo>
                    <a:moveTo>
                      <a:pt x="52530" y="168212"/>
                    </a:moveTo>
                    <a:lnTo>
                      <a:pt x="41920" y="171793"/>
                    </a:lnTo>
                    <a:moveTo>
                      <a:pt x="40557" y="172117"/>
                    </a:moveTo>
                    <a:lnTo>
                      <a:pt x="41920" y="171793"/>
                    </a:lnTo>
                    <a:moveTo>
                      <a:pt x="40557" y="172117"/>
                    </a:moveTo>
                    <a:lnTo>
                      <a:pt x="28594" y="175022"/>
                    </a:lnTo>
                    <a:moveTo>
                      <a:pt x="28165" y="175089"/>
                    </a:moveTo>
                    <a:lnTo>
                      <a:pt x="28594" y="175022"/>
                    </a:lnTo>
                    <a:moveTo>
                      <a:pt x="28165" y="175089"/>
                    </a:moveTo>
                    <a:lnTo>
                      <a:pt x="22660" y="175936"/>
                    </a:lnTo>
                    <a:moveTo>
                      <a:pt x="1657" y="3639"/>
                    </a:moveTo>
                    <a:lnTo>
                      <a:pt x="0" y="7029"/>
                    </a:lnTo>
                    <a:moveTo>
                      <a:pt x="2896" y="1105"/>
                    </a:moveTo>
                    <a:lnTo>
                      <a:pt x="1657" y="3639"/>
                    </a:lnTo>
                    <a:moveTo>
                      <a:pt x="26603" y="194462"/>
                    </a:moveTo>
                    <a:lnTo>
                      <a:pt x="24879" y="192500"/>
                    </a:lnTo>
                    <a:moveTo>
                      <a:pt x="29232" y="197463"/>
                    </a:moveTo>
                    <a:lnTo>
                      <a:pt x="26603" y="194462"/>
                    </a:lnTo>
                    <a:moveTo>
                      <a:pt x="22660" y="175936"/>
                    </a:moveTo>
                    <a:lnTo>
                      <a:pt x="23736" y="184004"/>
                    </a:lnTo>
                    <a:moveTo>
                      <a:pt x="23736" y="184004"/>
                    </a:moveTo>
                    <a:lnTo>
                      <a:pt x="24879" y="192500"/>
                    </a:lnTo>
                    <a:moveTo>
                      <a:pt x="1219" y="16107"/>
                    </a:moveTo>
                    <a:lnTo>
                      <a:pt x="2219" y="23593"/>
                    </a:lnTo>
                    <a:moveTo>
                      <a:pt x="0" y="7029"/>
                    </a:moveTo>
                    <a:lnTo>
                      <a:pt x="1219" y="16107"/>
                    </a:lnTo>
                  </a:path>
                </a:pathLst>
              </a:custGeom>
              <a:noFill/>
              <a:ln w="19050">
                <a:solidFill>
                  <a:srgbClr val="497D89"/>
                </a:solidFill>
                <a:round/>
              </a:ln>
            </p:spPr>
            <p:style>
              <a:lnRef idx="0"/>
              <a:fillRef idx="0"/>
              <a:effectRef idx="0"/>
              <a:fontRef idx="minor"/>
            </p:style>
            <p:txBody>
              <a:bodyPr lIns="77040" tIns="45000" rIns="77040" bIns="45000" anchor="t">
                <a:noAutofit/>
              </a:bodyPr>
              <a:p>
                <a:pPr/>
                <a:endParaRPr lang="en-US" sz="1800" b="0" u="none" strike="noStrike">
                  <a:solidFill>
                    <a:srgbClr val="000000"/>
                  </a:solidFill>
                  <a:effectLst/>
                  <a:uFillTx/>
                  <a:latin typeface="Arial"/>
                </a:endParaRPr>
              </a:p>
            </p:txBody>
          </p:sp>
          <p:sp>
            <p:nvSpPr>
              <p:cNvPr id="415" name="Freeform 14"/>
              <p:cNvSpPr/>
              <p:nvPr/>
            </p:nvSpPr>
            <p:spPr>
              <a:xfrm>
                <a:off x="829080" y="3227760"/>
                <a:ext cx="399600" cy="386280"/>
              </a:xfrm>
              <a:custGeom>
                <a:avLst/>
                <a:gdLst>
                  <a:gd name="textAreaLeft" fmla="*/ 0 w 399600"/>
                  <a:gd name="textAreaRight" fmla="*/ 400680 w 399600"/>
                  <a:gd name="textAreaTop" fmla="*/ 0 h 386280"/>
                  <a:gd name="textAreaBottom" fmla="*/ 387360 h 386280"/>
                </a:gdLst>
                <a:ahLst/>
                <a:cxnLst/>
                <a:rect l="textAreaLeft" t="textAreaTop" r="textAreaRight" b="textAreaBottom"/>
                <a:pathLst>
                  <a:path w="400564" h="387344">
                    <a:moveTo>
                      <a:pt x="1076" y="173165"/>
                    </a:moveTo>
                    <a:lnTo>
                      <a:pt x="1076" y="172641"/>
                    </a:lnTo>
                    <a:moveTo>
                      <a:pt x="1229" y="174603"/>
                    </a:moveTo>
                    <a:lnTo>
                      <a:pt x="1076" y="173165"/>
                    </a:lnTo>
                    <a:moveTo>
                      <a:pt x="124" y="157153"/>
                    </a:moveTo>
                    <a:lnTo>
                      <a:pt x="610" y="165116"/>
                    </a:lnTo>
                    <a:moveTo>
                      <a:pt x="57" y="155800"/>
                    </a:moveTo>
                    <a:lnTo>
                      <a:pt x="124" y="157153"/>
                    </a:lnTo>
                    <a:moveTo>
                      <a:pt x="610" y="165116"/>
                    </a:moveTo>
                    <a:lnTo>
                      <a:pt x="1076" y="172641"/>
                    </a:lnTo>
                    <a:moveTo>
                      <a:pt x="3896" y="127444"/>
                    </a:moveTo>
                    <a:lnTo>
                      <a:pt x="5058" y="123330"/>
                    </a:lnTo>
                    <a:moveTo>
                      <a:pt x="2962" y="130759"/>
                    </a:moveTo>
                    <a:lnTo>
                      <a:pt x="3896" y="127444"/>
                    </a:lnTo>
                    <a:moveTo>
                      <a:pt x="108814" y="22679"/>
                    </a:moveTo>
                    <a:lnTo>
                      <a:pt x="123863" y="16583"/>
                    </a:lnTo>
                    <a:moveTo>
                      <a:pt x="86249" y="31823"/>
                    </a:moveTo>
                    <a:lnTo>
                      <a:pt x="108814" y="22679"/>
                    </a:lnTo>
                    <a:moveTo>
                      <a:pt x="12983" y="103575"/>
                    </a:moveTo>
                    <a:lnTo>
                      <a:pt x="24717" y="84306"/>
                    </a:lnTo>
                    <a:moveTo>
                      <a:pt x="196939" y="0"/>
                    </a:moveTo>
                    <a:lnTo>
                      <a:pt x="255365" y="6610"/>
                    </a:lnTo>
                    <a:moveTo>
                      <a:pt x="255365" y="6610"/>
                    </a:moveTo>
                    <a:lnTo>
                      <a:pt x="268300" y="8839"/>
                    </a:lnTo>
                    <a:moveTo>
                      <a:pt x="268300" y="8839"/>
                    </a:moveTo>
                    <a:lnTo>
                      <a:pt x="286788" y="13992"/>
                    </a:lnTo>
                    <a:moveTo>
                      <a:pt x="35309" y="71114"/>
                    </a:moveTo>
                    <a:lnTo>
                      <a:pt x="49863" y="58474"/>
                    </a:lnTo>
                    <a:moveTo>
                      <a:pt x="49863" y="58474"/>
                    </a:moveTo>
                    <a:lnTo>
                      <a:pt x="64465" y="45787"/>
                    </a:lnTo>
                    <a:moveTo>
                      <a:pt x="64465" y="45787"/>
                    </a:moveTo>
                    <a:lnTo>
                      <a:pt x="86249" y="31823"/>
                    </a:lnTo>
                    <a:moveTo>
                      <a:pt x="0" y="154334"/>
                    </a:moveTo>
                    <a:lnTo>
                      <a:pt x="57" y="155800"/>
                    </a:lnTo>
                    <a:moveTo>
                      <a:pt x="0" y="154334"/>
                    </a:moveTo>
                    <a:lnTo>
                      <a:pt x="1495" y="142475"/>
                    </a:lnTo>
                    <a:moveTo>
                      <a:pt x="1495" y="142475"/>
                    </a:moveTo>
                    <a:lnTo>
                      <a:pt x="2962" y="130759"/>
                    </a:lnTo>
                    <a:moveTo>
                      <a:pt x="9563" y="112100"/>
                    </a:moveTo>
                    <a:lnTo>
                      <a:pt x="5058" y="123330"/>
                    </a:lnTo>
                    <a:moveTo>
                      <a:pt x="9563" y="112100"/>
                    </a:moveTo>
                    <a:lnTo>
                      <a:pt x="12983" y="103575"/>
                    </a:lnTo>
                    <a:moveTo>
                      <a:pt x="150257" y="10573"/>
                    </a:moveTo>
                    <a:lnTo>
                      <a:pt x="196529" y="29"/>
                    </a:lnTo>
                    <a:moveTo>
                      <a:pt x="150257" y="10573"/>
                    </a:moveTo>
                    <a:lnTo>
                      <a:pt x="123863" y="16583"/>
                    </a:lnTo>
                    <a:moveTo>
                      <a:pt x="30566" y="77019"/>
                    </a:moveTo>
                    <a:lnTo>
                      <a:pt x="35309" y="71114"/>
                    </a:lnTo>
                    <a:moveTo>
                      <a:pt x="30566" y="77019"/>
                    </a:moveTo>
                    <a:lnTo>
                      <a:pt x="24717" y="84306"/>
                    </a:lnTo>
                    <a:moveTo>
                      <a:pt x="311915" y="22203"/>
                    </a:moveTo>
                    <a:lnTo>
                      <a:pt x="333918" y="31051"/>
                    </a:lnTo>
                    <a:moveTo>
                      <a:pt x="333918" y="31051"/>
                    </a:moveTo>
                    <a:lnTo>
                      <a:pt x="361693" y="46368"/>
                    </a:lnTo>
                    <a:moveTo>
                      <a:pt x="311915" y="22203"/>
                    </a:moveTo>
                    <a:lnTo>
                      <a:pt x="286788" y="13992"/>
                    </a:lnTo>
                    <a:moveTo>
                      <a:pt x="196682" y="19"/>
                    </a:moveTo>
                    <a:lnTo>
                      <a:pt x="196529" y="29"/>
                    </a:lnTo>
                    <a:moveTo>
                      <a:pt x="196682" y="19"/>
                    </a:moveTo>
                    <a:lnTo>
                      <a:pt x="196939" y="0"/>
                    </a:lnTo>
                    <a:moveTo>
                      <a:pt x="363417" y="47444"/>
                    </a:moveTo>
                    <a:lnTo>
                      <a:pt x="361693" y="46368"/>
                    </a:lnTo>
                    <a:moveTo>
                      <a:pt x="363417" y="47444"/>
                    </a:moveTo>
                    <a:lnTo>
                      <a:pt x="368646" y="51340"/>
                    </a:lnTo>
                    <a:moveTo>
                      <a:pt x="395802" y="295313"/>
                    </a:moveTo>
                    <a:lnTo>
                      <a:pt x="400564" y="289312"/>
                    </a:lnTo>
                    <a:moveTo>
                      <a:pt x="394164" y="297085"/>
                    </a:moveTo>
                    <a:lnTo>
                      <a:pt x="395802" y="295313"/>
                    </a:lnTo>
                    <a:moveTo>
                      <a:pt x="394164" y="297085"/>
                    </a:moveTo>
                    <a:lnTo>
                      <a:pt x="371418" y="318945"/>
                    </a:lnTo>
                    <a:moveTo>
                      <a:pt x="371418" y="318945"/>
                    </a:moveTo>
                    <a:lnTo>
                      <a:pt x="352606" y="333089"/>
                    </a:lnTo>
                    <a:moveTo>
                      <a:pt x="329984" y="347843"/>
                    </a:moveTo>
                    <a:lnTo>
                      <a:pt x="352606" y="333089"/>
                    </a:lnTo>
                    <a:moveTo>
                      <a:pt x="329984" y="347843"/>
                    </a:moveTo>
                    <a:lnTo>
                      <a:pt x="313744" y="357454"/>
                    </a:lnTo>
                    <a:moveTo>
                      <a:pt x="313744" y="357454"/>
                    </a:moveTo>
                    <a:lnTo>
                      <a:pt x="302047" y="362874"/>
                    </a:lnTo>
                    <a:moveTo>
                      <a:pt x="248450" y="384010"/>
                    </a:moveTo>
                    <a:lnTo>
                      <a:pt x="302047" y="362874"/>
                    </a:lnTo>
                    <a:moveTo>
                      <a:pt x="246545" y="384410"/>
                    </a:moveTo>
                    <a:lnTo>
                      <a:pt x="248450" y="384010"/>
                    </a:lnTo>
                    <a:moveTo>
                      <a:pt x="243383" y="384534"/>
                    </a:moveTo>
                    <a:lnTo>
                      <a:pt x="172231" y="387344"/>
                    </a:lnTo>
                    <a:moveTo>
                      <a:pt x="243383" y="384534"/>
                    </a:moveTo>
                    <a:lnTo>
                      <a:pt x="246545" y="384410"/>
                    </a:lnTo>
                    <a:moveTo>
                      <a:pt x="133302" y="382591"/>
                    </a:moveTo>
                    <a:lnTo>
                      <a:pt x="172231" y="387344"/>
                    </a:lnTo>
                    <a:moveTo>
                      <a:pt x="119663" y="378285"/>
                    </a:moveTo>
                    <a:lnTo>
                      <a:pt x="133302" y="382591"/>
                    </a:lnTo>
                    <a:moveTo>
                      <a:pt x="107480" y="374437"/>
                    </a:moveTo>
                    <a:lnTo>
                      <a:pt x="119663" y="378285"/>
                    </a:lnTo>
                    <a:moveTo>
                      <a:pt x="73800" y="358102"/>
                    </a:moveTo>
                    <a:lnTo>
                      <a:pt x="107480" y="374437"/>
                    </a:lnTo>
                    <a:moveTo>
                      <a:pt x="67323" y="353378"/>
                    </a:moveTo>
                    <a:lnTo>
                      <a:pt x="73800" y="358102"/>
                    </a:lnTo>
                    <a:moveTo>
                      <a:pt x="59369" y="347586"/>
                    </a:moveTo>
                    <a:lnTo>
                      <a:pt x="67323" y="353378"/>
                    </a:lnTo>
                    <a:moveTo>
                      <a:pt x="43720" y="332718"/>
                    </a:moveTo>
                    <a:lnTo>
                      <a:pt x="59369" y="347586"/>
                    </a:lnTo>
                    <a:moveTo>
                      <a:pt x="30451" y="315125"/>
                    </a:moveTo>
                    <a:lnTo>
                      <a:pt x="43720" y="332718"/>
                    </a:lnTo>
                    <a:moveTo>
                      <a:pt x="26899" y="309181"/>
                    </a:moveTo>
                    <a:lnTo>
                      <a:pt x="30451" y="315125"/>
                    </a:lnTo>
                    <a:moveTo>
                      <a:pt x="17069" y="283816"/>
                    </a:moveTo>
                    <a:lnTo>
                      <a:pt x="17412" y="285388"/>
                    </a:lnTo>
                    <a:moveTo>
                      <a:pt x="15183" y="274806"/>
                    </a:moveTo>
                    <a:lnTo>
                      <a:pt x="17069" y="283816"/>
                    </a:lnTo>
                    <a:moveTo>
                      <a:pt x="17412" y="285388"/>
                    </a:moveTo>
                    <a:lnTo>
                      <a:pt x="17812" y="287093"/>
                    </a:lnTo>
                    <a:moveTo>
                      <a:pt x="17812" y="287093"/>
                    </a:moveTo>
                    <a:lnTo>
                      <a:pt x="20898" y="294580"/>
                    </a:lnTo>
                    <a:moveTo>
                      <a:pt x="20898" y="294580"/>
                    </a:moveTo>
                    <a:lnTo>
                      <a:pt x="26899" y="309181"/>
                    </a:lnTo>
                    <a:moveTo>
                      <a:pt x="13973" y="268910"/>
                    </a:moveTo>
                    <a:lnTo>
                      <a:pt x="13659" y="267319"/>
                    </a:lnTo>
                    <a:moveTo>
                      <a:pt x="13973" y="268910"/>
                    </a:moveTo>
                    <a:lnTo>
                      <a:pt x="15183" y="274806"/>
                    </a:lnTo>
                    <a:moveTo>
                      <a:pt x="12630" y="259661"/>
                    </a:moveTo>
                    <a:lnTo>
                      <a:pt x="13659" y="267319"/>
                    </a:lnTo>
                    <a:moveTo>
                      <a:pt x="12316" y="257299"/>
                    </a:moveTo>
                    <a:lnTo>
                      <a:pt x="12630" y="259661"/>
                    </a:lnTo>
                    <a:moveTo>
                      <a:pt x="11401" y="250498"/>
                    </a:moveTo>
                    <a:lnTo>
                      <a:pt x="12316" y="257299"/>
                    </a:lnTo>
                    <a:moveTo>
                      <a:pt x="10801" y="246031"/>
                    </a:moveTo>
                    <a:lnTo>
                      <a:pt x="11401" y="250498"/>
                    </a:lnTo>
                    <a:moveTo>
                      <a:pt x="9944" y="239592"/>
                    </a:moveTo>
                    <a:lnTo>
                      <a:pt x="10801" y="246031"/>
                    </a:lnTo>
                    <a:moveTo>
                      <a:pt x="9411" y="235610"/>
                    </a:moveTo>
                    <a:lnTo>
                      <a:pt x="9944" y="239592"/>
                    </a:lnTo>
                    <a:moveTo>
                      <a:pt x="8420" y="228248"/>
                    </a:moveTo>
                    <a:lnTo>
                      <a:pt x="9411" y="235610"/>
                    </a:lnTo>
                    <a:moveTo>
                      <a:pt x="8077" y="225657"/>
                    </a:moveTo>
                    <a:lnTo>
                      <a:pt x="8420" y="228248"/>
                    </a:lnTo>
                    <a:moveTo>
                      <a:pt x="7753" y="223285"/>
                    </a:moveTo>
                    <a:lnTo>
                      <a:pt x="8077" y="225657"/>
                    </a:lnTo>
                    <a:moveTo>
                      <a:pt x="6753" y="215846"/>
                    </a:moveTo>
                    <a:lnTo>
                      <a:pt x="7753" y="223285"/>
                    </a:lnTo>
                    <a:moveTo>
                      <a:pt x="4629" y="199977"/>
                    </a:moveTo>
                    <a:lnTo>
                      <a:pt x="5420" y="205883"/>
                    </a:lnTo>
                    <a:moveTo>
                      <a:pt x="6410" y="213227"/>
                    </a:moveTo>
                    <a:lnTo>
                      <a:pt x="6753" y="215846"/>
                    </a:lnTo>
                    <a:moveTo>
                      <a:pt x="5420" y="205883"/>
                    </a:moveTo>
                    <a:lnTo>
                      <a:pt x="6410" y="213227"/>
                    </a:lnTo>
                    <a:moveTo>
                      <a:pt x="3429" y="191033"/>
                    </a:moveTo>
                    <a:lnTo>
                      <a:pt x="4020" y="195434"/>
                    </a:lnTo>
                    <a:moveTo>
                      <a:pt x="4020" y="195434"/>
                    </a:moveTo>
                    <a:lnTo>
                      <a:pt x="4629" y="199977"/>
                    </a:lnTo>
                    <a:moveTo>
                      <a:pt x="2505" y="184128"/>
                    </a:moveTo>
                    <a:lnTo>
                      <a:pt x="3429" y="191033"/>
                    </a:lnTo>
                    <a:moveTo>
                      <a:pt x="1229" y="174603"/>
                    </a:moveTo>
                    <a:lnTo>
                      <a:pt x="2505" y="184128"/>
                    </a:lnTo>
                    <a:moveTo>
                      <a:pt x="18793" y="185537"/>
                    </a:moveTo>
                    <a:lnTo>
                      <a:pt x="23393" y="177717"/>
                    </a:lnTo>
                    <a:moveTo>
                      <a:pt x="18793" y="185537"/>
                    </a:moveTo>
                    <a:lnTo>
                      <a:pt x="18002" y="186861"/>
                    </a:lnTo>
                    <a:moveTo>
                      <a:pt x="24860" y="175870"/>
                    </a:moveTo>
                    <a:lnTo>
                      <a:pt x="30289" y="168993"/>
                    </a:lnTo>
                    <a:moveTo>
                      <a:pt x="24860" y="175870"/>
                    </a:moveTo>
                    <a:lnTo>
                      <a:pt x="23393" y="177717"/>
                    </a:lnTo>
                    <a:moveTo>
                      <a:pt x="32737" y="166592"/>
                    </a:moveTo>
                    <a:lnTo>
                      <a:pt x="38605" y="160820"/>
                    </a:lnTo>
                    <a:moveTo>
                      <a:pt x="32737" y="166592"/>
                    </a:moveTo>
                    <a:lnTo>
                      <a:pt x="30289" y="168993"/>
                    </a:lnTo>
                    <a:moveTo>
                      <a:pt x="42358" y="157886"/>
                    </a:moveTo>
                    <a:lnTo>
                      <a:pt x="48187" y="153333"/>
                    </a:lnTo>
                    <a:moveTo>
                      <a:pt x="42358" y="157886"/>
                    </a:moveTo>
                    <a:lnTo>
                      <a:pt x="38605" y="160820"/>
                    </a:lnTo>
                    <a:moveTo>
                      <a:pt x="53578" y="149962"/>
                    </a:moveTo>
                    <a:lnTo>
                      <a:pt x="58912" y="146628"/>
                    </a:lnTo>
                    <a:moveTo>
                      <a:pt x="53578" y="149962"/>
                    </a:moveTo>
                    <a:lnTo>
                      <a:pt x="48187" y="153333"/>
                    </a:lnTo>
                    <a:moveTo>
                      <a:pt x="66218" y="142989"/>
                    </a:moveTo>
                    <a:lnTo>
                      <a:pt x="70609" y="140808"/>
                    </a:lnTo>
                    <a:moveTo>
                      <a:pt x="66218" y="142989"/>
                    </a:moveTo>
                    <a:lnTo>
                      <a:pt x="58912" y="146628"/>
                    </a:lnTo>
                    <a:moveTo>
                      <a:pt x="80067" y="137150"/>
                    </a:moveTo>
                    <a:lnTo>
                      <a:pt x="83096" y="135969"/>
                    </a:lnTo>
                    <a:moveTo>
                      <a:pt x="80067" y="137150"/>
                    </a:moveTo>
                    <a:lnTo>
                      <a:pt x="70609" y="140808"/>
                    </a:lnTo>
                    <a:moveTo>
                      <a:pt x="94831" y="132588"/>
                    </a:moveTo>
                    <a:lnTo>
                      <a:pt x="96193" y="132188"/>
                    </a:lnTo>
                    <a:moveTo>
                      <a:pt x="94831" y="132588"/>
                    </a:moveTo>
                    <a:lnTo>
                      <a:pt x="83096" y="135969"/>
                    </a:lnTo>
                    <a:moveTo>
                      <a:pt x="106032" y="130245"/>
                    </a:moveTo>
                    <a:lnTo>
                      <a:pt x="96193" y="132188"/>
                    </a:lnTo>
                    <a:moveTo>
                      <a:pt x="117081" y="283102"/>
                    </a:moveTo>
                    <a:lnTo>
                      <a:pt x="115910" y="283188"/>
                    </a:lnTo>
                    <a:moveTo>
                      <a:pt x="126454" y="282464"/>
                    </a:moveTo>
                    <a:lnTo>
                      <a:pt x="117081" y="283102"/>
                    </a:lnTo>
                    <a:moveTo>
                      <a:pt x="104937" y="282988"/>
                    </a:moveTo>
                    <a:lnTo>
                      <a:pt x="115910" y="283188"/>
                    </a:lnTo>
                    <a:moveTo>
                      <a:pt x="104937" y="282988"/>
                    </a:moveTo>
                    <a:lnTo>
                      <a:pt x="102289" y="282940"/>
                    </a:lnTo>
                    <a:moveTo>
                      <a:pt x="92993" y="281950"/>
                    </a:moveTo>
                    <a:lnTo>
                      <a:pt x="88983" y="281521"/>
                    </a:lnTo>
                    <a:moveTo>
                      <a:pt x="92993" y="281950"/>
                    </a:moveTo>
                    <a:lnTo>
                      <a:pt x="102289" y="282940"/>
                    </a:lnTo>
                    <a:moveTo>
                      <a:pt x="81363" y="279997"/>
                    </a:moveTo>
                    <a:lnTo>
                      <a:pt x="76190" y="278949"/>
                    </a:lnTo>
                    <a:moveTo>
                      <a:pt x="81363" y="279997"/>
                    </a:moveTo>
                    <a:lnTo>
                      <a:pt x="88983" y="281521"/>
                    </a:lnTo>
                    <a:moveTo>
                      <a:pt x="70171" y="277120"/>
                    </a:moveTo>
                    <a:lnTo>
                      <a:pt x="64113" y="275263"/>
                    </a:lnTo>
                    <a:moveTo>
                      <a:pt x="64113" y="275263"/>
                    </a:moveTo>
                    <a:lnTo>
                      <a:pt x="57255" y="272358"/>
                    </a:lnTo>
                    <a:moveTo>
                      <a:pt x="70171" y="277120"/>
                    </a:moveTo>
                    <a:lnTo>
                      <a:pt x="76190" y="278949"/>
                    </a:lnTo>
                    <a:moveTo>
                      <a:pt x="52921" y="270520"/>
                    </a:moveTo>
                    <a:lnTo>
                      <a:pt x="57255" y="272358"/>
                    </a:lnTo>
                    <a:moveTo>
                      <a:pt x="49654" y="268672"/>
                    </a:moveTo>
                    <a:lnTo>
                      <a:pt x="42805" y="264795"/>
                    </a:lnTo>
                    <a:moveTo>
                      <a:pt x="49654" y="268672"/>
                    </a:moveTo>
                    <a:lnTo>
                      <a:pt x="52921" y="270520"/>
                    </a:lnTo>
                    <a:moveTo>
                      <a:pt x="40596" y="263147"/>
                    </a:moveTo>
                    <a:lnTo>
                      <a:pt x="33899" y="258166"/>
                    </a:lnTo>
                    <a:moveTo>
                      <a:pt x="40596" y="263147"/>
                    </a:moveTo>
                    <a:lnTo>
                      <a:pt x="42805" y="264795"/>
                    </a:lnTo>
                    <a:moveTo>
                      <a:pt x="32518" y="256804"/>
                    </a:moveTo>
                    <a:lnTo>
                      <a:pt x="26346" y="250727"/>
                    </a:lnTo>
                    <a:moveTo>
                      <a:pt x="32518" y="256804"/>
                    </a:moveTo>
                    <a:lnTo>
                      <a:pt x="33899" y="258166"/>
                    </a:lnTo>
                    <a:moveTo>
                      <a:pt x="25565" y="249688"/>
                    </a:moveTo>
                    <a:lnTo>
                      <a:pt x="20260" y="242611"/>
                    </a:lnTo>
                    <a:moveTo>
                      <a:pt x="25565" y="249688"/>
                    </a:moveTo>
                    <a:lnTo>
                      <a:pt x="26346" y="250727"/>
                    </a:lnTo>
                    <a:moveTo>
                      <a:pt x="19869" y="241859"/>
                    </a:moveTo>
                    <a:lnTo>
                      <a:pt x="15735" y="233934"/>
                    </a:lnTo>
                    <a:moveTo>
                      <a:pt x="19869" y="241859"/>
                    </a:moveTo>
                    <a:lnTo>
                      <a:pt x="20260" y="242611"/>
                    </a:lnTo>
                    <a:moveTo>
                      <a:pt x="15564" y="233401"/>
                    </a:moveTo>
                    <a:lnTo>
                      <a:pt x="12830" y="224819"/>
                    </a:lnTo>
                    <a:moveTo>
                      <a:pt x="15564" y="233401"/>
                    </a:moveTo>
                    <a:lnTo>
                      <a:pt x="15735" y="233934"/>
                    </a:lnTo>
                    <a:moveTo>
                      <a:pt x="12773" y="224409"/>
                    </a:moveTo>
                    <a:lnTo>
                      <a:pt x="11601" y="215417"/>
                    </a:lnTo>
                    <a:moveTo>
                      <a:pt x="12773" y="224409"/>
                    </a:moveTo>
                    <a:lnTo>
                      <a:pt x="12830" y="224819"/>
                    </a:lnTo>
                    <a:moveTo>
                      <a:pt x="11620" y="214979"/>
                    </a:moveTo>
                    <a:lnTo>
                      <a:pt x="11601" y="215417"/>
                    </a:lnTo>
                    <a:moveTo>
                      <a:pt x="11620" y="214979"/>
                    </a:moveTo>
                    <a:lnTo>
                      <a:pt x="12068" y="205854"/>
                    </a:lnTo>
                    <a:moveTo>
                      <a:pt x="12202" y="205264"/>
                    </a:moveTo>
                    <a:lnTo>
                      <a:pt x="12068" y="205854"/>
                    </a:lnTo>
                    <a:moveTo>
                      <a:pt x="12202" y="205264"/>
                    </a:moveTo>
                    <a:lnTo>
                      <a:pt x="14211" y="196291"/>
                    </a:lnTo>
                    <a:moveTo>
                      <a:pt x="14573" y="195396"/>
                    </a:moveTo>
                    <a:lnTo>
                      <a:pt x="14211" y="196291"/>
                    </a:lnTo>
                    <a:moveTo>
                      <a:pt x="14573" y="195396"/>
                    </a:moveTo>
                    <a:lnTo>
                      <a:pt x="18002" y="186861"/>
                    </a:lnTo>
                    <a:moveTo>
                      <a:pt x="108766" y="124244"/>
                    </a:moveTo>
                    <a:lnTo>
                      <a:pt x="106032" y="130245"/>
                    </a:lnTo>
                    <a:moveTo>
                      <a:pt x="117577" y="106232"/>
                    </a:moveTo>
                    <a:lnTo>
                      <a:pt x="108766" y="124244"/>
                    </a:lnTo>
                    <a:moveTo>
                      <a:pt x="130026" y="286769"/>
                    </a:moveTo>
                    <a:lnTo>
                      <a:pt x="126454" y="282464"/>
                    </a:lnTo>
                    <a:moveTo>
                      <a:pt x="143913" y="302590"/>
                    </a:moveTo>
                    <a:lnTo>
                      <a:pt x="130026" y="286769"/>
                    </a:lnTo>
                    <a:moveTo>
                      <a:pt x="123501" y="105575"/>
                    </a:moveTo>
                    <a:lnTo>
                      <a:pt x="117577" y="106232"/>
                    </a:lnTo>
                    <a:moveTo>
                      <a:pt x="125082" y="105527"/>
                    </a:moveTo>
                    <a:lnTo>
                      <a:pt x="141180" y="105127"/>
                    </a:lnTo>
                    <a:moveTo>
                      <a:pt x="141180" y="105127"/>
                    </a:moveTo>
                    <a:lnTo>
                      <a:pt x="151590" y="105766"/>
                    </a:lnTo>
                    <a:moveTo>
                      <a:pt x="125082" y="105527"/>
                    </a:moveTo>
                    <a:lnTo>
                      <a:pt x="123501" y="105575"/>
                    </a:lnTo>
                    <a:moveTo>
                      <a:pt x="158572" y="106194"/>
                    </a:moveTo>
                    <a:lnTo>
                      <a:pt x="151590" y="105766"/>
                    </a:lnTo>
                    <a:moveTo>
                      <a:pt x="168678" y="107737"/>
                    </a:moveTo>
                    <a:lnTo>
                      <a:pt x="175431" y="108776"/>
                    </a:lnTo>
                    <a:moveTo>
                      <a:pt x="168678" y="107737"/>
                    </a:moveTo>
                    <a:lnTo>
                      <a:pt x="158572" y="106194"/>
                    </a:lnTo>
                    <a:moveTo>
                      <a:pt x="188757" y="112128"/>
                    </a:moveTo>
                    <a:lnTo>
                      <a:pt x="191500" y="112814"/>
                    </a:lnTo>
                    <a:moveTo>
                      <a:pt x="191500" y="112814"/>
                    </a:moveTo>
                    <a:lnTo>
                      <a:pt x="193300" y="113471"/>
                    </a:lnTo>
                    <a:moveTo>
                      <a:pt x="188757" y="112128"/>
                    </a:moveTo>
                    <a:lnTo>
                      <a:pt x="175431" y="108776"/>
                    </a:lnTo>
                    <a:moveTo>
                      <a:pt x="203978" y="117338"/>
                    </a:moveTo>
                    <a:lnTo>
                      <a:pt x="193300" y="113471"/>
                    </a:lnTo>
                    <a:moveTo>
                      <a:pt x="224342" y="269119"/>
                    </a:moveTo>
                    <a:lnTo>
                      <a:pt x="214598" y="275939"/>
                    </a:lnTo>
                    <a:moveTo>
                      <a:pt x="214598" y="275939"/>
                    </a:moveTo>
                    <a:lnTo>
                      <a:pt x="212950" y="277082"/>
                    </a:lnTo>
                    <a:moveTo>
                      <a:pt x="202511" y="282921"/>
                    </a:moveTo>
                    <a:lnTo>
                      <a:pt x="212950" y="277082"/>
                    </a:lnTo>
                    <a:moveTo>
                      <a:pt x="202511" y="282921"/>
                    </a:moveTo>
                    <a:lnTo>
                      <a:pt x="198463" y="285178"/>
                    </a:lnTo>
                    <a:moveTo>
                      <a:pt x="198463" y="285178"/>
                    </a:moveTo>
                    <a:lnTo>
                      <a:pt x="192062" y="287998"/>
                    </a:lnTo>
                    <a:moveTo>
                      <a:pt x="182842" y="292056"/>
                    </a:moveTo>
                    <a:lnTo>
                      <a:pt x="171945" y="295723"/>
                    </a:lnTo>
                    <a:moveTo>
                      <a:pt x="182842" y="292056"/>
                    </a:moveTo>
                    <a:lnTo>
                      <a:pt x="192062" y="287998"/>
                    </a:lnTo>
                    <a:moveTo>
                      <a:pt x="166306" y="297618"/>
                    </a:moveTo>
                    <a:lnTo>
                      <a:pt x="171945" y="295723"/>
                    </a:lnTo>
                    <a:moveTo>
                      <a:pt x="162449" y="298561"/>
                    </a:moveTo>
                    <a:lnTo>
                      <a:pt x="149123" y="301790"/>
                    </a:lnTo>
                    <a:moveTo>
                      <a:pt x="162449" y="298561"/>
                    </a:moveTo>
                    <a:lnTo>
                      <a:pt x="166306" y="297618"/>
                    </a:lnTo>
                    <a:moveTo>
                      <a:pt x="148209" y="301933"/>
                    </a:moveTo>
                    <a:lnTo>
                      <a:pt x="143913" y="302590"/>
                    </a:lnTo>
                    <a:moveTo>
                      <a:pt x="148209" y="301933"/>
                    </a:moveTo>
                    <a:lnTo>
                      <a:pt x="149123" y="301790"/>
                    </a:lnTo>
                    <a:moveTo>
                      <a:pt x="226905" y="288207"/>
                    </a:moveTo>
                    <a:lnTo>
                      <a:pt x="227714" y="294256"/>
                    </a:lnTo>
                    <a:moveTo>
                      <a:pt x="225600" y="278492"/>
                    </a:moveTo>
                    <a:lnTo>
                      <a:pt x="226905" y="288207"/>
                    </a:lnTo>
                    <a:moveTo>
                      <a:pt x="225600" y="278492"/>
                    </a:moveTo>
                    <a:lnTo>
                      <a:pt x="224342" y="269119"/>
                    </a:lnTo>
                    <a:moveTo>
                      <a:pt x="200606" y="92202"/>
                    </a:moveTo>
                    <a:lnTo>
                      <a:pt x="201549" y="99212"/>
                    </a:lnTo>
                    <a:moveTo>
                      <a:pt x="202778" y="108385"/>
                    </a:moveTo>
                    <a:lnTo>
                      <a:pt x="203978" y="117338"/>
                    </a:lnTo>
                    <a:moveTo>
                      <a:pt x="202778" y="108385"/>
                    </a:moveTo>
                    <a:lnTo>
                      <a:pt x="201549" y="99212"/>
                    </a:lnTo>
                    <a:moveTo>
                      <a:pt x="121148" y="85011"/>
                    </a:moveTo>
                    <a:lnTo>
                      <a:pt x="123587" y="84744"/>
                    </a:lnTo>
                    <a:moveTo>
                      <a:pt x="111185" y="86116"/>
                    </a:moveTo>
                    <a:lnTo>
                      <a:pt x="121148" y="85011"/>
                    </a:lnTo>
                    <a:moveTo>
                      <a:pt x="138341" y="84372"/>
                    </a:moveTo>
                    <a:lnTo>
                      <a:pt x="144942" y="84201"/>
                    </a:lnTo>
                    <a:moveTo>
                      <a:pt x="138341" y="84372"/>
                    </a:moveTo>
                    <a:lnTo>
                      <a:pt x="123587" y="84744"/>
                    </a:lnTo>
                    <a:moveTo>
                      <a:pt x="155429" y="84849"/>
                    </a:moveTo>
                    <a:lnTo>
                      <a:pt x="165973" y="85496"/>
                    </a:lnTo>
                    <a:moveTo>
                      <a:pt x="155429" y="84849"/>
                    </a:moveTo>
                    <a:lnTo>
                      <a:pt x="144942" y="84201"/>
                    </a:lnTo>
                    <a:moveTo>
                      <a:pt x="172307" y="86468"/>
                    </a:moveTo>
                    <a:lnTo>
                      <a:pt x="186347" y="88611"/>
                    </a:lnTo>
                    <a:moveTo>
                      <a:pt x="172307" y="86468"/>
                    </a:moveTo>
                    <a:lnTo>
                      <a:pt x="165973" y="85496"/>
                    </a:lnTo>
                    <a:moveTo>
                      <a:pt x="188843" y="89240"/>
                    </a:moveTo>
                    <a:lnTo>
                      <a:pt x="200606" y="92202"/>
                    </a:lnTo>
                    <a:moveTo>
                      <a:pt x="188843" y="89240"/>
                    </a:moveTo>
                    <a:lnTo>
                      <a:pt x="186347" y="88611"/>
                    </a:lnTo>
                    <a:moveTo>
                      <a:pt x="214189" y="301809"/>
                    </a:moveTo>
                    <a:lnTo>
                      <a:pt x="227714" y="294256"/>
                    </a:lnTo>
                    <a:moveTo>
                      <a:pt x="210188" y="303571"/>
                    </a:moveTo>
                    <a:lnTo>
                      <a:pt x="195301" y="310124"/>
                    </a:lnTo>
                    <a:moveTo>
                      <a:pt x="195301" y="310124"/>
                    </a:moveTo>
                    <a:lnTo>
                      <a:pt x="185433" y="313439"/>
                    </a:lnTo>
                    <a:moveTo>
                      <a:pt x="210188" y="303571"/>
                    </a:moveTo>
                    <a:lnTo>
                      <a:pt x="214189" y="301809"/>
                    </a:lnTo>
                    <a:moveTo>
                      <a:pt x="175317" y="316849"/>
                    </a:moveTo>
                    <a:lnTo>
                      <a:pt x="185433" y="313439"/>
                    </a:lnTo>
                    <a:moveTo>
                      <a:pt x="158182" y="321012"/>
                    </a:moveTo>
                    <a:lnTo>
                      <a:pt x="154553" y="321888"/>
                    </a:lnTo>
                    <a:moveTo>
                      <a:pt x="154553" y="321888"/>
                    </a:moveTo>
                    <a:lnTo>
                      <a:pt x="152286" y="322240"/>
                    </a:lnTo>
                    <a:moveTo>
                      <a:pt x="158182" y="321012"/>
                    </a:moveTo>
                    <a:lnTo>
                      <a:pt x="175317" y="316849"/>
                    </a:lnTo>
                    <a:moveTo>
                      <a:pt x="143046" y="323660"/>
                    </a:moveTo>
                    <a:lnTo>
                      <a:pt x="152286" y="322240"/>
                    </a:lnTo>
                    <a:moveTo>
                      <a:pt x="100841" y="79315"/>
                    </a:moveTo>
                    <a:lnTo>
                      <a:pt x="111185" y="86116"/>
                    </a:lnTo>
                    <a:moveTo>
                      <a:pt x="87030" y="71152"/>
                    </a:moveTo>
                    <a:lnTo>
                      <a:pt x="100841" y="79315"/>
                    </a:lnTo>
                    <a:moveTo>
                      <a:pt x="134045" y="333842"/>
                    </a:moveTo>
                    <a:lnTo>
                      <a:pt x="143046" y="323660"/>
                    </a:lnTo>
                    <a:moveTo>
                      <a:pt x="123692" y="344462"/>
                    </a:moveTo>
                    <a:lnTo>
                      <a:pt x="134045" y="333842"/>
                    </a:lnTo>
                    <a:moveTo>
                      <a:pt x="91859" y="66265"/>
                    </a:moveTo>
                    <a:lnTo>
                      <a:pt x="87030" y="71152"/>
                    </a:lnTo>
                    <a:moveTo>
                      <a:pt x="107594" y="52226"/>
                    </a:moveTo>
                    <a:lnTo>
                      <a:pt x="91859" y="66265"/>
                    </a:lnTo>
                    <a:moveTo>
                      <a:pt x="123758" y="41691"/>
                    </a:moveTo>
                    <a:lnTo>
                      <a:pt x="107594" y="52226"/>
                    </a:lnTo>
                    <a:moveTo>
                      <a:pt x="131997" y="37833"/>
                    </a:moveTo>
                    <a:lnTo>
                      <a:pt x="123758" y="41691"/>
                    </a:lnTo>
                    <a:moveTo>
                      <a:pt x="141027" y="35319"/>
                    </a:moveTo>
                    <a:lnTo>
                      <a:pt x="131997" y="37833"/>
                    </a:lnTo>
                    <a:moveTo>
                      <a:pt x="164649" y="28756"/>
                    </a:moveTo>
                    <a:lnTo>
                      <a:pt x="141027" y="35319"/>
                    </a:lnTo>
                    <a:moveTo>
                      <a:pt x="187223" y="26060"/>
                    </a:moveTo>
                    <a:lnTo>
                      <a:pt x="164649" y="28756"/>
                    </a:lnTo>
                    <a:moveTo>
                      <a:pt x="218437" y="27880"/>
                    </a:moveTo>
                    <a:lnTo>
                      <a:pt x="187223" y="26060"/>
                    </a:lnTo>
                    <a:moveTo>
                      <a:pt x="252765" y="29880"/>
                    </a:moveTo>
                    <a:lnTo>
                      <a:pt x="261852" y="32290"/>
                    </a:lnTo>
                    <a:moveTo>
                      <a:pt x="218437" y="27880"/>
                    </a:moveTo>
                    <a:lnTo>
                      <a:pt x="252765" y="29880"/>
                    </a:lnTo>
                    <a:moveTo>
                      <a:pt x="304762" y="45815"/>
                    </a:moveTo>
                    <a:lnTo>
                      <a:pt x="281226" y="37433"/>
                    </a:lnTo>
                    <a:moveTo>
                      <a:pt x="312134" y="49073"/>
                    </a:moveTo>
                    <a:lnTo>
                      <a:pt x="304762" y="45815"/>
                    </a:lnTo>
                    <a:moveTo>
                      <a:pt x="323936" y="56093"/>
                    </a:moveTo>
                    <a:lnTo>
                      <a:pt x="312134" y="49073"/>
                    </a:lnTo>
                    <a:moveTo>
                      <a:pt x="281226" y="37433"/>
                    </a:moveTo>
                    <a:lnTo>
                      <a:pt x="261852" y="32290"/>
                    </a:lnTo>
                    <a:moveTo>
                      <a:pt x="343881" y="69313"/>
                    </a:moveTo>
                    <a:lnTo>
                      <a:pt x="323936" y="56093"/>
                    </a:lnTo>
                    <a:moveTo>
                      <a:pt x="358816" y="81163"/>
                    </a:moveTo>
                    <a:lnTo>
                      <a:pt x="343881" y="69313"/>
                    </a:lnTo>
                    <a:moveTo>
                      <a:pt x="358816" y="81163"/>
                    </a:moveTo>
                    <a:lnTo>
                      <a:pt x="374961" y="98431"/>
                    </a:lnTo>
                    <a:moveTo>
                      <a:pt x="382657" y="264090"/>
                    </a:moveTo>
                    <a:lnTo>
                      <a:pt x="394268" y="242392"/>
                    </a:lnTo>
                    <a:moveTo>
                      <a:pt x="371389" y="279254"/>
                    </a:moveTo>
                    <a:lnTo>
                      <a:pt x="382657" y="264090"/>
                    </a:lnTo>
                    <a:moveTo>
                      <a:pt x="355102" y="297675"/>
                    </a:moveTo>
                    <a:lnTo>
                      <a:pt x="371389" y="279254"/>
                    </a:lnTo>
                    <a:moveTo>
                      <a:pt x="345796" y="307229"/>
                    </a:moveTo>
                    <a:lnTo>
                      <a:pt x="355102" y="297675"/>
                    </a:lnTo>
                    <a:moveTo>
                      <a:pt x="339719" y="312125"/>
                    </a:moveTo>
                    <a:lnTo>
                      <a:pt x="345796" y="307229"/>
                    </a:lnTo>
                    <a:moveTo>
                      <a:pt x="172650" y="364122"/>
                    </a:moveTo>
                    <a:lnTo>
                      <a:pt x="165630" y="362893"/>
                    </a:lnTo>
                    <a:moveTo>
                      <a:pt x="175841" y="364684"/>
                    </a:moveTo>
                    <a:lnTo>
                      <a:pt x="172650" y="364122"/>
                    </a:lnTo>
                    <a:moveTo>
                      <a:pt x="148523" y="357349"/>
                    </a:moveTo>
                    <a:lnTo>
                      <a:pt x="129159" y="347643"/>
                    </a:lnTo>
                    <a:moveTo>
                      <a:pt x="129159" y="347643"/>
                    </a:moveTo>
                    <a:lnTo>
                      <a:pt x="123692" y="344462"/>
                    </a:lnTo>
                    <a:moveTo>
                      <a:pt x="319907" y="325812"/>
                    </a:moveTo>
                    <a:lnTo>
                      <a:pt x="339719" y="312125"/>
                    </a:lnTo>
                    <a:moveTo>
                      <a:pt x="319907" y="325812"/>
                    </a:moveTo>
                    <a:lnTo>
                      <a:pt x="293265" y="341128"/>
                    </a:lnTo>
                    <a:moveTo>
                      <a:pt x="209740" y="364950"/>
                    </a:moveTo>
                    <a:lnTo>
                      <a:pt x="194177" y="364827"/>
                    </a:lnTo>
                    <a:moveTo>
                      <a:pt x="194177" y="364827"/>
                    </a:moveTo>
                    <a:lnTo>
                      <a:pt x="175841" y="364684"/>
                    </a:lnTo>
                    <a:moveTo>
                      <a:pt x="153505" y="358969"/>
                    </a:moveTo>
                    <a:lnTo>
                      <a:pt x="148523" y="357349"/>
                    </a:lnTo>
                    <a:moveTo>
                      <a:pt x="153505" y="358969"/>
                    </a:moveTo>
                    <a:lnTo>
                      <a:pt x="165630" y="362893"/>
                    </a:lnTo>
                    <a:moveTo>
                      <a:pt x="262033" y="351530"/>
                    </a:moveTo>
                    <a:lnTo>
                      <a:pt x="230991" y="361855"/>
                    </a:lnTo>
                    <a:moveTo>
                      <a:pt x="262033" y="351530"/>
                    </a:moveTo>
                    <a:lnTo>
                      <a:pt x="293265" y="341128"/>
                    </a:lnTo>
                    <a:moveTo>
                      <a:pt x="222799" y="363045"/>
                    </a:moveTo>
                    <a:lnTo>
                      <a:pt x="230991" y="361855"/>
                    </a:lnTo>
                    <a:moveTo>
                      <a:pt x="222799" y="363045"/>
                    </a:moveTo>
                    <a:lnTo>
                      <a:pt x="209740" y="364950"/>
                    </a:lnTo>
                    <a:moveTo>
                      <a:pt x="398793" y="276054"/>
                    </a:moveTo>
                    <a:lnTo>
                      <a:pt x="400564" y="289312"/>
                    </a:lnTo>
                    <a:moveTo>
                      <a:pt x="397640" y="267472"/>
                    </a:moveTo>
                    <a:lnTo>
                      <a:pt x="398793" y="276054"/>
                    </a:lnTo>
                    <a:moveTo>
                      <a:pt x="396411" y="258328"/>
                    </a:moveTo>
                    <a:lnTo>
                      <a:pt x="397640" y="267472"/>
                    </a:lnTo>
                    <a:moveTo>
                      <a:pt x="396411" y="258328"/>
                    </a:moveTo>
                    <a:lnTo>
                      <a:pt x="394268" y="242392"/>
                    </a:lnTo>
                    <a:moveTo>
                      <a:pt x="370522" y="65361"/>
                    </a:moveTo>
                    <a:lnTo>
                      <a:pt x="371732" y="74352"/>
                    </a:lnTo>
                    <a:moveTo>
                      <a:pt x="371732" y="74352"/>
                    </a:moveTo>
                    <a:lnTo>
                      <a:pt x="374961" y="98431"/>
                    </a:lnTo>
                    <a:moveTo>
                      <a:pt x="368646" y="51340"/>
                    </a:moveTo>
                    <a:lnTo>
                      <a:pt x="370522" y="65361"/>
                    </a:lnTo>
                  </a:path>
                </a:pathLst>
              </a:custGeom>
              <a:noFill/>
              <a:ln w="19050">
                <a:solidFill>
                  <a:srgbClr val="D98536"/>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416" name="Freeform 15"/>
              <p:cNvSpPr/>
              <p:nvPr/>
            </p:nvSpPr>
            <p:spPr>
              <a:xfrm>
                <a:off x="1196280" y="2557440"/>
                <a:ext cx="65520" cy="89280"/>
              </a:xfrm>
              <a:custGeom>
                <a:avLst/>
                <a:gdLst>
                  <a:gd name="textAreaLeft" fmla="*/ 0 w 65520"/>
                  <a:gd name="textAreaRight" fmla="*/ 66600 w 65520"/>
                  <a:gd name="textAreaTop" fmla="*/ 0 h 89280"/>
                  <a:gd name="textAreaBottom" fmla="*/ 90360 h 89280"/>
                </a:gdLst>
                <a:ahLst/>
                <a:cxnLst/>
                <a:rect l="textAreaLeft" t="textAreaTop" r="textAreaRight" b="textAreaBottom"/>
                <a:pathLst>
                  <a:path w="66732" h="90297">
                    <a:moveTo>
                      <a:pt x="16602" y="962"/>
                    </a:moveTo>
                    <a:lnTo>
                      <a:pt x="14888" y="1438"/>
                    </a:lnTo>
                    <a:moveTo>
                      <a:pt x="16602" y="962"/>
                    </a:moveTo>
                    <a:lnTo>
                      <a:pt x="22879" y="0"/>
                    </a:lnTo>
                    <a:moveTo>
                      <a:pt x="24536" y="19"/>
                    </a:moveTo>
                    <a:lnTo>
                      <a:pt x="22879" y="0"/>
                    </a:lnTo>
                    <a:moveTo>
                      <a:pt x="49901" y="16516"/>
                    </a:moveTo>
                    <a:lnTo>
                      <a:pt x="55540" y="24413"/>
                    </a:lnTo>
                    <a:moveTo>
                      <a:pt x="55540" y="24413"/>
                    </a:moveTo>
                    <a:lnTo>
                      <a:pt x="57112" y="26518"/>
                    </a:lnTo>
                    <a:moveTo>
                      <a:pt x="27880" y="1295"/>
                    </a:moveTo>
                    <a:lnTo>
                      <a:pt x="36128" y="3972"/>
                    </a:lnTo>
                    <a:moveTo>
                      <a:pt x="27880" y="1295"/>
                    </a:moveTo>
                    <a:lnTo>
                      <a:pt x="24536" y="19"/>
                    </a:lnTo>
                    <a:moveTo>
                      <a:pt x="61246" y="36595"/>
                    </a:moveTo>
                    <a:lnTo>
                      <a:pt x="57112" y="26518"/>
                    </a:lnTo>
                    <a:moveTo>
                      <a:pt x="61246" y="36595"/>
                    </a:moveTo>
                    <a:lnTo>
                      <a:pt x="63998" y="42910"/>
                    </a:lnTo>
                    <a:moveTo>
                      <a:pt x="38252" y="5848"/>
                    </a:moveTo>
                    <a:lnTo>
                      <a:pt x="47635" y="13345"/>
                    </a:lnTo>
                    <a:moveTo>
                      <a:pt x="38252" y="5848"/>
                    </a:moveTo>
                    <a:lnTo>
                      <a:pt x="36128" y="3972"/>
                    </a:lnTo>
                    <a:moveTo>
                      <a:pt x="60360" y="82706"/>
                    </a:moveTo>
                    <a:lnTo>
                      <a:pt x="58979" y="84630"/>
                    </a:lnTo>
                    <a:moveTo>
                      <a:pt x="54150" y="88201"/>
                    </a:moveTo>
                    <a:lnTo>
                      <a:pt x="53892" y="88382"/>
                    </a:lnTo>
                    <a:moveTo>
                      <a:pt x="54150" y="88201"/>
                    </a:moveTo>
                    <a:lnTo>
                      <a:pt x="58979" y="84630"/>
                    </a:lnTo>
                    <a:moveTo>
                      <a:pt x="66732" y="61998"/>
                    </a:moveTo>
                    <a:lnTo>
                      <a:pt x="63265" y="77962"/>
                    </a:lnTo>
                    <a:moveTo>
                      <a:pt x="64980" y="50378"/>
                    </a:moveTo>
                    <a:lnTo>
                      <a:pt x="63998" y="42910"/>
                    </a:lnTo>
                    <a:moveTo>
                      <a:pt x="64980" y="50378"/>
                    </a:moveTo>
                    <a:lnTo>
                      <a:pt x="66732" y="61998"/>
                    </a:lnTo>
                    <a:moveTo>
                      <a:pt x="48006" y="13916"/>
                    </a:moveTo>
                    <a:lnTo>
                      <a:pt x="47635" y="13345"/>
                    </a:lnTo>
                    <a:moveTo>
                      <a:pt x="48006" y="13916"/>
                    </a:moveTo>
                    <a:lnTo>
                      <a:pt x="49901" y="16516"/>
                    </a:lnTo>
                    <a:moveTo>
                      <a:pt x="48206" y="90192"/>
                    </a:moveTo>
                    <a:lnTo>
                      <a:pt x="53892" y="88382"/>
                    </a:lnTo>
                    <a:moveTo>
                      <a:pt x="48206" y="90192"/>
                    </a:moveTo>
                    <a:lnTo>
                      <a:pt x="47892" y="90297"/>
                    </a:lnTo>
                    <a:moveTo>
                      <a:pt x="47892" y="90297"/>
                    </a:moveTo>
                    <a:lnTo>
                      <a:pt x="47539" y="90287"/>
                    </a:lnTo>
                    <a:moveTo>
                      <a:pt x="40853" y="90202"/>
                    </a:moveTo>
                    <a:lnTo>
                      <a:pt x="47539" y="90287"/>
                    </a:lnTo>
                    <a:moveTo>
                      <a:pt x="63084" y="78781"/>
                    </a:moveTo>
                    <a:lnTo>
                      <a:pt x="63265" y="77962"/>
                    </a:lnTo>
                    <a:moveTo>
                      <a:pt x="62941" y="78981"/>
                    </a:moveTo>
                    <a:lnTo>
                      <a:pt x="60360" y="82706"/>
                    </a:lnTo>
                    <a:moveTo>
                      <a:pt x="62941" y="78981"/>
                    </a:moveTo>
                    <a:lnTo>
                      <a:pt x="63084" y="78781"/>
                    </a:lnTo>
                    <a:moveTo>
                      <a:pt x="39014" y="89383"/>
                    </a:moveTo>
                    <a:lnTo>
                      <a:pt x="40853" y="90202"/>
                    </a:lnTo>
                    <a:moveTo>
                      <a:pt x="25422" y="82934"/>
                    </a:moveTo>
                    <a:lnTo>
                      <a:pt x="15859" y="72542"/>
                    </a:lnTo>
                    <a:moveTo>
                      <a:pt x="25422" y="82934"/>
                    </a:moveTo>
                    <a:lnTo>
                      <a:pt x="39014" y="89383"/>
                    </a:lnTo>
                    <a:moveTo>
                      <a:pt x="12106" y="68409"/>
                    </a:moveTo>
                    <a:lnTo>
                      <a:pt x="15859" y="72542"/>
                    </a:lnTo>
                    <a:moveTo>
                      <a:pt x="8049" y="60274"/>
                    </a:moveTo>
                    <a:lnTo>
                      <a:pt x="12106" y="68409"/>
                    </a:lnTo>
                    <a:moveTo>
                      <a:pt x="8049" y="60274"/>
                    </a:moveTo>
                    <a:lnTo>
                      <a:pt x="3772" y="51806"/>
                    </a:lnTo>
                    <a:moveTo>
                      <a:pt x="629" y="37719"/>
                    </a:moveTo>
                    <a:lnTo>
                      <a:pt x="0" y="35014"/>
                    </a:lnTo>
                    <a:moveTo>
                      <a:pt x="0" y="35014"/>
                    </a:moveTo>
                    <a:lnTo>
                      <a:pt x="76" y="33395"/>
                    </a:lnTo>
                    <a:moveTo>
                      <a:pt x="629" y="37719"/>
                    </a:moveTo>
                    <a:lnTo>
                      <a:pt x="3772" y="51806"/>
                    </a:lnTo>
                    <a:moveTo>
                      <a:pt x="448" y="27165"/>
                    </a:moveTo>
                    <a:lnTo>
                      <a:pt x="76" y="33395"/>
                    </a:lnTo>
                    <a:moveTo>
                      <a:pt x="1105" y="19145"/>
                    </a:moveTo>
                    <a:lnTo>
                      <a:pt x="448" y="27165"/>
                    </a:lnTo>
                    <a:moveTo>
                      <a:pt x="1838" y="17717"/>
                    </a:moveTo>
                    <a:lnTo>
                      <a:pt x="6706" y="7515"/>
                    </a:lnTo>
                    <a:moveTo>
                      <a:pt x="1838" y="17717"/>
                    </a:moveTo>
                    <a:lnTo>
                      <a:pt x="1105" y="19145"/>
                    </a:lnTo>
                    <a:moveTo>
                      <a:pt x="13202" y="2257"/>
                    </a:moveTo>
                    <a:lnTo>
                      <a:pt x="14888" y="1438"/>
                    </a:lnTo>
                    <a:moveTo>
                      <a:pt x="10554" y="3772"/>
                    </a:moveTo>
                    <a:lnTo>
                      <a:pt x="13202" y="2257"/>
                    </a:lnTo>
                    <a:moveTo>
                      <a:pt x="7744" y="6553"/>
                    </a:moveTo>
                    <a:lnTo>
                      <a:pt x="10554" y="3772"/>
                    </a:lnTo>
                    <a:moveTo>
                      <a:pt x="7744" y="6553"/>
                    </a:moveTo>
                    <a:lnTo>
                      <a:pt x="6706" y="7515"/>
                    </a:lnTo>
                  </a:path>
                </a:pathLst>
              </a:custGeom>
              <a:noFill/>
              <a:ln w="19050">
                <a:solidFill>
                  <a:srgbClr val="A357B9"/>
                </a:solidFill>
                <a:round/>
              </a:ln>
            </p:spPr>
            <p:style>
              <a:lnRef idx="0"/>
              <a:fillRef idx="0"/>
              <a:effectRef idx="0"/>
              <a:fontRef idx="minor"/>
            </p:style>
            <p:txBody>
              <a:bodyPr lIns="32760" tIns="45000" rIns="32760" bIns="45000" anchor="t">
                <a:noAutofit/>
              </a:bodyPr>
              <a:p>
                <a:pPr/>
                <a:endParaRPr lang="en-US" sz="1800" b="0" u="none" strike="noStrike">
                  <a:solidFill>
                    <a:srgbClr val="000000"/>
                  </a:solidFill>
                  <a:effectLst/>
                  <a:uFillTx/>
                  <a:latin typeface="Arial"/>
                </a:endParaRPr>
              </a:p>
            </p:txBody>
          </p:sp>
          <p:sp>
            <p:nvSpPr>
              <p:cNvPr id="417" name="TextBox 16"/>
              <p:cNvSpPr/>
              <p:nvPr/>
            </p:nvSpPr>
            <p:spPr>
              <a:xfrm>
                <a:off x="1687680" y="2060640"/>
                <a:ext cx="1279080" cy="2923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00" b="1" u="none" strike="noStrike">
                    <a:solidFill>
                      <a:srgbClr val="24364C"/>
                    </a:solidFill>
                    <a:effectLst/>
                    <a:uFillTx/>
                    <a:latin typeface="Arial"/>
                    <a:ea typeface="微软雅黑"/>
                  </a:rPr>
                  <a:t>Near soft leaf</a:t>
                </a:r>
                <a:endParaRPr lang="en-US" sz="1500" b="0" u="none" strike="noStrike">
                  <a:solidFill>
                    <a:srgbClr val="000000"/>
                  </a:solidFill>
                  <a:effectLst/>
                  <a:uFillTx/>
                  <a:latin typeface="Arial"/>
                </a:endParaRPr>
              </a:p>
            </p:txBody>
          </p:sp>
          <p:sp>
            <p:nvSpPr>
              <p:cNvPr id="418" name="Freeform 17"/>
              <p:cNvSpPr/>
              <p:nvPr/>
            </p:nvSpPr>
            <p:spPr>
              <a:xfrm>
                <a:off x="1740240" y="2295360"/>
                <a:ext cx="2129040" cy="1398960"/>
              </a:xfrm>
              <a:custGeom>
                <a:avLst/>
                <a:gdLst>
                  <a:gd name="textAreaLeft" fmla="*/ 0 w 2129040"/>
                  <a:gd name="textAreaRight" fmla="*/ 2130120 w 2129040"/>
                  <a:gd name="textAreaTop" fmla="*/ 0 h 1398960"/>
                  <a:gd name="textAreaBottom" fmla="*/ 1400040 h 1398960"/>
                </a:gdLst>
                <a:ahLst/>
                <a:cxnLst/>
                <a:rect l="textAreaLeft" t="textAreaTop" r="textAreaRight" b="textAreaBottom"/>
                <a:pathLst>
                  <a:path w="2130076" h="1400175">
                    <a:moveTo>
                      <a:pt x="1889122" y="1109462"/>
                    </a:moveTo>
                    <a:lnTo>
                      <a:pt x="1997602" y="1027119"/>
                    </a:lnTo>
                    <a:moveTo>
                      <a:pt x="990267" y="1354979"/>
                    </a:moveTo>
                    <a:lnTo>
                      <a:pt x="1054370" y="1343339"/>
                    </a:lnTo>
                    <a:moveTo>
                      <a:pt x="1880845" y="1114749"/>
                    </a:moveTo>
                    <a:lnTo>
                      <a:pt x="1886312" y="1111158"/>
                    </a:lnTo>
                    <a:moveTo>
                      <a:pt x="1886312" y="1111158"/>
                    </a:moveTo>
                    <a:lnTo>
                      <a:pt x="1887141" y="1110605"/>
                    </a:lnTo>
                    <a:moveTo>
                      <a:pt x="1880845" y="1114749"/>
                    </a:moveTo>
                    <a:lnTo>
                      <a:pt x="1771850" y="1181786"/>
                    </a:lnTo>
                    <a:moveTo>
                      <a:pt x="1771850" y="1181786"/>
                    </a:moveTo>
                    <a:lnTo>
                      <a:pt x="1748314" y="1193635"/>
                    </a:lnTo>
                    <a:moveTo>
                      <a:pt x="1671552" y="1232297"/>
                    </a:moveTo>
                    <a:lnTo>
                      <a:pt x="1748314" y="1193635"/>
                    </a:lnTo>
                    <a:moveTo>
                      <a:pt x="1346102" y="1312240"/>
                    </a:moveTo>
                    <a:lnTo>
                      <a:pt x="1346902" y="1312154"/>
                    </a:lnTo>
                    <a:moveTo>
                      <a:pt x="1346902" y="1312154"/>
                    </a:moveTo>
                    <a:lnTo>
                      <a:pt x="1349188" y="1311831"/>
                    </a:lnTo>
                    <a:moveTo>
                      <a:pt x="157505" y="1156468"/>
                    </a:moveTo>
                    <a:lnTo>
                      <a:pt x="206121" y="1202379"/>
                    </a:lnTo>
                    <a:moveTo>
                      <a:pt x="290189" y="1285789"/>
                    </a:moveTo>
                    <a:lnTo>
                      <a:pt x="255775" y="1258786"/>
                    </a:lnTo>
                    <a:moveTo>
                      <a:pt x="255775" y="1258786"/>
                    </a:moveTo>
                    <a:lnTo>
                      <a:pt x="206121" y="1202379"/>
                    </a:lnTo>
                    <a:moveTo>
                      <a:pt x="100155" y="1061933"/>
                    </a:moveTo>
                    <a:lnTo>
                      <a:pt x="150952" y="1143200"/>
                    </a:lnTo>
                    <a:moveTo>
                      <a:pt x="157505" y="1156468"/>
                    </a:moveTo>
                    <a:lnTo>
                      <a:pt x="150952" y="1143200"/>
                    </a:lnTo>
                    <a:moveTo>
                      <a:pt x="744274" y="1391879"/>
                    </a:moveTo>
                    <a:lnTo>
                      <a:pt x="776259" y="1387869"/>
                    </a:lnTo>
                    <a:moveTo>
                      <a:pt x="776259" y="1387869"/>
                    </a:moveTo>
                    <a:lnTo>
                      <a:pt x="835476" y="1378944"/>
                    </a:lnTo>
                    <a:moveTo>
                      <a:pt x="1746047" y="756323"/>
                    </a:moveTo>
                    <a:lnTo>
                      <a:pt x="1727730" y="739188"/>
                    </a:lnTo>
                    <a:moveTo>
                      <a:pt x="1746047" y="756323"/>
                    </a:moveTo>
                    <a:lnTo>
                      <a:pt x="1792167" y="765238"/>
                    </a:lnTo>
                    <a:moveTo>
                      <a:pt x="1847278" y="783536"/>
                    </a:moveTo>
                    <a:lnTo>
                      <a:pt x="1792167" y="765238"/>
                    </a:lnTo>
                    <a:moveTo>
                      <a:pt x="1694783" y="645681"/>
                    </a:moveTo>
                    <a:lnTo>
                      <a:pt x="1707794" y="677513"/>
                    </a:lnTo>
                    <a:moveTo>
                      <a:pt x="1707794" y="677513"/>
                    </a:moveTo>
                    <a:lnTo>
                      <a:pt x="1727730" y="739188"/>
                    </a:lnTo>
                    <a:moveTo>
                      <a:pt x="1847278" y="783536"/>
                    </a:moveTo>
                    <a:lnTo>
                      <a:pt x="1903714" y="778688"/>
                    </a:lnTo>
                    <a:moveTo>
                      <a:pt x="1903714" y="778688"/>
                    </a:moveTo>
                    <a:lnTo>
                      <a:pt x="1965779" y="774944"/>
                    </a:lnTo>
                    <a:moveTo>
                      <a:pt x="391716" y="1357303"/>
                    </a:moveTo>
                    <a:lnTo>
                      <a:pt x="391354" y="1357255"/>
                    </a:lnTo>
                    <a:moveTo>
                      <a:pt x="391354" y="1357255"/>
                    </a:moveTo>
                    <a:lnTo>
                      <a:pt x="389658" y="1356265"/>
                    </a:lnTo>
                    <a:moveTo>
                      <a:pt x="1216676" y="1321413"/>
                    </a:moveTo>
                    <a:lnTo>
                      <a:pt x="1346102" y="1312240"/>
                    </a:lnTo>
                    <a:moveTo>
                      <a:pt x="1179405" y="1330490"/>
                    </a:moveTo>
                    <a:lnTo>
                      <a:pt x="1216676" y="1321413"/>
                    </a:lnTo>
                    <a:moveTo>
                      <a:pt x="392821" y="1357608"/>
                    </a:moveTo>
                    <a:lnTo>
                      <a:pt x="525980" y="1393336"/>
                    </a:lnTo>
                    <a:moveTo>
                      <a:pt x="525980" y="1393336"/>
                    </a:moveTo>
                    <a:lnTo>
                      <a:pt x="623964" y="1397860"/>
                    </a:lnTo>
                    <a:moveTo>
                      <a:pt x="623964" y="1397860"/>
                    </a:moveTo>
                    <a:lnTo>
                      <a:pt x="655577" y="1399908"/>
                    </a:lnTo>
                    <a:moveTo>
                      <a:pt x="391716" y="1357303"/>
                    </a:moveTo>
                    <a:lnTo>
                      <a:pt x="392821" y="1357608"/>
                    </a:lnTo>
                    <a:moveTo>
                      <a:pt x="14135" y="769287"/>
                    </a:moveTo>
                    <a:lnTo>
                      <a:pt x="200" y="657215"/>
                    </a:lnTo>
                    <a:moveTo>
                      <a:pt x="1965779" y="774944"/>
                    </a:moveTo>
                    <a:lnTo>
                      <a:pt x="1993059" y="787584"/>
                    </a:lnTo>
                    <a:moveTo>
                      <a:pt x="25232" y="825713"/>
                    </a:moveTo>
                    <a:lnTo>
                      <a:pt x="20288" y="805853"/>
                    </a:lnTo>
                    <a:moveTo>
                      <a:pt x="14135" y="769287"/>
                    </a:moveTo>
                    <a:lnTo>
                      <a:pt x="20288" y="805853"/>
                    </a:lnTo>
                    <a:moveTo>
                      <a:pt x="1179405" y="1330490"/>
                    </a:moveTo>
                    <a:lnTo>
                      <a:pt x="1107262" y="1339806"/>
                    </a:lnTo>
                    <a:moveTo>
                      <a:pt x="25232" y="825713"/>
                    </a:moveTo>
                    <a:lnTo>
                      <a:pt x="53550" y="939184"/>
                    </a:lnTo>
                    <a:moveTo>
                      <a:pt x="96250" y="1047960"/>
                    </a:moveTo>
                    <a:lnTo>
                      <a:pt x="57426" y="955967"/>
                    </a:lnTo>
                    <a:moveTo>
                      <a:pt x="57426" y="955967"/>
                    </a:moveTo>
                    <a:lnTo>
                      <a:pt x="53550" y="939184"/>
                    </a:lnTo>
                    <a:moveTo>
                      <a:pt x="1458820" y="1287132"/>
                    </a:moveTo>
                    <a:lnTo>
                      <a:pt x="1349188" y="1311831"/>
                    </a:lnTo>
                    <a:moveTo>
                      <a:pt x="1054370" y="1343339"/>
                    </a:moveTo>
                    <a:lnTo>
                      <a:pt x="1107262" y="1339806"/>
                    </a:lnTo>
                    <a:moveTo>
                      <a:pt x="389658" y="1356265"/>
                    </a:moveTo>
                    <a:lnTo>
                      <a:pt x="290189" y="1285789"/>
                    </a:lnTo>
                    <a:moveTo>
                      <a:pt x="1889122" y="1109462"/>
                    </a:moveTo>
                    <a:lnTo>
                      <a:pt x="1887141" y="1110605"/>
                    </a:lnTo>
                    <a:moveTo>
                      <a:pt x="744274" y="1391879"/>
                    </a:moveTo>
                    <a:lnTo>
                      <a:pt x="690772" y="1400175"/>
                    </a:lnTo>
                    <a:moveTo>
                      <a:pt x="690772" y="1400175"/>
                    </a:moveTo>
                    <a:lnTo>
                      <a:pt x="655577" y="1399908"/>
                    </a:lnTo>
                    <a:moveTo>
                      <a:pt x="96250" y="1047960"/>
                    </a:moveTo>
                    <a:lnTo>
                      <a:pt x="100155" y="1061933"/>
                    </a:lnTo>
                    <a:moveTo>
                      <a:pt x="990267" y="1354979"/>
                    </a:moveTo>
                    <a:lnTo>
                      <a:pt x="942365" y="1361665"/>
                    </a:lnTo>
                    <a:moveTo>
                      <a:pt x="912400" y="1368285"/>
                    </a:moveTo>
                    <a:lnTo>
                      <a:pt x="942365" y="1361665"/>
                    </a:lnTo>
                    <a:moveTo>
                      <a:pt x="1694783" y="645681"/>
                    </a:moveTo>
                    <a:lnTo>
                      <a:pt x="1706328" y="570005"/>
                    </a:lnTo>
                    <a:moveTo>
                      <a:pt x="2069249" y="969855"/>
                    </a:moveTo>
                    <a:lnTo>
                      <a:pt x="2092928" y="931374"/>
                    </a:lnTo>
                    <a:moveTo>
                      <a:pt x="1997602" y="1027119"/>
                    </a:moveTo>
                    <a:lnTo>
                      <a:pt x="2069249" y="969855"/>
                    </a:lnTo>
                    <a:moveTo>
                      <a:pt x="2102329" y="882882"/>
                    </a:moveTo>
                    <a:lnTo>
                      <a:pt x="2092928" y="931374"/>
                    </a:lnTo>
                    <a:moveTo>
                      <a:pt x="1562662" y="1267606"/>
                    </a:moveTo>
                    <a:lnTo>
                      <a:pt x="1639967" y="1246442"/>
                    </a:lnTo>
                    <a:moveTo>
                      <a:pt x="1510474" y="1280208"/>
                    </a:moveTo>
                    <a:lnTo>
                      <a:pt x="1562662" y="1267606"/>
                    </a:lnTo>
                    <a:moveTo>
                      <a:pt x="2094395" y="769753"/>
                    </a:moveTo>
                    <a:lnTo>
                      <a:pt x="2025158" y="776154"/>
                    </a:lnTo>
                    <a:moveTo>
                      <a:pt x="1993059" y="787584"/>
                    </a:moveTo>
                    <a:lnTo>
                      <a:pt x="2025158" y="776154"/>
                    </a:lnTo>
                    <a:moveTo>
                      <a:pt x="835476" y="1378944"/>
                    </a:moveTo>
                    <a:lnTo>
                      <a:pt x="912400" y="1368285"/>
                    </a:lnTo>
                    <a:moveTo>
                      <a:pt x="1510474" y="1280208"/>
                    </a:moveTo>
                    <a:lnTo>
                      <a:pt x="1458820" y="1287132"/>
                    </a:lnTo>
                    <a:moveTo>
                      <a:pt x="2102329" y="882882"/>
                    </a:moveTo>
                    <a:lnTo>
                      <a:pt x="2130076" y="828161"/>
                    </a:lnTo>
                    <a:moveTo>
                      <a:pt x="2094395" y="769753"/>
                    </a:moveTo>
                    <a:lnTo>
                      <a:pt x="2130076" y="828161"/>
                    </a:lnTo>
                    <a:moveTo>
                      <a:pt x="1639967" y="1246442"/>
                    </a:moveTo>
                    <a:lnTo>
                      <a:pt x="1671552" y="1232297"/>
                    </a:lnTo>
                    <a:moveTo>
                      <a:pt x="1854756" y="322250"/>
                    </a:moveTo>
                    <a:lnTo>
                      <a:pt x="1826009" y="346796"/>
                    </a:lnTo>
                    <a:moveTo>
                      <a:pt x="1777536" y="408622"/>
                    </a:moveTo>
                    <a:lnTo>
                      <a:pt x="1826009" y="346796"/>
                    </a:lnTo>
                    <a:moveTo>
                      <a:pt x="0" y="569995"/>
                    </a:moveTo>
                    <a:lnTo>
                      <a:pt x="3362" y="520560"/>
                    </a:lnTo>
                    <a:moveTo>
                      <a:pt x="10135" y="478288"/>
                    </a:moveTo>
                    <a:lnTo>
                      <a:pt x="3362" y="520560"/>
                    </a:lnTo>
                    <a:moveTo>
                      <a:pt x="1854756" y="322250"/>
                    </a:moveTo>
                    <a:lnTo>
                      <a:pt x="1912591" y="258194"/>
                    </a:lnTo>
                    <a:moveTo>
                      <a:pt x="1939233" y="238430"/>
                    </a:moveTo>
                    <a:lnTo>
                      <a:pt x="1912591" y="258194"/>
                    </a:lnTo>
                    <a:moveTo>
                      <a:pt x="51216" y="99641"/>
                    </a:moveTo>
                    <a:lnTo>
                      <a:pt x="56226" y="164173"/>
                    </a:lnTo>
                    <a:moveTo>
                      <a:pt x="56140" y="197234"/>
                    </a:moveTo>
                    <a:lnTo>
                      <a:pt x="56226" y="164173"/>
                    </a:lnTo>
                    <a:moveTo>
                      <a:pt x="45568" y="281664"/>
                    </a:moveTo>
                    <a:lnTo>
                      <a:pt x="56140" y="197234"/>
                    </a:lnTo>
                    <a:moveTo>
                      <a:pt x="0" y="569995"/>
                    </a:moveTo>
                    <a:lnTo>
                      <a:pt x="200" y="657215"/>
                    </a:lnTo>
                    <a:moveTo>
                      <a:pt x="1756362" y="446132"/>
                    </a:moveTo>
                    <a:lnTo>
                      <a:pt x="1777536" y="408622"/>
                    </a:lnTo>
                    <a:moveTo>
                      <a:pt x="1718558" y="530047"/>
                    </a:moveTo>
                    <a:lnTo>
                      <a:pt x="1756362" y="446132"/>
                    </a:lnTo>
                    <a:moveTo>
                      <a:pt x="1718558" y="530047"/>
                    </a:moveTo>
                    <a:lnTo>
                      <a:pt x="1713643" y="541934"/>
                    </a:lnTo>
                    <a:moveTo>
                      <a:pt x="2061629" y="157924"/>
                    </a:moveTo>
                    <a:lnTo>
                      <a:pt x="2013109" y="183251"/>
                    </a:lnTo>
                    <a:moveTo>
                      <a:pt x="23041" y="400021"/>
                    </a:moveTo>
                    <a:lnTo>
                      <a:pt x="10135" y="478288"/>
                    </a:lnTo>
                    <a:moveTo>
                      <a:pt x="1983029" y="206454"/>
                    </a:moveTo>
                    <a:lnTo>
                      <a:pt x="1939233" y="238430"/>
                    </a:lnTo>
                    <a:moveTo>
                      <a:pt x="2013109" y="183251"/>
                    </a:moveTo>
                    <a:lnTo>
                      <a:pt x="1983029" y="206454"/>
                    </a:lnTo>
                    <a:moveTo>
                      <a:pt x="1711195" y="545363"/>
                    </a:moveTo>
                    <a:lnTo>
                      <a:pt x="1713643" y="541934"/>
                    </a:lnTo>
                    <a:moveTo>
                      <a:pt x="1711195" y="545363"/>
                    </a:moveTo>
                    <a:lnTo>
                      <a:pt x="1706328" y="570005"/>
                    </a:lnTo>
                    <a:moveTo>
                      <a:pt x="45568" y="281664"/>
                    </a:moveTo>
                    <a:lnTo>
                      <a:pt x="29832" y="343262"/>
                    </a:lnTo>
                    <a:moveTo>
                      <a:pt x="23041" y="400021"/>
                    </a:moveTo>
                    <a:lnTo>
                      <a:pt x="29832" y="343262"/>
                    </a:lnTo>
                    <a:moveTo>
                      <a:pt x="51216" y="99641"/>
                    </a:moveTo>
                    <a:lnTo>
                      <a:pt x="19069" y="0"/>
                    </a:lnTo>
                  </a:path>
                </a:pathLst>
              </a:custGeom>
              <a:noFill/>
              <a:ln w="19050">
                <a:solidFill>
                  <a:srgbClr val="7C8F99"/>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419" name="Freeform 18"/>
              <p:cNvSpPr/>
              <p:nvPr/>
            </p:nvSpPr>
            <p:spPr>
              <a:xfrm>
                <a:off x="2946600" y="2770200"/>
                <a:ext cx="492840" cy="147240"/>
              </a:xfrm>
              <a:custGeom>
                <a:avLst/>
                <a:gdLst>
                  <a:gd name="textAreaLeft" fmla="*/ 0 w 492840"/>
                  <a:gd name="textAreaRight" fmla="*/ 493920 w 492840"/>
                  <a:gd name="textAreaTop" fmla="*/ 0 h 147240"/>
                  <a:gd name="textAreaBottom" fmla="*/ 148320 h 147240"/>
                </a:gdLst>
                <a:ahLst/>
                <a:cxnLst/>
                <a:rect l="textAreaLeft" t="textAreaTop" r="textAreaRight" b="textAreaBottom"/>
                <a:pathLst>
                  <a:path w="494014" h="148219">
                    <a:moveTo>
                      <a:pt x="7191" y="81296"/>
                    </a:moveTo>
                    <a:lnTo>
                      <a:pt x="1419" y="77362"/>
                    </a:lnTo>
                    <a:moveTo>
                      <a:pt x="7191" y="81296"/>
                    </a:moveTo>
                    <a:lnTo>
                      <a:pt x="36376" y="100089"/>
                    </a:lnTo>
                    <a:moveTo>
                      <a:pt x="1419" y="77362"/>
                    </a:moveTo>
                    <a:lnTo>
                      <a:pt x="676" y="67570"/>
                    </a:lnTo>
                    <a:moveTo>
                      <a:pt x="0" y="56121"/>
                    </a:moveTo>
                    <a:lnTo>
                      <a:pt x="676" y="67570"/>
                    </a:lnTo>
                    <a:moveTo>
                      <a:pt x="0" y="56121"/>
                    </a:moveTo>
                    <a:lnTo>
                      <a:pt x="18517" y="44739"/>
                    </a:lnTo>
                    <a:moveTo>
                      <a:pt x="43729" y="29651"/>
                    </a:moveTo>
                    <a:lnTo>
                      <a:pt x="18517" y="44739"/>
                    </a:lnTo>
                    <a:moveTo>
                      <a:pt x="67542" y="16774"/>
                    </a:moveTo>
                    <a:lnTo>
                      <a:pt x="43729" y="29651"/>
                    </a:lnTo>
                    <a:moveTo>
                      <a:pt x="125349" y="8011"/>
                    </a:moveTo>
                    <a:lnTo>
                      <a:pt x="67542" y="16774"/>
                    </a:lnTo>
                    <a:moveTo>
                      <a:pt x="198892" y="124"/>
                    </a:moveTo>
                    <a:lnTo>
                      <a:pt x="176965" y="2410"/>
                    </a:lnTo>
                    <a:moveTo>
                      <a:pt x="176965" y="2410"/>
                    </a:moveTo>
                    <a:lnTo>
                      <a:pt x="125349" y="8011"/>
                    </a:lnTo>
                    <a:moveTo>
                      <a:pt x="233248" y="0"/>
                    </a:moveTo>
                    <a:lnTo>
                      <a:pt x="198892" y="124"/>
                    </a:lnTo>
                    <a:moveTo>
                      <a:pt x="264281" y="2657"/>
                    </a:moveTo>
                    <a:lnTo>
                      <a:pt x="233248" y="0"/>
                    </a:lnTo>
                    <a:moveTo>
                      <a:pt x="307638" y="9639"/>
                    </a:moveTo>
                    <a:lnTo>
                      <a:pt x="264281" y="2657"/>
                    </a:lnTo>
                    <a:moveTo>
                      <a:pt x="321164" y="11897"/>
                    </a:moveTo>
                    <a:lnTo>
                      <a:pt x="307638" y="9639"/>
                    </a:lnTo>
                    <a:moveTo>
                      <a:pt x="369170" y="22136"/>
                    </a:moveTo>
                    <a:lnTo>
                      <a:pt x="340690" y="16231"/>
                    </a:lnTo>
                    <a:moveTo>
                      <a:pt x="340690" y="16231"/>
                    </a:moveTo>
                    <a:lnTo>
                      <a:pt x="321164" y="11897"/>
                    </a:lnTo>
                    <a:moveTo>
                      <a:pt x="56036" y="113481"/>
                    </a:moveTo>
                    <a:lnTo>
                      <a:pt x="36376" y="100089"/>
                    </a:lnTo>
                    <a:moveTo>
                      <a:pt x="407422" y="30871"/>
                    </a:moveTo>
                    <a:lnTo>
                      <a:pt x="389601" y="27137"/>
                    </a:lnTo>
                    <a:moveTo>
                      <a:pt x="389601" y="27137"/>
                    </a:moveTo>
                    <a:lnTo>
                      <a:pt x="369170" y="22136"/>
                    </a:lnTo>
                    <a:moveTo>
                      <a:pt x="108937" y="131483"/>
                    </a:moveTo>
                    <a:lnTo>
                      <a:pt x="84268" y="123777"/>
                    </a:lnTo>
                    <a:moveTo>
                      <a:pt x="63122" y="117205"/>
                    </a:moveTo>
                    <a:lnTo>
                      <a:pt x="56036" y="113481"/>
                    </a:lnTo>
                    <a:moveTo>
                      <a:pt x="84268" y="123777"/>
                    </a:moveTo>
                    <a:lnTo>
                      <a:pt x="63122" y="117205"/>
                    </a:lnTo>
                    <a:moveTo>
                      <a:pt x="422205" y="33776"/>
                    </a:moveTo>
                    <a:lnTo>
                      <a:pt x="407422" y="30871"/>
                    </a:lnTo>
                    <a:moveTo>
                      <a:pt x="435569" y="37319"/>
                    </a:moveTo>
                    <a:lnTo>
                      <a:pt x="422205" y="33776"/>
                    </a:lnTo>
                    <a:moveTo>
                      <a:pt x="455590" y="42624"/>
                    </a:moveTo>
                    <a:lnTo>
                      <a:pt x="445980" y="40615"/>
                    </a:lnTo>
                    <a:moveTo>
                      <a:pt x="445980" y="40615"/>
                    </a:moveTo>
                    <a:lnTo>
                      <a:pt x="435569" y="37319"/>
                    </a:lnTo>
                    <a:moveTo>
                      <a:pt x="485156" y="50340"/>
                    </a:moveTo>
                    <a:lnTo>
                      <a:pt x="486175" y="50578"/>
                    </a:lnTo>
                    <a:moveTo>
                      <a:pt x="473593" y="47187"/>
                    </a:moveTo>
                    <a:lnTo>
                      <a:pt x="485156" y="50340"/>
                    </a:lnTo>
                    <a:moveTo>
                      <a:pt x="470926" y="46587"/>
                    </a:moveTo>
                    <a:lnTo>
                      <a:pt x="455590" y="42624"/>
                    </a:lnTo>
                    <a:moveTo>
                      <a:pt x="471992" y="46939"/>
                    </a:moveTo>
                    <a:lnTo>
                      <a:pt x="473593" y="47187"/>
                    </a:lnTo>
                    <a:moveTo>
                      <a:pt x="471992" y="46939"/>
                    </a:moveTo>
                    <a:lnTo>
                      <a:pt x="470926" y="46587"/>
                    </a:lnTo>
                    <a:moveTo>
                      <a:pt x="400774" y="124044"/>
                    </a:moveTo>
                    <a:lnTo>
                      <a:pt x="369227" y="132874"/>
                    </a:lnTo>
                    <a:moveTo>
                      <a:pt x="406375" y="122615"/>
                    </a:moveTo>
                    <a:lnTo>
                      <a:pt x="400774" y="124044"/>
                    </a:lnTo>
                    <a:moveTo>
                      <a:pt x="363188" y="134207"/>
                    </a:moveTo>
                    <a:lnTo>
                      <a:pt x="361483" y="134626"/>
                    </a:lnTo>
                    <a:moveTo>
                      <a:pt x="363188" y="134207"/>
                    </a:moveTo>
                    <a:lnTo>
                      <a:pt x="369227" y="132874"/>
                    </a:lnTo>
                    <a:moveTo>
                      <a:pt x="431625" y="113224"/>
                    </a:moveTo>
                    <a:lnTo>
                      <a:pt x="406375" y="122615"/>
                    </a:lnTo>
                    <a:moveTo>
                      <a:pt x="441731" y="109823"/>
                    </a:moveTo>
                    <a:lnTo>
                      <a:pt x="431625" y="113224"/>
                    </a:lnTo>
                    <a:moveTo>
                      <a:pt x="113167" y="132702"/>
                    </a:moveTo>
                    <a:lnTo>
                      <a:pt x="108937" y="131483"/>
                    </a:lnTo>
                    <a:moveTo>
                      <a:pt x="491747" y="53492"/>
                    </a:moveTo>
                    <a:lnTo>
                      <a:pt x="491366" y="53026"/>
                    </a:lnTo>
                    <a:moveTo>
                      <a:pt x="490490" y="52511"/>
                    </a:moveTo>
                    <a:lnTo>
                      <a:pt x="486175" y="50578"/>
                    </a:lnTo>
                    <a:moveTo>
                      <a:pt x="492033" y="53664"/>
                    </a:moveTo>
                    <a:lnTo>
                      <a:pt x="491747" y="53492"/>
                    </a:lnTo>
                    <a:moveTo>
                      <a:pt x="492033" y="53664"/>
                    </a:moveTo>
                    <a:lnTo>
                      <a:pt x="493319" y="55216"/>
                    </a:lnTo>
                    <a:moveTo>
                      <a:pt x="491366" y="53026"/>
                    </a:moveTo>
                    <a:lnTo>
                      <a:pt x="490490" y="52511"/>
                    </a:lnTo>
                    <a:moveTo>
                      <a:pt x="490128" y="71228"/>
                    </a:moveTo>
                    <a:lnTo>
                      <a:pt x="485404" y="78686"/>
                    </a:lnTo>
                    <a:moveTo>
                      <a:pt x="492700" y="65923"/>
                    </a:moveTo>
                    <a:lnTo>
                      <a:pt x="492404" y="66989"/>
                    </a:lnTo>
                    <a:moveTo>
                      <a:pt x="492404" y="66989"/>
                    </a:moveTo>
                    <a:lnTo>
                      <a:pt x="490128" y="71228"/>
                    </a:lnTo>
                    <a:moveTo>
                      <a:pt x="123282" y="134007"/>
                    </a:moveTo>
                    <a:lnTo>
                      <a:pt x="113167" y="132702"/>
                    </a:lnTo>
                    <a:moveTo>
                      <a:pt x="150057" y="140541"/>
                    </a:moveTo>
                    <a:lnTo>
                      <a:pt x="156096" y="141970"/>
                    </a:lnTo>
                    <a:moveTo>
                      <a:pt x="150057" y="140541"/>
                    </a:moveTo>
                    <a:lnTo>
                      <a:pt x="123282" y="134007"/>
                    </a:lnTo>
                    <a:moveTo>
                      <a:pt x="172260" y="145304"/>
                    </a:moveTo>
                    <a:lnTo>
                      <a:pt x="172250" y="145304"/>
                    </a:lnTo>
                    <a:moveTo>
                      <a:pt x="172250" y="145304"/>
                    </a:moveTo>
                    <a:lnTo>
                      <a:pt x="156096" y="141970"/>
                    </a:lnTo>
                    <a:moveTo>
                      <a:pt x="188805" y="146742"/>
                    </a:moveTo>
                    <a:lnTo>
                      <a:pt x="172260" y="145304"/>
                    </a:lnTo>
                    <a:moveTo>
                      <a:pt x="230819" y="148219"/>
                    </a:moveTo>
                    <a:lnTo>
                      <a:pt x="214341" y="147790"/>
                    </a:lnTo>
                    <a:moveTo>
                      <a:pt x="214341" y="147790"/>
                    </a:moveTo>
                    <a:lnTo>
                      <a:pt x="188805" y="146742"/>
                    </a:lnTo>
                    <a:moveTo>
                      <a:pt x="242459" y="148199"/>
                    </a:moveTo>
                    <a:lnTo>
                      <a:pt x="230819" y="148219"/>
                    </a:lnTo>
                    <a:moveTo>
                      <a:pt x="251679" y="147942"/>
                    </a:moveTo>
                    <a:lnTo>
                      <a:pt x="242459" y="148199"/>
                    </a:lnTo>
                    <a:moveTo>
                      <a:pt x="260385" y="147466"/>
                    </a:moveTo>
                    <a:lnTo>
                      <a:pt x="251679" y="147942"/>
                    </a:lnTo>
                    <a:moveTo>
                      <a:pt x="293627" y="144837"/>
                    </a:moveTo>
                    <a:lnTo>
                      <a:pt x="260385" y="147466"/>
                    </a:lnTo>
                    <a:moveTo>
                      <a:pt x="305419" y="143751"/>
                    </a:moveTo>
                    <a:lnTo>
                      <a:pt x="293627" y="144837"/>
                    </a:lnTo>
                    <a:moveTo>
                      <a:pt x="312020" y="142875"/>
                    </a:moveTo>
                    <a:lnTo>
                      <a:pt x="305419" y="143751"/>
                    </a:lnTo>
                    <a:moveTo>
                      <a:pt x="360759" y="134836"/>
                    </a:moveTo>
                    <a:lnTo>
                      <a:pt x="320126" y="141494"/>
                    </a:lnTo>
                    <a:moveTo>
                      <a:pt x="360759" y="134836"/>
                    </a:moveTo>
                    <a:lnTo>
                      <a:pt x="361483" y="134626"/>
                    </a:lnTo>
                    <a:moveTo>
                      <a:pt x="320126" y="141494"/>
                    </a:moveTo>
                    <a:lnTo>
                      <a:pt x="312020" y="142875"/>
                    </a:lnTo>
                    <a:moveTo>
                      <a:pt x="456695" y="102470"/>
                    </a:moveTo>
                    <a:lnTo>
                      <a:pt x="447113" y="107775"/>
                    </a:lnTo>
                    <a:moveTo>
                      <a:pt x="456695" y="102470"/>
                    </a:moveTo>
                    <a:lnTo>
                      <a:pt x="467592" y="95612"/>
                    </a:lnTo>
                    <a:moveTo>
                      <a:pt x="447113" y="107775"/>
                    </a:moveTo>
                    <a:lnTo>
                      <a:pt x="441731" y="109823"/>
                    </a:lnTo>
                    <a:moveTo>
                      <a:pt x="479012" y="85658"/>
                    </a:moveTo>
                    <a:lnTo>
                      <a:pt x="470525" y="93678"/>
                    </a:lnTo>
                    <a:moveTo>
                      <a:pt x="479012" y="85658"/>
                    </a:moveTo>
                    <a:lnTo>
                      <a:pt x="485404" y="78686"/>
                    </a:lnTo>
                    <a:moveTo>
                      <a:pt x="470525" y="93678"/>
                    </a:moveTo>
                    <a:lnTo>
                      <a:pt x="467592" y="95612"/>
                    </a:lnTo>
                    <a:moveTo>
                      <a:pt x="494014" y="58912"/>
                    </a:moveTo>
                    <a:lnTo>
                      <a:pt x="492700" y="65923"/>
                    </a:lnTo>
                    <a:moveTo>
                      <a:pt x="493614" y="56540"/>
                    </a:moveTo>
                    <a:lnTo>
                      <a:pt x="493319" y="55216"/>
                    </a:lnTo>
                    <a:moveTo>
                      <a:pt x="493614" y="56540"/>
                    </a:moveTo>
                    <a:lnTo>
                      <a:pt x="493919" y="58493"/>
                    </a:lnTo>
                    <a:moveTo>
                      <a:pt x="493919" y="58493"/>
                    </a:moveTo>
                    <a:lnTo>
                      <a:pt x="494014" y="58912"/>
                    </a:lnTo>
                  </a:path>
                </a:pathLst>
              </a:custGeom>
              <a:noFill/>
              <a:ln w="19050">
                <a:solidFill>
                  <a:srgbClr val="A357B9"/>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420" name="Line 19"/>
              <p:cNvSpPr/>
              <p:nvPr/>
            </p:nvSpPr>
            <p:spPr>
              <a:xfrm>
                <a:off x="628560" y="3809880"/>
                <a:ext cx="170280" cy="8280"/>
              </a:xfrm>
              <a:custGeom>
                <a:avLst/>
                <a:gdLst>
                  <a:gd name="textAreaLeft" fmla="*/ 0 w 170280"/>
                  <a:gd name="textAreaRight" fmla="*/ 171360 w 170280"/>
                  <a:gd name="textAreaTop" fmla="*/ 0 h 8280"/>
                  <a:gd name="textAreaBottom" fmla="*/ 9360 h 8280"/>
                </a:gdLst>
                <a:ahLst/>
                <a:cxnLst/>
                <a:rect l="textAreaLeft" t="textAreaTop" r="textAreaRight" b="textAreaBottom"/>
                <a:pathLst>
                  <a:path w="171450" h="9525">
                    <a:moveTo>
                      <a:pt x="0" y="0"/>
                    </a:moveTo>
                    <a:lnTo>
                      <a:pt x="171450" y="0"/>
                    </a:lnTo>
                  </a:path>
                </a:pathLst>
              </a:custGeom>
              <a:noFill/>
              <a:ln w="28575">
                <a:solidFill>
                  <a:srgbClr val="7C8F99"/>
                </a:solidFill>
                <a:round/>
              </a:ln>
            </p:spPr>
            <p:style>
              <a:lnRef idx="0"/>
              <a:fillRef idx="0"/>
              <a:effectRef idx="0"/>
              <a:fontRef idx="minor"/>
            </p:style>
            <p:txBody>
              <a:bodyPr lIns="85320" tIns="-35640" rIns="85320" bIns="-35640" anchor="t">
                <a:noAutofit/>
              </a:bodyPr>
              <a:p>
                <a:pPr/>
                <a:endParaRPr lang="en-US" sz="1800" b="0" u="none" strike="noStrike">
                  <a:solidFill>
                    <a:srgbClr val="000000"/>
                  </a:solidFill>
                  <a:effectLst/>
                  <a:uFillTx/>
                  <a:latin typeface="Arial"/>
                </a:endParaRPr>
              </a:p>
            </p:txBody>
          </p:sp>
          <p:sp>
            <p:nvSpPr>
              <p:cNvPr id="421" name="TextBox 20"/>
              <p:cNvSpPr/>
              <p:nvPr/>
            </p:nvSpPr>
            <p:spPr>
              <a:xfrm>
                <a:off x="850320" y="3701880"/>
                <a:ext cx="376200" cy="2628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0" u="none" strike="noStrike">
                    <a:solidFill>
                      <a:srgbClr val="66758A"/>
                    </a:solidFill>
                    <a:effectLst/>
                    <a:uFillTx/>
                    <a:latin typeface="Arial"/>
                    <a:ea typeface="微软雅黑"/>
                  </a:rPr>
                  <a:t>Ear</a:t>
                </a:r>
                <a:endParaRPr lang="en-US" sz="1200" b="0" u="none" strike="noStrike">
                  <a:solidFill>
                    <a:srgbClr val="000000"/>
                  </a:solidFill>
                  <a:effectLst/>
                  <a:uFillTx/>
                  <a:latin typeface="Arial"/>
                </a:endParaRPr>
              </a:p>
            </p:txBody>
          </p:sp>
          <p:sp>
            <p:nvSpPr>
              <p:cNvPr id="422" name="Line 21"/>
              <p:cNvSpPr/>
              <p:nvPr/>
            </p:nvSpPr>
            <p:spPr>
              <a:xfrm>
                <a:off x="1467000" y="3809880"/>
                <a:ext cx="170280" cy="8280"/>
              </a:xfrm>
              <a:custGeom>
                <a:avLst/>
                <a:gdLst>
                  <a:gd name="textAreaLeft" fmla="*/ 0 w 170280"/>
                  <a:gd name="textAreaRight" fmla="*/ 171360 w 170280"/>
                  <a:gd name="textAreaTop" fmla="*/ 0 h 8280"/>
                  <a:gd name="textAreaBottom" fmla="*/ 9360 h 8280"/>
                </a:gdLst>
                <a:ahLst/>
                <a:cxnLst/>
                <a:rect l="textAreaLeft" t="textAreaTop" r="textAreaRight" b="textAreaBottom"/>
                <a:pathLst>
                  <a:path w="171450" h="9525">
                    <a:moveTo>
                      <a:pt x="0" y="0"/>
                    </a:moveTo>
                    <a:lnTo>
                      <a:pt x="171450" y="0"/>
                    </a:lnTo>
                  </a:path>
                </a:pathLst>
              </a:custGeom>
              <a:noFill/>
              <a:ln w="28575">
                <a:solidFill>
                  <a:srgbClr val="D98536"/>
                </a:solidFill>
                <a:round/>
              </a:ln>
            </p:spPr>
            <p:style>
              <a:lnRef idx="0"/>
              <a:fillRef idx="0"/>
              <a:effectRef idx="0"/>
              <a:fontRef idx="minor"/>
            </p:style>
            <p:txBody>
              <a:bodyPr lIns="85320" tIns="-35640" rIns="85320" bIns="-35640" anchor="t">
                <a:noAutofit/>
              </a:bodyPr>
              <a:p>
                <a:pPr/>
                <a:endParaRPr lang="en-US" sz="1800" b="0" u="none" strike="noStrike">
                  <a:solidFill>
                    <a:srgbClr val="000000"/>
                  </a:solidFill>
                  <a:effectLst/>
                  <a:uFillTx/>
                  <a:latin typeface="Arial"/>
                </a:endParaRPr>
              </a:p>
            </p:txBody>
          </p:sp>
          <p:sp>
            <p:nvSpPr>
              <p:cNvPr id="423" name="TextBox 22"/>
              <p:cNvSpPr/>
              <p:nvPr/>
            </p:nvSpPr>
            <p:spPr>
              <a:xfrm>
                <a:off x="1688760" y="3701880"/>
                <a:ext cx="376200" cy="2628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0" u="none" strike="noStrike">
                    <a:solidFill>
                      <a:srgbClr val="66758A"/>
                    </a:solidFill>
                    <a:effectLst/>
                    <a:uFillTx/>
                    <a:latin typeface="Arial"/>
                    <a:ea typeface="微软雅黑"/>
                  </a:rPr>
                  <a:t>Tip</a:t>
                </a:r>
                <a:endParaRPr lang="en-US" sz="1200" b="0" u="none" strike="noStrike">
                  <a:solidFill>
                    <a:srgbClr val="000000"/>
                  </a:solidFill>
                  <a:effectLst/>
                  <a:uFillTx/>
                  <a:latin typeface="Arial"/>
                </a:endParaRPr>
              </a:p>
            </p:txBody>
          </p:sp>
          <p:sp>
            <p:nvSpPr>
              <p:cNvPr id="424" name="Line 23"/>
              <p:cNvSpPr/>
              <p:nvPr/>
            </p:nvSpPr>
            <p:spPr>
              <a:xfrm>
                <a:off x="2305080" y="3809880"/>
                <a:ext cx="170280" cy="8280"/>
              </a:xfrm>
              <a:custGeom>
                <a:avLst/>
                <a:gdLst>
                  <a:gd name="textAreaLeft" fmla="*/ 0 w 170280"/>
                  <a:gd name="textAreaRight" fmla="*/ 171360 w 170280"/>
                  <a:gd name="textAreaTop" fmla="*/ 0 h 8280"/>
                  <a:gd name="textAreaBottom" fmla="*/ 9360 h 8280"/>
                </a:gdLst>
                <a:ahLst/>
                <a:cxnLst/>
                <a:rect l="textAreaLeft" t="textAreaTop" r="textAreaRight" b="textAreaBottom"/>
                <a:pathLst>
                  <a:path w="171450" h="9525">
                    <a:moveTo>
                      <a:pt x="0" y="0"/>
                    </a:moveTo>
                    <a:lnTo>
                      <a:pt x="171450" y="0"/>
                    </a:lnTo>
                  </a:path>
                </a:pathLst>
              </a:custGeom>
              <a:noFill/>
              <a:ln w="28575">
                <a:solidFill>
                  <a:srgbClr val="497D89"/>
                </a:solidFill>
                <a:round/>
              </a:ln>
            </p:spPr>
            <p:style>
              <a:lnRef idx="0"/>
              <a:fillRef idx="0"/>
              <a:effectRef idx="0"/>
              <a:fontRef idx="minor"/>
            </p:style>
            <p:txBody>
              <a:bodyPr lIns="85320" tIns="-35640" rIns="85320" bIns="-35640" anchor="t">
                <a:noAutofit/>
              </a:bodyPr>
              <a:p>
                <a:pPr/>
                <a:endParaRPr lang="en-US" sz="1800" b="0" u="none" strike="noStrike">
                  <a:solidFill>
                    <a:srgbClr val="000000"/>
                  </a:solidFill>
                  <a:effectLst/>
                  <a:uFillTx/>
                  <a:latin typeface="Arial"/>
                </a:endParaRPr>
              </a:p>
            </p:txBody>
          </p:sp>
          <p:sp>
            <p:nvSpPr>
              <p:cNvPr id="425" name="TextBox 24"/>
              <p:cNvSpPr/>
              <p:nvPr/>
            </p:nvSpPr>
            <p:spPr>
              <a:xfrm>
                <a:off x="2526840" y="3701880"/>
                <a:ext cx="558000" cy="2628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0" u="none" strike="noStrike">
                    <a:solidFill>
                      <a:srgbClr val="66758A"/>
                    </a:solidFill>
                    <a:effectLst/>
                    <a:uFillTx/>
                    <a:latin typeface="Arial"/>
                    <a:ea typeface="微软雅黑"/>
                  </a:rPr>
                  <a:t>Nozzle</a:t>
                </a:r>
                <a:endParaRPr lang="en-US" sz="1200" b="0" u="none" strike="noStrike">
                  <a:solidFill>
                    <a:srgbClr val="000000"/>
                  </a:solidFill>
                  <a:effectLst/>
                  <a:uFillTx/>
                  <a:latin typeface="Arial"/>
                </a:endParaRPr>
              </a:p>
            </p:txBody>
          </p:sp>
          <p:sp>
            <p:nvSpPr>
              <p:cNvPr id="426" name="Line 25"/>
              <p:cNvSpPr/>
              <p:nvPr/>
            </p:nvSpPr>
            <p:spPr>
              <a:xfrm>
                <a:off x="3143160" y="3809880"/>
                <a:ext cx="170280" cy="8280"/>
              </a:xfrm>
              <a:custGeom>
                <a:avLst/>
                <a:gdLst>
                  <a:gd name="textAreaLeft" fmla="*/ 0 w 170280"/>
                  <a:gd name="textAreaRight" fmla="*/ 171360 w 170280"/>
                  <a:gd name="textAreaTop" fmla="*/ 0 h 8280"/>
                  <a:gd name="textAreaBottom" fmla="*/ 9360 h 8280"/>
                </a:gdLst>
                <a:ahLst/>
                <a:cxnLst/>
                <a:rect l="textAreaLeft" t="textAreaTop" r="textAreaRight" b="textAreaBottom"/>
                <a:pathLst>
                  <a:path w="171450" h="9525">
                    <a:moveTo>
                      <a:pt x="0" y="0"/>
                    </a:moveTo>
                    <a:lnTo>
                      <a:pt x="171450" y="0"/>
                    </a:lnTo>
                  </a:path>
                </a:pathLst>
              </a:custGeom>
              <a:noFill/>
              <a:ln w="28575">
                <a:solidFill>
                  <a:srgbClr val="A357B9"/>
                </a:solidFill>
                <a:round/>
              </a:ln>
            </p:spPr>
            <p:style>
              <a:lnRef idx="0"/>
              <a:fillRef idx="0"/>
              <a:effectRef idx="0"/>
              <a:fontRef idx="minor"/>
            </p:style>
            <p:txBody>
              <a:bodyPr lIns="85320" tIns="-35640" rIns="85320" bIns="-35640" anchor="t">
                <a:noAutofit/>
              </a:bodyPr>
              <a:p>
                <a:pPr/>
                <a:endParaRPr lang="en-US" sz="1800" b="0" u="none" strike="noStrike">
                  <a:solidFill>
                    <a:srgbClr val="000000"/>
                  </a:solidFill>
                  <a:effectLst/>
                  <a:uFillTx/>
                  <a:latin typeface="Arial"/>
                </a:endParaRPr>
              </a:p>
            </p:txBody>
          </p:sp>
          <p:sp>
            <p:nvSpPr>
              <p:cNvPr id="427" name="TextBox 26"/>
              <p:cNvSpPr/>
              <p:nvPr/>
            </p:nvSpPr>
            <p:spPr>
              <a:xfrm>
                <a:off x="3364920" y="3701880"/>
                <a:ext cx="376200" cy="2628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0" u="none" strike="noStrike">
                    <a:solidFill>
                      <a:srgbClr val="66758A"/>
                    </a:solidFill>
                    <a:effectLst/>
                    <a:uFillTx/>
                    <a:latin typeface="Arial"/>
                    <a:ea typeface="微软雅黑"/>
                  </a:rPr>
                  <a:t>Leaf</a:t>
                </a:r>
                <a:endParaRPr lang="en-US" sz="1200" b="0" u="none" strike="noStrike">
                  <a:solidFill>
                    <a:srgbClr val="000000"/>
                  </a:solidFill>
                  <a:effectLst/>
                  <a:uFillTx/>
                  <a:latin typeface="Arial"/>
                </a:endParaRPr>
              </a:p>
            </p:txBody>
          </p:sp>
        </p:grpSp>
        <p:sp>
          <p:nvSpPr>
            <p:cNvPr id="428" name="TextBox 28"/>
            <p:cNvSpPr/>
            <p:nvPr/>
          </p:nvSpPr>
          <p:spPr>
            <a:xfrm>
              <a:off x="621720" y="3892680"/>
              <a:ext cx="2738520" cy="2628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0" u="none" strike="noStrike">
                  <a:solidFill>
                    <a:srgbClr val="66758A"/>
                  </a:solidFill>
                  <a:effectLst/>
                  <a:uFillTx/>
                  <a:latin typeface="Arial"/>
                  <a:ea typeface="微软雅黑"/>
                </a:rPr>
                <a:t>Real sections, equal scale.</a:t>
              </a:r>
              <a:endParaRPr lang="en-US" sz="1200" b="0" u="none" strike="noStrike">
                <a:solidFill>
                  <a:srgbClr val="000000"/>
                </a:solidFill>
                <a:effectLst/>
                <a:uFillTx/>
                <a:latin typeface="Arial"/>
              </a:endParaRPr>
            </a:p>
          </p:txBody>
        </p:sp>
        <p:sp>
          <p:nvSpPr>
            <p:cNvPr id="429" name="TextBox 29"/>
            <p:cNvSpPr/>
            <p:nvPr/>
          </p:nvSpPr>
          <p:spPr>
            <a:xfrm>
              <a:off x="621720" y="4321080"/>
              <a:ext cx="385560" cy="2628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1" u="none" strike="noStrike">
                  <a:solidFill>
                    <a:srgbClr val="66758A"/>
                  </a:solidFill>
                  <a:effectLst/>
                  <a:uFillTx/>
                  <a:latin typeface="Arial"/>
                  <a:ea typeface="微软雅黑"/>
                </a:rPr>
                <a:t>Skill</a:t>
              </a:r>
              <a:endParaRPr lang="en-US" sz="1200" b="0" u="none" strike="noStrike">
                <a:solidFill>
                  <a:srgbClr val="000000"/>
                </a:solidFill>
                <a:effectLst/>
                <a:uFillTx/>
                <a:latin typeface="Arial"/>
              </a:endParaRPr>
            </a:p>
          </p:txBody>
        </p:sp>
        <p:sp>
          <p:nvSpPr>
            <p:cNvPr id="430" name="TextBox 30"/>
            <p:cNvSpPr/>
            <p:nvPr/>
          </p:nvSpPr>
          <p:spPr>
            <a:xfrm>
              <a:off x="1114200" y="4245120"/>
              <a:ext cx="2381400" cy="3801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800" b="0" u="none" strike="noStrike">
                  <a:solidFill>
                    <a:srgbClr val="24364C"/>
                  </a:solidFill>
                  <a:effectLst/>
                  <a:uFillTx/>
                  <a:latin typeface="Arial"/>
                  <a:ea typeface="微软雅黑"/>
                </a:rPr>
                <a:t>Sections show depths</a:t>
              </a:r>
              <a:endParaRPr lang="en-US" sz="1800" b="0" u="none" strike="noStrike">
                <a:solidFill>
                  <a:srgbClr val="000000"/>
                </a:solidFill>
                <a:effectLst/>
                <a:uFillTx/>
                <a:latin typeface="Arial"/>
              </a:endParaRPr>
            </a:p>
          </p:txBody>
        </p:sp>
        <p:sp>
          <p:nvSpPr>
            <p:cNvPr id="431" name="TextBox 31"/>
            <p:cNvSpPr/>
            <p:nvPr/>
          </p:nvSpPr>
          <p:spPr>
            <a:xfrm>
              <a:off x="621720" y="4759200"/>
              <a:ext cx="376200" cy="2628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1" u="none" strike="noStrike">
                  <a:solidFill>
                    <a:srgbClr val="66758A"/>
                  </a:solidFill>
                  <a:effectLst/>
                  <a:uFillTx/>
                  <a:latin typeface="Arial"/>
                  <a:ea typeface="微软雅黑"/>
                </a:rPr>
                <a:t>Gap</a:t>
              </a:r>
              <a:endParaRPr lang="en-US" sz="1200" b="0" u="none" strike="noStrike">
                <a:solidFill>
                  <a:srgbClr val="000000"/>
                </a:solidFill>
                <a:effectLst/>
                <a:uFillTx/>
                <a:latin typeface="Arial"/>
              </a:endParaRPr>
            </a:p>
          </p:txBody>
        </p:sp>
        <p:sp>
          <p:nvSpPr>
            <p:cNvPr id="432" name="TextBox 32"/>
            <p:cNvSpPr/>
            <p:nvPr/>
          </p:nvSpPr>
          <p:spPr>
            <a:xfrm>
              <a:off x="1114200" y="4683240"/>
              <a:ext cx="2643840" cy="3801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800" b="0" u="none" strike="noStrike">
                  <a:solidFill>
                    <a:srgbClr val="66758A"/>
                  </a:solidFill>
                  <a:effectLst/>
                  <a:uFillTx/>
                  <a:latin typeface="Arial"/>
                  <a:ea typeface="微软雅黑"/>
                </a:rPr>
                <a:t>Ear names not on model</a:t>
              </a:r>
              <a:endParaRPr lang="en-US" sz="1800" b="0" u="none" strike="noStrike">
                <a:solidFill>
                  <a:srgbClr val="000000"/>
                </a:solidFill>
                <a:effectLst/>
                <a:uFillTx/>
                <a:latin typeface="Arial"/>
              </a:endParaRPr>
            </a:p>
          </p:txBody>
        </p:sp>
        <p:sp>
          <p:nvSpPr>
            <p:cNvPr id="433" name="TextBox 33"/>
            <p:cNvSpPr/>
            <p:nvPr/>
          </p:nvSpPr>
          <p:spPr>
            <a:xfrm>
              <a:off x="621720" y="5197320"/>
              <a:ext cx="402480" cy="2628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1" u="none" strike="noStrike">
                  <a:solidFill>
                    <a:srgbClr val="3662EA"/>
                  </a:solidFill>
                  <a:effectLst/>
                  <a:uFillTx/>
                  <a:latin typeface="Arial"/>
                  <a:ea typeface="微软雅黑"/>
                </a:rPr>
                <a:t>Step</a:t>
              </a:r>
              <a:endParaRPr lang="en-US" sz="1200" b="0" u="none" strike="noStrike">
                <a:solidFill>
                  <a:srgbClr val="000000"/>
                </a:solidFill>
                <a:effectLst/>
                <a:uFillTx/>
                <a:latin typeface="Arial"/>
              </a:endParaRPr>
            </a:p>
          </p:txBody>
        </p:sp>
        <p:sp>
          <p:nvSpPr>
            <p:cNvPr id="434" name="TextBox 34"/>
            <p:cNvSpPr/>
            <p:nvPr/>
          </p:nvSpPr>
          <p:spPr>
            <a:xfrm>
              <a:off x="1114200" y="5121360"/>
              <a:ext cx="2994480" cy="3801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800" b="0" u="none" strike="noStrike">
                  <a:solidFill>
                    <a:srgbClr val="3662EA"/>
                  </a:solidFill>
                  <a:effectLst/>
                  <a:uFillTx/>
                  <a:latin typeface="Arial"/>
                  <a:ea typeface="微软雅黑"/>
                </a:rPr>
                <a:t>Map bound to CN/EN names</a:t>
              </a:r>
              <a:endParaRPr lang="en-US" sz="1800" b="0" u="none" strike="noStrike">
                <a:solidFill>
                  <a:srgbClr val="000000"/>
                </a:solidFill>
                <a:effectLst/>
                <a:uFillTx/>
                <a:latin typeface="Arial"/>
              </a:endParaRPr>
            </a:p>
          </p:txBody>
        </p:sp>
        <p:sp>
          <p:nvSpPr>
            <p:cNvPr id="435" name="TextBox 35"/>
            <p:cNvSpPr/>
            <p:nvPr/>
          </p:nvSpPr>
          <p:spPr>
            <a:xfrm>
              <a:off x="621720" y="5635800"/>
              <a:ext cx="410760" cy="2628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1" u="none" strike="noStrike">
                  <a:solidFill>
                    <a:srgbClr val="069B8A"/>
                  </a:solidFill>
                  <a:effectLst/>
                  <a:uFillTx/>
                  <a:latin typeface="Arial"/>
                  <a:ea typeface="微软雅黑"/>
                </a:rPr>
                <a:t>Gain</a:t>
              </a:r>
              <a:endParaRPr lang="en-US" sz="1200" b="0" u="none" strike="noStrike">
                <a:solidFill>
                  <a:srgbClr val="000000"/>
                </a:solidFill>
                <a:effectLst/>
                <a:uFillTx/>
                <a:latin typeface="Arial"/>
              </a:endParaRPr>
            </a:p>
          </p:txBody>
        </p:sp>
        <p:sp>
          <p:nvSpPr>
            <p:cNvPr id="436" name="TextBox 36"/>
            <p:cNvSpPr/>
            <p:nvPr/>
          </p:nvSpPr>
          <p:spPr>
            <a:xfrm>
              <a:off x="1114200" y="5559480"/>
              <a:ext cx="2765160" cy="3801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800" b="1" u="none" strike="noStrike">
                  <a:solidFill>
                    <a:srgbClr val="069B8A"/>
                  </a:solidFill>
                  <a:effectLst/>
                  <a:uFillTx/>
                  <a:latin typeface="Arial"/>
                  <a:ea typeface="微软雅黑"/>
                </a:rPr>
                <a:t>Feedback on ear regions</a:t>
              </a:r>
              <a:endParaRPr lang="en-US" sz="1800" b="0" u="none" strike="noStrike">
                <a:solidFill>
                  <a:srgbClr val="000000"/>
                </a:solidFill>
                <a:effectLst/>
                <a:uFillTx/>
                <a:latin typeface="Arial"/>
              </a:endParaRPr>
            </a:p>
          </p:txBody>
        </p:sp>
      </p:grpSp>
      <p:grpSp>
        <p:nvGrpSpPr>
          <p:cNvPr id="437" name="stage-five"/>
          <p:cNvGrpSpPr/>
          <p:nvPr/>
        </p:nvGrpSpPr>
        <p:grpSpPr>
          <a:xfrm>
            <a:off x="4324320" y="1711440"/>
            <a:ext cx="3440520" cy="4228200"/>
            <a:chOff x="4324320" y="1711440"/>
            <a:chExt cx="3440520" cy="4228200"/>
          </a:xfrm>
        </p:grpSpPr>
        <p:sp>
          <p:nvSpPr>
            <p:cNvPr id="438" name="Rectangle 40"/>
            <p:cNvSpPr/>
            <p:nvPr/>
          </p:nvSpPr>
          <p:spPr>
            <a:xfrm>
              <a:off x="4324320" y="1714680"/>
              <a:ext cx="56160" cy="294120"/>
            </a:xfrm>
            <a:prstGeom prst="rect">
              <a:avLst/>
            </a:prstGeom>
            <a:solidFill>
              <a:srgbClr val="3662EA"/>
            </a:solidFill>
            <a:ln w="0">
              <a:noFill/>
            </a:ln>
          </p:spPr>
          <p:style>
            <a:lnRef idx="0"/>
            <a:fillRef idx="0"/>
            <a:effectRef idx="0"/>
            <a:fontRef idx="minor"/>
          </p:style>
          <p:txBody>
            <a:bodyPr lIns="28080" tIns="45000" rIns="28080" bIns="45000" anchor="t">
              <a:noAutofit/>
            </a:bodyPr>
            <a:p>
              <a:pPr/>
              <a:endParaRPr lang="en-US" sz="1800" b="0" u="none" strike="noStrike">
                <a:solidFill>
                  <a:srgbClr val="FFFFFF"/>
                </a:solidFill>
                <a:effectLst/>
                <a:uFillTx/>
                <a:latin typeface="Arial"/>
              </a:endParaRPr>
            </a:p>
          </p:txBody>
        </p:sp>
        <p:sp>
          <p:nvSpPr>
            <p:cNvPr id="439" name="TextBox 41"/>
            <p:cNvSpPr/>
            <p:nvPr/>
          </p:nvSpPr>
          <p:spPr>
            <a:xfrm>
              <a:off x="4476240" y="1711440"/>
              <a:ext cx="2599920" cy="3801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800" b="1" u="none" strike="noStrike">
                  <a:solidFill>
                    <a:srgbClr val="13243A"/>
                  </a:solidFill>
                  <a:effectLst/>
                  <a:uFillTx/>
                  <a:latin typeface="Arial"/>
                  <a:ea typeface="微软雅黑"/>
                </a:rPr>
                <a:t>5 Ear-region placement</a:t>
              </a:r>
              <a:endParaRPr lang="en-US" sz="1800" b="0" u="none" strike="noStrike">
                <a:solidFill>
                  <a:srgbClr val="000000"/>
                </a:solidFill>
                <a:effectLst/>
                <a:uFillTx/>
                <a:latin typeface="Arial"/>
              </a:endParaRPr>
            </a:p>
          </p:txBody>
        </p:sp>
        <p:pic>
          <p:nvPicPr>
            <p:cNvPr id="440" name="Image 42"/>
            <p:cNvPicPr/>
            <p:nvPr/>
          </p:nvPicPr>
          <p:blipFill>
            <a:blip r:embed="rId1"/>
            <a:srcRect l="0" t="9002" r="39685" b="0"/>
            <a:stretch/>
          </p:blipFill>
          <p:spPr>
            <a:xfrm>
              <a:off x="4429080" y="2238480"/>
              <a:ext cx="1599120" cy="1598760"/>
            </a:xfrm>
            <a:prstGeom prst="rect">
              <a:avLst/>
            </a:prstGeom>
            <a:noFill/>
            <a:ln w="0">
              <a:noFill/>
            </a:ln>
          </p:spPr>
        </p:pic>
        <p:sp>
          <p:nvSpPr>
            <p:cNvPr id="441" name="TextBox 43"/>
            <p:cNvSpPr/>
            <p:nvPr/>
          </p:nvSpPr>
          <p:spPr>
            <a:xfrm>
              <a:off x="6202080" y="2273400"/>
              <a:ext cx="1562760" cy="3214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1" u="none" strike="noStrike">
                  <a:solidFill>
                    <a:srgbClr val="3662EA"/>
                  </a:solidFill>
                  <a:effectLst/>
                  <a:uFillTx/>
                  <a:latin typeface="Arial"/>
                  <a:ea typeface="微软雅黑"/>
                </a:rPr>
                <a:t>Cymba concha</a:t>
              </a:r>
              <a:endParaRPr lang="en-US" sz="1650" b="0" u="none" strike="noStrike">
                <a:solidFill>
                  <a:srgbClr val="000000"/>
                </a:solidFill>
                <a:effectLst/>
                <a:uFillTx/>
                <a:latin typeface="Arial"/>
              </a:endParaRPr>
            </a:p>
          </p:txBody>
        </p:sp>
        <p:sp>
          <p:nvSpPr>
            <p:cNvPr id="442" name="TextBox 44"/>
            <p:cNvSpPr/>
            <p:nvPr/>
          </p:nvSpPr>
          <p:spPr>
            <a:xfrm>
              <a:off x="6204240" y="2543040"/>
              <a:ext cx="1094040" cy="23364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0" u="none" strike="noStrike">
                  <a:solidFill>
                    <a:srgbClr val="66758A"/>
                  </a:solidFill>
                  <a:effectLst/>
                  <a:uFillTx/>
                  <a:latin typeface="Arial"/>
                  <a:ea typeface="Arial"/>
                </a:rPr>
                <a:t>upper concha</a:t>
              </a:r>
              <a:endParaRPr lang="en-US" sz="1200" b="0" u="none" strike="noStrike">
                <a:solidFill>
                  <a:srgbClr val="000000"/>
                </a:solidFill>
                <a:effectLst/>
                <a:uFillTx/>
                <a:latin typeface="Arial"/>
              </a:endParaRPr>
            </a:p>
          </p:txBody>
        </p:sp>
        <p:sp>
          <p:nvSpPr>
            <p:cNvPr id="443" name="TextBox 45"/>
            <p:cNvSpPr/>
            <p:nvPr/>
          </p:nvSpPr>
          <p:spPr>
            <a:xfrm>
              <a:off x="6202080" y="2825640"/>
              <a:ext cx="1341360" cy="3214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1" u="none" strike="noStrike">
                  <a:solidFill>
                    <a:srgbClr val="3662EA"/>
                  </a:solidFill>
                  <a:effectLst/>
                  <a:uFillTx/>
                  <a:latin typeface="Arial"/>
                  <a:ea typeface="微软雅黑"/>
                </a:rPr>
                <a:t>Crus of helix</a:t>
              </a:r>
              <a:endParaRPr lang="en-US" sz="1650" b="0" u="none" strike="noStrike">
                <a:solidFill>
                  <a:srgbClr val="000000"/>
                </a:solidFill>
                <a:effectLst/>
                <a:uFillTx/>
                <a:latin typeface="Arial"/>
              </a:endParaRPr>
            </a:p>
          </p:txBody>
        </p:sp>
        <p:sp>
          <p:nvSpPr>
            <p:cNvPr id="444" name="TextBox 46"/>
            <p:cNvSpPr/>
            <p:nvPr/>
          </p:nvSpPr>
          <p:spPr>
            <a:xfrm>
              <a:off x="6204240" y="3095640"/>
              <a:ext cx="913680" cy="23364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0" u="none" strike="noStrike">
                  <a:solidFill>
                    <a:srgbClr val="66758A"/>
                  </a:solidFill>
                  <a:effectLst/>
                  <a:uFillTx/>
                  <a:latin typeface="Arial"/>
                  <a:ea typeface="Arial"/>
                </a:rPr>
                <a:t>helix root</a:t>
              </a:r>
              <a:endParaRPr lang="en-US" sz="1200" b="0" u="none" strike="noStrike">
                <a:solidFill>
                  <a:srgbClr val="000000"/>
                </a:solidFill>
                <a:effectLst/>
                <a:uFillTx/>
                <a:latin typeface="Arial"/>
              </a:endParaRPr>
            </a:p>
          </p:txBody>
        </p:sp>
        <p:sp>
          <p:nvSpPr>
            <p:cNvPr id="445" name="TextBox 47"/>
            <p:cNvSpPr/>
            <p:nvPr/>
          </p:nvSpPr>
          <p:spPr>
            <a:xfrm>
              <a:off x="6202080" y="3378240"/>
              <a:ext cx="1562760" cy="3214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1" u="none" strike="noStrike">
                  <a:solidFill>
                    <a:srgbClr val="3662EA"/>
                  </a:solidFill>
                  <a:effectLst/>
                  <a:uFillTx/>
                  <a:latin typeface="Arial"/>
                  <a:ea typeface="微软雅黑"/>
                </a:rPr>
                <a:t>Cavum concha</a:t>
              </a:r>
              <a:endParaRPr lang="en-US" sz="1650" b="0" u="none" strike="noStrike">
                <a:solidFill>
                  <a:srgbClr val="000000"/>
                </a:solidFill>
                <a:effectLst/>
                <a:uFillTx/>
                <a:latin typeface="Arial"/>
              </a:endParaRPr>
            </a:p>
          </p:txBody>
        </p:sp>
        <p:sp>
          <p:nvSpPr>
            <p:cNvPr id="446" name="TextBox 48"/>
            <p:cNvSpPr/>
            <p:nvPr/>
          </p:nvSpPr>
          <p:spPr>
            <a:xfrm>
              <a:off x="6204240" y="3648240"/>
              <a:ext cx="1094040" cy="23364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0" u="none" strike="noStrike">
                  <a:solidFill>
                    <a:srgbClr val="66758A"/>
                  </a:solidFill>
                  <a:effectLst/>
                  <a:uFillTx/>
                  <a:latin typeface="Arial"/>
                  <a:ea typeface="Arial"/>
                </a:rPr>
                <a:t>lower concha</a:t>
              </a:r>
              <a:endParaRPr lang="en-US" sz="1200" b="0" u="none" strike="noStrike">
                <a:solidFill>
                  <a:srgbClr val="000000"/>
                </a:solidFill>
                <a:effectLst/>
                <a:uFillTx/>
                <a:latin typeface="Arial"/>
              </a:endParaRPr>
            </a:p>
          </p:txBody>
        </p:sp>
        <p:sp>
          <p:nvSpPr>
            <p:cNvPr id="447" name="TextBox 49"/>
            <p:cNvSpPr/>
            <p:nvPr/>
          </p:nvSpPr>
          <p:spPr>
            <a:xfrm>
              <a:off x="4450680" y="3892680"/>
              <a:ext cx="2977200" cy="2628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0" u="none" strike="noStrike">
                  <a:solidFill>
                    <a:srgbClr val="66758A"/>
                  </a:solidFill>
                  <a:effectLst/>
                  <a:uFillTx/>
                  <a:latin typeface="Arial"/>
                  <a:ea typeface="微软雅黑"/>
                </a:rPr>
                <a:t>Names, map, and real source faces match.</a:t>
              </a:r>
              <a:endParaRPr lang="en-US" sz="1200" b="0" u="none" strike="noStrike">
                <a:solidFill>
                  <a:srgbClr val="000000"/>
                </a:solidFill>
                <a:effectLst/>
                <a:uFillTx/>
                <a:latin typeface="Arial"/>
              </a:endParaRPr>
            </a:p>
          </p:txBody>
        </p:sp>
        <p:sp>
          <p:nvSpPr>
            <p:cNvPr id="448" name="TextBox 50"/>
            <p:cNvSpPr/>
            <p:nvPr/>
          </p:nvSpPr>
          <p:spPr>
            <a:xfrm>
              <a:off x="4450680" y="4321080"/>
              <a:ext cx="385560" cy="2628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1" u="none" strike="noStrike">
                  <a:solidFill>
                    <a:srgbClr val="66758A"/>
                  </a:solidFill>
                  <a:effectLst/>
                  <a:uFillTx/>
                  <a:latin typeface="Arial"/>
                  <a:ea typeface="微软雅黑"/>
                </a:rPr>
                <a:t>Skill</a:t>
              </a:r>
              <a:endParaRPr lang="en-US" sz="1200" b="0" u="none" strike="noStrike">
                <a:solidFill>
                  <a:srgbClr val="000000"/>
                </a:solidFill>
                <a:effectLst/>
                <a:uFillTx/>
                <a:latin typeface="Arial"/>
              </a:endParaRPr>
            </a:p>
          </p:txBody>
        </p:sp>
        <p:sp>
          <p:nvSpPr>
            <p:cNvPr id="449" name="TextBox 51"/>
            <p:cNvSpPr/>
            <p:nvPr/>
          </p:nvSpPr>
          <p:spPr>
            <a:xfrm>
              <a:off x="4943160" y="4245120"/>
              <a:ext cx="2511720" cy="3801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800" b="0" u="none" strike="noStrike">
                  <a:solidFill>
                    <a:srgbClr val="24364C"/>
                  </a:solidFill>
                  <a:effectLst/>
                  <a:uFillTx/>
                  <a:latin typeface="Arial"/>
                  <a:ea typeface="微软雅黑"/>
                </a:rPr>
                <a:t>10 regions map to faces</a:t>
              </a:r>
              <a:endParaRPr lang="en-US" sz="1800" b="0" u="none" strike="noStrike">
                <a:solidFill>
                  <a:srgbClr val="000000"/>
                </a:solidFill>
                <a:effectLst/>
                <a:uFillTx/>
                <a:latin typeface="Arial"/>
              </a:endParaRPr>
            </a:p>
          </p:txBody>
        </p:sp>
        <p:sp>
          <p:nvSpPr>
            <p:cNvPr id="450" name="TextBox 52"/>
            <p:cNvSpPr/>
            <p:nvPr/>
          </p:nvSpPr>
          <p:spPr>
            <a:xfrm>
              <a:off x="4450680" y="4759200"/>
              <a:ext cx="376200" cy="2628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1" u="none" strike="noStrike">
                  <a:solidFill>
                    <a:srgbClr val="66758A"/>
                  </a:solidFill>
                  <a:effectLst/>
                  <a:uFillTx/>
                  <a:latin typeface="Arial"/>
                  <a:ea typeface="微软雅黑"/>
                </a:rPr>
                <a:t>Gap</a:t>
              </a:r>
              <a:endParaRPr lang="en-US" sz="1200" b="0" u="none" strike="noStrike">
                <a:solidFill>
                  <a:srgbClr val="000000"/>
                </a:solidFill>
                <a:effectLst/>
                <a:uFillTx/>
                <a:latin typeface="Arial"/>
              </a:endParaRPr>
            </a:p>
          </p:txBody>
        </p:sp>
        <p:sp>
          <p:nvSpPr>
            <p:cNvPr id="451" name="TextBox 53"/>
            <p:cNvSpPr/>
            <p:nvPr/>
          </p:nvSpPr>
          <p:spPr>
            <a:xfrm>
              <a:off x="4943160" y="4683240"/>
              <a:ext cx="2643840" cy="3801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800" b="0" u="none" strike="noStrike">
                  <a:solidFill>
                    <a:srgbClr val="66758A"/>
                  </a:solidFill>
                  <a:effectLst/>
                  <a:uFillTx/>
                  <a:latin typeface="Arial"/>
                  <a:ea typeface="微软雅黑"/>
                </a:rPr>
                <a:t>Local fixes hid bad pose</a:t>
              </a:r>
              <a:endParaRPr lang="en-US" sz="1800" b="0" u="none" strike="noStrike">
                <a:solidFill>
                  <a:srgbClr val="000000"/>
                </a:solidFill>
                <a:effectLst/>
                <a:uFillTx/>
                <a:latin typeface="Arial"/>
              </a:endParaRPr>
            </a:p>
          </p:txBody>
        </p:sp>
        <p:sp>
          <p:nvSpPr>
            <p:cNvPr id="452" name="TextBox 54"/>
            <p:cNvSpPr/>
            <p:nvPr/>
          </p:nvSpPr>
          <p:spPr>
            <a:xfrm>
              <a:off x="4450680" y="5197320"/>
              <a:ext cx="402480" cy="2628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1" u="none" strike="noStrike">
                  <a:solidFill>
                    <a:srgbClr val="3662EA"/>
                  </a:solidFill>
                  <a:effectLst/>
                  <a:uFillTx/>
                  <a:latin typeface="Arial"/>
                  <a:ea typeface="微软雅黑"/>
                </a:rPr>
                <a:t>Step</a:t>
              </a:r>
              <a:endParaRPr lang="en-US" sz="1200" b="0" u="none" strike="noStrike">
                <a:solidFill>
                  <a:srgbClr val="000000"/>
                </a:solidFill>
                <a:effectLst/>
                <a:uFillTx/>
                <a:latin typeface="Arial"/>
              </a:endParaRPr>
            </a:p>
          </p:txBody>
        </p:sp>
        <p:sp>
          <p:nvSpPr>
            <p:cNvPr id="453" name="TextBox 55"/>
            <p:cNvSpPr/>
            <p:nvPr/>
          </p:nvSpPr>
          <p:spPr>
            <a:xfrm>
              <a:off x="4943160" y="5121360"/>
              <a:ext cx="2643840" cy="3801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800" b="0" u="none" strike="noStrike">
                  <a:solidFill>
                    <a:srgbClr val="3662EA"/>
                  </a:solidFill>
                  <a:effectLst/>
                  <a:uFillTx/>
                  <a:latin typeface="Arial"/>
                  <a:ea typeface="微软雅黑"/>
                </a:rPr>
                <a:t>Align ears, move as unit</a:t>
              </a:r>
              <a:endParaRPr lang="en-US" sz="1800" b="0" u="none" strike="noStrike">
                <a:solidFill>
                  <a:srgbClr val="000000"/>
                </a:solidFill>
                <a:effectLst/>
                <a:uFillTx/>
                <a:latin typeface="Arial"/>
              </a:endParaRPr>
            </a:p>
          </p:txBody>
        </p:sp>
        <p:sp>
          <p:nvSpPr>
            <p:cNvPr id="454" name="TextBox 56"/>
            <p:cNvSpPr/>
            <p:nvPr/>
          </p:nvSpPr>
          <p:spPr>
            <a:xfrm>
              <a:off x="4450680" y="5635800"/>
              <a:ext cx="410760" cy="2628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1" u="none" strike="noStrike">
                  <a:solidFill>
                    <a:srgbClr val="069B8A"/>
                  </a:solidFill>
                  <a:effectLst/>
                  <a:uFillTx/>
                  <a:latin typeface="Arial"/>
                  <a:ea typeface="微软雅黑"/>
                </a:rPr>
                <a:t>Gain</a:t>
              </a:r>
              <a:endParaRPr lang="en-US" sz="1200" b="0" u="none" strike="noStrike">
                <a:solidFill>
                  <a:srgbClr val="000000"/>
                </a:solidFill>
                <a:effectLst/>
                <a:uFillTx/>
                <a:latin typeface="Arial"/>
              </a:endParaRPr>
            </a:p>
          </p:txBody>
        </p:sp>
        <p:sp>
          <p:nvSpPr>
            <p:cNvPr id="455" name="TextBox 57"/>
            <p:cNvSpPr/>
            <p:nvPr/>
          </p:nvSpPr>
          <p:spPr>
            <a:xfrm>
              <a:off x="4943160" y="5559480"/>
              <a:ext cx="2446920" cy="3801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800" b="1" u="none" strike="noStrike">
                  <a:solidFill>
                    <a:srgbClr val="069B8A"/>
                  </a:solidFill>
                  <a:effectLst/>
                  <a:uFillTx/>
                  <a:latin typeface="Arial"/>
                  <a:ea typeface="微软雅黑"/>
                </a:rPr>
                <a:t>Fit targets guide pose</a:t>
              </a:r>
              <a:endParaRPr lang="en-US" sz="1800" b="0" u="none" strike="noStrike">
                <a:solidFill>
                  <a:srgbClr val="000000"/>
                </a:solidFill>
                <a:effectLst/>
                <a:uFillTx/>
                <a:latin typeface="Arial"/>
              </a:endParaRPr>
            </a:p>
          </p:txBody>
        </p:sp>
      </p:grpSp>
      <p:grpSp>
        <p:nvGrpSpPr>
          <p:cNvPr id="456" name="stage-six"/>
          <p:cNvGrpSpPr/>
          <p:nvPr/>
        </p:nvGrpSpPr>
        <p:grpSpPr>
          <a:xfrm>
            <a:off x="8153280" y="1711440"/>
            <a:ext cx="3323160" cy="4228200"/>
            <a:chOff x="8153280" y="1711440"/>
            <a:chExt cx="3323160" cy="4228200"/>
          </a:xfrm>
        </p:grpSpPr>
        <p:sp>
          <p:nvSpPr>
            <p:cNvPr id="457" name="Rectangle 59"/>
            <p:cNvSpPr/>
            <p:nvPr/>
          </p:nvSpPr>
          <p:spPr>
            <a:xfrm>
              <a:off x="8153280" y="1714680"/>
              <a:ext cx="56160" cy="294120"/>
            </a:xfrm>
            <a:prstGeom prst="rect">
              <a:avLst/>
            </a:prstGeom>
            <a:solidFill>
              <a:srgbClr val="D98D2B"/>
            </a:solidFill>
            <a:ln w="0">
              <a:noFill/>
            </a:ln>
          </p:spPr>
          <p:style>
            <a:lnRef idx="0"/>
            <a:fillRef idx="0"/>
            <a:effectRef idx="0"/>
            <a:fontRef idx="minor"/>
          </p:style>
          <p:txBody>
            <a:bodyPr lIns="28080" tIns="45000" rIns="28080" bIns="45000" anchor="t">
              <a:noAutofit/>
            </a:bodyPr>
            <a:p>
              <a:pPr/>
              <a:endParaRPr lang="en-US" sz="1800" b="0" u="none" strike="noStrike">
                <a:solidFill>
                  <a:srgbClr val="FFFFFF"/>
                </a:solidFill>
                <a:effectLst/>
                <a:uFillTx/>
                <a:latin typeface="Arial"/>
              </a:endParaRPr>
            </a:p>
          </p:txBody>
        </p:sp>
        <p:sp>
          <p:nvSpPr>
            <p:cNvPr id="458" name="TextBox 60"/>
            <p:cNvSpPr/>
            <p:nvPr/>
          </p:nvSpPr>
          <p:spPr>
            <a:xfrm>
              <a:off x="8305560" y="1711440"/>
              <a:ext cx="2638440" cy="3801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800" b="1" u="none" strike="noStrike">
                  <a:solidFill>
                    <a:srgbClr val="13243A"/>
                  </a:solidFill>
                  <a:effectLst/>
                  <a:uFillTx/>
                  <a:latin typeface="Arial"/>
                  <a:ea typeface="微软雅黑"/>
                </a:rPr>
                <a:t>6 Joint wear and review</a:t>
              </a:r>
              <a:endParaRPr lang="en-US" sz="1800" b="0" u="none" strike="noStrike">
                <a:solidFill>
                  <a:srgbClr val="000000"/>
                </a:solidFill>
                <a:effectLst/>
                <a:uFillTx/>
                <a:latin typeface="Arial"/>
              </a:endParaRPr>
            </a:p>
          </p:txBody>
        </p:sp>
        <p:sp>
          <p:nvSpPr>
            <p:cNvPr id="459" name="TextBox 61"/>
            <p:cNvSpPr/>
            <p:nvPr/>
          </p:nvSpPr>
          <p:spPr>
            <a:xfrm>
              <a:off x="8213040" y="2168640"/>
              <a:ext cx="558000" cy="2628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0" u="none" strike="noStrike">
                  <a:solidFill>
                    <a:srgbClr val="66758A"/>
                  </a:solidFill>
                  <a:effectLst/>
                  <a:uFillTx/>
                  <a:latin typeface="Arial"/>
                  <a:ea typeface="微软雅黑"/>
                </a:rPr>
                <a:t>Before</a:t>
              </a:r>
              <a:endParaRPr lang="en-US" sz="1200" b="0" u="none" strike="noStrike">
                <a:solidFill>
                  <a:srgbClr val="000000"/>
                </a:solidFill>
                <a:effectLst/>
                <a:uFillTx/>
                <a:latin typeface="Arial"/>
              </a:endParaRPr>
            </a:p>
          </p:txBody>
        </p:sp>
        <p:sp>
          <p:nvSpPr>
            <p:cNvPr id="460" name="TextBox 62"/>
            <p:cNvSpPr/>
            <p:nvPr/>
          </p:nvSpPr>
          <p:spPr>
            <a:xfrm>
              <a:off x="9946800" y="2168640"/>
              <a:ext cx="921240" cy="2628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0" u="none" strike="noStrike">
                  <a:solidFill>
                    <a:srgbClr val="66758A"/>
                  </a:solidFill>
                  <a:effectLst/>
                  <a:uFillTx/>
                  <a:latin typeface="Arial"/>
                  <a:ea typeface="微软雅黑"/>
                </a:rPr>
                <a:t>After</a:t>
              </a:r>
              <a:endParaRPr lang="en-US" sz="1200" b="0" u="none" strike="noStrike">
                <a:solidFill>
                  <a:srgbClr val="000000"/>
                </a:solidFill>
                <a:effectLst/>
                <a:uFillTx/>
                <a:latin typeface="Arial"/>
              </a:endParaRPr>
            </a:p>
          </p:txBody>
        </p:sp>
        <p:pic>
          <p:nvPicPr>
            <p:cNvPr id="461" name="Image 63"/>
            <p:cNvPicPr/>
            <p:nvPr/>
          </p:nvPicPr>
          <p:blipFill>
            <a:blip r:embed="rId2"/>
            <a:stretch/>
          </p:blipFill>
          <p:spPr>
            <a:xfrm>
              <a:off x="8267760" y="2381400"/>
              <a:ext cx="1475280" cy="1475280"/>
            </a:xfrm>
            <a:prstGeom prst="rect">
              <a:avLst/>
            </a:prstGeom>
            <a:noFill/>
            <a:ln w="0">
              <a:noFill/>
            </a:ln>
          </p:spPr>
        </p:pic>
        <p:pic>
          <p:nvPicPr>
            <p:cNvPr id="462" name="Image 64"/>
            <p:cNvPicPr/>
            <p:nvPr/>
          </p:nvPicPr>
          <p:blipFill>
            <a:blip r:embed="rId3"/>
            <a:stretch/>
          </p:blipFill>
          <p:spPr>
            <a:xfrm>
              <a:off x="10001160" y="2381400"/>
              <a:ext cx="1475280" cy="1475280"/>
            </a:xfrm>
            <a:prstGeom prst="rect">
              <a:avLst/>
            </a:prstGeom>
            <a:noFill/>
            <a:ln w="0">
              <a:noFill/>
            </a:ln>
          </p:spPr>
        </p:pic>
        <p:sp>
          <p:nvSpPr>
            <p:cNvPr id="463" name="TextBox 65"/>
            <p:cNvSpPr/>
            <p:nvPr/>
          </p:nvSpPr>
          <p:spPr>
            <a:xfrm>
              <a:off x="8280000" y="3892680"/>
              <a:ext cx="2545200" cy="2628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0" u="none" strike="noStrike">
                  <a:solidFill>
                    <a:srgbClr val="66758A"/>
                  </a:solidFill>
                  <a:effectLst/>
                  <a:uFillTx/>
                  <a:latin typeface="Arial"/>
                  <a:ea typeface="微软雅黑"/>
                </a:rPr>
                <a:t>Real saved state, same-camera A/B.</a:t>
              </a:r>
              <a:endParaRPr lang="en-US" sz="1200" b="0" u="none" strike="noStrike">
                <a:solidFill>
                  <a:srgbClr val="000000"/>
                </a:solidFill>
                <a:effectLst/>
                <a:uFillTx/>
                <a:latin typeface="Arial"/>
              </a:endParaRPr>
            </a:p>
          </p:txBody>
        </p:sp>
        <p:sp>
          <p:nvSpPr>
            <p:cNvPr id="464" name="TextBox 66"/>
            <p:cNvSpPr/>
            <p:nvPr/>
          </p:nvSpPr>
          <p:spPr>
            <a:xfrm>
              <a:off x="8280000" y="4321080"/>
              <a:ext cx="385560" cy="2628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1" u="none" strike="noStrike">
                  <a:solidFill>
                    <a:srgbClr val="66758A"/>
                  </a:solidFill>
                  <a:effectLst/>
                  <a:uFillTx/>
                  <a:latin typeface="Arial"/>
                  <a:ea typeface="微软雅黑"/>
                </a:rPr>
                <a:t>Skill</a:t>
              </a:r>
              <a:endParaRPr lang="en-US" sz="1200" b="0" u="none" strike="noStrike">
                <a:solidFill>
                  <a:srgbClr val="000000"/>
                </a:solidFill>
                <a:effectLst/>
                <a:uFillTx/>
                <a:latin typeface="Arial"/>
              </a:endParaRPr>
            </a:p>
          </p:txBody>
        </p:sp>
        <p:sp>
          <p:nvSpPr>
            <p:cNvPr id="465" name="TextBox 67"/>
            <p:cNvSpPr/>
            <p:nvPr/>
          </p:nvSpPr>
          <p:spPr>
            <a:xfrm>
              <a:off x="8772120" y="4245120"/>
              <a:ext cx="2663640" cy="3801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800" b="0" u="none" strike="noStrike">
                  <a:solidFill>
                    <a:srgbClr val="24364C"/>
                  </a:solidFill>
                  <a:effectLst/>
                  <a:uFillTx/>
                  <a:latin typeface="Arial"/>
                  <a:ea typeface="微软雅黑"/>
                </a:rPr>
                <a:t>Direction partly confirmed</a:t>
              </a:r>
              <a:endParaRPr lang="en-US" sz="1800" b="0" u="none" strike="noStrike">
                <a:solidFill>
                  <a:srgbClr val="000000"/>
                </a:solidFill>
                <a:effectLst/>
                <a:uFillTx/>
                <a:latin typeface="Arial"/>
              </a:endParaRPr>
            </a:p>
          </p:txBody>
        </p:sp>
        <p:sp>
          <p:nvSpPr>
            <p:cNvPr id="466" name="TextBox 68"/>
            <p:cNvSpPr/>
            <p:nvPr/>
          </p:nvSpPr>
          <p:spPr>
            <a:xfrm>
              <a:off x="8280000" y="4759200"/>
              <a:ext cx="376200" cy="2628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1" u="none" strike="noStrike">
                  <a:solidFill>
                    <a:srgbClr val="66758A"/>
                  </a:solidFill>
                  <a:effectLst/>
                  <a:uFillTx/>
                  <a:latin typeface="Arial"/>
                  <a:ea typeface="微软雅黑"/>
                </a:rPr>
                <a:t>Gap</a:t>
              </a:r>
              <a:endParaRPr lang="en-US" sz="1200" b="0" u="none" strike="noStrike">
                <a:solidFill>
                  <a:srgbClr val="000000"/>
                </a:solidFill>
                <a:effectLst/>
                <a:uFillTx/>
                <a:latin typeface="Arial"/>
              </a:endParaRPr>
            </a:p>
          </p:txBody>
        </p:sp>
        <p:sp>
          <p:nvSpPr>
            <p:cNvPr id="467" name="TextBox 69"/>
            <p:cNvSpPr/>
            <p:nvPr/>
          </p:nvSpPr>
          <p:spPr>
            <a:xfrm>
              <a:off x="8772120" y="4683240"/>
              <a:ext cx="2643840" cy="3801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800" b="0" u="none" strike="noStrike">
                  <a:solidFill>
                    <a:srgbClr val="66758A"/>
                  </a:solidFill>
                  <a:effectLst/>
                  <a:uFillTx/>
                  <a:latin typeface="Arial"/>
                  <a:ea typeface="微软雅黑"/>
                </a:rPr>
                <a:t>Joint and wear untested</a:t>
              </a:r>
              <a:endParaRPr lang="en-US" sz="1800" b="0" u="none" strike="noStrike">
                <a:solidFill>
                  <a:srgbClr val="000000"/>
                </a:solidFill>
                <a:effectLst/>
                <a:uFillTx/>
                <a:latin typeface="Arial"/>
              </a:endParaRPr>
            </a:p>
          </p:txBody>
        </p:sp>
        <p:sp>
          <p:nvSpPr>
            <p:cNvPr id="468" name="TextBox 70"/>
            <p:cNvSpPr/>
            <p:nvPr/>
          </p:nvSpPr>
          <p:spPr>
            <a:xfrm>
              <a:off x="8280000" y="5197320"/>
              <a:ext cx="402480" cy="2628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1" u="none" strike="noStrike">
                  <a:solidFill>
                    <a:srgbClr val="3662EA"/>
                  </a:solidFill>
                  <a:effectLst/>
                  <a:uFillTx/>
                  <a:latin typeface="Arial"/>
                  <a:ea typeface="微软雅黑"/>
                </a:rPr>
                <a:t>Step</a:t>
              </a:r>
              <a:endParaRPr lang="en-US" sz="1200" b="0" u="none" strike="noStrike">
                <a:solidFill>
                  <a:srgbClr val="000000"/>
                </a:solidFill>
                <a:effectLst/>
                <a:uFillTx/>
                <a:latin typeface="Arial"/>
              </a:endParaRPr>
            </a:p>
          </p:txBody>
        </p:sp>
        <p:sp>
          <p:nvSpPr>
            <p:cNvPr id="469" name="TextBox 71"/>
            <p:cNvSpPr/>
            <p:nvPr/>
          </p:nvSpPr>
          <p:spPr>
            <a:xfrm>
              <a:off x="8772120" y="5121360"/>
              <a:ext cx="2565720" cy="3801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800" b="0" u="none" strike="noStrike">
                  <a:solidFill>
                    <a:srgbClr val="3662EA"/>
                  </a:solidFill>
                  <a:effectLst/>
                  <a:uFillTx/>
                  <a:latin typeface="Arial"/>
                  <a:ea typeface="微软雅黑"/>
                </a:rPr>
                <a:t>Review, A/B, write-back</a:t>
              </a:r>
              <a:endParaRPr lang="en-US" sz="1800" b="0" u="none" strike="noStrike">
                <a:solidFill>
                  <a:srgbClr val="000000"/>
                </a:solidFill>
                <a:effectLst/>
                <a:uFillTx/>
                <a:latin typeface="Arial"/>
              </a:endParaRPr>
            </a:p>
          </p:txBody>
        </p:sp>
        <p:sp>
          <p:nvSpPr>
            <p:cNvPr id="470" name="TextBox 72"/>
            <p:cNvSpPr/>
            <p:nvPr/>
          </p:nvSpPr>
          <p:spPr>
            <a:xfrm>
              <a:off x="8280000" y="5635800"/>
              <a:ext cx="410760" cy="2628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1" u="none" strike="noStrike">
                  <a:solidFill>
                    <a:srgbClr val="069B8A"/>
                  </a:solidFill>
                  <a:effectLst/>
                  <a:uFillTx/>
                  <a:latin typeface="Arial"/>
                  <a:ea typeface="微软雅黑"/>
                </a:rPr>
                <a:t>Gain</a:t>
              </a:r>
              <a:endParaRPr lang="en-US" sz="1200" b="0" u="none" strike="noStrike">
                <a:solidFill>
                  <a:srgbClr val="000000"/>
                </a:solidFill>
                <a:effectLst/>
                <a:uFillTx/>
                <a:latin typeface="Arial"/>
              </a:endParaRPr>
            </a:p>
          </p:txBody>
        </p:sp>
        <p:sp>
          <p:nvSpPr>
            <p:cNvPr id="471" name="TextBox 73"/>
            <p:cNvSpPr/>
            <p:nvPr/>
          </p:nvSpPr>
          <p:spPr>
            <a:xfrm>
              <a:off x="8772120" y="5559480"/>
              <a:ext cx="2643840" cy="3801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800" b="1" u="none" strike="noStrike">
                  <a:solidFill>
                    <a:srgbClr val="069B8A"/>
                  </a:solidFill>
                  <a:effectLst/>
                  <a:uFillTx/>
                  <a:latin typeface="Arial"/>
                  <a:ea typeface="微软雅黑"/>
                </a:rPr>
                <a:t>Traceable, gaps logged</a:t>
              </a:r>
              <a:endParaRPr lang="en-US" sz="1800" b="0" u="none" strike="noStrike">
                <a:solidFill>
                  <a:srgbClr val="000000"/>
                </a:solidFill>
                <a:effectLst/>
                <a:uFillTx/>
                <a:latin typeface="Arial"/>
              </a:endParaRPr>
            </a:p>
          </p:txBody>
        </p:sp>
      </p:gr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pSp>
        <p:nvGrpSpPr>
          <p:cNvPr id="472" name="header"/>
          <p:cNvGrpSpPr/>
          <p:nvPr/>
        </p:nvGrpSpPr>
        <p:grpSpPr>
          <a:xfrm>
            <a:off x="478440" y="422280"/>
            <a:ext cx="9169560" cy="972360"/>
            <a:chOff x="478440" y="422280"/>
            <a:chExt cx="9169560" cy="972360"/>
          </a:xfrm>
        </p:grpSpPr>
        <p:sp>
          <p:nvSpPr>
            <p:cNvPr id="473" name="TextBox 2"/>
            <p:cNvSpPr/>
            <p:nvPr/>
          </p:nvSpPr>
          <p:spPr>
            <a:xfrm>
              <a:off x="478440" y="422280"/>
              <a:ext cx="7632720" cy="6444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3300" b="1" u="none" strike="noStrike">
                  <a:solidFill>
                    <a:schemeClr val="accent1"/>
                  </a:solidFill>
                  <a:effectLst/>
                  <a:uFillTx/>
                  <a:latin typeface="Arial"/>
                  <a:ea typeface="Microsoft YaHei"/>
                </a:rPr>
                <a:t>Recording and Reusing Task Lessons</a:t>
              </a:r>
              <a:endParaRPr lang="en-US" sz="3300" b="0" u="none" strike="noStrike">
                <a:solidFill>
                  <a:srgbClr val="000000"/>
                </a:solidFill>
                <a:effectLst/>
                <a:uFillTx/>
                <a:latin typeface="Arial"/>
              </a:endParaRPr>
            </a:p>
          </p:txBody>
        </p:sp>
        <p:sp>
          <p:nvSpPr>
            <p:cNvPr id="474" name="TextBox 3"/>
            <p:cNvSpPr/>
            <p:nvPr/>
          </p:nvSpPr>
          <p:spPr>
            <a:xfrm>
              <a:off x="487080" y="1073160"/>
              <a:ext cx="9160920" cy="3214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0" u="none" strike="noStrike">
                  <a:solidFill>
                    <a:srgbClr val="66758A"/>
                  </a:solidFill>
                  <a:effectLst/>
                  <a:uFillTx/>
                  <a:latin typeface="Arial"/>
                  <a:ea typeface="Microsoft YaHei"/>
                </a:rPr>
                <a:t>At task close, update the workflow, memory, and entry points, then run regression tests for known errors.</a:t>
              </a:r>
              <a:endParaRPr lang="en-US" sz="1550" b="0" u="none" strike="noStrike">
                <a:solidFill>
                  <a:srgbClr val="000000"/>
                </a:solidFill>
                <a:effectLst/>
                <a:uFillTx/>
                <a:latin typeface="Arial"/>
              </a:endParaRPr>
            </a:p>
          </p:txBody>
        </p:sp>
      </p:grpSp>
      <p:grpSp>
        <p:nvGrpSpPr>
          <p:cNvPr id="475" name="experience-consumer-map"/>
          <p:cNvGrpSpPr/>
          <p:nvPr/>
        </p:nvGrpSpPr>
        <p:grpSpPr>
          <a:xfrm>
            <a:off x="485280" y="1806480"/>
            <a:ext cx="11260440" cy="2590200"/>
            <a:chOff x="485280" y="1806480"/>
            <a:chExt cx="11260440" cy="2590200"/>
          </a:xfrm>
        </p:grpSpPr>
        <p:sp>
          <p:nvSpPr>
            <p:cNvPr id="476" name="TextBox 5"/>
            <p:cNvSpPr/>
            <p:nvPr/>
          </p:nvSpPr>
          <p:spPr>
            <a:xfrm>
              <a:off x="487080" y="1806480"/>
              <a:ext cx="1527120" cy="3214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1" u="none" strike="noStrike">
                  <a:solidFill>
                    <a:srgbClr val="66758A"/>
                  </a:solidFill>
                  <a:effectLst/>
                  <a:uFillTx/>
                  <a:latin typeface="Arial"/>
                  <a:ea typeface="Microsoft YaHei"/>
                </a:rPr>
                <a:t>Problem record</a:t>
              </a:r>
              <a:endParaRPr lang="en-US" sz="1550" b="0" u="none" strike="noStrike">
                <a:solidFill>
                  <a:srgbClr val="000000"/>
                </a:solidFill>
                <a:effectLst/>
                <a:uFillTx/>
                <a:latin typeface="Arial"/>
              </a:endParaRPr>
            </a:p>
          </p:txBody>
        </p:sp>
        <p:sp>
          <p:nvSpPr>
            <p:cNvPr id="477" name="TextBox 6"/>
            <p:cNvSpPr/>
            <p:nvPr/>
          </p:nvSpPr>
          <p:spPr>
            <a:xfrm>
              <a:off x="4296960" y="1806480"/>
              <a:ext cx="1220400" cy="3214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1" u="none" strike="noStrike">
                  <a:solidFill>
                    <a:srgbClr val="66758A"/>
                  </a:solidFill>
                  <a:effectLst/>
                  <a:uFillTx/>
                  <a:latin typeface="Arial"/>
                  <a:ea typeface="Microsoft YaHei"/>
                </a:rPr>
                <a:t>Rule formed</a:t>
              </a:r>
              <a:endParaRPr lang="en-US" sz="1550" b="0" u="none" strike="noStrike">
                <a:solidFill>
                  <a:srgbClr val="000000"/>
                </a:solidFill>
                <a:effectLst/>
                <a:uFillTx/>
                <a:latin typeface="Arial"/>
              </a:endParaRPr>
            </a:p>
          </p:txBody>
        </p:sp>
        <p:sp>
          <p:nvSpPr>
            <p:cNvPr id="478" name="TextBox 7"/>
            <p:cNvSpPr/>
            <p:nvPr/>
          </p:nvSpPr>
          <p:spPr>
            <a:xfrm>
              <a:off x="8402040" y="1806480"/>
              <a:ext cx="2872080" cy="3214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1" u="none" strike="noStrike">
                  <a:solidFill>
                    <a:srgbClr val="66758A"/>
                  </a:solidFill>
                  <a:effectLst/>
                  <a:uFillTx/>
                  <a:latin typeface="Arial"/>
                  <a:ea typeface="Microsoft YaHei"/>
                </a:rPr>
                <a:t>Entry point that reads the rule</a:t>
              </a:r>
              <a:endParaRPr lang="en-US" sz="1550" b="0" u="none" strike="noStrike">
                <a:solidFill>
                  <a:srgbClr val="000000"/>
                </a:solidFill>
                <a:effectLst/>
                <a:uFillTx/>
                <a:latin typeface="Arial"/>
              </a:endParaRPr>
            </a:p>
          </p:txBody>
        </p:sp>
        <p:sp>
          <p:nvSpPr>
            <p:cNvPr id="479" name="Line 8"/>
            <p:cNvSpPr/>
            <p:nvPr/>
          </p:nvSpPr>
          <p:spPr>
            <a:xfrm>
              <a:off x="495360" y="2238480"/>
              <a:ext cx="11200320" cy="8280"/>
            </a:xfrm>
            <a:custGeom>
              <a:avLst/>
              <a:gdLst>
                <a:gd name="textAreaLeft" fmla="*/ 0 w 11200320"/>
                <a:gd name="textAreaRight" fmla="*/ 11201400 w 11200320"/>
                <a:gd name="textAreaTop" fmla="*/ 0 h 8280"/>
                <a:gd name="textAreaBottom" fmla="*/ 9360 h 8280"/>
              </a:gdLst>
              <a:ahLst/>
              <a:cxnLst/>
              <a:rect l="textAreaLeft" t="textAreaTop" r="textAreaRight" b="textAreaBottom"/>
              <a:pathLst>
                <a:path w="11201400" h="9525">
                  <a:moveTo>
                    <a:pt x="0" y="0"/>
                  </a:moveTo>
                  <a:lnTo>
                    <a:pt x="11201400" y="0"/>
                  </a:lnTo>
                </a:path>
              </a:pathLst>
            </a:custGeom>
            <a:noFill/>
            <a:ln w="9525">
              <a:solidFill>
                <a:srgbClr val="DCE3EF"/>
              </a:solidFill>
              <a:round/>
            </a:ln>
          </p:spPr>
          <p:style>
            <a:lnRef idx="0"/>
            <a:fillRef idx="0"/>
            <a:effectRef idx="0"/>
            <a:fontRef idx="minor"/>
          </p:style>
          <p:txBody>
            <a:bodyPr lIns="90000" tIns="-35640" rIns="90000" bIns="-35640" anchor="t">
              <a:noAutofit/>
            </a:bodyPr>
            <a:p>
              <a:pPr/>
              <a:endParaRPr lang="en-US" sz="1800" b="0" u="none" strike="noStrike">
                <a:solidFill>
                  <a:srgbClr val="000000"/>
                </a:solidFill>
                <a:effectLst/>
                <a:uFillTx/>
                <a:latin typeface="Arial"/>
              </a:endParaRPr>
            </a:p>
          </p:txBody>
        </p:sp>
        <p:sp>
          <p:nvSpPr>
            <p:cNvPr id="480" name="TextBox 9"/>
            <p:cNvSpPr/>
            <p:nvPr/>
          </p:nvSpPr>
          <p:spPr>
            <a:xfrm>
              <a:off x="485280" y="2454120"/>
              <a:ext cx="2680200" cy="3801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1" u="none" strike="noStrike">
                  <a:solidFill>
                    <a:schemeClr val="accent1"/>
                  </a:solidFill>
                  <a:effectLst/>
                  <a:uFillTx/>
                  <a:latin typeface="Arial"/>
                  <a:ea typeface="Microsoft YaHei"/>
                </a:rPr>
                <a:t>Side, views kept changing</a:t>
              </a:r>
              <a:endParaRPr lang="en-US" sz="1650" b="0" u="none" strike="noStrike">
                <a:solidFill>
                  <a:srgbClr val="000000"/>
                </a:solidFill>
                <a:effectLst/>
                <a:uFillTx/>
                <a:latin typeface="Arial"/>
              </a:endParaRPr>
            </a:p>
          </p:txBody>
        </p:sp>
        <p:sp>
          <p:nvSpPr>
            <p:cNvPr id="481" name="Line 10"/>
            <p:cNvSpPr/>
            <p:nvPr/>
          </p:nvSpPr>
          <p:spPr>
            <a:xfrm>
              <a:off x="3238200" y="2628720"/>
              <a:ext cx="819360" cy="360"/>
            </a:xfrm>
            <a:prstGeom prst="line">
              <a:avLst/>
            </a:prstGeom>
            <a:ln w="19050">
              <a:solidFill>
                <a:srgbClr val="66758A"/>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482" name="TextBox 11"/>
            <p:cNvSpPr/>
            <p:nvPr/>
          </p:nvSpPr>
          <p:spPr>
            <a:xfrm>
              <a:off x="4296960" y="2492280"/>
              <a:ext cx="2380680" cy="3214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0" u="none" strike="noStrike">
                  <a:solidFill>
                    <a:srgbClr val="3662EA"/>
                  </a:solidFill>
                  <a:effectLst/>
                  <a:uFillTx/>
                  <a:latin typeface="Arial"/>
                  <a:ea typeface="Microsoft YaHei"/>
                </a:rPr>
                <a:t>Fix side and display layout</a:t>
              </a:r>
              <a:endParaRPr lang="en-US" sz="1550" b="0" u="none" strike="noStrike">
                <a:solidFill>
                  <a:srgbClr val="000000"/>
                </a:solidFill>
                <a:effectLst/>
                <a:uFillTx/>
                <a:latin typeface="Arial"/>
              </a:endParaRPr>
            </a:p>
          </p:txBody>
        </p:sp>
        <p:sp>
          <p:nvSpPr>
            <p:cNvPr id="483" name="Line 12"/>
            <p:cNvSpPr/>
            <p:nvPr/>
          </p:nvSpPr>
          <p:spPr>
            <a:xfrm>
              <a:off x="7057800" y="2628720"/>
              <a:ext cx="1104840" cy="360"/>
            </a:xfrm>
            <a:prstGeom prst="line">
              <a:avLst/>
            </a:prstGeom>
            <a:ln w="19050">
              <a:solidFill>
                <a:srgbClr val="66758A"/>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484" name="TextBox 13"/>
            <p:cNvSpPr/>
            <p:nvPr/>
          </p:nvSpPr>
          <p:spPr>
            <a:xfrm>
              <a:off x="8402040" y="2492280"/>
              <a:ext cx="2895120" cy="3214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0" u="none" strike="noStrike">
                  <a:solidFill>
                    <a:schemeClr val="dk1"/>
                  </a:solidFill>
                  <a:effectLst/>
                  <a:uFillTx/>
                  <a:latin typeface="Arial"/>
                  <a:ea typeface="Microsoft YaHei"/>
                </a:rPr>
                <a:t>Template, prompt, identity check</a:t>
              </a:r>
              <a:endParaRPr lang="en-US" sz="1550" b="0" u="none" strike="noStrike">
                <a:solidFill>
                  <a:srgbClr val="000000"/>
                </a:solidFill>
                <a:effectLst/>
                <a:uFillTx/>
                <a:latin typeface="Arial"/>
              </a:endParaRPr>
            </a:p>
          </p:txBody>
        </p:sp>
        <p:sp>
          <p:nvSpPr>
            <p:cNvPr id="485" name="TextBox 14"/>
            <p:cNvSpPr/>
            <p:nvPr/>
          </p:nvSpPr>
          <p:spPr>
            <a:xfrm>
              <a:off x="485280" y="3235320"/>
              <a:ext cx="2381400" cy="3801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1" u="none" strike="noStrike">
                  <a:solidFill>
                    <a:schemeClr val="accent1"/>
                  </a:solidFill>
                  <a:effectLst/>
                  <a:uFillTx/>
                  <a:latin typeface="Arial"/>
                  <a:ea typeface="Microsoft YaHei"/>
                </a:rPr>
                <a:t>No objective recheck</a:t>
              </a:r>
              <a:endParaRPr lang="en-US" sz="1650" b="0" u="none" strike="noStrike">
                <a:solidFill>
                  <a:srgbClr val="000000"/>
                </a:solidFill>
                <a:effectLst/>
                <a:uFillTx/>
                <a:latin typeface="Arial"/>
              </a:endParaRPr>
            </a:p>
          </p:txBody>
        </p:sp>
        <p:sp>
          <p:nvSpPr>
            <p:cNvPr id="486" name="Line 15"/>
            <p:cNvSpPr/>
            <p:nvPr/>
          </p:nvSpPr>
          <p:spPr>
            <a:xfrm>
              <a:off x="3238200" y="3409920"/>
              <a:ext cx="819360" cy="360"/>
            </a:xfrm>
            <a:prstGeom prst="line">
              <a:avLst/>
            </a:prstGeom>
            <a:ln w="19050">
              <a:solidFill>
                <a:srgbClr val="66758A"/>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487" name="TextBox 16"/>
            <p:cNvSpPr/>
            <p:nvPr/>
          </p:nvSpPr>
          <p:spPr>
            <a:xfrm>
              <a:off x="4296960" y="3273480"/>
              <a:ext cx="2468520" cy="3214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0" u="none" strike="noStrike">
                  <a:solidFill>
                    <a:srgbClr val="3662EA"/>
                  </a:solidFill>
                  <a:effectLst/>
                  <a:uFillTx/>
                  <a:latin typeface="Arial"/>
                  <a:ea typeface="Microsoft YaHei"/>
                </a:rPr>
                <a:t>Save, reopen, matched A/B</a:t>
              </a:r>
              <a:endParaRPr lang="en-US" sz="1550" b="0" u="none" strike="noStrike">
                <a:solidFill>
                  <a:srgbClr val="000000"/>
                </a:solidFill>
                <a:effectLst/>
                <a:uFillTx/>
                <a:latin typeface="Arial"/>
              </a:endParaRPr>
            </a:p>
          </p:txBody>
        </p:sp>
        <p:sp>
          <p:nvSpPr>
            <p:cNvPr id="488" name="Line 17"/>
            <p:cNvSpPr/>
            <p:nvPr/>
          </p:nvSpPr>
          <p:spPr>
            <a:xfrm>
              <a:off x="7057800" y="3409920"/>
              <a:ext cx="1104840" cy="360"/>
            </a:xfrm>
            <a:prstGeom prst="line">
              <a:avLst/>
            </a:prstGeom>
            <a:ln w="19050">
              <a:solidFill>
                <a:srgbClr val="66758A"/>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489" name="TextBox 18"/>
            <p:cNvSpPr/>
            <p:nvPr/>
          </p:nvSpPr>
          <p:spPr>
            <a:xfrm>
              <a:off x="8402040" y="3273480"/>
              <a:ext cx="3343680" cy="3214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0" u="none" strike="noStrike">
                  <a:solidFill>
                    <a:schemeClr val="dk1"/>
                  </a:solidFill>
                  <a:effectLst/>
                  <a:uFillTx/>
                  <a:latin typeface="Arial"/>
                  <a:ea typeface="Microsoft YaHei"/>
                </a:rPr>
                <a:t>Execution spec, receipts, RAG output</a:t>
              </a:r>
              <a:endParaRPr lang="en-US" sz="1550" b="0" u="none" strike="noStrike">
                <a:solidFill>
                  <a:srgbClr val="000000"/>
                </a:solidFill>
                <a:effectLst/>
                <a:uFillTx/>
                <a:latin typeface="Arial"/>
              </a:endParaRPr>
            </a:p>
          </p:txBody>
        </p:sp>
        <p:sp>
          <p:nvSpPr>
            <p:cNvPr id="490" name="TextBox 19"/>
            <p:cNvSpPr/>
            <p:nvPr/>
          </p:nvSpPr>
          <p:spPr>
            <a:xfrm>
              <a:off x="485280" y="4016520"/>
              <a:ext cx="2643840" cy="3801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1" u="none" strike="noStrike">
                  <a:solidFill>
                    <a:schemeClr val="accent1"/>
                  </a:solidFill>
                  <a:effectLst/>
                  <a:uFillTx/>
                  <a:latin typeface="Arial"/>
                  <a:ea typeface="Microsoft YaHei"/>
                </a:rPr>
                <a:t>One-off scripts, no reuse</a:t>
              </a:r>
              <a:endParaRPr lang="en-US" sz="1650" b="0" u="none" strike="noStrike">
                <a:solidFill>
                  <a:srgbClr val="000000"/>
                </a:solidFill>
                <a:effectLst/>
                <a:uFillTx/>
                <a:latin typeface="Arial"/>
              </a:endParaRPr>
            </a:p>
          </p:txBody>
        </p:sp>
        <p:sp>
          <p:nvSpPr>
            <p:cNvPr id="491" name="Line 20"/>
            <p:cNvSpPr/>
            <p:nvPr/>
          </p:nvSpPr>
          <p:spPr>
            <a:xfrm>
              <a:off x="3238200" y="4190760"/>
              <a:ext cx="819360" cy="360"/>
            </a:xfrm>
            <a:prstGeom prst="line">
              <a:avLst/>
            </a:prstGeom>
            <a:ln w="19050">
              <a:solidFill>
                <a:srgbClr val="66758A"/>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492" name="TextBox 21"/>
            <p:cNvSpPr/>
            <p:nvPr/>
          </p:nvSpPr>
          <p:spPr>
            <a:xfrm>
              <a:off x="4296960" y="4054320"/>
              <a:ext cx="2681280" cy="3214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0" u="none" strike="noStrike">
                  <a:solidFill>
                    <a:srgbClr val="3662EA"/>
                  </a:solidFill>
                  <a:effectLst/>
                  <a:uFillTx/>
                  <a:latin typeface="Arial"/>
                  <a:ea typeface="Microsoft YaHei"/>
                </a:rPr>
                <a:t>Split sections, sources, inputs</a:t>
              </a:r>
              <a:endParaRPr lang="en-US" sz="1550" b="0" u="none" strike="noStrike">
                <a:solidFill>
                  <a:srgbClr val="000000"/>
                </a:solidFill>
                <a:effectLst/>
                <a:uFillTx/>
                <a:latin typeface="Arial"/>
              </a:endParaRPr>
            </a:p>
          </p:txBody>
        </p:sp>
        <p:sp>
          <p:nvSpPr>
            <p:cNvPr id="493" name="Line 22"/>
            <p:cNvSpPr/>
            <p:nvPr/>
          </p:nvSpPr>
          <p:spPr>
            <a:xfrm>
              <a:off x="7057800" y="4190760"/>
              <a:ext cx="1104840" cy="360"/>
            </a:xfrm>
            <a:prstGeom prst="line">
              <a:avLst/>
            </a:prstGeom>
            <a:ln w="19050">
              <a:solidFill>
                <a:srgbClr val="66758A"/>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494" name="TextBox 23"/>
            <p:cNvSpPr/>
            <p:nvPr/>
          </p:nvSpPr>
          <p:spPr>
            <a:xfrm>
              <a:off x="8402040" y="4054320"/>
              <a:ext cx="3080880" cy="3214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0" u="none" strike="noStrike">
                  <a:solidFill>
                    <a:schemeClr val="dk1"/>
                  </a:solidFill>
                  <a:effectLst/>
                  <a:uFillTx/>
                  <a:latin typeface="Arial"/>
                  <a:ea typeface="Microsoft YaHei"/>
                </a:rPr>
                <a:t>Diagnostic spec, viewer, negatives</a:t>
              </a:r>
              <a:endParaRPr lang="en-US" sz="1550" b="0" u="none" strike="noStrike">
                <a:solidFill>
                  <a:srgbClr val="000000"/>
                </a:solidFill>
                <a:effectLst/>
                <a:uFillTx/>
                <a:latin typeface="Arial"/>
              </a:endParaRPr>
            </a:p>
          </p:txBody>
        </p:sp>
      </p:grpSp>
      <p:grpSp>
        <p:nvGrpSpPr>
          <p:cNvPr id="495" name="closure-governance"/>
          <p:cNvGrpSpPr/>
          <p:nvPr/>
        </p:nvGrpSpPr>
        <p:grpSpPr>
          <a:xfrm>
            <a:off x="495360" y="4962600"/>
            <a:ext cx="11200320" cy="1189440"/>
            <a:chOff x="495360" y="4962600"/>
            <a:chExt cx="11200320" cy="1189440"/>
          </a:xfrm>
        </p:grpSpPr>
        <p:sp>
          <p:nvSpPr>
            <p:cNvPr id="496" name="Rectangle 25"/>
            <p:cNvSpPr/>
            <p:nvPr/>
          </p:nvSpPr>
          <p:spPr>
            <a:xfrm>
              <a:off x="495360" y="4962600"/>
              <a:ext cx="11200320" cy="1189440"/>
            </a:xfrm>
            <a:prstGeom prst="roundRect">
              <a:avLst>
                <a:gd name="adj" fmla="val 8000"/>
              </a:avLst>
            </a:prstGeom>
            <a:solidFill>
              <a:schemeClr val="accent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497" name="TextBox 26"/>
            <p:cNvSpPr/>
            <p:nvPr/>
          </p:nvSpPr>
          <p:spPr>
            <a:xfrm>
              <a:off x="723600" y="5073480"/>
              <a:ext cx="2118960" cy="3801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1" u="none" strike="noStrike">
                  <a:solidFill>
                    <a:srgbClr val="FFFFFF"/>
                  </a:solidFill>
                  <a:effectLst/>
                  <a:uFillTx/>
                  <a:latin typeface="Arial"/>
                  <a:ea typeface="Microsoft YaHei"/>
                </a:rPr>
                <a:t>Task write-back</a:t>
              </a:r>
              <a:endParaRPr lang="en-US" sz="1650" b="0" u="none" strike="noStrike">
                <a:solidFill>
                  <a:srgbClr val="000000"/>
                </a:solidFill>
                <a:effectLst/>
                <a:uFillTx/>
                <a:latin typeface="Arial"/>
              </a:endParaRPr>
            </a:p>
          </p:txBody>
        </p:sp>
        <p:sp>
          <p:nvSpPr>
            <p:cNvPr id="498" name="TextBox 27"/>
            <p:cNvSpPr/>
            <p:nvPr/>
          </p:nvSpPr>
          <p:spPr>
            <a:xfrm>
              <a:off x="2868120" y="5111640"/>
              <a:ext cx="7891920" cy="3214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0" u="none" strike="noStrike">
                  <a:solidFill>
                    <a:srgbClr val="FFFFFF"/>
                  </a:solidFill>
                  <a:effectLst/>
                  <a:uFillTx/>
                  <a:latin typeface="Arial"/>
                  <a:ea typeface="Microsoft YaHei"/>
                </a:rPr>
                <a:t>Update workflow, project memory, and tool entries, then check the next round reads them.</a:t>
              </a:r>
              <a:endParaRPr lang="en-US" sz="1550" b="0" u="none" strike="noStrike">
                <a:solidFill>
                  <a:srgbClr val="000000"/>
                </a:solidFill>
                <a:effectLst/>
                <a:uFillTx/>
                <a:latin typeface="Arial"/>
              </a:endParaRPr>
            </a:p>
          </p:txBody>
        </p:sp>
        <p:sp>
          <p:nvSpPr>
            <p:cNvPr id="499" name="TextBox 28"/>
            <p:cNvSpPr/>
            <p:nvPr/>
          </p:nvSpPr>
          <p:spPr>
            <a:xfrm>
              <a:off x="725040" y="5578560"/>
              <a:ext cx="8789400" cy="3214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0" u="none" strike="noStrike">
                  <a:solidFill>
                    <a:srgbClr val="BAC9DE"/>
                  </a:solidFill>
                  <a:effectLst/>
                  <a:uFillTx/>
                  <a:latin typeface="Arial"/>
                  <a:ea typeface="Microsoft YaHei"/>
                </a:rPr>
                <a:t>Audit: 28 lesson types, known entry gaps filled, tool, test, and migration progress tracked separately.</a:t>
              </a:r>
              <a:endParaRPr lang="en-US" sz="1550" b="0" u="none" strike="noStrike">
                <a:solidFill>
                  <a:srgbClr val="000000"/>
                </a:solidFill>
                <a:effectLst/>
                <a:uFillTx/>
                <a:latin typeface="Arial"/>
              </a:endParaRPr>
            </a:p>
          </p:txBody>
        </p:sp>
      </p:grpSp>
      <p:sp>
        <p:nvSpPr>
          <p:cNvPr id="500" name="footer-label"/>
          <p:cNvSpPr/>
          <p:nvPr/>
        </p:nvSpPr>
        <p:spPr>
          <a:xfrm>
            <a:off x="488520" y="6407280"/>
            <a:ext cx="8235360" cy="2628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50" b="0" u="none" strike="noStrike">
                <a:solidFill>
                  <a:srgbClr val="66758A"/>
                </a:solidFill>
                <a:effectLst/>
                <a:uFillTx/>
                <a:latin typeface="Arial"/>
                <a:ea typeface="Microsoft YaHei"/>
              </a:rPr>
              <a:t>Project memory serves later tasks. Cross-project migration and design acceptance are validated separately.</a:t>
            </a:r>
            <a:endParaRPr lang="en-US" sz="13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501" name="header"/>
          <p:cNvGrpSpPr/>
          <p:nvPr/>
        </p:nvGrpSpPr>
        <p:grpSpPr>
          <a:xfrm>
            <a:off x="478440" y="422280"/>
            <a:ext cx="11209680" cy="972720"/>
            <a:chOff x="478440" y="422280"/>
            <a:chExt cx="11209680" cy="972720"/>
          </a:xfrm>
        </p:grpSpPr>
        <p:sp>
          <p:nvSpPr>
            <p:cNvPr id="502" name="TextBox 2"/>
            <p:cNvSpPr/>
            <p:nvPr/>
          </p:nvSpPr>
          <p:spPr>
            <a:xfrm>
              <a:off x="478440" y="422280"/>
              <a:ext cx="11201040" cy="64476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3300" b="1" u="none" strike="noStrike">
                  <a:solidFill>
                    <a:srgbClr val="13243A"/>
                  </a:solidFill>
                  <a:effectLst/>
                  <a:uFillTx/>
                  <a:latin typeface="Arial"/>
                  <a:ea typeface="Microsoft YaHei"/>
                </a:rPr>
                <a:t>How Review Results Enter the Next Round</a:t>
              </a:r>
              <a:endParaRPr lang="en-US" sz="3300" b="0" u="none" strike="noStrike">
                <a:solidFill>
                  <a:srgbClr val="000000"/>
                </a:solidFill>
                <a:effectLst/>
                <a:uFillTx/>
                <a:latin typeface="Arial"/>
              </a:endParaRPr>
            </a:p>
          </p:txBody>
        </p:sp>
        <p:sp>
          <p:nvSpPr>
            <p:cNvPr id="503" name="TextBox 3"/>
            <p:cNvSpPr/>
            <p:nvPr/>
          </p:nvSpPr>
          <p:spPr>
            <a:xfrm>
              <a:off x="487080" y="1073160"/>
              <a:ext cx="11201040" cy="32184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500" b="0" u="none" strike="noStrike">
                  <a:solidFill>
                    <a:srgbClr val="66758A"/>
                  </a:solidFill>
                  <a:effectLst/>
                  <a:uFillTx/>
                  <a:latin typeface="Arial"/>
                  <a:ea typeface="Microsoft YaHei"/>
                </a:rPr>
                <a:t>Changes run after the plan is confirmed, same-version receipts support human review, and rules re-enter the workflow.</a:t>
              </a:r>
              <a:endParaRPr lang="en-US" sz="1500" b="0" u="none" strike="noStrike">
                <a:solidFill>
                  <a:srgbClr val="000000"/>
                </a:solidFill>
                <a:effectLst/>
                <a:uFillTx/>
                <a:latin typeface="Arial"/>
              </a:endParaRPr>
            </a:p>
          </p:txBody>
        </p:sp>
      </p:grpSp>
      <p:sp>
        <p:nvSpPr>
          <p:cNvPr id="504" name="footer-label"/>
          <p:cNvSpPr/>
          <p:nvPr/>
        </p:nvSpPr>
        <p:spPr>
          <a:xfrm>
            <a:off x="488520" y="6407280"/>
            <a:ext cx="10667160" cy="26316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350" b="0" u="none" strike="noStrike">
                <a:solidFill>
                  <a:srgbClr val="66758A"/>
                </a:solidFill>
                <a:effectLst/>
                <a:uFillTx/>
                <a:latin typeface="Arial"/>
                <a:ea typeface="Microsoft YaHei"/>
              </a:rPr>
              <a:t>Accepted scope and gaps are recorded separately; after write-back, check actual reads and regression.</a:t>
            </a:r>
            <a:endParaRPr lang="en-US" sz="1350" b="0" u="none" strike="noStrike">
              <a:solidFill>
                <a:srgbClr val="000000"/>
              </a:solidFill>
              <a:effectLst/>
              <a:uFillTx/>
              <a:latin typeface="Arial"/>
            </a:endParaRPr>
          </a:p>
        </p:txBody>
      </p:sp>
      <p:grpSp>
        <p:nvGrpSpPr>
          <p:cNvPr id="505" name="review-loop"/>
          <p:cNvGrpSpPr/>
          <p:nvPr/>
        </p:nvGrpSpPr>
        <p:grpSpPr>
          <a:xfrm>
            <a:off x="487080" y="1847880"/>
            <a:ext cx="7314840" cy="3071520"/>
            <a:chOff x="487080" y="1847880"/>
            <a:chExt cx="7314840" cy="3071520"/>
          </a:xfrm>
        </p:grpSpPr>
        <p:sp>
          <p:nvSpPr>
            <p:cNvPr id="506" name="Rectangle 7"/>
            <p:cNvSpPr/>
            <p:nvPr/>
          </p:nvSpPr>
          <p:spPr>
            <a:xfrm>
              <a:off x="493920" y="1847880"/>
              <a:ext cx="2194200" cy="875520"/>
            </a:xfrm>
            <a:prstGeom prst="roundRect">
              <a:avLst>
                <a:gd name="adj" fmla="val 9783"/>
              </a:avLst>
            </a:prstGeom>
            <a:solidFill>
              <a:srgbClr val="FFF2DD"/>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507" name="TextBox 8"/>
            <p:cNvSpPr/>
            <p:nvPr/>
          </p:nvSpPr>
          <p:spPr>
            <a:xfrm>
              <a:off x="676800" y="1994040"/>
              <a:ext cx="2102760" cy="3513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800" b="1" u="none" strike="noStrike">
                  <a:solidFill>
                    <a:srgbClr val="A76813"/>
                  </a:solidFill>
                  <a:effectLst/>
                  <a:uFillTx/>
                  <a:latin typeface="Arial"/>
                  <a:ea typeface="Microsoft YaHei"/>
                </a:rPr>
                <a:t>Human feedback</a:t>
              </a:r>
              <a:endParaRPr lang="en-US" sz="1800" b="0" u="none" strike="noStrike">
                <a:solidFill>
                  <a:srgbClr val="000000"/>
                </a:solidFill>
                <a:effectLst/>
                <a:uFillTx/>
                <a:latin typeface="Arial"/>
              </a:endParaRPr>
            </a:p>
          </p:txBody>
        </p:sp>
        <p:sp>
          <p:nvSpPr>
            <p:cNvPr id="508" name="TextBox 9"/>
            <p:cNvSpPr/>
            <p:nvPr/>
          </p:nvSpPr>
          <p:spPr>
            <a:xfrm>
              <a:off x="676800" y="2330280"/>
              <a:ext cx="2102760" cy="32184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00" b="0" u="none" strike="noStrike">
                  <a:solidFill>
                    <a:srgbClr val="000000"/>
                  </a:solidFill>
                  <a:effectLst/>
                  <a:uFillTx/>
                  <a:latin typeface="Arial"/>
                  <a:ea typeface="Microsoft YaHei"/>
                </a:rPr>
                <a:t>Describe, mark, goal</a:t>
              </a:r>
              <a:endParaRPr lang="en-US" sz="1500" b="0" u="none" strike="noStrike">
                <a:solidFill>
                  <a:srgbClr val="000000"/>
                </a:solidFill>
                <a:effectLst/>
                <a:uFillTx/>
                <a:latin typeface="Arial"/>
              </a:endParaRPr>
            </a:p>
          </p:txBody>
        </p:sp>
        <p:sp>
          <p:nvSpPr>
            <p:cNvPr id="509" name="Line 10"/>
            <p:cNvSpPr/>
            <p:nvPr/>
          </p:nvSpPr>
          <p:spPr>
            <a:xfrm>
              <a:off x="2715480" y="2286000"/>
              <a:ext cx="237960" cy="360"/>
            </a:xfrm>
            <a:prstGeom prst="line">
              <a:avLst/>
            </a:prstGeom>
            <a:ln w="19050">
              <a:solidFill>
                <a:srgbClr val="66758A"/>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510" name="Rectangle 11"/>
            <p:cNvSpPr/>
            <p:nvPr/>
          </p:nvSpPr>
          <p:spPr>
            <a:xfrm>
              <a:off x="2980800" y="1847880"/>
              <a:ext cx="2194200" cy="875520"/>
            </a:xfrm>
            <a:prstGeom prst="roundRect">
              <a:avLst>
                <a:gd name="adj" fmla="val 9783"/>
              </a:avLst>
            </a:prstGeom>
            <a:solidFill>
              <a:srgbClr val="EEF2FF"/>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511" name="TextBox 12"/>
            <p:cNvSpPr/>
            <p:nvPr/>
          </p:nvSpPr>
          <p:spPr>
            <a:xfrm>
              <a:off x="3163680" y="1994040"/>
              <a:ext cx="2102760" cy="3513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800" b="1" u="none" strike="noStrike">
                  <a:solidFill>
                    <a:srgbClr val="000000"/>
                  </a:solidFill>
                  <a:effectLst/>
                  <a:uFillTx/>
                  <a:latin typeface="Arial"/>
                  <a:ea typeface="Microsoft YaHei"/>
                </a:rPr>
                <a:t>AI restates plan</a:t>
              </a:r>
              <a:endParaRPr lang="en-US" sz="1800" b="0" u="none" strike="noStrike">
                <a:solidFill>
                  <a:srgbClr val="000000"/>
                </a:solidFill>
                <a:effectLst/>
                <a:uFillTx/>
                <a:latin typeface="Arial"/>
              </a:endParaRPr>
            </a:p>
          </p:txBody>
        </p:sp>
        <p:sp>
          <p:nvSpPr>
            <p:cNvPr id="512" name="TextBox 13"/>
            <p:cNvSpPr/>
            <p:nvPr/>
          </p:nvSpPr>
          <p:spPr>
            <a:xfrm>
              <a:off x="3163680" y="2330280"/>
              <a:ext cx="2102760" cy="32184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00" b="0" u="none" strike="noStrike">
                  <a:solidFill>
                    <a:srgbClr val="000000"/>
                  </a:solidFill>
                  <a:effectLst/>
                  <a:uFillTx/>
                  <a:latin typeface="Arial"/>
                  <a:ea typeface="Microsoft YaHei"/>
                </a:rPr>
                <a:t>Edits and protections</a:t>
              </a:r>
              <a:endParaRPr lang="en-US" sz="1500" b="0" u="none" strike="noStrike">
                <a:solidFill>
                  <a:srgbClr val="000000"/>
                </a:solidFill>
                <a:effectLst/>
                <a:uFillTx/>
                <a:latin typeface="Arial"/>
              </a:endParaRPr>
            </a:p>
          </p:txBody>
        </p:sp>
        <p:sp>
          <p:nvSpPr>
            <p:cNvPr id="513" name="Line 14"/>
            <p:cNvSpPr/>
            <p:nvPr/>
          </p:nvSpPr>
          <p:spPr>
            <a:xfrm>
              <a:off x="5202720" y="2286000"/>
              <a:ext cx="237960" cy="360"/>
            </a:xfrm>
            <a:prstGeom prst="line">
              <a:avLst/>
            </a:prstGeom>
            <a:ln w="19050">
              <a:solidFill>
                <a:srgbClr val="66758A"/>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514" name="Rectangle 15"/>
            <p:cNvSpPr/>
            <p:nvPr/>
          </p:nvSpPr>
          <p:spPr>
            <a:xfrm>
              <a:off x="5468040" y="1847880"/>
              <a:ext cx="2194200" cy="875520"/>
            </a:xfrm>
            <a:prstGeom prst="roundRect">
              <a:avLst>
                <a:gd name="adj" fmla="val 9783"/>
              </a:avLst>
            </a:prstGeom>
            <a:solidFill>
              <a:srgbClr val="FFF2DD"/>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515" name="TextBox 16"/>
            <p:cNvSpPr/>
            <p:nvPr/>
          </p:nvSpPr>
          <p:spPr>
            <a:xfrm>
              <a:off x="5650920" y="1994040"/>
              <a:ext cx="2102760" cy="3513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800" b="1" u="none" strike="noStrike">
                  <a:solidFill>
                    <a:srgbClr val="A76813"/>
                  </a:solidFill>
                  <a:effectLst/>
                  <a:uFillTx/>
                  <a:latin typeface="Arial"/>
                  <a:ea typeface="Microsoft YaHei"/>
                </a:rPr>
                <a:t>Human confirms</a:t>
              </a:r>
              <a:endParaRPr lang="en-US" sz="1800" b="0" u="none" strike="noStrike">
                <a:solidFill>
                  <a:srgbClr val="000000"/>
                </a:solidFill>
                <a:effectLst/>
                <a:uFillTx/>
                <a:latin typeface="Arial"/>
              </a:endParaRPr>
            </a:p>
          </p:txBody>
        </p:sp>
        <p:sp>
          <p:nvSpPr>
            <p:cNvPr id="516" name="TextBox 17"/>
            <p:cNvSpPr/>
            <p:nvPr/>
          </p:nvSpPr>
          <p:spPr>
            <a:xfrm>
              <a:off x="5650920" y="2330280"/>
              <a:ext cx="2102760" cy="32184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00" b="0" u="none" strike="noStrike">
                  <a:solidFill>
                    <a:srgbClr val="000000"/>
                  </a:solidFill>
                  <a:effectLst/>
                  <a:uFillTx/>
                  <a:latin typeface="Arial"/>
                  <a:ea typeface="Microsoft YaHei"/>
                </a:rPr>
                <a:t>Scope and trade-offs</a:t>
              </a:r>
              <a:endParaRPr lang="en-US" sz="1500" b="0" u="none" strike="noStrike">
                <a:solidFill>
                  <a:srgbClr val="000000"/>
                </a:solidFill>
                <a:effectLst/>
                <a:uFillTx/>
                <a:latin typeface="Arial"/>
              </a:endParaRPr>
            </a:p>
          </p:txBody>
        </p:sp>
        <p:sp>
          <p:nvSpPr>
            <p:cNvPr id="517" name="Line 18"/>
            <p:cNvSpPr/>
            <p:nvPr/>
          </p:nvSpPr>
          <p:spPr>
            <a:xfrm>
              <a:off x="6565320" y="2828880"/>
              <a:ext cx="360" cy="542880"/>
            </a:xfrm>
            <a:prstGeom prst="line">
              <a:avLst/>
            </a:prstGeom>
            <a:ln w="19050">
              <a:solidFill>
                <a:srgbClr val="66758A"/>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518" name="Rectangle 19"/>
            <p:cNvSpPr/>
            <p:nvPr/>
          </p:nvSpPr>
          <p:spPr>
            <a:xfrm>
              <a:off x="5468040" y="3476520"/>
              <a:ext cx="2194200" cy="875520"/>
            </a:xfrm>
            <a:prstGeom prst="roundRect">
              <a:avLst>
                <a:gd name="adj" fmla="val 9783"/>
              </a:avLst>
            </a:prstGeom>
            <a:solidFill>
              <a:srgbClr val="E8F6F2"/>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519" name="TextBox 20"/>
            <p:cNvSpPr/>
            <p:nvPr/>
          </p:nvSpPr>
          <p:spPr>
            <a:xfrm>
              <a:off x="5650920" y="3622680"/>
              <a:ext cx="2102760" cy="3513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800" b="1" u="none" strike="noStrike">
                  <a:solidFill>
                    <a:srgbClr val="069B8A"/>
                  </a:solidFill>
                  <a:effectLst/>
                  <a:uFillTx/>
                  <a:latin typeface="Arial"/>
                  <a:ea typeface="Microsoft YaHei"/>
                </a:rPr>
                <a:t>AI applies edit</a:t>
              </a:r>
              <a:endParaRPr lang="en-US" sz="1800" b="0" u="none" strike="noStrike">
                <a:solidFill>
                  <a:srgbClr val="000000"/>
                </a:solidFill>
                <a:effectLst/>
                <a:uFillTx/>
                <a:latin typeface="Arial"/>
              </a:endParaRPr>
            </a:p>
          </p:txBody>
        </p:sp>
        <p:sp>
          <p:nvSpPr>
            <p:cNvPr id="520" name="TextBox 21"/>
            <p:cNvSpPr/>
            <p:nvPr/>
          </p:nvSpPr>
          <p:spPr>
            <a:xfrm>
              <a:off x="5650920" y="3959280"/>
              <a:ext cx="2102760" cy="32184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00" b="0" u="none" strike="noStrike">
                  <a:solidFill>
                    <a:srgbClr val="000000"/>
                  </a:solidFill>
                  <a:effectLst/>
                  <a:uFillTx/>
                  <a:latin typeface="Arial"/>
                  <a:ea typeface="Microsoft YaHei"/>
                </a:rPr>
                <a:t>Save and fresh reopen</a:t>
              </a:r>
              <a:endParaRPr lang="en-US" sz="1500" b="0" u="none" strike="noStrike">
                <a:solidFill>
                  <a:srgbClr val="000000"/>
                </a:solidFill>
                <a:effectLst/>
                <a:uFillTx/>
                <a:latin typeface="Arial"/>
              </a:endParaRPr>
            </a:p>
          </p:txBody>
        </p:sp>
        <p:sp>
          <p:nvSpPr>
            <p:cNvPr id="521" name="Line 22"/>
            <p:cNvSpPr/>
            <p:nvPr/>
          </p:nvSpPr>
          <p:spPr>
            <a:xfrm flipH="1">
              <a:off x="5202720" y="3914640"/>
              <a:ext cx="237960" cy="360"/>
            </a:xfrm>
            <a:prstGeom prst="line">
              <a:avLst/>
            </a:prstGeom>
            <a:ln w="19050">
              <a:solidFill>
                <a:srgbClr val="66758A"/>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522" name="Rectangle 23"/>
            <p:cNvSpPr/>
            <p:nvPr/>
          </p:nvSpPr>
          <p:spPr>
            <a:xfrm>
              <a:off x="2980800" y="3476520"/>
              <a:ext cx="2194200" cy="875520"/>
            </a:xfrm>
            <a:prstGeom prst="roundRect">
              <a:avLst>
                <a:gd name="adj" fmla="val 9783"/>
              </a:avLst>
            </a:prstGeom>
            <a:solidFill>
              <a:srgbClr val="E8F6F2"/>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523" name="TextBox 24"/>
            <p:cNvSpPr/>
            <p:nvPr/>
          </p:nvSpPr>
          <p:spPr>
            <a:xfrm>
              <a:off x="3163680" y="3622680"/>
              <a:ext cx="2102760" cy="3513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800" b="1" u="none" strike="noStrike">
                  <a:solidFill>
                    <a:srgbClr val="069B8A"/>
                  </a:solidFill>
                  <a:effectLst/>
                  <a:uFillTx/>
                  <a:latin typeface="Arial"/>
                  <a:ea typeface="Microsoft YaHei"/>
                </a:rPr>
                <a:t>Make A/B receipt</a:t>
              </a:r>
              <a:endParaRPr lang="en-US" sz="1800" b="0" u="none" strike="noStrike">
                <a:solidFill>
                  <a:srgbClr val="000000"/>
                </a:solidFill>
                <a:effectLst/>
                <a:uFillTx/>
                <a:latin typeface="Arial"/>
              </a:endParaRPr>
            </a:p>
          </p:txBody>
        </p:sp>
        <p:sp>
          <p:nvSpPr>
            <p:cNvPr id="524" name="TextBox 25"/>
            <p:cNvSpPr/>
            <p:nvPr/>
          </p:nvSpPr>
          <p:spPr>
            <a:xfrm>
              <a:off x="3163680" y="3959280"/>
              <a:ext cx="2102760" cy="32184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00" b="0" u="none" strike="noStrike">
                  <a:solidFill>
                    <a:srgbClr val="000000"/>
                  </a:solidFill>
                  <a:effectLst/>
                  <a:uFillTx/>
                  <a:latin typeface="Arial"/>
                  <a:ea typeface="Microsoft YaHei"/>
                </a:rPr>
                <a:t>Same-setting A/B PDF</a:t>
              </a:r>
              <a:endParaRPr lang="en-US" sz="1500" b="0" u="none" strike="noStrike">
                <a:solidFill>
                  <a:srgbClr val="000000"/>
                </a:solidFill>
                <a:effectLst/>
                <a:uFillTx/>
                <a:latin typeface="Arial"/>
              </a:endParaRPr>
            </a:p>
          </p:txBody>
        </p:sp>
        <p:sp>
          <p:nvSpPr>
            <p:cNvPr id="525" name="Line 26"/>
            <p:cNvSpPr/>
            <p:nvPr/>
          </p:nvSpPr>
          <p:spPr>
            <a:xfrm flipH="1">
              <a:off x="2715480" y="3914640"/>
              <a:ext cx="237960" cy="360"/>
            </a:xfrm>
            <a:prstGeom prst="line">
              <a:avLst/>
            </a:prstGeom>
            <a:ln w="19050">
              <a:solidFill>
                <a:srgbClr val="66758A"/>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526" name="Rectangle 27"/>
            <p:cNvSpPr/>
            <p:nvPr/>
          </p:nvSpPr>
          <p:spPr>
            <a:xfrm>
              <a:off x="493920" y="3476520"/>
              <a:ext cx="2194200" cy="875520"/>
            </a:xfrm>
            <a:prstGeom prst="roundRect">
              <a:avLst>
                <a:gd name="adj" fmla="val 9783"/>
              </a:avLst>
            </a:prstGeom>
            <a:solidFill>
              <a:srgbClr val="FFF2DD"/>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527" name="TextBox 28"/>
            <p:cNvSpPr/>
            <p:nvPr/>
          </p:nvSpPr>
          <p:spPr>
            <a:xfrm>
              <a:off x="676800" y="3622680"/>
              <a:ext cx="2102760" cy="3513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800" b="1" u="none" strike="noStrike">
                  <a:solidFill>
                    <a:srgbClr val="A76813"/>
                  </a:solidFill>
                  <a:effectLst/>
                  <a:uFillTx/>
                  <a:latin typeface="Arial"/>
                  <a:ea typeface="Microsoft YaHei"/>
                </a:rPr>
                <a:t>Human reviews</a:t>
              </a:r>
              <a:endParaRPr lang="en-US" sz="1800" b="0" u="none" strike="noStrike">
                <a:solidFill>
                  <a:srgbClr val="000000"/>
                </a:solidFill>
                <a:effectLst/>
                <a:uFillTx/>
                <a:latin typeface="Arial"/>
              </a:endParaRPr>
            </a:p>
          </p:txBody>
        </p:sp>
        <p:sp>
          <p:nvSpPr>
            <p:cNvPr id="528" name="TextBox 29"/>
            <p:cNvSpPr/>
            <p:nvPr/>
          </p:nvSpPr>
          <p:spPr>
            <a:xfrm>
              <a:off x="676800" y="3959280"/>
              <a:ext cx="2102760" cy="32184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00" b="0" u="none" strike="noStrike">
                  <a:solidFill>
                    <a:srgbClr val="000000"/>
                  </a:solidFill>
                  <a:effectLst/>
                  <a:uFillTx/>
                  <a:latin typeface="Arial"/>
                  <a:ea typeface="Microsoft YaHei"/>
                </a:rPr>
                <a:t>Accepted scope, gaps</a:t>
              </a:r>
              <a:endParaRPr lang="en-US" sz="1500" b="0" u="none" strike="noStrike">
                <a:solidFill>
                  <a:srgbClr val="000000"/>
                </a:solidFill>
                <a:effectLst/>
                <a:uFillTx/>
                <a:latin typeface="Arial"/>
              </a:endParaRPr>
            </a:p>
          </p:txBody>
        </p:sp>
        <p:sp>
          <p:nvSpPr>
            <p:cNvPr id="529" name="Line 32"/>
            <p:cNvSpPr/>
            <p:nvPr/>
          </p:nvSpPr>
          <p:spPr>
            <a:xfrm flipV="1">
              <a:off x="1590840" y="2828880"/>
              <a:ext cx="360" cy="542880"/>
            </a:xfrm>
            <a:prstGeom prst="line">
              <a:avLst/>
            </a:prstGeom>
            <a:ln w="19050">
              <a:solidFill>
                <a:srgbClr val="D98D2B"/>
              </a:solidFill>
              <a:custDash>
                <a:ds d="250000" sp="150000"/>
              </a:custDash>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530" name="TextBox 33"/>
            <p:cNvSpPr/>
            <p:nvPr/>
          </p:nvSpPr>
          <p:spPr>
            <a:xfrm>
              <a:off x="487080" y="4597560"/>
              <a:ext cx="7314840" cy="32184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00" b="0" u="none" strike="noStrike">
                  <a:solidFill>
                    <a:srgbClr val="A76813"/>
                  </a:solidFill>
                  <a:effectLst/>
                  <a:uFillTx/>
                  <a:latin typeface="Arial"/>
                  <a:ea typeface="Microsoft YaHei"/>
                </a:rPr>
                <a:t>Accepted scope and open items are logged separately; failed items are reworked.</a:t>
              </a:r>
              <a:endParaRPr lang="en-US" sz="1500" b="0" u="none" strike="noStrike">
                <a:solidFill>
                  <a:srgbClr val="000000"/>
                </a:solidFill>
                <a:effectLst/>
                <a:uFillTx/>
                <a:latin typeface="Arial"/>
              </a:endParaRPr>
            </a:p>
          </p:txBody>
        </p:sp>
      </p:grpSp>
      <p:grpSp>
        <p:nvGrpSpPr>
          <p:cNvPr id="531" name="receipt-evidence"/>
          <p:cNvGrpSpPr/>
          <p:nvPr/>
        </p:nvGrpSpPr>
        <p:grpSpPr>
          <a:xfrm>
            <a:off x="7863840" y="1797120"/>
            <a:ext cx="3593160" cy="2925720"/>
            <a:chOff x="7863840" y="1797120"/>
            <a:chExt cx="3593160" cy="2925720"/>
          </a:xfrm>
        </p:grpSpPr>
        <p:sp>
          <p:nvSpPr>
            <p:cNvPr id="532" name="TextBox 35"/>
            <p:cNvSpPr/>
            <p:nvPr/>
          </p:nvSpPr>
          <p:spPr>
            <a:xfrm>
              <a:off x="7863840" y="1797120"/>
              <a:ext cx="3593160" cy="380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1" u="none" strike="noStrike">
                  <a:solidFill>
                    <a:srgbClr val="13243A"/>
                  </a:solidFill>
                  <a:effectLst/>
                  <a:uFillTx/>
                  <a:latin typeface="Arial"/>
                  <a:ea typeface="Microsoft YaHei"/>
                </a:rPr>
                <a:t>Receipt of a soft-leaf nudge</a:t>
              </a:r>
              <a:endParaRPr lang="en-US" sz="1950" b="0" u="none" strike="noStrike">
                <a:solidFill>
                  <a:srgbClr val="000000"/>
                </a:solidFill>
                <a:effectLst/>
                <a:uFillTx/>
                <a:latin typeface="Arial"/>
              </a:endParaRPr>
            </a:p>
          </p:txBody>
        </p:sp>
        <p:pic>
          <p:nvPicPr>
            <p:cNvPr id="533" name="Image 36"/>
            <p:cNvPicPr/>
            <p:nvPr/>
          </p:nvPicPr>
          <p:blipFill>
            <a:blip r:embed="rId1"/>
            <a:stretch/>
          </p:blipFill>
          <p:spPr>
            <a:xfrm>
              <a:off x="7863840" y="2181240"/>
              <a:ext cx="3593160" cy="2541600"/>
            </a:xfrm>
            <a:prstGeom prst="rect">
              <a:avLst/>
            </a:prstGeom>
            <a:noFill/>
            <a:ln w="0">
              <a:noFill/>
            </a:ln>
          </p:spPr>
        </p:pic>
      </p:grpSp>
      <p:grpSp>
        <p:nvGrpSpPr>
          <p:cNvPr id="534" name="consumer-handoff"/>
          <p:cNvGrpSpPr/>
          <p:nvPr/>
        </p:nvGrpSpPr>
        <p:grpSpPr>
          <a:xfrm>
            <a:off x="495360" y="5143680"/>
            <a:ext cx="11200680" cy="1009080"/>
            <a:chOff x="495360" y="5143680"/>
            <a:chExt cx="11200680" cy="1009080"/>
          </a:xfrm>
        </p:grpSpPr>
        <p:sp>
          <p:nvSpPr>
            <p:cNvPr id="535" name="Rectangle 38"/>
            <p:cNvSpPr/>
            <p:nvPr/>
          </p:nvSpPr>
          <p:spPr>
            <a:xfrm>
              <a:off x="495360" y="5143680"/>
              <a:ext cx="11200680" cy="1009080"/>
            </a:xfrm>
            <a:prstGeom prst="roundRect">
              <a:avLst>
                <a:gd name="adj" fmla="val 8491"/>
              </a:avLst>
            </a:prstGeom>
            <a:solidFill>
              <a:srgbClr val="13243A"/>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536" name="TextBox 39"/>
            <p:cNvSpPr/>
            <p:nvPr/>
          </p:nvSpPr>
          <p:spPr>
            <a:xfrm>
              <a:off x="724320" y="5261040"/>
              <a:ext cx="5486040" cy="3513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800" b="1" u="none" strike="noStrike">
                  <a:solidFill>
                    <a:srgbClr val="FFFFFF"/>
                  </a:solidFill>
                  <a:effectLst/>
                  <a:uFillTx/>
                  <a:latin typeface="Arial"/>
                  <a:ea typeface="Microsoft YaHei"/>
                </a:rPr>
                <a:t>After write-back, check the actual reads</a:t>
              </a:r>
              <a:endParaRPr lang="en-US" sz="1800" b="0" u="none" strike="noStrike">
                <a:solidFill>
                  <a:srgbClr val="000000"/>
                </a:solidFill>
                <a:effectLst/>
                <a:uFillTx/>
                <a:latin typeface="Arial"/>
              </a:endParaRPr>
            </a:p>
          </p:txBody>
        </p:sp>
        <p:sp>
          <p:nvSpPr>
            <p:cNvPr id="537" name="TextBox 40"/>
            <p:cNvSpPr/>
            <p:nvPr/>
          </p:nvSpPr>
          <p:spPr>
            <a:xfrm>
              <a:off x="722520" y="5645160"/>
              <a:ext cx="2742840" cy="32184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00" b="0" u="none" strike="noStrike">
                  <a:solidFill>
                    <a:srgbClr val="FFFFFF"/>
                  </a:solidFill>
                  <a:effectLst/>
                  <a:uFillTx/>
                  <a:latin typeface="Arial"/>
                  <a:ea typeface="Microsoft YaHei"/>
                </a:rPr>
                <a:t>Workflow and project memory</a:t>
              </a:r>
              <a:endParaRPr lang="en-US" sz="1500" b="0" u="none" strike="noStrike">
                <a:solidFill>
                  <a:srgbClr val="000000"/>
                </a:solidFill>
                <a:effectLst/>
                <a:uFillTx/>
                <a:latin typeface="Arial"/>
              </a:endParaRPr>
            </a:p>
          </p:txBody>
        </p:sp>
        <p:sp>
          <p:nvSpPr>
            <p:cNvPr id="538" name="TextBox 41"/>
            <p:cNvSpPr/>
            <p:nvPr/>
          </p:nvSpPr>
          <p:spPr>
            <a:xfrm>
              <a:off x="3840480" y="5645160"/>
              <a:ext cx="3017160" cy="32184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00" b="0" u="none" strike="noStrike">
                  <a:solidFill>
                    <a:srgbClr val="FFFFFF"/>
                  </a:solidFill>
                  <a:effectLst/>
                  <a:uFillTx/>
                  <a:latin typeface="Arial"/>
                  <a:ea typeface="Microsoft YaHei"/>
                </a:rPr>
                <a:t>Prompts, templates, tool entries</a:t>
              </a:r>
              <a:endParaRPr lang="en-US" sz="1500" b="0" u="none" strike="noStrike">
                <a:solidFill>
                  <a:srgbClr val="000000"/>
                </a:solidFill>
                <a:effectLst/>
                <a:uFillTx/>
                <a:latin typeface="Arial"/>
              </a:endParaRPr>
            </a:p>
          </p:txBody>
        </p:sp>
        <p:sp>
          <p:nvSpPr>
            <p:cNvPr id="539" name="TextBox 42"/>
            <p:cNvSpPr/>
            <p:nvPr/>
          </p:nvSpPr>
          <p:spPr>
            <a:xfrm>
              <a:off x="7223760" y="5645160"/>
              <a:ext cx="3474360" cy="32184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00" b="0" u="none" strike="noStrike">
                  <a:solidFill>
                    <a:srgbClr val="FFFFFF"/>
                  </a:solidFill>
                  <a:effectLst/>
                  <a:uFillTx/>
                  <a:latin typeface="Arial"/>
                  <a:ea typeface="Microsoft YaHei"/>
                </a:rPr>
                <a:t>Known pass/fail cases and next task</a:t>
              </a:r>
              <a:endParaRPr lang="en-US" sz="1500" b="0" u="none" strike="noStrike">
                <a:solidFill>
                  <a:srgbClr val="000000"/>
                </a:solidFill>
                <a:effectLst/>
                <a:uFillTx/>
                <a:latin typeface="Arial"/>
              </a:endParaRPr>
            </a:p>
          </p:txBody>
        </p:sp>
        <p:sp>
          <p:nvSpPr>
            <p:cNvPr id="540" name="Line 43"/>
            <p:cNvSpPr/>
            <p:nvPr/>
          </p:nvSpPr>
          <p:spPr>
            <a:xfrm>
              <a:off x="3291840" y="5781600"/>
              <a:ext cx="411480" cy="360"/>
            </a:xfrm>
            <a:prstGeom prst="line">
              <a:avLst/>
            </a:prstGeom>
            <a:ln w="28575">
              <a:solidFill>
                <a:srgbClr val="069B8A"/>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541" name="Line 44"/>
            <p:cNvSpPr/>
            <p:nvPr/>
          </p:nvSpPr>
          <p:spPr>
            <a:xfrm>
              <a:off x="6675120" y="5781600"/>
              <a:ext cx="411480" cy="360"/>
            </a:xfrm>
            <a:prstGeom prst="line">
              <a:avLst/>
            </a:prstGeom>
            <a:ln w="28575">
              <a:solidFill>
                <a:srgbClr val="069B8A"/>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gr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pSp>
        <p:nvGrpSpPr>
          <p:cNvPr id="542" name="header"/>
          <p:cNvGrpSpPr/>
          <p:nvPr/>
        </p:nvGrpSpPr>
        <p:grpSpPr>
          <a:xfrm>
            <a:off x="478440" y="422280"/>
            <a:ext cx="10051200" cy="972360"/>
            <a:chOff x="478440" y="422280"/>
            <a:chExt cx="10051200" cy="972360"/>
          </a:xfrm>
        </p:grpSpPr>
        <p:sp>
          <p:nvSpPr>
            <p:cNvPr id="543" name="TextBox 2"/>
            <p:cNvSpPr/>
            <p:nvPr/>
          </p:nvSpPr>
          <p:spPr>
            <a:xfrm>
              <a:off x="478440" y="422280"/>
              <a:ext cx="5871240" cy="6444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3300" b="1" u="none" strike="noStrike">
                  <a:solidFill>
                    <a:srgbClr val="13243A"/>
                  </a:solidFill>
                  <a:effectLst/>
                  <a:uFillTx/>
                  <a:latin typeface="Arial"/>
                  <a:ea typeface="Microsoft YaHei"/>
                </a:rPr>
                <a:t>Progress and Next Validation</a:t>
              </a:r>
              <a:endParaRPr lang="en-US" sz="3300" b="0" u="none" strike="noStrike">
                <a:solidFill>
                  <a:srgbClr val="000000"/>
                </a:solidFill>
                <a:effectLst/>
                <a:uFillTx/>
                <a:latin typeface="Arial"/>
              </a:endParaRPr>
            </a:p>
          </p:txBody>
        </p:sp>
        <p:sp>
          <p:nvSpPr>
            <p:cNvPr id="544" name="TextBox 3"/>
            <p:cNvSpPr/>
            <p:nvPr/>
          </p:nvSpPr>
          <p:spPr>
            <a:xfrm>
              <a:off x="487080" y="1073160"/>
              <a:ext cx="10042560" cy="3214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0" u="none" strike="noStrike">
                  <a:solidFill>
                    <a:srgbClr val="66758A"/>
                  </a:solidFill>
                  <a:effectLst/>
                  <a:uFillTx/>
                  <a:latin typeface="Arial"/>
                  <a:ea typeface="Microsoft YaHei"/>
                </a:rPr>
                <a:t>Process evidence supports method checks. Cross-task reuse and product performance still need validation.</a:t>
              </a:r>
              <a:endParaRPr lang="en-US" sz="1650" b="0" u="none" strike="noStrike">
                <a:solidFill>
                  <a:srgbClr val="000000"/>
                </a:solidFill>
                <a:effectLst/>
                <a:uFillTx/>
                <a:latin typeface="Arial"/>
              </a:endParaRPr>
            </a:p>
          </p:txBody>
        </p:sp>
      </p:grpSp>
      <p:grpSp>
        <p:nvGrpSpPr>
          <p:cNvPr id="545" name="status-layers"/>
          <p:cNvGrpSpPr/>
          <p:nvPr/>
        </p:nvGrpSpPr>
        <p:grpSpPr>
          <a:xfrm>
            <a:off x="495360" y="1743120"/>
            <a:ext cx="11200320" cy="1951560"/>
            <a:chOff x="495360" y="1743120"/>
            <a:chExt cx="11200320" cy="1951560"/>
          </a:xfrm>
        </p:grpSpPr>
        <p:sp>
          <p:nvSpPr>
            <p:cNvPr id="546" name="Rectangle 5"/>
            <p:cNvSpPr/>
            <p:nvPr/>
          </p:nvSpPr>
          <p:spPr>
            <a:xfrm>
              <a:off x="495360" y="1743120"/>
              <a:ext cx="3427920" cy="1951560"/>
            </a:xfrm>
            <a:prstGeom prst="roundRect">
              <a:avLst>
                <a:gd name="adj" fmla="val 4878"/>
              </a:avLst>
            </a:prstGeom>
            <a:solidFill>
              <a:srgbClr val="F1F4FA"/>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547" name="TextBox 6"/>
            <p:cNvSpPr/>
            <p:nvPr/>
          </p:nvSpPr>
          <p:spPr>
            <a:xfrm>
              <a:off x="713880" y="1863720"/>
              <a:ext cx="2948040" cy="3801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1" u="none" strike="noStrike">
                  <a:solidFill>
                    <a:srgbClr val="069B8A"/>
                  </a:solidFill>
                  <a:effectLst/>
                  <a:uFillTx/>
                  <a:latin typeface="Arial"/>
                  <a:ea typeface="Microsoft YaHei"/>
                </a:rPr>
                <a:t>Used in the main project</a:t>
              </a:r>
              <a:endParaRPr lang="en-US" sz="1950" b="0" u="none" strike="noStrike">
                <a:solidFill>
                  <a:srgbClr val="000000"/>
                </a:solidFill>
                <a:effectLst/>
                <a:uFillTx/>
                <a:latin typeface="Arial"/>
              </a:endParaRPr>
            </a:p>
          </p:txBody>
        </p:sp>
        <p:sp>
          <p:nvSpPr>
            <p:cNvPr id="548" name="TextBox 7"/>
            <p:cNvSpPr/>
            <p:nvPr/>
          </p:nvSpPr>
          <p:spPr>
            <a:xfrm>
              <a:off x="715680" y="2368440"/>
              <a:ext cx="3068280" cy="3214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0" u="none" strike="noStrike">
                  <a:solidFill>
                    <a:srgbClr val="13243A"/>
                  </a:solidFill>
                  <a:effectLst/>
                  <a:uFillTx/>
                  <a:latin typeface="Arial"/>
                  <a:ea typeface="Microsoft YaHei"/>
                </a:rPr>
                <a:t>RAG, concept-first, tool runs</a:t>
              </a:r>
              <a:endParaRPr lang="en-US" sz="1650" b="0" u="none" strike="noStrike">
                <a:solidFill>
                  <a:srgbClr val="000000"/>
                </a:solidFill>
                <a:effectLst/>
                <a:uFillTx/>
                <a:latin typeface="Arial"/>
              </a:endParaRPr>
            </a:p>
          </p:txBody>
        </p:sp>
        <p:sp>
          <p:nvSpPr>
            <p:cNvPr id="549" name="TextBox 8"/>
            <p:cNvSpPr/>
            <p:nvPr/>
          </p:nvSpPr>
          <p:spPr>
            <a:xfrm>
              <a:off x="715680" y="2730600"/>
              <a:ext cx="3125520" cy="3214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0" u="none" strike="noStrike">
                  <a:solidFill>
                    <a:srgbClr val="13243A"/>
                  </a:solidFill>
                  <a:effectLst/>
                  <a:uFillTx/>
                  <a:latin typeface="Arial"/>
                  <a:ea typeface="Microsoft YaHei"/>
                </a:rPr>
                <a:t>Reopen, receipts, write-back</a:t>
              </a:r>
              <a:endParaRPr lang="en-US" sz="1650" b="0" u="none" strike="noStrike">
                <a:solidFill>
                  <a:srgbClr val="000000"/>
                </a:solidFill>
                <a:effectLst/>
                <a:uFillTx/>
                <a:latin typeface="Arial"/>
              </a:endParaRPr>
            </a:p>
          </p:txBody>
        </p:sp>
        <p:sp>
          <p:nvSpPr>
            <p:cNvPr id="550" name="TextBox 9"/>
            <p:cNvSpPr/>
            <p:nvPr/>
          </p:nvSpPr>
          <p:spPr>
            <a:xfrm>
              <a:off x="717120" y="3244680"/>
              <a:ext cx="2855160" cy="2628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50" b="0" u="none" strike="noStrike">
                  <a:solidFill>
                    <a:srgbClr val="66758A"/>
                  </a:solidFill>
                  <a:effectLst/>
                  <a:uFillTx/>
                  <a:latin typeface="Arial"/>
                  <a:ea typeface="Microsoft YaHei"/>
                </a:rPr>
                <a:t>Records checkable, product pending</a:t>
              </a:r>
              <a:endParaRPr lang="en-US" sz="1350" b="0" u="none" strike="noStrike">
                <a:solidFill>
                  <a:srgbClr val="000000"/>
                </a:solidFill>
                <a:effectLst/>
                <a:uFillTx/>
                <a:latin typeface="Arial"/>
              </a:endParaRPr>
            </a:p>
          </p:txBody>
        </p:sp>
        <p:sp>
          <p:nvSpPr>
            <p:cNvPr id="551" name="Rectangle 10"/>
            <p:cNvSpPr/>
            <p:nvPr/>
          </p:nvSpPr>
          <p:spPr>
            <a:xfrm>
              <a:off x="4381560" y="1743120"/>
              <a:ext cx="3427920" cy="1951560"/>
            </a:xfrm>
            <a:prstGeom prst="roundRect">
              <a:avLst>
                <a:gd name="adj" fmla="val 4878"/>
              </a:avLst>
            </a:prstGeom>
            <a:solidFill>
              <a:srgbClr val="F1F4FA"/>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552" name="TextBox 11"/>
            <p:cNvSpPr/>
            <p:nvPr/>
          </p:nvSpPr>
          <p:spPr>
            <a:xfrm>
              <a:off x="4600080" y="1863720"/>
              <a:ext cx="2948040" cy="3801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1" u="none" strike="noStrike">
                  <a:solidFill>
                    <a:srgbClr val="3662EA"/>
                  </a:solidFill>
                  <a:effectLst/>
                  <a:uFillTx/>
                  <a:latin typeface="Arial"/>
                  <a:ea typeface="Microsoft YaHei"/>
                </a:rPr>
                <a:t>Independent trial results</a:t>
              </a:r>
              <a:endParaRPr lang="en-US" sz="1950" b="0" u="none" strike="noStrike">
                <a:solidFill>
                  <a:srgbClr val="000000"/>
                </a:solidFill>
                <a:effectLst/>
                <a:uFillTx/>
                <a:latin typeface="Arial"/>
              </a:endParaRPr>
            </a:p>
          </p:txBody>
        </p:sp>
        <p:sp>
          <p:nvSpPr>
            <p:cNvPr id="553" name="TextBox 12"/>
            <p:cNvSpPr/>
            <p:nvPr/>
          </p:nvSpPr>
          <p:spPr>
            <a:xfrm>
              <a:off x="4601880" y="2368440"/>
              <a:ext cx="3025440" cy="3214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0" u="none" strike="noStrike">
                  <a:solidFill>
                    <a:srgbClr val="13243A"/>
                  </a:solidFill>
                  <a:effectLst/>
                  <a:uFillTx/>
                  <a:latin typeface="Arial"/>
                  <a:ea typeface="Microsoft YaHei"/>
                </a:rPr>
                <a:t>Form/scene split, coverage pick</a:t>
              </a:r>
              <a:endParaRPr lang="en-US" sz="1650" b="0" u="none" strike="noStrike">
                <a:solidFill>
                  <a:srgbClr val="000000"/>
                </a:solidFill>
                <a:effectLst/>
                <a:uFillTx/>
                <a:latin typeface="Arial"/>
              </a:endParaRPr>
            </a:p>
          </p:txBody>
        </p:sp>
        <p:sp>
          <p:nvSpPr>
            <p:cNvPr id="554" name="TextBox 13"/>
            <p:cNvSpPr/>
            <p:nvPr/>
          </p:nvSpPr>
          <p:spPr>
            <a:xfrm>
              <a:off x="4601880" y="2730600"/>
              <a:ext cx="2937600" cy="3214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0" u="none" strike="noStrike">
                  <a:solidFill>
                    <a:srgbClr val="13243A"/>
                  </a:solidFill>
                  <a:effectLst/>
                  <a:uFillTx/>
                  <a:latin typeface="Arial"/>
                  <a:ea typeface="Microsoft YaHei"/>
                </a:rPr>
                <a:t>Image purpose, size attribution</a:t>
              </a:r>
              <a:endParaRPr lang="en-US" sz="1650" b="0" u="none" strike="noStrike">
                <a:solidFill>
                  <a:srgbClr val="000000"/>
                </a:solidFill>
                <a:effectLst/>
                <a:uFillTx/>
                <a:latin typeface="Arial"/>
              </a:endParaRPr>
            </a:p>
          </p:txBody>
        </p:sp>
        <p:sp>
          <p:nvSpPr>
            <p:cNvPr id="555" name="TextBox 14"/>
            <p:cNvSpPr/>
            <p:nvPr/>
          </p:nvSpPr>
          <p:spPr>
            <a:xfrm>
              <a:off x="4603320" y="3244680"/>
              <a:ext cx="3026160" cy="2628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50" b="0" u="none" strike="noStrike">
                  <a:solidFill>
                    <a:srgbClr val="66758A"/>
                  </a:solidFill>
                  <a:effectLst/>
                  <a:uFillTx/>
                  <a:latin typeface="Arial"/>
                  <a:ea typeface="Microsoft YaHei"/>
                </a:rPr>
                <a:t>Not yet fully in the main automatic path</a:t>
              </a:r>
              <a:endParaRPr lang="en-US" sz="1350" b="0" u="none" strike="noStrike">
                <a:solidFill>
                  <a:srgbClr val="000000"/>
                </a:solidFill>
                <a:effectLst/>
                <a:uFillTx/>
                <a:latin typeface="Arial"/>
              </a:endParaRPr>
            </a:p>
          </p:txBody>
        </p:sp>
        <p:sp>
          <p:nvSpPr>
            <p:cNvPr id="556" name="Rectangle 15"/>
            <p:cNvSpPr/>
            <p:nvPr/>
          </p:nvSpPr>
          <p:spPr>
            <a:xfrm>
              <a:off x="8267760" y="1743120"/>
              <a:ext cx="3427920" cy="1951560"/>
            </a:xfrm>
            <a:prstGeom prst="roundRect">
              <a:avLst>
                <a:gd name="adj" fmla="val 4878"/>
              </a:avLst>
            </a:prstGeom>
            <a:solidFill>
              <a:srgbClr val="F1F4FA"/>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557" name="TextBox 16"/>
            <p:cNvSpPr/>
            <p:nvPr/>
          </p:nvSpPr>
          <p:spPr>
            <a:xfrm>
              <a:off x="8486280" y="1863720"/>
              <a:ext cx="1943280" cy="3801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1" u="none" strike="noStrike">
                  <a:solidFill>
                    <a:srgbClr val="D98D2B"/>
                  </a:solidFill>
                  <a:effectLst/>
                  <a:uFillTx/>
                  <a:latin typeface="Arial"/>
                  <a:ea typeface="Microsoft YaHei"/>
                </a:rPr>
                <a:t>Open questions</a:t>
              </a:r>
              <a:endParaRPr lang="en-US" sz="1950" b="0" u="none" strike="noStrike">
                <a:solidFill>
                  <a:srgbClr val="000000"/>
                </a:solidFill>
                <a:effectLst/>
                <a:uFillTx/>
                <a:latin typeface="Arial"/>
              </a:endParaRPr>
            </a:p>
          </p:txBody>
        </p:sp>
        <p:sp>
          <p:nvSpPr>
            <p:cNvPr id="558" name="TextBox 17"/>
            <p:cNvSpPr/>
            <p:nvPr/>
          </p:nvSpPr>
          <p:spPr>
            <a:xfrm>
              <a:off x="8488080" y="2368440"/>
              <a:ext cx="2595960" cy="3214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0" u="none" strike="noStrike">
                  <a:solidFill>
                    <a:srgbClr val="13243A"/>
                  </a:solidFill>
                  <a:effectLst/>
                  <a:uFillTx/>
                  <a:latin typeface="Arial"/>
                  <a:ea typeface="Microsoft YaHei"/>
                </a:rPr>
                <a:t>Efficiency and quality gains</a:t>
              </a:r>
              <a:endParaRPr lang="en-US" sz="1650" b="0" u="none" strike="noStrike">
                <a:solidFill>
                  <a:srgbClr val="000000"/>
                </a:solidFill>
                <a:effectLst/>
                <a:uFillTx/>
                <a:latin typeface="Arial"/>
              </a:endParaRPr>
            </a:p>
          </p:txBody>
        </p:sp>
        <p:sp>
          <p:nvSpPr>
            <p:cNvPr id="559" name="TextBox 18"/>
            <p:cNvSpPr/>
            <p:nvPr/>
          </p:nvSpPr>
          <p:spPr>
            <a:xfrm>
              <a:off x="8488080" y="2730600"/>
              <a:ext cx="2903400" cy="3214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0" u="none" strike="noStrike">
                  <a:solidFill>
                    <a:srgbClr val="13243A"/>
                  </a:solidFill>
                  <a:effectLst/>
                  <a:uFillTx/>
                  <a:latin typeface="Arial"/>
                  <a:ea typeface="Microsoft YaHei"/>
                </a:rPr>
                <a:t>Comfort, stability, production</a:t>
              </a:r>
              <a:endParaRPr lang="en-US" sz="1650" b="0" u="none" strike="noStrike">
                <a:solidFill>
                  <a:srgbClr val="000000"/>
                </a:solidFill>
                <a:effectLst/>
                <a:uFillTx/>
                <a:latin typeface="Arial"/>
              </a:endParaRPr>
            </a:p>
          </p:txBody>
        </p:sp>
        <p:sp>
          <p:nvSpPr>
            <p:cNvPr id="560" name="TextBox 19"/>
            <p:cNvSpPr/>
            <p:nvPr/>
          </p:nvSpPr>
          <p:spPr>
            <a:xfrm>
              <a:off x="8489520" y="3244680"/>
              <a:ext cx="2368800" cy="2628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50" b="0" u="none" strike="noStrike">
                  <a:solidFill>
                    <a:srgbClr val="66758A"/>
                  </a:solidFill>
                  <a:effectLst/>
                  <a:uFillTx/>
                  <a:latin typeface="Arial"/>
                  <a:ea typeface="Microsoft YaHei"/>
                </a:rPr>
                <a:t>Controls and tests still needed</a:t>
              </a:r>
              <a:endParaRPr lang="en-US" sz="1350" b="0" u="none" strike="noStrike">
                <a:solidFill>
                  <a:srgbClr val="000000"/>
                </a:solidFill>
                <a:effectLst/>
                <a:uFillTx/>
                <a:latin typeface="Arial"/>
              </a:endParaRPr>
            </a:p>
          </p:txBody>
        </p:sp>
      </p:grpSp>
      <p:grpSp>
        <p:nvGrpSpPr>
          <p:cNvPr id="561" name="next-research"/>
          <p:cNvGrpSpPr/>
          <p:nvPr/>
        </p:nvGrpSpPr>
        <p:grpSpPr>
          <a:xfrm>
            <a:off x="483120" y="4213080"/>
            <a:ext cx="11234520" cy="1982160"/>
            <a:chOff x="483120" y="4213080"/>
            <a:chExt cx="11234520" cy="1982160"/>
          </a:xfrm>
        </p:grpSpPr>
        <p:sp>
          <p:nvSpPr>
            <p:cNvPr id="562" name="TextBox 21"/>
            <p:cNvSpPr/>
            <p:nvPr/>
          </p:nvSpPr>
          <p:spPr>
            <a:xfrm>
              <a:off x="483120" y="4213080"/>
              <a:ext cx="4915080" cy="4683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2400" b="1" u="none" strike="noStrike">
                  <a:solidFill>
                    <a:srgbClr val="13243A"/>
                  </a:solidFill>
                  <a:effectLst/>
                  <a:uFillTx/>
                  <a:latin typeface="Arial"/>
                  <a:ea typeface="Microsoft YaHei"/>
                </a:rPr>
                <a:t>Validation plan for the next round</a:t>
              </a:r>
              <a:endParaRPr lang="en-US" sz="2400" b="0" u="none" strike="noStrike">
                <a:solidFill>
                  <a:srgbClr val="000000"/>
                </a:solidFill>
                <a:effectLst/>
                <a:uFillTx/>
                <a:latin typeface="Arial"/>
              </a:endParaRPr>
            </a:p>
          </p:txBody>
        </p:sp>
        <p:sp>
          <p:nvSpPr>
            <p:cNvPr id="563" name="TextBox 22"/>
            <p:cNvSpPr/>
            <p:nvPr/>
          </p:nvSpPr>
          <p:spPr>
            <a:xfrm>
              <a:off x="485280" y="4778280"/>
              <a:ext cx="3210480" cy="3801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0" u="none" strike="noStrike">
                  <a:solidFill>
                    <a:srgbClr val="13243A"/>
                  </a:solidFill>
                  <a:effectLst/>
                  <a:uFillTx/>
                  <a:latin typeface="Arial"/>
                  <a:ea typeface="Microsoft YaHei"/>
                </a:rPr>
                <a:t>New needs and product task</a:t>
              </a:r>
              <a:endParaRPr lang="en-US" sz="1950" b="0" u="none" strike="noStrike">
                <a:solidFill>
                  <a:srgbClr val="000000"/>
                </a:solidFill>
                <a:effectLst/>
                <a:uFillTx/>
                <a:latin typeface="Arial"/>
              </a:endParaRPr>
            </a:p>
          </p:txBody>
        </p:sp>
        <p:sp>
          <p:nvSpPr>
            <p:cNvPr id="564" name="TextBox 23"/>
            <p:cNvSpPr/>
            <p:nvPr/>
          </p:nvSpPr>
          <p:spPr>
            <a:xfrm>
              <a:off x="4581000" y="4778280"/>
              <a:ext cx="3306600" cy="3801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0" u="none" strike="noStrike">
                  <a:solidFill>
                    <a:srgbClr val="13243A"/>
                  </a:solidFill>
                  <a:effectLst/>
                  <a:uFillTx/>
                  <a:latin typeface="Arial"/>
                  <a:ea typeface="Microsoft YaHei"/>
                </a:rPr>
                <a:t>Log errors, rework, data gaps</a:t>
              </a:r>
              <a:endParaRPr lang="en-US" sz="1950" b="0" u="none" strike="noStrike">
                <a:solidFill>
                  <a:srgbClr val="000000"/>
                </a:solidFill>
                <a:effectLst/>
                <a:uFillTx/>
                <a:latin typeface="Arial"/>
              </a:endParaRPr>
            </a:p>
          </p:txBody>
        </p:sp>
        <p:sp>
          <p:nvSpPr>
            <p:cNvPr id="565" name="TextBox 24"/>
            <p:cNvSpPr/>
            <p:nvPr/>
          </p:nvSpPr>
          <p:spPr>
            <a:xfrm>
              <a:off x="8934120" y="4778280"/>
              <a:ext cx="2522160" cy="3801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0" u="none" strike="noStrike">
                  <a:solidFill>
                    <a:srgbClr val="13243A"/>
                  </a:solidFill>
                  <a:effectLst/>
                  <a:uFillTx/>
                  <a:latin typeface="Arial"/>
                  <a:ea typeface="Microsoft YaHei"/>
                </a:rPr>
                <a:t>One-standard controls</a:t>
              </a:r>
              <a:endParaRPr lang="en-US" sz="1950" b="0" u="none" strike="noStrike">
                <a:solidFill>
                  <a:srgbClr val="000000"/>
                </a:solidFill>
                <a:effectLst/>
                <a:uFillTx/>
                <a:latin typeface="Arial"/>
              </a:endParaRPr>
            </a:p>
          </p:txBody>
        </p:sp>
        <p:sp>
          <p:nvSpPr>
            <p:cNvPr id="566" name="TextBox 25"/>
            <p:cNvSpPr/>
            <p:nvPr/>
          </p:nvSpPr>
          <p:spPr>
            <a:xfrm>
              <a:off x="487080" y="5245200"/>
              <a:ext cx="3030480" cy="3214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0" u="none" strike="noStrike">
                  <a:solidFill>
                    <a:srgbClr val="66758A"/>
                  </a:solidFill>
                  <a:effectLst/>
                  <a:uFillTx/>
                  <a:latin typeface="Arial"/>
                  <a:ea typeface="Microsoft YaHei"/>
                </a:rPr>
                <a:t>Check extraction and rule reuse</a:t>
              </a:r>
              <a:endParaRPr lang="en-US" sz="1650" b="0" u="none" strike="noStrike">
                <a:solidFill>
                  <a:srgbClr val="000000"/>
                </a:solidFill>
                <a:effectLst/>
                <a:uFillTx/>
                <a:latin typeface="Arial"/>
              </a:endParaRPr>
            </a:p>
          </p:txBody>
        </p:sp>
        <p:sp>
          <p:nvSpPr>
            <p:cNvPr id="567" name="TextBox 26"/>
            <p:cNvSpPr/>
            <p:nvPr/>
          </p:nvSpPr>
          <p:spPr>
            <a:xfrm>
              <a:off x="4582800" y="5245200"/>
              <a:ext cx="2719800" cy="3214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0" u="none" strike="noStrike">
                  <a:solidFill>
                    <a:srgbClr val="66758A"/>
                  </a:solidFill>
                  <a:effectLst/>
                  <a:uFillTx/>
                  <a:latin typeface="Arial"/>
                  <a:ea typeface="Microsoft YaHei"/>
                </a:rPr>
                <a:t>Track rule reads and failures</a:t>
              </a:r>
              <a:endParaRPr lang="en-US" sz="1650" b="0" u="none" strike="noStrike">
                <a:solidFill>
                  <a:srgbClr val="000000"/>
                </a:solidFill>
                <a:effectLst/>
                <a:uFillTx/>
                <a:latin typeface="Arial"/>
              </a:endParaRPr>
            </a:p>
          </p:txBody>
        </p:sp>
        <p:sp>
          <p:nvSpPr>
            <p:cNvPr id="568" name="TextBox 27"/>
            <p:cNvSpPr/>
            <p:nvPr/>
          </p:nvSpPr>
          <p:spPr>
            <a:xfrm>
              <a:off x="8935560" y="5245200"/>
              <a:ext cx="2782080" cy="3214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0" u="none" strike="noStrike">
                  <a:solidFill>
                    <a:srgbClr val="66758A"/>
                  </a:solidFill>
                  <a:effectLst/>
                  <a:uFillTx/>
                  <a:latin typeface="Arial"/>
                  <a:ea typeface="Microsoft YaHei"/>
                </a:rPr>
                <a:t>Wear tests, engineering tests</a:t>
              </a:r>
              <a:endParaRPr lang="en-US" sz="1650" b="0" u="none" strike="noStrike">
                <a:solidFill>
                  <a:srgbClr val="000000"/>
                </a:solidFill>
                <a:effectLst/>
                <a:uFillTx/>
                <a:latin typeface="Arial"/>
              </a:endParaRPr>
            </a:p>
          </p:txBody>
        </p:sp>
        <p:sp>
          <p:nvSpPr>
            <p:cNvPr id="569" name="TextBox 28"/>
            <p:cNvSpPr/>
            <p:nvPr/>
          </p:nvSpPr>
          <p:spPr>
            <a:xfrm>
              <a:off x="487080" y="5873760"/>
              <a:ext cx="8877960" cy="3214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0" u="none" strike="noStrike">
                  <a:solidFill>
                    <a:srgbClr val="D98D2B"/>
                  </a:solidFill>
                  <a:effectLst/>
                  <a:uFillTx/>
                  <a:latin typeface="Arial"/>
                  <a:ea typeface="Microsoft YaHei"/>
                </a:rPr>
                <a:t>Product: pose refinement paused, joint under review, multi-view regression pending, gaps kept.</a:t>
              </a:r>
              <a:endParaRPr lang="en-US" sz="1650" b="0" u="none" strike="noStrike">
                <a:solidFill>
                  <a:srgbClr val="000000"/>
                </a:solidFill>
                <a:effectLst/>
                <a:uFillTx/>
                <a:latin typeface="Arial"/>
              </a:endParaRPr>
            </a:p>
          </p:txBody>
        </p:sp>
      </p:grpSp>
      <p:sp>
        <p:nvSpPr>
          <p:cNvPr id="570" name="footer-label"/>
          <p:cNvSpPr/>
          <p:nvPr/>
        </p:nvSpPr>
        <p:spPr>
          <a:xfrm>
            <a:off x="488520" y="6407280"/>
            <a:ext cx="7839000" cy="2628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50" b="0" u="none" strike="noStrike">
                <a:solidFill>
                  <a:srgbClr val="66758A"/>
                </a:solidFill>
                <a:effectLst/>
                <a:uFillTx/>
                <a:latin typeface="Arial"/>
                <a:ea typeface="Microsoft YaHei"/>
              </a:rPr>
              <a:t>Method use, user acceptance, product performance, and cross-task validation are recorded separately</a:t>
            </a:r>
            <a:endParaRPr lang="en-US" sz="13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ai-workflow-report">
  <a:themeElements>
    <a:clrScheme name="ai-workflow-report">
      <a:dk1>
        <a:srgbClr val="24364C"/>
      </a:dk1>
      <a:lt1>
        <a:srgbClr val="FFFFFF"/>
      </a:lt1>
      <a:dk2>
        <a:srgbClr val="1F497D"/>
      </a:dk2>
      <a:lt2>
        <a:srgbClr val="FFFFFF"/>
      </a:lt2>
      <a:accent1>
        <a:srgbClr val="13243A"/>
      </a:accent1>
      <a:accent2>
        <a:srgbClr val="3662EA"/>
      </a:accent2>
      <a:accent3>
        <a:srgbClr val="3662EA"/>
      </a:accent3>
      <a:accent4>
        <a:srgbClr val="13243A"/>
      </a:accent4>
      <a:accent5>
        <a:srgbClr val="F7F8FC"/>
      </a:accent5>
      <a:accent6>
        <a:srgbClr val="8B5CF6"/>
      </a:accent6>
      <a:hlink>
        <a:srgbClr val="3662EA"/>
      </a:hlink>
      <a:folHlink>
        <a:srgbClr val="3662EA"/>
      </a:folHlink>
    </a:clrScheme>
    <a:fontScheme name="ai-workflow-report">
      <a:majorFont>
        <a:latin typeface="Arial" pitchFamily="0" charset="1"/>
        <a:ea typeface="Microsoft YaHei" pitchFamily="0" charset="1"/>
        <a:cs typeface="Arial" pitchFamily="0" charset="1"/>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itchFamily="0" charset="1"/>
        <a:ea typeface="Microsoft YaHei" pitchFamily="0" charset="1"/>
        <a:cs typeface="Arial" pitchFamily="0" charset="1"/>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16</TotalTime>
  <Application>LibreOffice/26.8.0.3$MacOSX_AARCH64 LibreOffice_project/bce0998afefdbc355585ca324285661a2170ba77</Application>
  <AppVersion>15.0000</AppVersion>
  <Words>3790</Words>
  <Paragraphs>710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2026-10-05T05:37:00Z</dcterms:created>
  <dc:creator/>
  <dc:description/>
  <dc:language>en-US</dc:language>
  <cp:lastModifiedBy/>
  <dcterms:modified xsi:type="dcterms:W3CDTF">2026-10-05T22:30:47Z</dcterms:modified>
  <cp:revision>7</cp:revision>
  <dc:subject/>
  <dc:title>AI-Enabled Design Workflow</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9789CAEDCF8240608A02AD6845FCDB37_12</vt:lpwstr>
  </property>
  <property fmtid="{D5CDD505-2E9C-101B-9397-08002B2CF9AE}" pid="3" name="KSOProductBuildVer">
    <vt:lpwstr>2052-12.1.0.28505</vt:lpwstr>
  </property>
  <property fmtid="{D5CDD505-2E9C-101B-9397-08002B2CF9AE}" pid="4" name="PresentationFormat">
    <vt:lpwstr>On-screen Show (16:9)</vt:lpwstr>
  </property>
  <property fmtid="{D5CDD505-2E9C-101B-9397-08002B2CF9AE}" pid="5" name="Slides">
    <vt:i4>14</vt:i4>
  </property>
</Properties>
</file>