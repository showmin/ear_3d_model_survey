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C3BC32D-BBE3-46C6-AFF6-DDF5EAE2BEC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我们以产品设计为案例，研究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怎样参与设计任务，以及每次修改留下了什么可复用的方法。案例覆盖最早试作到当前候选，按五个阶段整理。知识检索提供参考，生成工具帮助比较方案，执行工具完成操作，人和检查工具共同复核结果。方案审核与经验回写贯穿这些步骤，汇报重点放在参与方式、流程变化和验证范围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这项研究围绕四个问题展开：设计依据能否追溯，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能否操作真实工具，能否定位并修正错误，已有经验能否供下一轮读取。我们以反馈、修改和复核为观察单位，对照知识检索、概念前置和工具连接所留下的历史图、操作记录、规则及代码。结果核查包括保存后重开、形态检查和用户复核，经验复用则需要更新工作流和运行入口，再做回归测试。目前有单案例的过程记录，对照组、效率量化和佩戴实测仍待开展，效果提升需要后续对照验证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2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当前流程分为任务资源、执行主线和复核回写三层。需求、知识证据、概念与耳模参照，以及当前文件和有效规则分别进入相应环节，人先选型再按范围复核。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执行可调粗模和联合精修，保存后独立重开，核对几何与可比视图。回执、认可范围和失败原因进入工作流、项目记忆、模板与工具入口，下一任务继续读取。图展示人机协作要求与已有方法，自动实现、当前工具可用性和验收状态分别记录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是知识检索增强，它把检索到的资料带入当前任务，帮助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提出有出处的设计建议。这里分别使用产品设计、耳部和工具三个知识库。产品案例、图片观察和使用反馈提供结构取舍、支撑方式与材质表达的参考，耳部资料提供位置、尺寸含义和接触约束，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FreeCAD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文档帮助选择建模及检查操作。案例中，小体量产品支持功能和结构取舍，软胶支撑案例帮助区分硬壳与接触部件，使用反馈补充充电、操作和长期使用问题。参考包括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QuietOn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Kokoon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Ozlo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Nothing Ear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，每条建议都保留来源类型、适用限制与待确认项。检索相关性和来源可信度分别判断，真实舒适性仍需试戴。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2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证据审核分别记录来源、图片观察和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推断。厂商说明、独立评测和用户反馈保留作者与来源类别，图片可以支持轮廓、材料分区及配件关系的观察，尺寸和使用效果需要相应证据。资料进入设计前先核对原文及图片出处，记录适用条件，再按用途区分外形参考与补充资料，尺寸必须明确对应部件。推断与原文分开存档，缺少依据的结论标为待确认，暂不用于建模。独立试验逐张审核了一百六十六张图，其中一百一十九张归为外形参考，四十七张归为补充资料。舒适、运动稳定性及检索质量提升仍需单独验证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特征提取根据用户描述开展，输入可以换成其他需求或产品任务。入耳、运动稳定、睡眠不掉和年轻配色是一个演示输入，其中入耳描述形态，睡眠描述场景。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按形态、场景、功能和外观偏好拆分需求，标记硬约束、软偏好、冲突与待澄清信息，尺寸和优先级缺失时请求确认。检索按维度查询，组合互补参考、去重产品并记录未覆盖项，词法和语义检索都保留来源。独立试验通过去重选择两个不同产品，覆盖更多需求，维度拆分与覆盖选择尚未自动集成到主项目。佩戴性能待实测，约束强度和优先级仍由用户确认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此页以用户需求为例，把产品形态、场景和审美偏好展开为执行输入。相同需求的真实关键词检索档案返回四个候选，华为耳夹式案例提供软硬分工的厂商说明，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QuietOn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睡眠耳塞提供低外突及功能体量取舍的厂商说明，两者用途与入耳性能验证分开。图中的鳍翼计划根据原始生成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复盘，明确椭圆主体、短宽圆角软鳍、蓝灰硬壳、青色哑光软胶，以及同一左耳、共享组件和规定视图；资料到每一绘图参数的逐条绑定未保存，不能补造当时的连续决策日志。已有生成结果包括六个方向，图像工具与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是不同环节，出图后仍需核对侧别、连接、材料和视图，再由人选型。原始检索与完整英文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Prompt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已归档，舒适、稳定和工程尺寸继续待验证。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3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相同需求可以生成多种概念策略，供人比较轮廓、支撑方式和软硬分工。六个左耳概念分别是采用浅鞍软胶支撑的籽荚、圆润低凸起的卵石、带短宽软鳍的鳍翼、使用浅卷曲面的海螺、软胶环抱的花苞，以及重叠双壳的双瓣。它们用于本轮生成流程演示，目前尚未选型。体积、舒适与稳定性还没有实测，后续选择需要继续核对这些要求。其他输入特征可以产生其他方案方向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3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读取用户要求、当前模型信息和工具说明，提取对象、动作、尺寸及单位，再按参数名称和类型构造调用。图中的长方体是原理示例，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create_box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接收结构化参数，现有服务器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Python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实现负责新增对象、赋值和重算；复杂形体可由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编写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Python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后传给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run_freecad_script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，服务器检查脚本并返回产物与日志。本轮只核对接口、源码和演示表达，未执行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CAD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，文档检索工具报告知识库路径未配置，实际工具状态仍需另行核对。字段依据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[MCP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官方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Tools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规范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](https://modelcontextprotocol.io/specification/2025-06-18/server/tools)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以及本项目服务器与桥接源码；语言理解由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完成，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MCP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按协议传输，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CAD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接口执行几何操作。敏感变更先审核方案，完成后继续检查保存态结果。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早期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可把需求词转成几何粗模，直接建模暴露了形态依据不足的问题。概念图先行把发想、二维表达与人工选型放到建模之前，先锁定设计意图。第二节点的缺口是可操作的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3D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模型，因此下一阶段需要把选定概念落实为可修改的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CAD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几何。模型形成后，概念与保存态模型可以逐项核对，圈选反馈的遮挡层歧义仍需后续空间诊断。早期二维轮廓取自真实档案，后段联审图为较新方法示例，候选仍待复核。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3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真实剖面帮助核查部件层次与距离，两幅图节选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635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段独立截线并各自等比例展示。耳区中英名称、图谱与实际源面绑定后，反馈可以落实到模型位置。整体姿态存在问题时，联动整机与部件，避免持续局部变形补偿布局错误。图中保存态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A/B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保持同一相机，整机方向获得的局部确认仅覆盖这项判断，接合、承托与真实佩戴仍待验证。复核后的有效方法、失败原因和适用边界回写工作流及执行入口，跨任务效果继续核查。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3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每次修改先由人提出反馈，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复述目标、方案和保护项，经确认或已有明确授权后实施。保存文件并独立重开，提供同条件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A/B PDF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供人复核，认可范围和未解决问题分别记录，未通过的内容继续返工。右侧保留一次软叶微移的实际回执，仅用于说明该次修改的复核范围。有效方法和失败边界进入工作流、项目记忆、生成指令、模板及工具入口，还要用已知正反例和下一任务检查实际读取。规范、工具实现、测试和迁移分别留账，回写不代表模型参数训练或产品整体验收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6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主项目已经使用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RAG</a:t>
            </a:r>
            <a:r>
              <a:rPr lang="zh-CN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检索、概念前置、工具执行、保存重开、审核回执和经验回写，流程记录可以核查。形态场景拆分、需求覆盖选择和图文用途与尺寸归属审核已有独立试验结果，尚未全部进入主项目的自动执行路径。效率、设计质量的因果提升，以及真实舒适、稳定、材料和制造性能仍待验证。下一轮可以更换需求和产品任务，检查特征提取与规则复用，记录错误、返工和资料缺口，追踪规则读取或失效情况，统一标准开展对照，再分别做试戴及工程测试。目前产品姿态精修暂缓，接合候选待复核，后续多视图和造型回归待开展，原欠项保留。方法应用、内容验收、产品性能和跨任务验证各自记录结果。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i-workflow-repor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FE4F96-E4AE-482B-87AD-CD58A3CF1E5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9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45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9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19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7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Second Outline Level</a:t>
            </a:r>
            <a:endParaRPr lang="en-US" sz="17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Third Outline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45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Fourth Outline Level</a:t>
            </a:r>
            <a:endParaRPr lang="en-US" sz="145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research-title"/>
          <p:cNvGrpSpPr/>
          <p:nvPr/>
        </p:nvGrpSpPr>
        <p:grpSpPr>
          <a:xfrm>
            <a:off x="590400" y="743040"/>
            <a:ext cx="5557680" cy="4233600"/>
            <a:chOff x="590400" y="743040"/>
            <a:chExt cx="5557680" cy="4233600"/>
          </a:xfrm>
        </p:grpSpPr>
        <p:sp>
          <p:nvSpPr>
            <p:cNvPr id="14" name="Rectangle 2"/>
            <p:cNvSpPr/>
            <p:nvPr/>
          </p:nvSpPr>
          <p:spPr>
            <a:xfrm>
              <a:off x="609480" y="743040"/>
              <a:ext cx="533160" cy="47160"/>
            </a:xfrm>
            <a:prstGeom prst="rect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520" rIns="90000" bIns="252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TextBox 3"/>
            <p:cNvSpPr/>
            <p:nvPr/>
          </p:nvSpPr>
          <p:spPr>
            <a:xfrm>
              <a:off x="601200" y="996840"/>
              <a:ext cx="15714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研究型阶段汇报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TextBox 4"/>
            <p:cNvSpPr/>
            <p:nvPr/>
          </p:nvSpPr>
          <p:spPr>
            <a:xfrm>
              <a:off x="590400" y="1692360"/>
              <a:ext cx="5491080" cy="990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51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AI</a:t>
              </a:r>
              <a:r>
                <a:rPr lang="zh-CN" sz="51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赋能设计工作流</a:t>
              </a:r>
              <a:endParaRPr lang="en-US" sz="51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TextBox 5"/>
            <p:cNvSpPr/>
            <p:nvPr/>
          </p:nvSpPr>
          <p:spPr>
            <a:xfrm>
              <a:off x="597240" y="2638440"/>
              <a:ext cx="3986280" cy="926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ts val="3600"/>
                </a:lnSpc>
              </a:pPr>
              <a:r>
                <a:rPr lang="zh-CN" sz="2400" b="0" u="none" strike="noStrike">
                  <a:solidFill>
                    <a:srgbClr val="DCE3EF"/>
                  </a:solidFill>
                  <a:effectLst/>
                  <a:uFillTx/>
                  <a:latin typeface="Arial"/>
                  <a:ea typeface="Microsoft YaHei"/>
                </a:rPr>
                <a:t>知识与工具进入设计任务</a:t>
              </a:r>
              <a:br>
                <a:rPr sz="2400"/>
              </a:br>
              <a:r>
                <a:rPr lang="zh-CN" sz="2400" b="0" u="none" strike="noStrike">
                  <a:solidFill>
                    <a:srgbClr val="DCE3EF"/>
                  </a:solidFill>
                  <a:effectLst/>
                  <a:uFillTx/>
                  <a:latin typeface="Arial"/>
                  <a:ea typeface="Microsoft YaHei"/>
                </a:rPr>
                <a:t>方案审核和经验回写贯穿迭代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TextBox 6"/>
            <p:cNvSpPr/>
            <p:nvPr/>
          </p:nvSpPr>
          <p:spPr>
            <a:xfrm>
              <a:off x="599760" y="4168800"/>
              <a:ext cx="369468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案例研究：五个阶段的协作方法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TextBox 7"/>
            <p:cNvSpPr/>
            <p:nvPr/>
          </p:nvSpPr>
          <p:spPr>
            <a:xfrm>
              <a:off x="601200" y="4654440"/>
              <a:ext cx="55468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以产品设计为案例，追踪</a:t>
              </a:r>
              <a:r>
                <a:rPr lang="en-US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AI</a:t>
              </a: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参与任务的方式与验证结果。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" name="capability-loop"/>
          <p:cNvGrpSpPr/>
          <p:nvPr/>
        </p:nvGrpSpPr>
        <p:grpSpPr>
          <a:xfrm>
            <a:off x="7915320" y="1324080"/>
            <a:ext cx="3580920" cy="3961800"/>
            <a:chOff x="7915320" y="1324080"/>
            <a:chExt cx="3580920" cy="3961800"/>
          </a:xfrm>
        </p:grpSpPr>
        <p:sp>
          <p:nvSpPr>
            <p:cNvPr id="21" name="Line 9"/>
            <p:cNvSpPr/>
            <p:nvPr/>
          </p:nvSpPr>
          <p:spPr>
            <a:xfrm>
              <a:off x="9524880" y="2295360"/>
              <a:ext cx="1276200" cy="809640"/>
            </a:xfrm>
            <a:prstGeom prst="line">
              <a:avLst/>
            </a:prstGeom>
            <a:ln w="19050">
              <a:solidFill>
                <a:srgbClr val="9CAEC9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Line 10"/>
            <p:cNvSpPr/>
            <p:nvPr/>
          </p:nvSpPr>
          <p:spPr>
            <a:xfrm flipH="1">
              <a:off x="9524880" y="3504960"/>
              <a:ext cx="1276200" cy="809640"/>
            </a:xfrm>
            <a:prstGeom prst="line">
              <a:avLst/>
            </a:prstGeom>
            <a:ln w="19050">
              <a:solidFill>
                <a:srgbClr val="9CAEC9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Line 11"/>
            <p:cNvSpPr/>
            <p:nvPr/>
          </p:nvSpPr>
          <p:spPr>
            <a:xfrm flipH="1" flipV="1">
              <a:off x="8258040" y="3504960"/>
              <a:ext cx="866880" cy="809640"/>
            </a:xfrm>
            <a:prstGeom prst="line">
              <a:avLst/>
            </a:prstGeom>
            <a:ln w="19050">
              <a:solidFill>
                <a:srgbClr val="9CAEC9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Line 12"/>
            <p:cNvSpPr/>
            <p:nvPr/>
          </p:nvSpPr>
          <p:spPr>
            <a:xfrm flipV="1">
              <a:off x="8258040" y="2295360"/>
              <a:ext cx="866880" cy="809640"/>
            </a:xfrm>
            <a:prstGeom prst="line">
              <a:avLst/>
            </a:prstGeom>
            <a:ln w="19050">
              <a:solidFill>
                <a:srgbClr val="9CAEC9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Ellipse 13"/>
            <p:cNvSpPr/>
            <p:nvPr/>
          </p:nvSpPr>
          <p:spPr>
            <a:xfrm>
              <a:off x="8744040" y="1324080"/>
              <a:ext cx="1161720" cy="116172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TextBox 14"/>
            <p:cNvSpPr/>
            <p:nvPr/>
          </p:nvSpPr>
          <p:spPr>
            <a:xfrm>
              <a:off x="9052560" y="1616040"/>
              <a:ext cx="5443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知识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TextBox 15"/>
            <p:cNvSpPr/>
            <p:nvPr/>
          </p:nvSpPr>
          <p:spPr>
            <a:xfrm>
              <a:off x="8954640" y="1978200"/>
              <a:ext cx="740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检索依据</a:t>
              </a:r>
              <a:endParaRPr lang="en-US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" name="Ellipse 16"/>
            <p:cNvSpPr/>
            <p:nvPr/>
          </p:nvSpPr>
          <p:spPr>
            <a:xfrm>
              <a:off x="10334520" y="2724120"/>
              <a:ext cx="1161720" cy="1161720"/>
            </a:xfrm>
            <a:prstGeom prst="ellips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" name="TextBox 17"/>
            <p:cNvSpPr/>
            <p:nvPr/>
          </p:nvSpPr>
          <p:spPr>
            <a:xfrm>
              <a:off x="10643400" y="3016080"/>
              <a:ext cx="5443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生成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" name="TextBox 18"/>
            <p:cNvSpPr/>
            <p:nvPr/>
          </p:nvSpPr>
          <p:spPr>
            <a:xfrm>
              <a:off x="10545480" y="3378240"/>
              <a:ext cx="740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探索方案</a:t>
              </a:r>
              <a:endParaRPr lang="en-US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" name="Ellipse 19"/>
            <p:cNvSpPr/>
            <p:nvPr/>
          </p:nvSpPr>
          <p:spPr>
            <a:xfrm>
              <a:off x="8744040" y="4124160"/>
              <a:ext cx="1161720" cy="1161720"/>
            </a:xfrm>
            <a:prstGeom prst="ellipse">
              <a:avLst/>
            </a:prstGeom>
            <a:solidFill>
              <a:srgbClr val="069B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" name="TextBox 20"/>
            <p:cNvSpPr/>
            <p:nvPr/>
          </p:nvSpPr>
          <p:spPr>
            <a:xfrm>
              <a:off x="9052560" y="4416480"/>
              <a:ext cx="5443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执行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" name="TextBox 21"/>
            <p:cNvSpPr/>
            <p:nvPr/>
          </p:nvSpPr>
          <p:spPr>
            <a:xfrm>
              <a:off x="8954640" y="4778280"/>
              <a:ext cx="740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操作工具</a:t>
              </a:r>
              <a:endParaRPr lang="en-US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" name="Ellipse 22"/>
            <p:cNvSpPr/>
            <p:nvPr/>
          </p:nvSpPr>
          <p:spPr>
            <a:xfrm>
              <a:off x="7915320" y="2724120"/>
              <a:ext cx="1161720" cy="1161720"/>
            </a:xfrm>
            <a:prstGeom prst="ellipse">
              <a:avLst/>
            </a:prstGeom>
            <a:solidFill>
              <a:srgbClr val="D98D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" name="TextBox 23"/>
            <p:cNvSpPr/>
            <p:nvPr/>
          </p:nvSpPr>
          <p:spPr>
            <a:xfrm>
              <a:off x="8223840" y="3016080"/>
              <a:ext cx="5443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复核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" name="TextBox 24"/>
            <p:cNvSpPr/>
            <p:nvPr/>
          </p:nvSpPr>
          <p:spPr>
            <a:xfrm>
              <a:off x="8125920" y="3378240"/>
              <a:ext cx="740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回写经验</a:t>
              </a:r>
              <a:endParaRPr lang="en-US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" name="Line 26"/>
          <p:cNvSpPr/>
          <p:nvPr/>
        </p:nvSpPr>
        <p:spPr>
          <a:xfrm>
            <a:off x="609480" y="6048360"/>
            <a:ext cx="10972440" cy="9000"/>
          </a:xfrm>
          <a:custGeom>
            <a:avLst/>
            <a:gdLst>
              <a:gd name="textAreaLeft" fmla="*/ 0 w 10972440"/>
              <a:gd name="textAreaRight" fmla="*/ 10972800 w 109724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4052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footer-label"/>
          <p:cNvSpPr/>
          <p:nvPr/>
        </p:nvSpPr>
        <p:spPr>
          <a:xfrm>
            <a:off x="602640" y="6388200"/>
            <a:ext cx="36295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50" b="0" u="none" strike="noStrike">
                <a:solidFill>
                  <a:srgbClr val="BAC9DE"/>
                </a:solidFill>
                <a:effectLst/>
                <a:uFillTx/>
                <a:latin typeface="Arial"/>
                <a:ea typeface="Microsoft YaHei"/>
              </a:rPr>
              <a:t>研究重点：</a:t>
            </a:r>
            <a:r>
              <a:rPr lang="en-US" sz="1350" b="0" u="none" strike="noStrike">
                <a:solidFill>
                  <a:srgbClr val="BAC9DE"/>
                </a:solidFill>
                <a:effectLst/>
                <a:uFillTx/>
                <a:latin typeface="Arial"/>
                <a:ea typeface="Microsoft YaHei"/>
              </a:rPr>
              <a:t>AI</a:t>
            </a:r>
            <a:r>
              <a:rPr lang="zh-CN" sz="1350" b="0" u="none" strike="noStrike">
                <a:solidFill>
                  <a:srgbClr val="BAC9DE"/>
                </a:solidFill>
                <a:effectLst/>
                <a:uFillTx/>
                <a:latin typeface="Arial"/>
                <a:ea typeface="Microsoft YaHei"/>
              </a:rPr>
              <a:t>参与方式、流程迭代与经验复用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page-number"/>
          <p:cNvSpPr/>
          <p:nvPr/>
        </p:nvSpPr>
        <p:spPr>
          <a:xfrm>
            <a:off x="11375640" y="6388200"/>
            <a:ext cx="2131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BAC9DE"/>
                </a:solidFill>
                <a:effectLst/>
                <a:uFillTx/>
                <a:latin typeface="Arial"/>
                <a:ea typeface="Microsoft YaHei"/>
              </a:rPr>
              <a:t>01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header"/>
          <p:cNvGrpSpPr/>
          <p:nvPr/>
        </p:nvGrpSpPr>
        <p:grpSpPr>
          <a:xfrm>
            <a:off x="478440" y="422280"/>
            <a:ext cx="6444000" cy="973080"/>
            <a:chOff x="478440" y="422280"/>
            <a:chExt cx="6444000" cy="973080"/>
          </a:xfrm>
        </p:grpSpPr>
        <p:sp>
          <p:nvSpPr>
            <p:cNvPr id="41" name="TextBox 2"/>
            <p:cNvSpPr/>
            <p:nvPr/>
          </p:nvSpPr>
          <p:spPr>
            <a:xfrm>
              <a:off x="478440" y="422280"/>
              <a:ext cx="445032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33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AI</a:t>
              </a:r>
              <a:r>
                <a:rPr lang="zh-CN" sz="33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设计协作的研究问题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TextBox 3"/>
            <p:cNvSpPr/>
            <p:nvPr/>
          </p:nvSpPr>
          <p:spPr>
            <a:xfrm>
              <a:off x="487080" y="1073160"/>
              <a:ext cx="643536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以连续设计任务为案例，记录</a:t>
              </a:r>
              <a:r>
                <a:rPr lang="en-US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AI</a:t>
              </a: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参与方式、修改反馈和复核结果。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3" name="question"/>
          <p:cNvGrpSpPr/>
          <p:nvPr/>
        </p:nvGrpSpPr>
        <p:grpSpPr>
          <a:xfrm>
            <a:off x="483120" y="1860480"/>
            <a:ext cx="3726720" cy="4006800"/>
            <a:chOff x="483120" y="1860480"/>
            <a:chExt cx="3726720" cy="4006800"/>
          </a:xfrm>
        </p:grpSpPr>
        <p:sp>
          <p:nvSpPr>
            <p:cNvPr id="44" name="TextBox 5"/>
            <p:cNvSpPr/>
            <p:nvPr/>
          </p:nvSpPr>
          <p:spPr>
            <a:xfrm>
              <a:off x="483120" y="1860480"/>
              <a:ext cx="325476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协作需要回答四个问题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TextBox 6"/>
            <p:cNvSpPr/>
            <p:nvPr/>
          </p:nvSpPr>
          <p:spPr>
            <a:xfrm>
              <a:off x="485280" y="250200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有没有可追溯的依据？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TextBox 7"/>
            <p:cNvSpPr/>
            <p:nvPr/>
          </p:nvSpPr>
          <p:spPr>
            <a:xfrm>
              <a:off x="485280" y="3044880"/>
              <a:ext cx="29070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能否执行真实工具操作？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TextBox 8"/>
            <p:cNvSpPr/>
            <p:nvPr/>
          </p:nvSpPr>
          <p:spPr>
            <a:xfrm>
              <a:off x="485280" y="3587760"/>
              <a:ext cx="316944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能否定位错误并完成修正？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" name="TextBox 9"/>
            <p:cNvSpPr/>
            <p:nvPr/>
          </p:nvSpPr>
          <p:spPr>
            <a:xfrm>
              <a:off x="485280" y="4130640"/>
              <a:ext cx="29070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下轮能否读取已有经验？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" name="Rectangle 10"/>
            <p:cNvSpPr/>
            <p:nvPr/>
          </p:nvSpPr>
          <p:spPr>
            <a:xfrm>
              <a:off x="495360" y="4981680"/>
              <a:ext cx="3714480" cy="885600"/>
            </a:xfrm>
            <a:prstGeom prst="roundRect">
              <a:avLst>
                <a:gd name="adj" fmla="val 10753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TextBox 11"/>
            <p:cNvSpPr/>
            <p:nvPr/>
          </p:nvSpPr>
          <p:spPr>
            <a:xfrm>
              <a:off x="705960" y="5121360"/>
              <a:ext cx="9050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观察单位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TextBox 12"/>
            <p:cNvSpPr/>
            <p:nvPr/>
          </p:nvSpPr>
          <p:spPr>
            <a:xfrm>
              <a:off x="704520" y="5416560"/>
              <a:ext cx="211968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反馈、修改与复核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2" name="Line 14"/>
          <p:cNvSpPr/>
          <p:nvPr/>
        </p:nvSpPr>
        <p:spPr>
          <a:xfrm>
            <a:off x="4524480" y="1752480"/>
            <a:ext cx="9000" cy="4200120"/>
          </a:xfrm>
          <a:custGeom>
            <a:avLst/>
            <a:gdLst>
              <a:gd name="textAreaLeft" fmla="*/ 0 w 9000"/>
              <a:gd name="textAreaRight" fmla="*/ 9360 w 9000"/>
              <a:gd name="textAreaTop" fmla="*/ 0 h 4200120"/>
              <a:gd name="textAreaBottom" fmla="*/ 4200480 h 4200120"/>
            </a:gdLst>
            <a:ahLst/>
            <a:cxnLst/>
            <a:rect l="textAreaLeft" t="textAreaTop" r="textAreaRight" b="textAreaBottom"/>
            <a:pathLst>
              <a:path w="9525" h="4200525">
                <a:moveTo>
                  <a:pt x="0" y="0"/>
                </a:moveTo>
                <a:lnTo>
                  <a:pt x="0" y="4200525"/>
                </a:lnTo>
              </a:path>
            </a:pathLst>
          </a:custGeom>
          <a:noFill/>
          <a:ln w="9525">
            <a:solidFill>
              <a:srgbClr val="DCE3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3" name="study-design"/>
          <p:cNvGrpSpPr/>
          <p:nvPr/>
        </p:nvGrpSpPr>
        <p:grpSpPr>
          <a:xfrm>
            <a:off x="4883760" y="1755720"/>
            <a:ext cx="6017400" cy="4145040"/>
            <a:chOff x="4883760" y="1755720"/>
            <a:chExt cx="6017400" cy="4145040"/>
          </a:xfrm>
        </p:grpSpPr>
        <p:sp>
          <p:nvSpPr>
            <p:cNvPr id="54" name="TextBox 15"/>
            <p:cNvSpPr/>
            <p:nvPr/>
          </p:nvSpPr>
          <p:spPr>
            <a:xfrm>
              <a:off x="4883760" y="1755720"/>
              <a:ext cx="325476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方法与证据的对应关系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Ellipse 16"/>
            <p:cNvSpPr/>
            <p:nvPr/>
          </p:nvSpPr>
          <p:spPr>
            <a:xfrm>
              <a:off x="4915080" y="2438280"/>
              <a:ext cx="361440" cy="36144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TextBox 17"/>
            <p:cNvSpPr/>
            <p:nvPr/>
          </p:nvSpPr>
          <p:spPr>
            <a:xfrm>
              <a:off x="5466960" y="2473200"/>
              <a:ext cx="13320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引入的方法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TextBox 18"/>
            <p:cNvSpPr/>
            <p:nvPr/>
          </p:nvSpPr>
          <p:spPr>
            <a:xfrm>
              <a:off x="7468920" y="2511360"/>
              <a:ext cx="31262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知识检索、概念前置、工具连接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Line 19"/>
            <p:cNvSpPr/>
            <p:nvPr/>
          </p:nvSpPr>
          <p:spPr>
            <a:xfrm>
              <a:off x="5095800" y="2828880"/>
              <a:ext cx="9000" cy="35208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2080"/>
                <a:gd name="textAreaBottom" fmla="*/ 352440 h 352080"/>
              </a:gdLst>
              <a:ahLst/>
              <a:cxnLst/>
              <a:rect l="textAreaLeft" t="textAreaTop" r="textAreaRight" b="textAreaBottom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28575">
              <a:solidFill>
                <a:srgbClr val="DCE3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Ellipse 20"/>
            <p:cNvSpPr/>
            <p:nvPr/>
          </p:nvSpPr>
          <p:spPr>
            <a:xfrm>
              <a:off x="4915080" y="3209760"/>
              <a:ext cx="361440" cy="361440"/>
            </a:xfrm>
            <a:prstGeom prst="ellips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TextBox 21"/>
            <p:cNvSpPr/>
            <p:nvPr/>
          </p:nvSpPr>
          <p:spPr>
            <a:xfrm>
              <a:off x="5466960" y="3244680"/>
              <a:ext cx="1069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过程证据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" name="TextBox 22"/>
            <p:cNvSpPr/>
            <p:nvPr/>
          </p:nvSpPr>
          <p:spPr>
            <a:xfrm>
              <a:off x="7468920" y="3282840"/>
              <a:ext cx="31262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历史图、操作记录、规则与代码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2" name="Line 23"/>
            <p:cNvSpPr/>
            <p:nvPr/>
          </p:nvSpPr>
          <p:spPr>
            <a:xfrm>
              <a:off x="5095800" y="3600360"/>
              <a:ext cx="9000" cy="35208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2080"/>
                <a:gd name="textAreaBottom" fmla="*/ 352440 h 352080"/>
              </a:gdLst>
              <a:ahLst/>
              <a:cxnLst/>
              <a:rect l="textAreaLeft" t="textAreaTop" r="textAreaRight" b="textAreaBottom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28575">
              <a:solidFill>
                <a:srgbClr val="DCE3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3" name="Ellipse 24"/>
            <p:cNvSpPr/>
            <p:nvPr/>
          </p:nvSpPr>
          <p:spPr>
            <a:xfrm>
              <a:off x="4915080" y="3981600"/>
              <a:ext cx="361440" cy="361440"/>
            </a:xfrm>
            <a:prstGeom prst="ellipse">
              <a:avLst/>
            </a:prstGeom>
            <a:solidFill>
              <a:srgbClr val="069B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TextBox 25"/>
            <p:cNvSpPr/>
            <p:nvPr/>
          </p:nvSpPr>
          <p:spPr>
            <a:xfrm>
              <a:off x="5466960" y="4016520"/>
              <a:ext cx="1069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结果核查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5" name="TextBox 26"/>
            <p:cNvSpPr/>
            <p:nvPr/>
          </p:nvSpPr>
          <p:spPr>
            <a:xfrm>
              <a:off x="7468920" y="4054320"/>
              <a:ext cx="31262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保存重开、形态检查、用户复核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6" name="Line 27"/>
            <p:cNvSpPr/>
            <p:nvPr/>
          </p:nvSpPr>
          <p:spPr>
            <a:xfrm>
              <a:off x="5095800" y="4371840"/>
              <a:ext cx="9000" cy="35208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352080"/>
                <a:gd name="textAreaBottom" fmla="*/ 352440 h 352080"/>
              </a:gdLst>
              <a:ahLst/>
              <a:cxnLst/>
              <a:rect l="textAreaLeft" t="textAreaTop" r="textAreaRight" b="textAreaBottom"/>
              <a:pathLst>
                <a:path w="9525" h="352425">
                  <a:moveTo>
                    <a:pt x="0" y="0"/>
                  </a:moveTo>
                  <a:lnTo>
                    <a:pt x="0" y="352425"/>
                  </a:lnTo>
                </a:path>
              </a:pathLst>
            </a:custGeom>
            <a:noFill/>
            <a:ln w="28575">
              <a:solidFill>
                <a:srgbClr val="DCE3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7" name="Ellipse 28"/>
            <p:cNvSpPr/>
            <p:nvPr/>
          </p:nvSpPr>
          <p:spPr>
            <a:xfrm>
              <a:off x="4915080" y="4753080"/>
              <a:ext cx="361440" cy="361440"/>
            </a:xfrm>
            <a:prstGeom prst="ellipse">
              <a:avLst/>
            </a:prstGeom>
            <a:solidFill>
              <a:srgbClr val="D98D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8" name="TextBox 29"/>
            <p:cNvSpPr/>
            <p:nvPr/>
          </p:nvSpPr>
          <p:spPr>
            <a:xfrm>
              <a:off x="5466960" y="4788000"/>
              <a:ext cx="1069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经验复用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9" name="TextBox 30"/>
            <p:cNvSpPr/>
            <p:nvPr/>
          </p:nvSpPr>
          <p:spPr>
            <a:xfrm>
              <a:off x="7468920" y="4826160"/>
              <a:ext cx="334836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更新工作流和入口，再做回归测试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TextBox 31"/>
            <p:cNvSpPr/>
            <p:nvPr/>
          </p:nvSpPr>
          <p:spPr>
            <a:xfrm>
              <a:off x="4887360" y="5578560"/>
              <a:ext cx="60138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研究范围：单案例观察，对照、效率量化与佩戴实测待开展。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1" name="footer-label"/>
          <p:cNvSpPr/>
          <p:nvPr/>
        </p:nvSpPr>
        <p:spPr>
          <a:xfrm>
            <a:off x="488520" y="6407280"/>
            <a:ext cx="41932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案例观察用于检查协作过程，效果提升仍需对照验证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age-number"/>
          <p:cNvSpPr/>
          <p:nvPr/>
        </p:nvSpPr>
        <p:spPr>
          <a:xfrm>
            <a:off x="11489760" y="6407280"/>
            <a:ext cx="2131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02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header"/>
          <p:cNvGrpSpPr/>
          <p:nvPr/>
        </p:nvGrpSpPr>
        <p:grpSpPr>
          <a:xfrm>
            <a:off x="478440" y="422280"/>
            <a:ext cx="11209680" cy="973080"/>
            <a:chOff x="478440" y="422280"/>
            <a:chExt cx="11209680" cy="973080"/>
          </a:xfrm>
        </p:grpSpPr>
        <p:sp>
          <p:nvSpPr>
            <p:cNvPr id="74" name="TextBox 2"/>
            <p:cNvSpPr/>
            <p:nvPr/>
          </p:nvSpPr>
          <p:spPr>
            <a:xfrm>
              <a:off x="478440" y="422280"/>
              <a:ext cx="1120104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zh-CN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当前</a:t>
              </a:r>
              <a:r>
                <a:rPr lang="en-US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AI</a:t>
              </a:r>
              <a:r>
                <a:rPr lang="zh-CN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设计协作流程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TextBox 3"/>
            <p:cNvSpPr/>
            <p:nvPr/>
          </p:nvSpPr>
          <p:spPr>
            <a:xfrm>
              <a:off x="487080" y="1073160"/>
              <a:ext cx="112010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资料进入任务上下文，人工确认约束执行，复核结果用于更新规则与下一轮任务。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" name="page-number"/>
          <p:cNvSpPr/>
          <p:nvPr/>
        </p:nvSpPr>
        <p:spPr>
          <a:xfrm>
            <a:off x="11489760" y="6407280"/>
            <a:ext cx="2131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04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" name="workflow-system"/>
          <p:cNvGrpSpPr/>
          <p:nvPr/>
        </p:nvGrpSpPr>
        <p:grpSpPr>
          <a:xfrm>
            <a:off x="488520" y="1539720"/>
            <a:ext cx="11207880" cy="4603680"/>
            <a:chOff x="488520" y="1539720"/>
            <a:chExt cx="11207880" cy="4603680"/>
          </a:xfrm>
        </p:grpSpPr>
        <p:sp>
          <p:nvSpPr>
            <p:cNvPr id="78" name="TextBox 7"/>
            <p:cNvSpPr/>
            <p:nvPr/>
          </p:nvSpPr>
          <p:spPr>
            <a:xfrm>
              <a:off x="488520" y="1539720"/>
              <a:ext cx="9928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01 </a:t>
              </a: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任务资源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79" name="resource-demand"/>
            <p:cNvGrpSpPr/>
            <p:nvPr/>
          </p:nvGrpSpPr>
          <p:grpSpPr>
            <a:xfrm>
              <a:off x="495360" y="1809720"/>
              <a:ext cx="2476080" cy="713880"/>
              <a:chOff x="495360" y="1809720"/>
              <a:chExt cx="2476080" cy="713880"/>
            </a:xfrm>
          </p:grpSpPr>
          <p:sp>
            <p:nvSpPr>
              <p:cNvPr id="80" name="Rectangle 8"/>
              <p:cNvSpPr/>
              <p:nvPr/>
            </p:nvSpPr>
            <p:spPr>
              <a:xfrm>
                <a:off x="495360" y="1809720"/>
                <a:ext cx="2476080" cy="713880"/>
              </a:xfrm>
              <a:prstGeom prst="roundRect">
                <a:avLst>
                  <a:gd name="adj" fmla="val 10667"/>
                </a:avLst>
              </a:prstGeom>
              <a:solidFill>
                <a:srgbClr val="FFF2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1" name="Rectangle 9"/>
              <p:cNvSpPr/>
              <p:nvPr/>
            </p:nvSpPr>
            <p:spPr>
              <a:xfrm>
                <a:off x="495360" y="1809720"/>
                <a:ext cx="2476080" cy="47160"/>
              </a:xfrm>
              <a:prstGeom prst="rect">
                <a:avLst/>
              </a:prstGeom>
              <a:solidFill>
                <a:srgbClr val="E88A2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520" rIns="90000" bIns="252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2" name="TextBox 10"/>
              <p:cNvSpPr/>
              <p:nvPr/>
            </p:nvSpPr>
            <p:spPr>
              <a:xfrm>
                <a:off x="638640" y="1879560"/>
                <a:ext cx="1714320" cy="351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800" b="1" u="none" strike="noStrike">
                    <a:solidFill>
                      <a:srgbClr val="13243A"/>
                    </a:solidFill>
                    <a:effectLst/>
                    <a:uFillTx/>
                    <a:latin typeface="Arial"/>
                    <a:ea typeface="微软雅黑"/>
                  </a:rPr>
                  <a:t>需求与批准范围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3" name="TextBox 11"/>
              <p:cNvSpPr/>
              <p:nvPr/>
            </p:nvSpPr>
            <p:spPr>
              <a:xfrm>
                <a:off x="640800" y="2216160"/>
                <a:ext cx="201240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用户描述、偏好、硬约束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4" name="resource-knowledge"/>
            <p:cNvGrpSpPr/>
            <p:nvPr/>
          </p:nvGrpSpPr>
          <p:grpSpPr>
            <a:xfrm>
              <a:off x="3209760" y="1809720"/>
              <a:ext cx="2476080" cy="713880"/>
              <a:chOff x="3209760" y="1809720"/>
              <a:chExt cx="2476080" cy="713880"/>
            </a:xfrm>
          </p:grpSpPr>
          <p:sp>
            <p:nvSpPr>
              <p:cNvPr id="85" name="Rectangle 13"/>
              <p:cNvSpPr/>
              <p:nvPr/>
            </p:nvSpPr>
            <p:spPr>
              <a:xfrm>
                <a:off x="3209760" y="1809720"/>
                <a:ext cx="2476080" cy="713880"/>
              </a:xfrm>
              <a:prstGeom prst="roundRect">
                <a:avLst>
                  <a:gd name="adj" fmla="val 10667"/>
                </a:avLst>
              </a:prstGeom>
              <a:solidFill>
                <a:srgbClr val="F1EC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6" name="Rectangle 14"/>
              <p:cNvSpPr/>
              <p:nvPr/>
            </p:nvSpPr>
            <p:spPr>
              <a:xfrm>
                <a:off x="3209760" y="1809720"/>
                <a:ext cx="2476080" cy="47160"/>
              </a:xfrm>
              <a:prstGeom prst="rect">
                <a:avLst/>
              </a:prstGeom>
              <a:solidFill>
                <a:srgbClr val="7957D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520" rIns="90000" bIns="2520" anchor="t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7" name="TextBox 15"/>
              <p:cNvSpPr/>
              <p:nvPr/>
            </p:nvSpPr>
            <p:spPr>
              <a:xfrm>
                <a:off x="3353040" y="1879560"/>
                <a:ext cx="1229400" cy="351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800" b="1" u="none" strike="noStrike">
                    <a:solidFill>
                      <a:srgbClr val="13243A"/>
                    </a:solidFill>
                    <a:effectLst/>
                    <a:uFillTx/>
                    <a:latin typeface="Arial"/>
                    <a:ea typeface="微软雅黑"/>
                  </a:rPr>
                  <a:t>知识与证据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88" name="TextBox 16"/>
              <p:cNvSpPr/>
              <p:nvPr/>
            </p:nvSpPr>
            <p:spPr>
              <a:xfrm>
                <a:off x="3355560" y="2216160"/>
                <a:ext cx="183060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产品、耳部、工具资料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89" name="resource-reference"/>
            <p:cNvGrpSpPr/>
            <p:nvPr/>
          </p:nvGrpSpPr>
          <p:grpSpPr>
            <a:xfrm>
              <a:off x="5924520" y="1809720"/>
              <a:ext cx="2714400" cy="713880"/>
              <a:chOff x="5924520" y="1809720"/>
              <a:chExt cx="2714400" cy="713880"/>
            </a:xfrm>
          </p:grpSpPr>
          <p:sp>
            <p:nvSpPr>
              <p:cNvPr id="90" name="Rectangle 18"/>
              <p:cNvSpPr/>
              <p:nvPr/>
            </p:nvSpPr>
            <p:spPr>
              <a:xfrm>
                <a:off x="5924520" y="1809720"/>
                <a:ext cx="2714400" cy="713880"/>
              </a:xfrm>
              <a:prstGeom prst="roundRect">
                <a:avLst>
                  <a:gd name="adj" fmla="val 10667"/>
                </a:avLst>
              </a:prstGeom>
              <a:solidFill>
                <a:srgbClr val="EBF3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1" name="Rectangle 19"/>
              <p:cNvSpPr/>
              <p:nvPr/>
            </p:nvSpPr>
            <p:spPr>
              <a:xfrm>
                <a:off x="5924520" y="1809720"/>
                <a:ext cx="2714400" cy="47160"/>
              </a:xfrm>
              <a:prstGeom prst="rect">
                <a:avLst/>
              </a:prstGeom>
              <a:solidFill>
                <a:srgbClr val="2D83C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520" rIns="90000" bIns="2520" anchor="t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2" name="TextBox 20"/>
              <p:cNvSpPr/>
              <p:nvPr/>
            </p:nvSpPr>
            <p:spPr>
              <a:xfrm>
                <a:off x="6067800" y="1879560"/>
                <a:ext cx="1714320" cy="351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800" b="1" u="none" strike="noStrike">
                    <a:solidFill>
                      <a:srgbClr val="13243A"/>
                    </a:solidFill>
                    <a:effectLst/>
                    <a:uFillTx/>
                    <a:latin typeface="Arial"/>
                    <a:ea typeface="微软雅黑"/>
                  </a:rPr>
                  <a:t>概念与耳模参照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3" name="TextBox 21"/>
              <p:cNvSpPr/>
              <p:nvPr/>
            </p:nvSpPr>
            <p:spPr>
              <a:xfrm>
                <a:off x="6069960" y="2216160"/>
                <a:ext cx="201240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共同组件、图谱、源几何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94" name="resource-memory"/>
            <p:cNvGrpSpPr/>
            <p:nvPr/>
          </p:nvGrpSpPr>
          <p:grpSpPr>
            <a:xfrm>
              <a:off x="8877240" y="1809720"/>
              <a:ext cx="2819160" cy="713880"/>
              <a:chOff x="8877240" y="1809720"/>
              <a:chExt cx="2819160" cy="713880"/>
            </a:xfrm>
          </p:grpSpPr>
          <p:sp>
            <p:nvSpPr>
              <p:cNvPr id="95" name="Rectangle 23"/>
              <p:cNvSpPr/>
              <p:nvPr/>
            </p:nvSpPr>
            <p:spPr>
              <a:xfrm>
                <a:off x="8877240" y="1809720"/>
                <a:ext cx="2819160" cy="713880"/>
              </a:xfrm>
              <a:prstGeom prst="roundRect">
                <a:avLst>
                  <a:gd name="adj" fmla="val 10667"/>
                </a:avLst>
              </a:prstGeom>
              <a:solidFill>
                <a:srgbClr val="E9F4F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6" name="Rectangle 24"/>
              <p:cNvSpPr/>
              <p:nvPr/>
            </p:nvSpPr>
            <p:spPr>
              <a:xfrm>
                <a:off x="8877240" y="1809720"/>
                <a:ext cx="2819160" cy="47160"/>
              </a:xfrm>
              <a:prstGeom prst="rect">
                <a:avLst/>
              </a:prstGeom>
              <a:solidFill>
                <a:srgbClr val="087F8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520" rIns="90000" bIns="2520" anchor="t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7" name="TextBox 25"/>
              <p:cNvSpPr/>
              <p:nvPr/>
            </p:nvSpPr>
            <p:spPr>
              <a:xfrm>
                <a:off x="9020520" y="1879560"/>
                <a:ext cx="2198880" cy="351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800" b="1" u="none" strike="noStrike">
                    <a:solidFill>
                      <a:srgbClr val="13243A"/>
                    </a:solidFill>
                    <a:effectLst/>
                    <a:uFillTx/>
                    <a:latin typeface="Arial"/>
                    <a:ea typeface="微软雅黑"/>
                  </a:rPr>
                  <a:t>当前文件与项目规则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98" name="TextBox 26"/>
              <p:cNvSpPr/>
              <p:nvPr/>
            </p:nvSpPr>
            <p:spPr>
              <a:xfrm>
                <a:off x="9022680" y="2216160"/>
                <a:ext cx="237600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保存版本、保护项、历史经验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99" name="Line 28"/>
            <p:cNvSpPr/>
            <p:nvPr/>
          </p:nvSpPr>
          <p:spPr>
            <a:xfrm>
              <a:off x="1733400" y="2562120"/>
              <a:ext cx="9000" cy="1141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E88A2E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0" name="Line 29"/>
            <p:cNvSpPr/>
            <p:nvPr/>
          </p:nvSpPr>
          <p:spPr>
            <a:xfrm>
              <a:off x="1314360" y="2676600"/>
              <a:ext cx="418680" cy="9000"/>
            </a:xfrm>
            <a:custGeom>
              <a:avLst/>
              <a:gdLst>
                <a:gd name="textAreaLeft" fmla="*/ 0 w 418680"/>
                <a:gd name="textAreaRight" fmla="*/ 419040 w 4186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419100" h="9525">
                  <a:moveTo>
                    <a:pt x="4191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E88A2E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5640" rIns="90000" bIns="-3564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1" name="Line 30"/>
            <p:cNvSpPr/>
            <p:nvPr/>
          </p:nvSpPr>
          <p:spPr>
            <a:xfrm>
              <a:off x="1314360" y="2676600"/>
              <a:ext cx="9000" cy="14256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42560"/>
                <a:gd name="textAreaBottom" fmla="*/ 142920 h 142560"/>
              </a:gdLst>
              <a:ahLst/>
              <a:cxnLst/>
              <a:rect l="textAreaLeft" t="textAreaTop" r="textAreaRight" b="textAreaBottom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9050">
              <a:solidFill>
                <a:srgbClr val="E88A2E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2" name="Line 31"/>
            <p:cNvSpPr/>
            <p:nvPr/>
          </p:nvSpPr>
          <p:spPr>
            <a:xfrm>
              <a:off x="4448160" y="2562120"/>
              <a:ext cx="9000" cy="25668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56680"/>
                <a:gd name="textAreaBottom" fmla="*/ 257040 h 256680"/>
              </a:gdLst>
              <a:ahLst/>
              <a:cxnLst/>
              <a:rect l="textAreaLeft" t="textAreaTop" r="textAreaRight" b="textAreaBottom"/>
              <a:pathLst>
                <a:path w="9525" h="257175">
                  <a:moveTo>
                    <a:pt x="0" y="0"/>
                  </a:moveTo>
                  <a:lnTo>
                    <a:pt x="0" y="257175"/>
                  </a:lnTo>
                </a:path>
              </a:pathLst>
            </a:custGeom>
            <a:noFill/>
            <a:ln w="19050">
              <a:solidFill>
                <a:srgbClr val="7957D5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3" name="Line 32"/>
            <p:cNvSpPr/>
            <p:nvPr/>
          </p:nvSpPr>
          <p:spPr>
            <a:xfrm>
              <a:off x="1314360" y="2819520"/>
              <a:ext cx="3133440" cy="9000"/>
            </a:xfrm>
            <a:custGeom>
              <a:avLst/>
              <a:gdLst>
                <a:gd name="textAreaLeft" fmla="*/ 0 w 3133440"/>
                <a:gd name="textAreaRight" fmla="*/ 3133800 w 31334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3133725" h="9525">
                  <a:moveTo>
                    <a:pt x="313372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7957D5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5640" rIns="90000" bIns="-3564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Ellipse 33"/>
            <p:cNvSpPr/>
            <p:nvPr/>
          </p:nvSpPr>
          <p:spPr>
            <a:xfrm>
              <a:off x="1285920" y="2790720"/>
              <a:ext cx="56880" cy="56880"/>
            </a:xfrm>
            <a:prstGeom prst="ellipse">
              <a:avLst/>
            </a:prstGeom>
            <a:solidFill>
              <a:srgbClr val="6675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680" rIns="90000" bIns="-468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Line 34"/>
            <p:cNvSpPr/>
            <p:nvPr/>
          </p:nvSpPr>
          <p:spPr>
            <a:xfrm>
              <a:off x="1314360" y="2819520"/>
              <a:ext cx="9000" cy="14256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42560"/>
                <a:gd name="textAreaBottom" fmla="*/ 142920 h 142560"/>
              </a:gdLst>
              <a:ahLst/>
              <a:cxnLst/>
              <a:rect l="textAreaLeft" t="textAreaTop" r="textAreaRight" b="textAreaBottom"/>
              <a:pathLst>
                <a:path w="9525" h="142875">
                  <a:moveTo>
                    <a:pt x="0" y="0"/>
                  </a:moveTo>
                  <a:lnTo>
                    <a:pt x="0" y="142875"/>
                  </a:lnTo>
                </a:path>
              </a:pathLst>
            </a:custGeom>
            <a:noFill/>
            <a:ln w="19050">
              <a:solidFill>
                <a:srgbClr val="66758A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Line 35"/>
            <p:cNvSpPr/>
            <p:nvPr/>
          </p:nvSpPr>
          <p:spPr>
            <a:xfrm>
              <a:off x="7277040" y="2562120"/>
              <a:ext cx="9000" cy="1141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2D83C5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Line 36"/>
            <p:cNvSpPr/>
            <p:nvPr/>
          </p:nvSpPr>
          <p:spPr>
            <a:xfrm>
              <a:off x="7277040" y="2676600"/>
              <a:ext cx="514080" cy="9000"/>
            </a:xfrm>
            <a:custGeom>
              <a:avLst/>
              <a:gdLst>
                <a:gd name="textAreaLeft" fmla="*/ 0 w 514080"/>
                <a:gd name="textAreaRight" fmla="*/ 514440 w 5140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514350" h="9525">
                  <a:moveTo>
                    <a:pt x="0" y="0"/>
                  </a:moveTo>
                  <a:lnTo>
                    <a:pt x="514350" y="0"/>
                  </a:lnTo>
                </a:path>
              </a:pathLst>
            </a:custGeom>
            <a:noFill/>
            <a:ln w="19050">
              <a:solidFill>
                <a:srgbClr val="2D83C5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5640" rIns="90000" bIns="-3564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Line 37"/>
            <p:cNvSpPr/>
            <p:nvPr/>
          </p:nvSpPr>
          <p:spPr>
            <a:xfrm>
              <a:off x="7791480" y="2676600"/>
              <a:ext cx="9000" cy="28548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85480"/>
                <a:gd name="textAreaBottom" fmla="*/ 285840 h 285480"/>
              </a:gdLst>
              <a:ahLst/>
              <a:cxnLst/>
              <a:rect l="textAreaLeft" t="textAreaTop" r="textAreaRight" b="textAreaBottom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2D83C5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Line 38"/>
            <p:cNvSpPr/>
            <p:nvPr/>
          </p:nvSpPr>
          <p:spPr>
            <a:xfrm>
              <a:off x="10287000" y="2562120"/>
              <a:ext cx="9000" cy="1141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14120"/>
                <a:gd name="textAreaBottom" fmla="*/ 114480 h 114120"/>
              </a:gdLst>
              <a:ahLst/>
              <a:cxnLst/>
              <a:rect l="textAreaLeft" t="textAreaTop" r="textAreaRight" b="textAreaBottom"/>
              <a:pathLst>
                <a:path w="9525" h="114300">
                  <a:moveTo>
                    <a:pt x="0" y="0"/>
                  </a:moveTo>
                  <a:lnTo>
                    <a:pt x="0" y="114300"/>
                  </a:lnTo>
                </a:path>
              </a:pathLst>
            </a:custGeom>
            <a:noFill/>
            <a:ln w="19050">
              <a:solidFill>
                <a:srgbClr val="087F8C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Line 39"/>
            <p:cNvSpPr/>
            <p:nvPr/>
          </p:nvSpPr>
          <p:spPr>
            <a:xfrm>
              <a:off x="9410760" y="2676600"/>
              <a:ext cx="875880" cy="9000"/>
            </a:xfrm>
            <a:custGeom>
              <a:avLst/>
              <a:gdLst>
                <a:gd name="textAreaLeft" fmla="*/ 0 w 875880"/>
                <a:gd name="textAreaRight" fmla="*/ 876240 w 8758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876300" h="9525">
                  <a:moveTo>
                    <a:pt x="8763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087F8C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5640" rIns="90000" bIns="-3564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Line 40"/>
            <p:cNvSpPr/>
            <p:nvPr/>
          </p:nvSpPr>
          <p:spPr>
            <a:xfrm>
              <a:off x="9410760" y="2676600"/>
              <a:ext cx="9000" cy="28548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85480"/>
                <a:gd name="textAreaBottom" fmla="*/ 285840 h 285480"/>
              </a:gdLst>
              <a:ahLst/>
              <a:cxnLst/>
              <a:rect l="textAreaLeft" t="textAreaTop" r="textAreaRight" b="textAreaBottom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087F8C"/>
              </a:solidFill>
              <a:prstDash val="dash"/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TextBox 41"/>
            <p:cNvSpPr/>
            <p:nvPr/>
          </p:nvSpPr>
          <p:spPr>
            <a:xfrm>
              <a:off x="488520" y="2759040"/>
              <a:ext cx="6296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02 </a:t>
              </a: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主线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Line 42"/>
            <p:cNvSpPr/>
            <p:nvPr/>
          </p:nvSpPr>
          <p:spPr>
            <a:xfrm>
              <a:off x="1542960" y="3190680"/>
              <a:ext cx="1162080" cy="0"/>
            </a:xfrm>
            <a:prstGeom prst="line">
              <a:avLst/>
            </a:prstGeom>
            <a:ln w="28575">
              <a:solidFill>
                <a:srgbClr val="24364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Line 43"/>
            <p:cNvSpPr/>
            <p:nvPr/>
          </p:nvSpPr>
          <p:spPr>
            <a:xfrm>
              <a:off x="3162240" y="3190680"/>
              <a:ext cx="1162080" cy="0"/>
            </a:xfrm>
            <a:prstGeom prst="line">
              <a:avLst/>
            </a:prstGeom>
            <a:ln w="28575">
              <a:solidFill>
                <a:srgbClr val="24364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Line 44"/>
            <p:cNvSpPr/>
            <p:nvPr/>
          </p:nvSpPr>
          <p:spPr>
            <a:xfrm>
              <a:off x="4781520" y="3190680"/>
              <a:ext cx="1162080" cy="0"/>
            </a:xfrm>
            <a:prstGeom prst="line">
              <a:avLst/>
            </a:prstGeom>
            <a:ln w="28575">
              <a:solidFill>
                <a:srgbClr val="24364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Line 45"/>
            <p:cNvSpPr/>
            <p:nvPr/>
          </p:nvSpPr>
          <p:spPr>
            <a:xfrm>
              <a:off x="6400800" y="3190680"/>
              <a:ext cx="1161720" cy="0"/>
            </a:xfrm>
            <a:prstGeom prst="line">
              <a:avLst/>
            </a:prstGeom>
            <a:ln w="28575">
              <a:solidFill>
                <a:srgbClr val="24364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Line 46"/>
            <p:cNvSpPr/>
            <p:nvPr/>
          </p:nvSpPr>
          <p:spPr>
            <a:xfrm>
              <a:off x="8019720" y="3190680"/>
              <a:ext cx="1162080" cy="0"/>
            </a:xfrm>
            <a:prstGeom prst="line">
              <a:avLst/>
            </a:prstGeom>
            <a:ln w="28575">
              <a:solidFill>
                <a:srgbClr val="24364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Line 47"/>
            <p:cNvSpPr/>
            <p:nvPr/>
          </p:nvSpPr>
          <p:spPr>
            <a:xfrm>
              <a:off x="9639000" y="3190680"/>
              <a:ext cx="1162080" cy="0"/>
            </a:xfrm>
            <a:prstGeom prst="line">
              <a:avLst/>
            </a:prstGeom>
            <a:ln w="28575">
              <a:solidFill>
                <a:srgbClr val="24364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Ellipse 48"/>
            <p:cNvSpPr/>
            <p:nvPr/>
          </p:nvSpPr>
          <p:spPr>
            <a:xfrm>
              <a:off x="1104840" y="2981160"/>
              <a:ext cx="418680" cy="41868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7957D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TextBox 49"/>
            <p:cNvSpPr/>
            <p:nvPr/>
          </p:nvSpPr>
          <p:spPr>
            <a:xfrm>
              <a:off x="1231560" y="3035160"/>
              <a:ext cx="1656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7957D5"/>
                  </a:solidFill>
                  <a:effectLst/>
                  <a:uFillTx/>
                  <a:latin typeface="Arial"/>
                  <a:ea typeface="Arial"/>
                </a:rPr>
                <a:t>1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Ellipse 50"/>
            <p:cNvSpPr/>
            <p:nvPr/>
          </p:nvSpPr>
          <p:spPr>
            <a:xfrm>
              <a:off x="2724120" y="2981160"/>
              <a:ext cx="418680" cy="41868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D83C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TextBox 51"/>
            <p:cNvSpPr/>
            <p:nvPr/>
          </p:nvSpPr>
          <p:spPr>
            <a:xfrm>
              <a:off x="2850840" y="3035160"/>
              <a:ext cx="1656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2D83C5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Ellipse 52"/>
            <p:cNvSpPr/>
            <p:nvPr/>
          </p:nvSpPr>
          <p:spPr>
            <a:xfrm>
              <a:off x="4343400" y="2981160"/>
              <a:ext cx="418680" cy="41868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E88A2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TextBox 53"/>
            <p:cNvSpPr/>
            <p:nvPr/>
          </p:nvSpPr>
          <p:spPr>
            <a:xfrm>
              <a:off x="4470120" y="3035160"/>
              <a:ext cx="1656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E88A2E"/>
                  </a:solidFill>
                  <a:effectLst/>
                  <a:uFillTx/>
                  <a:latin typeface="Arial"/>
                  <a:ea typeface="Arial"/>
                </a:rPr>
                <a:t>3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Ellipse 55"/>
            <p:cNvSpPr/>
            <p:nvPr/>
          </p:nvSpPr>
          <p:spPr>
            <a:xfrm>
              <a:off x="5962680" y="2981160"/>
              <a:ext cx="418680" cy="41868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2A9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TextBox 56"/>
            <p:cNvSpPr/>
            <p:nvPr/>
          </p:nvSpPr>
          <p:spPr>
            <a:xfrm>
              <a:off x="6089400" y="3035160"/>
              <a:ext cx="1656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22A965"/>
                  </a:solidFill>
                  <a:effectLst/>
                  <a:uFillTx/>
                  <a:latin typeface="Arial"/>
                  <a:ea typeface="Arial"/>
                </a:rPr>
                <a:t>4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Ellipse 57"/>
            <p:cNvSpPr/>
            <p:nvPr/>
          </p:nvSpPr>
          <p:spPr>
            <a:xfrm>
              <a:off x="7581960" y="2981160"/>
              <a:ext cx="418680" cy="41868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2A9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8" name="TextBox 58"/>
            <p:cNvSpPr/>
            <p:nvPr/>
          </p:nvSpPr>
          <p:spPr>
            <a:xfrm>
              <a:off x="7708680" y="3035160"/>
              <a:ext cx="1656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22A965"/>
                  </a:solidFill>
                  <a:effectLst/>
                  <a:uFillTx/>
                  <a:latin typeface="Arial"/>
                  <a:ea typeface="Arial"/>
                </a:rPr>
                <a:t>5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9" name="Ellipse 59"/>
            <p:cNvSpPr/>
            <p:nvPr/>
          </p:nvSpPr>
          <p:spPr>
            <a:xfrm>
              <a:off x="9201240" y="2981160"/>
              <a:ext cx="418680" cy="41868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22A965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0" name="TextBox 60"/>
            <p:cNvSpPr/>
            <p:nvPr/>
          </p:nvSpPr>
          <p:spPr>
            <a:xfrm>
              <a:off x="9327960" y="3035160"/>
              <a:ext cx="1656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22A965"/>
                  </a:solidFill>
                  <a:effectLst/>
                  <a:uFillTx/>
                  <a:latin typeface="Arial"/>
                  <a:ea typeface="Arial"/>
                </a:rPr>
                <a:t>6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1" name="Ellipse 61"/>
            <p:cNvSpPr/>
            <p:nvPr/>
          </p:nvSpPr>
          <p:spPr>
            <a:xfrm>
              <a:off x="10820520" y="2981160"/>
              <a:ext cx="418680" cy="41868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E88A2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2" name="TextBox 62"/>
            <p:cNvSpPr/>
            <p:nvPr/>
          </p:nvSpPr>
          <p:spPr>
            <a:xfrm>
              <a:off x="10946880" y="3035160"/>
              <a:ext cx="1656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E88A2E"/>
                  </a:solidFill>
                  <a:effectLst/>
                  <a:uFillTx/>
                  <a:latin typeface="Arial"/>
                  <a:ea typeface="Arial"/>
                </a:rPr>
                <a:t>7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33" name="step-demand"/>
            <p:cNvGrpSpPr/>
            <p:nvPr/>
          </p:nvGrpSpPr>
          <p:grpSpPr>
            <a:xfrm>
              <a:off x="647640" y="3571920"/>
              <a:ext cx="1333080" cy="1241280"/>
              <a:chOff x="647640" y="3571920"/>
              <a:chExt cx="1333080" cy="1241280"/>
            </a:xfrm>
          </p:grpSpPr>
          <p:sp>
            <p:nvSpPr>
              <p:cNvPr id="134" name="Rectangle 63"/>
              <p:cNvSpPr/>
              <p:nvPr/>
            </p:nvSpPr>
            <p:spPr>
              <a:xfrm>
                <a:off x="647640" y="3571920"/>
                <a:ext cx="1333080" cy="914040"/>
              </a:xfrm>
              <a:prstGeom prst="roundRect">
                <a:avLst>
                  <a:gd name="adj" fmla="val 8333"/>
                </a:avLst>
              </a:prstGeom>
              <a:solidFill>
                <a:srgbClr val="F1ECFB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5" name="TextBox 64"/>
              <p:cNvSpPr/>
              <p:nvPr/>
            </p:nvSpPr>
            <p:spPr>
              <a:xfrm>
                <a:off x="699480" y="3708360"/>
                <a:ext cx="1229400" cy="351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800" b="1" u="none" strike="noStrike">
                    <a:solidFill>
                      <a:srgbClr val="13243A"/>
                    </a:solidFill>
                    <a:effectLst/>
                    <a:uFillTx/>
                    <a:latin typeface="Arial"/>
                    <a:ea typeface="微软雅黑"/>
                  </a:rPr>
                  <a:t>需求与依据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6" name="TextBox 65"/>
              <p:cNvSpPr/>
              <p:nvPr/>
            </p:nvSpPr>
            <p:spPr>
              <a:xfrm>
                <a:off x="853200" y="4083120"/>
                <a:ext cx="92196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特征、检索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37" name="TextBox 66"/>
              <p:cNvSpPr/>
              <p:nvPr/>
            </p:nvSpPr>
            <p:spPr>
              <a:xfrm>
                <a:off x="671400" y="4549680"/>
                <a:ext cx="128556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需求表、参考包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38" name="step-concept"/>
            <p:cNvGrpSpPr/>
            <p:nvPr/>
          </p:nvGrpSpPr>
          <p:grpSpPr>
            <a:xfrm>
              <a:off x="2266920" y="3571920"/>
              <a:ext cx="1333080" cy="1241280"/>
              <a:chOff x="2266920" y="3571920"/>
              <a:chExt cx="1333080" cy="1241280"/>
            </a:xfrm>
          </p:grpSpPr>
          <p:sp>
            <p:nvSpPr>
              <p:cNvPr id="139" name="Rectangle 68"/>
              <p:cNvSpPr/>
              <p:nvPr/>
            </p:nvSpPr>
            <p:spPr>
              <a:xfrm>
                <a:off x="2266920" y="3571920"/>
                <a:ext cx="1333080" cy="914040"/>
              </a:xfrm>
              <a:prstGeom prst="roundRect">
                <a:avLst>
                  <a:gd name="adj" fmla="val 8333"/>
                </a:avLst>
              </a:prstGeom>
              <a:solidFill>
                <a:srgbClr val="EBF3FA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0" name="TextBox 69"/>
              <p:cNvSpPr/>
              <p:nvPr/>
            </p:nvSpPr>
            <p:spPr>
              <a:xfrm>
                <a:off x="2440080" y="3708360"/>
                <a:ext cx="987120" cy="351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800" b="1" u="none" strike="noStrike">
                    <a:solidFill>
                      <a:srgbClr val="13243A"/>
                    </a:solidFill>
                    <a:effectLst/>
                    <a:uFillTx/>
                    <a:latin typeface="Arial"/>
                    <a:ea typeface="微软雅黑"/>
                  </a:rPr>
                  <a:t>概念方案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1" name="TextBox 70"/>
              <p:cNvSpPr/>
              <p:nvPr/>
            </p:nvSpPr>
            <p:spPr>
              <a:xfrm>
                <a:off x="2472480" y="4083120"/>
                <a:ext cx="92196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发想、生成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2" name="TextBox 71"/>
              <p:cNvSpPr/>
              <p:nvPr/>
            </p:nvSpPr>
            <p:spPr>
              <a:xfrm>
                <a:off x="2290680" y="4549680"/>
                <a:ext cx="128556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可比方向与视图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43" name="Freeform 73"/>
            <p:cNvSpPr/>
            <p:nvPr/>
          </p:nvSpPr>
          <p:spPr>
            <a:xfrm>
              <a:off x="3886200" y="3571920"/>
              <a:ext cx="1333080" cy="914040"/>
            </a:xfrm>
            <a:prstGeom prst="diamond">
              <a:avLst/>
            </a:prstGeom>
            <a:solidFill>
              <a:srgbClr val="FFF2E4"/>
            </a:solidFill>
            <a:ln w="19050">
              <a:solidFill>
                <a:srgbClr val="E88A2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TextBox 74"/>
            <p:cNvSpPr/>
            <p:nvPr/>
          </p:nvSpPr>
          <p:spPr>
            <a:xfrm>
              <a:off x="4059000" y="3879720"/>
              <a:ext cx="9871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人工选型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TextBox 75"/>
            <p:cNvSpPr/>
            <p:nvPr/>
          </p:nvSpPr>
          <p:spPr>
            <a:xfrm>
              <a:off x="3819240" y="4549680"/>
              <a:ext cx="14673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方案、侧别与参照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46" name="step-rough"/>
            <p:cNvGrpSpPr/>
            <p:nvPr/>
          </p:nvGrpSpPr>
          <p:grpSpPr>
            <a:xfrm>
              <a:off x="5505480" y="3571920"/>
              <a:ext cx="1333080" cy="1241280"/>
              <a:chOff x="5505480" y="3571920"/>
              <a:chExt cx="1333080" cy="1241280"/>
            </a:xfrm>
          </p:grpSpPr>
          <p:sp>
            <p:nvSpPr>
              <p:cNvPr id="147" name="Rectangle 76"/>
              <p:cNvSpPr/>
              <p:nvPr/>
            </p:nvSpPr>
            <p:spPr>
              <a:xfrm>
                <a:off x="5505480" y="3571920"/>
                <a:ext cx="1333080" cy="914040"/>
              </a:xfrm>
              <a:prstGeom prst="roundRect">
                <a:avLst>
                  <a:gd name="adj" fmla="val 8333"/>
                </a:avLst>
              </a:prstGeom>
              <a:solidFill>
                <a:srgbClr val="EAF7F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8" name="TextBox 77"/>
              <p:cNvSpPr/>
              <p:nvPr/>
            </p:nvSpPr>
            <p:spPr>
              <a:xfrm>
                <a:off x="5678280" y="3708360"/>
                <a:ext cx="987120" cy="351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800" b="1" u="none" strike="noStrike">
                    <a:solidFill>
                      <a:srgbClr val="13243A"/>
                    </a:solidFill>
                    <a:effectLst/>
                    <a:uFillTx/>
                    <a:latin typeface="Arial"/>
                    <a:ea typeface="微软雅黑"/>
                  </a:rPr>
                  <a:t>可调粗模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49" name="TextBox 78"/>
              <p:cNvSpPr/>
              <p:nvPr/>
            </p:nvSpPr>
            <p:spPr>
              <a:xfrm>
                <a:off x="5711040" y="4083120"/>
                <a:ext cx="92196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部件与比例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0" name="TextBox 79"/>
              <p:cNvSpPr/>
              <p:nvPr/>
            </p:nvSpPr>
            <p:spPr>
              <a:xfrm>
                <a:off x="5619960" y="4549680"/>
                <a:ext cx="110376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保留布局变量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1" name="step-refinement"/>
            <p:cNvGrpSpPr/>
            <p:nvPr/>
          </p:nvGrpSpPr>
          <p:grpSpPr>
            <a:xfrm>
              <a:off x="7057800" y="3571920"/>
              <a:ext cx="1467360" cy="1241280"/>
              <a:chOff x="7057800" y="3571920"/>
              <a:chExt cx="1467360" cy="1241280"/>
            </a:xfrm>
          </p:grpSpPr>
          <p:sp>
            <p:nvSpPr>
              <p:cNvPr id="152" name="Rectangle 81"/>
              <p:cNvSpPr/>
              <p:nvPr/>
            </p:nvSpPr>
            <p:spPr>
              <a:xfrm>
                <a:off x="7124760" y="3571920"/>
                <a:ext cx="1333080" cy="914040"/>
              </a:xfrm>
              <a:prstGeom prst="roundRect">
                <a:avLst>
                  <a:gd name="adj" fmla="val 8333"/>
                </a:avLst>
              </a:prstGeom>
              <a:solidFill>
                <a:srgbClr val="EAF7F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3" name="TextBox 82"/>
              <p:cNvSpPr/>
              <p:nvPr/>
            </p:nvSpPr>
            <p:spPr>
              <a:xfrm>
                <a:off x="7297560" y="3708360"/>
                <a:ext cx="987120" cy="351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800" b="1" u="none" strike="noStrike">
                    <a:solidFill>
                      <a:srgbClr val="13243A"/>
                    </a:solidFill>
                    <a:effectLst/>
                    <a:uFillTx/>
                    <a:latin typeface="Arial"/>
                    <a:ea typeface="微软雅黑"/>
                  </a:rPr>
                  <a:t>联合精修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4" name="TextBox 83"/>
              <p:cNvSpPr/>
              <p:nvPr/>
            </p:nvSpPr>
            <p:spPr>
              <a:xfrm>
                <a:off x="7330320" y="4083120"/>
                <a:ext cx="92196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概念、耳区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5" name="TextBox 84"/>
              <p:cNvSpPr/>
              <p:nvPr/>
            </p:nvSpPr>
            <p:spPr>
              <a:xfrm>
                <a:off x="7057800" y="4549680"/>
                <a:ext cx="146736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圈选、剖面、位姿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56" name="step-verification"/>
            <p:cNvGrpSpPr/>
            <p:nvPr/>
          </p:nvGrpSpPr>
          <p:grpSpPr>
            <a:xfrm>
              <a:off x="8744040" y="3571920"/>
              <a:ext cx="1333080" cy="1241280"/>
              <a:chOff x="8744040" y="3571920"/>
              <a:chExt cx="1333080" cy="1241280"/>
            </a:xfrm>
          </p:grpSpPr>
          <p:sp>
            <p:nvSpPr>
              <p:cNvPr id="157" name="Rectangle 86"/>
              <p:cNvSpPr/>
              <p:nvPr/>
            </p:nvSpPr>
            <p:spPr>
              <a:xfrm>
                <a:off x="8744040" y="3571920"/>
                <a:ext cx="1333080" cy="914040"/>
              </a:xfrm>
              <a:prstGeom prst="roundRect">
                <a:avLst>
                  <a:gd name="adj" fmla="val 8333"/>
                </a:avLst>
              </a:prstGeom>
              <a:solidFill>
                <a:srgbClr val="EAF7F0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8" name="TextBox 87"/>
              <p:cNvSpPr/>
              <p:nvPr/>
            </p:nvSpPr>
            <p:spPr>
              <a:xfrm>
                <a:off x="8916840" y="3708360"/>
                <a:ext cx="987120" cy="351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800" b="1" u="none" strike="noStrike">
                    <a:solidFill>
                      <a:srgbClr val="13243A"/>
                    </a:solidFill>
                    <a:effectLst/>
                    <a:uFillTx/>
                    <a:latin typeface="Arial"/>
                    <a:ea typeface="微软雅黑"/>
                  </a:rPr>
                  <a:t>保存复核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59" name="TextBox 88"/>
              <p:cNvSpPr/>
              <p:nvPr/>
            </p:nvSpPr>
            <p:spPr>
              <a:xfrm>
                <a:off x="8949600" y="4083120"/>
                <a:ext cx="92196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重开、检查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0" name="TextBox 89"/>
              <p:cNvSpPr/>
              <p:nvPr/>
            </p:nvSpPr>
            <p:spPr>
              <a:xfrm>
                <a:off x="8767800" y="4549680"/>
                <a:ext cx="128556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同版几何与视图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61" name="Freeform 91"/>
            <p:cNvSpPr/>
            <p:nvPr/>
          </p:nvSpPr>
          <p:spPr>
            <a:xfrm>
              <a:off x="10363320" y="3571920"/>
              <a:ext cx="1333080" cy="914040"/>
            </a:xfrm>
            <a:prstGeom prst="diamond">
              <a:avLst/>
            </a:prstGeom>
            <a:solidFill>
              <a:srgbClr val="FFF2E4"/>
            </a:solidFill>
            <a:ln w="19050">
              <a:solidFill>
                <a:srgbClr val="E88A2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TextBox 92"/>
            <p:cNvSpPr/>
            <p:nvPr/>
          </p:nvSpPr>
          <p:spPr>
            <a:xfrm>
              <a:off x="10536120" y="3879720"/>
              <a:ext cx="98712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人工复核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TextBox 93"/>
            <p:cNvSpPr/>
            <p:nvPr/>
          </p:nvSpPr>
          <p:spPr>
            <a:xfrm>
              <a:off x="10387080" y="4549680"/>
              <a:ext cx="12855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认可范围与欠项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4" name="TextBox 94"/>
            <p:cNvSpPr/>
            <p:nvPr/>
          </p:nvSpPr>
          <p:spPr>
            <a:xfrm>
              <a:off x="717120" y="4930920"/>
              <a:ext cx="9928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03 </a:t>
              </a: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复核回写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5" name="TextBox 95"/>
            <p:cNvSpPr/>
            <p:nvPr/>
          </p:nvSpPr>
          <p:spPr>
            <a:xfrm>
              <a:off x="2345760" y="4930920"/>
              <a:ext cx="47386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未通过时回到责任阶段返工，已有授权范围内持续技术检查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166" name="feedback-rules"/>
            <p:cNvGrpSpPr/>
            <p:nvPr/>
          </p:nvGrpSpPr>
          <p:grpSpPr>
            <a:xfrm>
              <a:off x="876240" y="5419800"/>
              <a:ext cx="2990520" cy="723600"/>
              <a:chOff x="876240" y="5419800"/>
              <a:chExt cx="2990520" cy="723600"/>
            </a:xfrm>
          </p:grpSpPr>
          <p:sp>
            <p:nvSpPr>
              <p:cNvPr id="167" name="Rectangle 96"/>
              <p:cNvSpPr/>
              <p:nvPr/>
            </p:nvSpPr>
            <p:spPr>
              <a:xfrm>
                <a:off x="876240" y="5419800"/>
                <a:ext cx="2990520" cy="723600"/>
              </a:xfrm>
              <a:prstGeom prst="roundRect">
                <a:avLst>
                  <a:gd name="adj" fmla="val 10526"/>
                </a:avLst>
              </a:prstGeom>
              <a:solidFill>
                <a:srgbClr val="E9F4F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8" name="Rectangle 97"/>
              <p:cNvSpPr/>
              <p:nvPr/>
            </p:nvSpPr>
            <p:spPr>
              <a:xfrm>
                <a:off x="876240" y="5419800"/>
                <a:ext cx="2990520" cy="47160"/>
              </a:xfrm>
              <a:prstGeom prst="rect">
                <a:avLst/>
              </a:prstGeom>
              <a:solidFill>
                <a:srgbClr val="087F8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520" rIns="90000" bIns="2520" anchor="t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69" name="TextBox 98"/>
              <p:cNvSpPr/>
              <p:nvPr/>
            </p:nvSpPr>
            <p:spPr>
              <a:xfrm>
                <a:off x="1029240" y="5537160"/>
                <a:ext cx="2198880" cy="351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800" b="1" u="none" strike="noStrike">
                    <a:solidFill>
                      <a:srgbClr val="13243A"/>
                    </a:solidFill>
                    <a:effectLst/>
                    <a:uFillTx/>
                    <a:latin typeface="Arial"/>
                    <a:ea typeface="微软雅黑"/>
                  </a:rPr>
                  <a:t>更新规则与执行入口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0" name="TextBox 99"/>
              <p:cNvSpPr/>
              <p:nvPr/>
            </p:nvSpPr>
            <p:spPr>
              <a:xfrm>
                <a:off x="1031400" y="5854680"/>
                <a:ext cx="249336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工作流、</a:t>
                </a:r>
                <a:r>
                  <a:rPr lang="en-US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Memory</a:t>
                </a: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、模板与工具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1" name="feedback-analysis"/>
            <p:cNvGrpSpPr/>
            <p:nvPr/>
          </p:nvGrpSpPr>
          <p:grpSpPr>
            <a:xfrm>
              <a:off x="4857840" y="5419800"/>
              <a:ext cx="2990520" cy="723600"/>
              <a:chOff x="4857840" y="5419800"/>
              <a:chExt cx="2990520" cy="723600"/>
            </a:xfrm>
          </p:grpSpPr>
          <p:sp>
            <p:nvSpPr>
              <p:cNvPr id="172" name="Rectangle 101"/>
              <p:cNvSpPr/>
              <p:nvPr/>
            </p:nvSpPr>
            <p:spPr>
              <a:xfrm>
                <a:off x="4857840" y="5419800"/>
                <a:ext cx="2990520" cy="723600"/>
              </a:xfrm>
              <a:prstGeom prst="roundRect">
                <a:avLst>
                  <a:gd name="adj" fmla="val 10526"/>
                </a:avLst>
              </a:prstGeom>
              <a:solidFill>
                <a:srgbClr val="FFF2E4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3" name="Rectangle 102"/>
              <p:cNvSpPr/>
              <p:nvPr/>
            </p:nvSpPr>
            <p:spPr>
              <a:xfrm>
                <a:off x="4857840" y="5419800"/>
                <a:ext cx="2990520" cy="47160"/>
              </a:xfrm>
              <a:prstGeom prst="rect">
                <a:avLst/>
              </a:prstGeom>
              <a:solidFill>
                <a:srgbClr val="E88A2E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520" rIns="90000" bIns="252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4" name="TextBox 103"/>
              <p:cNvSpPr/>
              <p:nvPr/>
            </p:nvSpPr>
            <p:spPr>
              <a:xfrm>
                <a:off x="5010480" y="5537160"/>
                <a:ext cx="2198880" cy="351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800" b="1" u="none" strike="noStrike">
                    <a:solidFill>
                      <a:srgbClr val="13243A"/>
                    </a:solidFill>
                    <a:effectLst/>
                    <a:uFillTx/>
                    <a:latin typeface="Arial"/>
                    <a:ea typeface="微软雅黑"/>
                  </a:rPr>
                  <a:t>复核范围与原因记录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5" name="TextBox 104"/>
              <p:cNvSpPr/>
              <p:nvPr/>
            </p:nvSpPr>
            <p:spPr>
              <a:xfrm>
                <a:off x="5012640" y="5854680"/>
                <a:ext cx="237600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通过项、失败原因、未覆盖项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76" name="feedback-output"/>
            <p:cNvGrpSpPr/>
            <p:nvPr/>
          </p:nvGrpSpPr>
          <p:grpSpPr>
            <a:xfrm>
              <a:off x="8705880" y="5419800"/>
              <a:ext cx="2990520" cy="723600"/>
              <a:chOff x="8705880" y="5419800"/>
              <a:chExt cx="2990520" cy="723600"/>
            </a:xfrm>
          </p:grpSpPr>
          <p:sp>
            <p:nvSpPr>
              <p:cNvPr id="177" name="Rectangle 106"/>
              <p:cNvSpPr/>
              <p:nvPr/>
            </p:nvSpPr>
            <p:spPr>
              <a:xfrm>
                <a:off x="8705880" y="5419800"/>
                <a:ext cx="2990520" cy="723600"/>
              </a:xfrm>
              <a:prstGeom prst="roundRect">
                <a:avLst>
                  <a:gd name="adj" fmla="val 10526"/>
                </a:avLst>
              </a:prstGeom>
              <a:solidFill>
                <a:srgbClr val="E9F4F5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8" name="Rectangle 107"/>
              <p:cNvSpPr/>
              <p:nvPr/>
            </p:nvSpPr>
            <p:spPr>
              <a:xfrm>
                <a:off x="8705880" y="5419800"/>
                <a:ext cx="2990520" cy="47160"/>
              </a:xfrm>
              <a:prstGeom prst="rect">
                <a:avLst/>
              </a:prstGeom>
              <a:solidFill>
                <a:srgbClr val="087F8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2520" rIns="90000" bIns="2520" anchor="t">
                <a:noAutofit/>
              </a:bodyPr>
              <a:p>
                <a:pPr/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79" name="TextBox 108"/>
              <p:cNvSpPr/>
              <p:nvPr/>
            </p:nvSpPr>
            <p:spPr>
              <a:xfrm>
                <a:off x="8858520" y="5537160"/>
                <a:ext cx="2198880" cy="351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800" b="1" u="none" strike="noStrike">
                    <a:solidFill>
                      <a:srgbClr val="13243A"/>
                    </a:solidFill>
                    <a:effectLst/>
                    <a:uFillTx/>
                    <a:latin typeface="Arial"/>
                    <a:ea typeface="微软雅黑"/>
                  </a:rPr>
                  <a:t>同版成果与对照回执</a:t>
                </a: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180" name="TextBox 109"/>
              <p:cNvSpPr/>
              <p:nvPr/>
            </p:nvSpPr>
            <p:spPr>
              <a:xfrm>
                <a:off x="8861040" y="5854680"/>
                <a:ext cx="221400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保存文件、</a:t>
                </a:r>
                <a:r>
                  <a:rPr lang="en-US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A/B PDF</a:t>
                </a: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、待办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181" name="Line 111"/>
            <p:cNvSpPr/>
            <p:nvPr/>
          </p:nvSpPr>
          <p:spPr>
            <a:xfrm>
              <a:off x="11029680" y="4876560"/>
              <a:ext cx="0" cy="438120"/>
            </a:xfrm>
            <a:prstGeom prst="line">
              <a:avLst/>
            </a:prstGeom>
            <a:ln w="28575">
              <a:solidFill>
                <a:srgbClr val="087F8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Line 112"/>
            <p:cNvSpPr/>
            <p:nvPr/>
          </p:nvSpPr>
          <p:spPr>
            <a:xfrm flipH="1">
              <a:off x="7953120" y="5790960"/>
              <a:ext cx="647640" cy="0"/>
            </a:xfrm>
            <a:prstGeom prst="line">
              <a:avLst/>
            </a:prstGeom>
            <a:ln w="28575">
              <a:solidFill>
                <a:srgbClr val="087F8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3" name="Line 113"/>
            <p:cNvSpPr/>
            <p:nvPr/>
          </p:nvSpPr>
          <p:spPr>
            <a:xfrm flipH="1">
              <a:off x="3971880" y="5790960"/>
              <a:ext cx="780840" cy="0"/>
            </a:xfrm>
            <a:prstGeom prst="line">
              <a:avLst/>
            </a:prstGeom>
            <a:ln w="28575">
              <a:solidFill>
                <a:srgbClr val="087F8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4" name="Line 114"/>
            <p:cNvSpPr/>
            <p:nvPr/>
          </p:nvSpPr>
          <p:spPr>
            <a:xfrm>
              <a:off x="514440" y="5791320"/>
              <a:ext cx="361440" cy="9000"/>
            </a:xfrm>
            <a:custGeom>
              <a:avLst/>
              <a:gdLst>
                <a:gd name="textAreaLeft" fmla="*/ 0 w 361440"/>
                <a:gd name="textAreaRight" fmla="*/ 361800 w 3614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361950" h="9525">
                  <a:moveTo>
                    <a:pt x="361950" y="0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87F8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5640" rIns="90000" bIns="-3564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Line 115"/>
            <p:cNvSpPr/>
            <p:nvPr/>
          </p:nvSpPr>
          <p:spPr>
            <a:xfrm>
              <a:off x="514440" y="3191040"/>
              <a:ext cx="9000" cy="259992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2599920"/>
                <a:gd name="textAreaBottom" fmla="*/ 2600280 h 2599920"/>
              </a:gdLst>
              <a:ahLst/>
              <a:cxnLst/>
              <a:rect l="textAreaLeft" t="textAreaTop" r="textAreaRight" b="textAreaBottom"/>
              <a:pathLst>
                <a:path w="9525" h="2600325">
                  <a:moveTo>
                    <a:pt x="0" y="2600325"/>
                  </a:move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087F8C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Line 116"/>
            <p:cNvSpPr/>
            <p:nvPr/>
          </p:nvSpPr>
          <p:spPr>
            <a:xfrm>
              <a:off x="514080" y="3190680"/>
              <a:ext cx="523800" cy="0"/>
            </a:xfrm>
            <a:prstGeom prst="line">
              <a:avLst/>
            </a:prstGeom>
            <a:ln w="28575">
              <a:solidFill>
                <a:srgbClr val="087F8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TextBox 117"/>
            <p:cNvSpPr/>
            <p:nvPr/>
          </p:nvSpPr>
          <p:spPr>
            <a:xfrm>
              <a:off x="717120" y="5168880"/>
              <a:ext cx="740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087F8C"/>
                  </a:solidFill>
                  <a:effectLst/>
                  <a:uFillTx/>
                  <a:latin typeface="Arial"/>
                  <a:ea typeface="微软雅黑"/>
                </a:rPr>
                <a:t>下轮读取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8" name="function-legend"/>
          <p:cNvGrpSpPr/>
          <p:nvPr/>
        </p:nvGrpSpPr>
        <p:grpSpPr>
          <a:xfrm>
            <a:off x="504720" y="6445080"/>
            <a:ext cx="9182160" cy="263520"/>
            <a:chOff x="504720" y="6445080"/>
            <a:chExt cx="9182160" cy="263520"/>
          </a:xfrm>
        </p:grpSpPr>
        <p:sp>
          <p:nvSpPr>
            <p:cNvPr id="189" name="Ellipse 119"/>
            <p:cNvSpPr/>
            <p:nvPr/>
          </p:nvSpPr>
          <p:spPr>
            <a:xfrm>
              <a:off x="504720" y="6505560"/>
              <a:ext cx="95040" cy="95040"/>
            </a:xfrm>
            <a:prstGeom prst="ellipse">
              <a:avLst/>
            </a:prstGeom>
            <a:solidFill>
              <a:srgbClr val="7957D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2680" rIns="90000" bIns="2268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TextBox 120"/>
            <p:cNvSpPr/>
            <p:nvPr/>
          </p:nvSpPr>
          <p:spPr>
            <a:xfrm>
              <a:off x="678960" y="6445080"/>
              <a:ext cx="921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知识与参照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Ellipse 121"/>
            <p:cNvSpPr/>
            <p:nvPr/>
          </p:nvSpPr>
          <p:spPr>
            <a:xfrm>
              <a:off x="2571840" y="6505560"/>
              <a:ext cx="95040" cy="95040"/>
            </a:xfrm>
            <a:prstGeom prst="ellipse">
              <a:avLst/>
            </a:prstGeom>
            <a:solidFill>
              <a:srgbClr val="2D83C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2680" rIns="90000" bIns="2268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TextBox 122"/>
            <p:cNvSpPr/>
            <p:nvPr/>
          </p:nvSpPr>
          <p:spPr>
            <a:xfrm>
              <a:off x="2745720" y="6445080"/>
              <a:ext cx="921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分析与生成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Ellipse 123"/>
            <p:cNvSpPr/>
            <p:nvPr/>
          </p:nvSpPr>
          <p:spPr>
            <a:xfrm>
              <a:off x="4638600" y="6505560"/>
              <a:ext cx="95040" cy="95040"/>
            </a:xfrm>
            <a:prstGeom prst="ellipse">
              <a:avLst/>
            </a:prstGeom>
            <a:solidFill>
              <a:srgbClr val="22A96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2680" rIns="90000" bIns="2268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TextBox 124"/>
            <p:cNvSpPr/>
            <p:nvPr/>
          </p:nvSpPr>
          <p:spPr>
            <a:xfrm>
              <a:off x="4812840" y="6445080"/>
              <a:ext cx="740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工具执行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Ellipse 125"/>
            <p:cNvSpPr/>
            <p:nvPr/>
          </p:nvSpPr>
          <p:spPr>
            <a:xfrm>
              <a:off x="6705720" y="6505560"/>
              <a:ext cx="95040" cy="95040"/>
            </a:xfrm>
            <a:prstGeom prst="ellipse">
              <a:avLst/>
            </a:prstGeom>
            <a:solidFill>
              <a:srgbClr val="E88A2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2680" rIns="90000" bIns="2268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6" name="TextBox 126"/>
            <p:cNvSpPr/>
            <p:nvPr/>
          </p:nvSpPr>
          <p:spPr>
            <a:xfrm>
              <a:off x="6879600" y="6445080"/>
              <a:ext cx="740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审核判断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7" name="Ellipse 127"/>
            <p:cNvSpPr/>
            <p:nvPr/>
          </p:nvSpPr>
          <p:spPr>
            <a:xfrm>
              <a:off x="8772480" y="6505560"/>
              <a:ext cx="95040" cy="95040"/>
            </a:xfrm>
            <a:prstGeom prst="ellipse">
              <a:avLst/>
            </a:prstGeom>
            <a:solidFill>
              <a:srgbClr val="087F8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22680" rIns="90000" bIns="2268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8" name="TextBox 128"/>
            <p:cNvSpPr/>
            <p:nvPr/>
          </p:nvSpPr>
          <p:spPr>
            <a:xfrm>
              <a:off x="8946720" y="6445080"/>
              <a:ext cx="740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复核回写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header"/>
          <p:cNvGrpSpPr/>
          <p:nvPr/>
        </p:nvGrpSpPr>
        <p:grpSpPr>
          <a:xfrm>
            <a:off x="478440" y="422280"/>
            <a:ext cx="7742520" cy="973080"/>
            <a:chOff x="478440" y="422280"/>
            <a:chExt cx="7742520" cy="973080"/>
          </a:xfrm>
        </p:grpSpPr>
        <p:sp>
          <p:nvSpPr>
            <p:cNvPr id="200" name="TextBox 2"/>
            <p:cNvSpPr/>
            <p:nvPr/>
          </p:nvSpPr>
          <p:spPr>
            <a:xfrm>
              <a:off x="478440" y="422280"/>
              <a:ext cx="484452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33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RAG</a:t>
              </a:r>
              <a:r>
                <a:rPr lang="zh-CN" sz="33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知识检索与设计依据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1" name="TextBox 3"/>
            <p:cNvSpPr/>
            <p:nvPr/>
          </p:nvSpPr>
          <p:spPr>
            <a:xfrm>
              <a:off x="487080" y="1073160"/>
              <a:ext cx="77338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RAG</a:t>
              </a: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（知识检索增强）读取产品案例、耳部资料和工具文档，为设计提供依据。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2" name="knowledge-routing"/>
          <p:cNvGrpSpPr/>
          <p:nvPr/>
        </p:nvGrpSpPr>
        <p:grpSpPr>
          <a:xfrm>
            <a:off x="495360" y="1724040"/>
            <a:ext cx="11201040" cy="1771200"/>
            <a:chOff x="495360" y="1724040"/>
            <a:chExt cx="11201040" cy="1771200"/>
          </a:xfrm>
        </p:grpSpPr>
        <p:sp>
          <p:nvSpPr>
            <p:cNvPr id="203" name="Rectangle 5"/>
            <p:cNvSpPr/>
            <p:nvPr/>
          </p:nvSpPr>
          <p:spPr>
            <a:xfrm>
              <a:off x="495360" y="1724040"/>
              <a:ext cx="3504960" cy="1771200"/>
            </a:xfrm>
            <a:prstGeom prst="roundRect">
              <a:avLst>
                <a:gd name="adj" fmla="val 5376"/>
              </a:avLst>
            </a:prstGeom>
            <a:solidFill>
              <a:srgbClr val="EEF2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TextBox 6"/>
            <p:cNvSpPr/>
            <p:nvPr/>
          </p:nvSpPr>
          <p:spPr>
            <a:xfrm>
              <a:off x="713880" y="184464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chemeClr val="accent2"/>
                  </a:solidFill>
                  <a:effectLst/>
                  <a:uFillTx/>
                  <a:latin typeface="Arial"/>
                  <a:ea typeface="Microsoft YaHei"/>
                </a:rPr>
                <a:t>设计资料：方案与取舍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TextBox 7"/>
            <p:cNvSpPr/>
            <p:nvPr/>
          </p:nvSpPr>
          <p:spPr>
            <a:xfrm>
              <a:off x="715680" y="2311560"/>
              <a:ext cx="31262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产品案例、图片观察、使用反馈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TextBox 8"/>
            <p:cNvSpPr/>
            <p:nvPr/>
          </p:nvSpPr>
          <p:spPr>
            <a:xfrm>
              <a:off x="715680" y="2701800"/>
              <a:ext cx="31262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结构取舍、支撑策略、材质语言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TextBox 9"/>
            <p:cNvSpPr/>
            <p:nvPr/>
          </p:nvSpPr>
          <p:spPr>
            <a:xfrm>
              <a:off x="717120" y="3139920"/>
              <a:ext cx="20124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当前案例检索的主要依据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Rectangle 10"/>
            <p:cNvSpPr/>
            <p:nvPr/>
          </p:nvSpPr>
          <p:spPr>
            <a:xfrm>
              <a:off x="4343400" y="1724040"/>
              <a:ext cx="3504960" cy="1771200"/>
            </a:xfrm>
            <a:prstGeom prst="roundRect">
              <a:avLst>
                <a:gd name="adj" fmla="val 5376"/>
              </a:avLst>
            </a:prstGeom>
            <a:solidFill>
              <a:srgbClr val="E8F6F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TextBox 11"/>
            <p:cNvSpPr/>
            <p:nvPr/>
          </p:nvSpPr>
          <p:spPr>
            <a:xfrm>
              <a:off x="4561920" y="184464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Microsoft YaHei"/>
                </a:rPr>
                <a:t>耳部资料：位置与约束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TextBox 12"/>
            <p:cNvSpPr/>
            <p:nvPr/>
          </p:nvSpPr>
          <p:spPr>
            <a:xfrm>
              <a:off x="4563720" y="2311560"/>
              <a:ext cx="31262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耳部区域、尺寸含义、接触边界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13"/>
            <p:cNvSpPr/>
            <p:nvPr/>
          </p:nvSpPr>
          <p:spPr>
            <a:xfrm>
              <a:off x="4563720" y="2701800"/>
              <a:ext cx="31262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支持定位与适配，舒适性待实测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TextBox 14"/>
            <p:cNvSpPr/>
            <p:nvPr/>
          </p:nvSpPr>
          <p:spPr>
            <a:xfrm>
              <a:off x="4565160" y="3139920"/>
              <a:ext cx="20124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独立知识库，按任务选择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Rectangle 15"/>
            <p:cNvSpPr/>
            <p:nvPr/>
          </p:nvSpPr>
          <p:spPr>
            <a:xfrm>
              <a:off x="8191440" y="1724040"/>
              <a:ext cx="3504960" cy="1771200"/>
            </a:xfrm>
            <a:prstGeom prst="roundRect">
              <a:avLst>
                <a:gd name="adj" fmla="val 5376"/>
              </a:avLst>
            </a:prstGeom>
            <a:solidFill>
              <a:srgbClr val="F3EEF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4" name="TextBox 16"/>
            <p:cNvSpPr/>
            <p:nvPr/>
          </p:nvSpPr>
          <p:spPr>
            <a:xfrm>
              <a:off x="8410320" y="184464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chemeClr val="accent6"/>
                  </a:solidFill>
                  <a:effectLst/>
                  <a:uFillTx/>
                  <a:latin typeface="Arial"/>
                  <a:ea typeface="Microsoft YaHei"/>
                </a:rPr>
                <a:t>工具资料：操作与检查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17"/>
            <p:cNvSpPr/>
            <p:nvPr/>
          </p:nvSpPr>
          <p:spPr>
            <a:xfrm>
              <a:off x="8411760" y="2311560"/>
              <a:ext cx="31204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FreeCAD</a:t>
              </a: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文档、建模用法、检查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TextBox 18"/>
            <p:cNvSpPr/>
            <p:nvPr/>
          </p:nvSpPr>
          <p:spPr>
            <a:xfrm>
              <a:off x="8411760" y="2701800"/>
              <a:ext cx="24598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帮助选择操作和检查方法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TextBox 19"/>
            <p:cNvSpPr/>
            <p:nvPr/>
          </p:nvSpPr>
          <p:spPr>
            <a:xfrm>
              <a:off x="8413200" y="3139920"/>
              <a:ext cx="20124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与产品设计资料分开检索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8" name="decision-example"/>
          <p:cNvGrpSpPr/>
          <p:nvPr/>
        </p:nvGrpSpPr>
        <p:grpSpPr>
          <a:xfrm>
            <a:off x="483120" y="3889440"/>
            <a:ext cx="11213280" cy="1910880"/>
            <a:chOff x="483120" y="3889440"/>
            <a:chExt cx="11213280" cy="1910880"/>
          </a:xfrm>
        </p:grpSpPr>
        <p:sp>
          <p:nvSpPr>
            <p:cNvPr id="219" name="TextBox 21"/>
            <p:cNvSpPr/>
            <p:nvPr/>
          </p:nvSpPr>
          <p:spPr>
            <a:xfrm>
              <a:off x="483120" y="3889440"/>
              <a:ext cx="390096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检索资料对设计判断的支持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TextBox 22"/>
            <p:cNvSpPr/>
            <p:nvPr/>
          </p:nvSpPr>
          <p:spPr>
            <a:xfrm>
              <a:off x="487080" y="4473720"/>
              <a:ext cx="35704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小体量案例：减少功能和结构复杂度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TextBox 23"/>
            <p:cNvSpPr/>
            <p:nvPr/>
          </p:nvSpPr>
          <p:spPr>
            <a:xfrm>
              <a:off x="487080" y="4873680"/>
              <a:ext cx="35704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软胶支撑案例：区分硬壳与接触部件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TextBox 24"/>
            <p:cNvSpPr/>
            <p:nvPr/>
          </p:nvSpPr>
          <p:spPr>
            <a:xfrm>
              <a:off x="487080" y="5273640"/>
              <a:ext cx="42368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使用反馈：补充充电、操作与长期使用取舍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Line 25"/>
            <p:cNvSpPr/>
            <p:nvPr/>
          </p:nvSpPr>
          <p:spPr>
            <a:xfrm>
              <a:off x="5524200" y="5076720"/>
              <a:ext cx="762120" cy="0"/>
            </a:xfrm>
            <a:prstGeom prst="line">
              <a:avLst/>
            </a:prstGeom>
            <a:ln w="28575">
              <a:solidFill>
                <a:srgbClr val="3662EA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Rectangle 26"/>
            <p:cNvSpPr/>
            <p:nvPr/>
          </p:nvSpPr>
          <p:spPr>
            <a:xfrm>
              <a:off x="6543720" y="4429080"/>
              <a:ext cx="5152680" cy="1371240"/>
            </a:xfrm>
            <a:prstGeom prst="roundRect">
              <a:avLst>
                <a:gd name="adj" fmla="val 6944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TextBox 27"/>
            <p:cNvSpPr/>
            <p:nvPr/>
          </p:nvSpPr>
          <p:spPr>
            <a:xfrm>
              <a:off x="6781320" y="4578480"/>
              <a:ext cx="316944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记录建议、依据与待确认项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TextBox 28"/>
            <p:cNvSpPr/>
            <p:nvPr/>
          </p:nvSpPr>
          <p:spPr>
            <a:xfrm>
              <a:off x="6783120" y="5025960"/>
              <a:ext cx="334836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建议借鉴哪些特征，出处是什么？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7" name="TextBox 29"/>
            <p:cNvSpPr/>
            <p:nvPr/>
          </p:nvSpPr>
          <p:spPr>
            <a:xfrm>
              <a:off x="6783120" y="5369040"/>
              <a:ext cx="31262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哪些尺寸、佩戴性能仍缺证据？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8" name="footer-label"/>
          <p:cNvSpPr/>
          <p:nvPr/>
        </p:nvSpPr>
        <p:spPr>
          <a:xfrm>
            <a:off x="478800" y="5947560"/>
            <a:ext cx="273924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检索相关性与来源可信度分别评估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age-number"/>
          <p:cNvSpPr/>
          <p:nvPr/>
        </p:nvSpPr>
        <p:spPr>
          <a:xfrm>
            <a:off x="11489760" y="6407280"/>
            <a:ext cx="2131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05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header"/>
          <p:cNvGrpSpPr/>
          <p:nvPr/>
        </p:nvGrpSpPr>
        <p:grpSpPr>
          <a:xfrm>
            <a:off x="478440" y="422280"/>
            <a:ext cx="6910920" cy="973080"/>
            <a:chOff x="478440" y="422280"/>
            <a:chExt cx="6910920" cy="973080"/>
          </a:xfrm>
        </p:grpSpPr>
        <p:sp>
          <p:nvSpPr>
            <p:cNvPr id="231" name="TextBox 2"/>
            <p:cNvSpPr/>
            <p:nvPr/>
          </p:nvSpPr>
          <p:spPr>
            <a:xfrm>
              <a:off x="478440" y="422280"/>
              <a:ext cx="403128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33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检索资料的证据审核</a:t>
              </a:r>
              <a:endPara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2" name="TextBox 3"/>
            <p:cNvSpPr/>
            <p:nvPr/>
          </p:nvSpPr>
          <p:spPr>
            <a:xfrm>
              <a:off x="487080" y="1073160"/>
              <a:ext cx="69022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审核资料出处、可见信息和推断，判断每条资料能支持哪些设计结论。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33" name="evidence-classes"/>
          <p:cNvGrpSpPr/>
          <p:nvPr/>
        </p:nvGrpSpPr>
        <p:grpSpPr>
          <a:xfrm>
            <a:off x="485280" y="1863720"/>
            <a:ext cx="10274400" cy="1158840"/>
            <a:chOff x="485280" y="1863720"/>
            <a:chExt cx="10274400" cy="1158840"/>
          </a:xfrm>
        </p:grpSpPr>
        <p:sp>
          <p:nvSpPr>
            <p:cNvPr id="234" name="TextBox 5"/>
            <p:cNvSpPr/>
            <p:nvPr/>
          </p:nvSpPr>
          <p:spPr>
            <a:xfrm>
              <a:off x="485280" y="1863720"/>
              <a:ext cx="1069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82A0FF"/>
                  </a:solidFill>
                  <a:effectLst/>
                  <a:uFillTx/>
                  <a:latin typeface="Arial"/>
                  <a:ea typeface="Microsoft YaHei"/>
                </a:rPr>
                <a:t>来源记录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5" name="TextBox 6"/>
            <p:cNvSpPr/>
            <p:nvPr/>
          </p:nvSpPr>
          <p:spPr>
            <a:xfrm>
              <a:off x="487080" y="2320920"/>
              <a:ext cx="31262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厂商说明、独立评测、用户反馈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6" name="TextBox 7"/>
            <p:cNvSpPr/>
            <p:nvPr/>
          </p:nvSpPr>
          <p:spPr>
            <a:xfrm>
              <a:off x="488520" y="2759040"/>
              <a:ext cx="1649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保留作者和来源类别</a:t>
              </a:r>
              <a:endParaRPr lang="en-US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TextBox 8"/>
            <p:cNvSpPr/>
            <p:nvPr/>
          </p:nvSpPr>
          <p:spPr>
            <a:xfrm>
              <a:off x="4524120" y="1863720"/>
              <a:ext cx="1069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B89AFF"/>
                  </a:solidFill>
                  <a:effectLst/>
                  <a:uFillTx/>
                  <a:latin typeface="Arial"/>
                  <a:ea typeface="Microsoft YaHei"/>
                </a:rPr>
                <a:t>图片观察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TextBox 9"/>
            <p:cNvSpPr/>
            <p:nvPr/>
          </p:nvSpPr>
          <p:spPr>
            <a:xfrm>
              <a:off x="4525560" y="2320920"/>
              <a:ext cx="26820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轮廓、材料分区、配件关系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TextBox 10"/>
            <p:cNvSpPr/>
            <p:nvPr/>
          </p:nvSpPr>
          <p:spPr>
            <a:xfrm>
              <a:off x="4527000" y="2759040"/>
              <a:ext cx="23760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尺寸和使用效果需要其他证据</a:t>
              </a:r>
              <a:endParaRPr lang="en-US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TextBox 11"/>
            <p:cNvSpPr/>
            <p:nvPr/>
          </p:nvSpPr>
          <p:spPr>
            <a:xfrm>
              <a:off x="8562600" y="1863720"/>
              <a:ext cx="1069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F1BD70"/>
                  </a:solidFill>
                  <a:effectLst/>
                  <a:uFillTx/>
                  <a:latin typeface="Arial"/>
                  <a:ea typeface="Microsoft YaHei"/>
                </a:rPr>
                <a:t>推断记录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TextBox 12"/>
            <p:cNvSpPr/>
            <p:nvPr/>
          </p:nvSpPr>
          <p:spPr>
            <a:xfrm>
              <a:off x="8564040" y="2320920"/>
              <a:ext cx="15487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AI</a:t>
              </a: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推断单独记录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TextBox 13"/>
            <p:cNvSpPr/>
            <p:nvPr/>
          </p:nvSpPr>
          <p:spPr>
            <a:xfrm>
              <a:off x="8565480" y="2759040"/>
              <a:ext cx="21942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缺少依据的结论标为待确认</a:t>
              </a:r>
              <a:endParaRPr lang="en-US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43" name="Line 15"/>
          <p:cNvSpPr/>
          <p:nvPr/>
        </p:nvSpPr>
        <p:spPr>
          <a:xfrm>
            <a:off x="495360" y="3362400"/>
            <a:ext cx="11201040" cy="9000"/>
          </a:xfrm>
          <a:custGeom>
            <a:avLst/>
            <a:gdLst>
              <a:gd name="textAreaLeft" fmla="*/ 0 w 11201040"/>
              <a:gd name="textAreaRight" fmla="*/ 11201400 w 11201040"/>
              <a:gd name="textAreaTop" fmla="*/ 0 h 9000"/>
              <a:gd name="textAreaBottom" fmla="*/ 9360 h 9000"/>
            </a:gdLst>
            <a:ahLst/>
            <a:cxnLst/>
            <a:rect l="textAreaLeft" t="textAreaTop" r="textAreaRight" b="textAreaBottom"/>
            <a:pathLst>
              <a:path w="11201400" h="9525">
                <a:moveTo>
                  <a:pt x="0" y="0"/>
                </a:moveTo>
                <a:lnTo>
                  <a:pt x="11201400" y="0"/>
                </a:lnTo>
              </a:path>
            </a:pathLst>
          </a:custGeom>
          <a:noFill/>
          <a:ln w="9525">
            <a:solidFill>
              <a:srgbClr val="40526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35640" rIns="90000" bIns="-35640" anchor="t">
            <a:noAutofit/>
          </a:bodyPr>
          <a:p>
            <a:pPr/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pSp>
        <p:nvGrpSpPr>
          <p:cNvPr id="244" name="evidence-review-process"/>
          <p:cNvGrpSpPr/>
          <p:nvPr/>
        </p:nvGrpSpPr>
        <p:grpSpPr>
          <a:xfrm>
            <a:off x="483120" y="3670200"/>
            <a:ext cx="10414080" cy="1535040"/>
            <a:chOff x="483120" y="3670200"/>
            <a:chExt cx="10414080" cy="1535040"/>
          </a:xfrm>
        </p:grpSpPr>
        <p:sp>
          <p:nvSpPr>
            <p:cNvPr id="245" name="TextBox 16"/>
            <p:cNvSpPr/>
            <p:nvPr/>
          </p:nvSpPr>
          <p:spPr>
            <a:xfrm>
              <a:off x="483120" y="3670200"/>
              <a:ext cx="390096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资料进入设计前的审核流程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TextBox 17"/>
            <p:cNvSpPr/>
            <p:nvPr/>
          </p:nvSpPr>
          <p:spPr>
            <a:xfrm>
              <a:off x="485280" y="4187880"/>
              <a:ext cx="145548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01 </a:t>
              </a:r>
              <a:r>
                <a:rPr lang="zh-CN" sz="195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核对出处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TextBox 18"/>
            <p:cNvSpPr/>
            <p:nvPr/>
          </p:nvSpPr>
          <p:spPr>
            <a:xfrm>
              <a:off x="487080" y="4578480"/>
              <a:ext cx="17935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查原文和图片来源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8" name="TextBox 19"/>
            <p:cNvSpPr/>
            <p:nvPr/>
          </p:nvSpPr>
          <p:spPr>
            <a:xfrm>
              <a:off x="487080" y="4883040"/>
              <a:ext cx="20156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记录作者及适用条件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9" name="Line 20"/>
            <p:cNvSpPr/>
            <p:nvPr/>
          </p:nvSpPr>
          <p:spPr>
            <a:xfrm>
              <a:off x="4105080" y="4552920"/>
              <a:ext cx="619200" cy="0"/>
            </a:xfrm>
            <a:prstGeom prst="line">
              <a:avLst/>
            </a:prstGeom>
            <a:ln w="19050">
              <a:solidFill>
                <a:srgbClr val="D98D2B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TextBox 21"/>
            <p:cNvSpPr/>
            <p:nvPr/>
          </p:nvSpPr>
          <p:spPr>
            <a:xfrm>
              <a:off x="5000400" y="4187880"/>
              <a:ext cx="145548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F1BD70"/>
                  </a:solidFill>
                  <a:effectLst/>
                  <a:uFillTx/>
                  <a:latin typeface="Arial"/>
                  <a:ea typeface="Microsoft YaHei"/>
                </a:rPr>
                <a:t>02 </a:t>
              </a:r>
              <a:r>
                <a:rPr lang="zh-CN" sz="1950" b="1" u="none" strike="noStrike">
                  <a:solidFill>
                    <a:srgbClr val="F1BD70"/>
                  </a:solidFill>
                  <a:effectLst/>
                  <a:uFillTx/>
                  <a:latin typeface="Arial"/>
                  <a:ea typeface="Microsoft YaHei"/>
                </a:rPr>
                <a:t>匹配用途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TextBox 22"/>
            <p:cNvSpPr/>
            <p:nvPr/>
          </p:nvSpPr>
          <p:spPr>
            <a:xfrm>
              <a:off x="5001840" y="4578480"/>
              <a:ext cx="24598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外形参考与补充资料分开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TextBox 23"/>
            <p:cNvSpPr/>
            <p:nvPr/>
          </p:nvSpPr>
          <p:spPr>
            <a:xfrm>
              <a:off x="5001840" y="4883040"/>
              <a:ext cx="20156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尺寸须明确对应部件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Line 24"/>
            <p:cNvSpPr/>
            <p:nvPr/>
          </p:nvSpPr>
          <p:spPr>
            <a:xfrm>
              <a:off x="7924680" y="4552920"/>
              <a:ext cx="476280" cy="0"/>
            </a:xfrm>
            <a:prstGeom prst="line">
              <a:avLst/>
            </a:prstGeom>
            <a:ln w="19050">
              <a:solidFill>
                <a:srgbClr val="D98D2B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TextBox 25"/>
            <p:cNvSpPr/>
            <p:nvPr/>
          </p:nvSpPr>
          <p:spPr>
            <a:xfrm>
              <a:off x="8658000" y="4187880"/>
              <a:ext cx="19803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03 </a:t>
              </a:r>
              <a:r>
                <a:rPr lang="zh-CN" sz="195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保留待确认项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TextBox 26"/>
            <p:cNvSpPr/>
            <p:nvPr/>
          </p:nvSpPr>
          <p:spPr>
            <a:xfrm>
              <a:off x="8659440" y="4578480"/>
              <a:ext cx="20156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推断与原文分别存档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TextBox 27"/>
            <p:cNvSpPr/>
            <p:nvPr/>
          </p:nvSpPr>
          <p:spPr>
            <a:xfrm>
              <a:off x="8659440" y="4883040"/>
              <a:ext cx="223776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依据不足暂不用于建模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57" name="audit-result"/>
          <p:cNvGrpSpPr/>
          <p:nvPr/>
        </p:nvGrpSpPr>
        <p:grpSpPr>
          <a:xfrm>
            <a:off x="495360" y="5467320"/>
            <a:ext cx="11201040" cy="694800"/>
            <a:chOff x="495360" y="5467320"/>
            <a:chExt cx="11201040" cy="694800"/>
          </a:xfrm>
        </p:grpSpPr>
        <p:sp>
          <p:nvSpPr>
            <p:cNvPr id="258" name="Rectangle 29"/>
            <p:cNvSpPr/>
            <p:nvPr/>
          </p:nvSpPr>
          <p:spPr>
            <a:xfrm>
              <a:off x="495360" y="5467320"/>
              <a:ext cx="11201040" cy="694800"/>
            </a:xfrm>
            <a:prstGeom prst="roundRect">
              <a:avLst>
                <a:gd name="adj" fmla="val 12329"/>
              </a:avLst>
            </a:prstGeom>
            <a:solidFill>
              <a:srgbClr val="2034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TextBox 30"/>
            <p:cNvSpPr/>
            <p:nvPr/>
          </p:nvSpPr>
          <p:spPr>
            <a:xfrm>
              <a:off x="715680" y="5692680"/>
              <a:ext cx="654696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独立试验审核</a:t>
              </a:r>
              <a:r>
                <a:rPr lang="en-US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166</a:t>
              </a: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张图，</a:t>
              </a:r>
              <a:r>
                <a:rPr lang="en-US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119</a:t>
              </a: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张归为外形参考，</a:t>
              </a:r>
              <a:r>
                <a:rPr lang="en-US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47</a:t>
              </a: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张归为补充资料。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0" name="footer-label"/>
          <p:cNvSpPr/>
          <p:nvPr/>
        </p:nvSpPr>
        <p:spPr>
          <a:xfrm>
            <a:off x="488520" y="6407280"/>
            <a:ext cx="38296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50" b="0" u="none" strike="noStrike">
                <a:solidFill>
                  <a:srgbClr val="BAC9DE"/>
                </a:solidFill>
                <a:effectLst/>
                <a:uFillTx/>
                <a:latin typeface="Arial"/>
                <a:ea typeface="Microsoft YaHei"/>
              </a:rPr>
              <a:t>舒适、运动稳定性和检索质量提升仍需单独验证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page-number"/>
          <p:cNvSpPr/>
          <p:nvPr/>
        </p:nvSpPr>
        <p:spPr>
          <a:xfrm>
            <a:off x="11489760" y="6407280"/>
            <a:ext cx="2131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BAC9DE"/>
                </a:solidFill>
                <a:effectLst/>
                <a:uFillTx/>
                <a:latin typeface="Arial"/>
                <a:ea typeface="Microsoft YaHei"/>
              </a:rPr>
              <a:t>07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header"/>
          <p:cNvGrpSpPr/>
          <p:nvPr/>
        </p:nvGrpSpPr>
        <p:grpSpPr>
          <a:xfrm>
            <a:off x="478440" y="422280"/>
            <a:ext cx="6888240" cy="973080"/>
            <a:chOff x="478440" y="422280"/>
            <a:chExt cx="6888240" cy="973080"/>
          </a:xfrm>
        </p:grpSpPr>
        <p:sp>
          <p:nvSpPr>
            <p:cNvPr id="263" name="TextBox 2"/>
            <p:cNvSpPr/>
            <p:nvPr/>
          </p:nvSpPr>
          <p:spPr>
            <a:xfrm>
              <a:off x="478440" y="422280"/>
              <a:ext cx="403128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33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用户描述的特征提取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4" name="TextBox 3"/>
            <p:cNvSpPr/>
            <p:nvPr/>
          </p:nvSpPr>
          <p:spPr>
            <a:xfrm>
              <a:off x="487080" y="1073160"/>
              <a:ext cx="68796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AI</a:t>
              </a: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从用户描述中提取设计特征，按需求维度检索资料并组织候选方案。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65" name="feature-pipeline"/>
          <p:cNvGrpSpPr/>
          <p:nvPr/>
        </p:nvGrpSpPr>
        <p:grpSpPr>
          <a:xfrm>
            <a:off x="485280" y="1739880"/>
            <a:ext cx="10764000" cy="1783800"/>
            <a:chOff x="485280" y="1739880"/>
            <a:chExt cx="10764000" cy="1783800"/>
          </a:xfrm>
        </p:grpSpPr>
        <p:sp>
          <p:nvSpPr>
            <p:cNvPr id="266" name="TextBox 5"/>
            <p:cNvSpPr/>
            <p:nvPr/>
          </p:nvSpPr>
          <p:spPr>
            <a:xfrm>
              <a:off x="485280" y="1739880"/>
              <a:ext cx="159444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自然语言描述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7" name="TextBox 6"/>
            <p:cNvSpPr/>
            <p:nvPr/>
          </p:nvSpPr>
          <p:spPr>
            <a:xfrm>
              <a:off x="487080" y="2254320"/>
              <a:ext cx="26820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想解决的问题、情境与偏好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8" name="Rectangle 7"/>
            <p:cNvSpPr/>
            <p:nvPr/>
          </p:nvSpPr>
          <p:spPr>
            <a:xfrm>
              <a:off x="495360" y="2685960"/>
              <a:ext cx="3076200" cy="837720"/>
            </a:xfrm>
            <a:prstGeom prst="roundRect">
              <a:avLst>
                <a:gd name="adj" fmla="val 9091"/>
              </a:avLst>
            </a:prstGeom>
            <a:solidFill>
              <a:schemeClr val="l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9" name="TextBox 8"/>
            <p:cNvSpPr/>
            <p:nvPr/>
          </p:nvSpPr>
          <p:spPr>
            <a:xfrm>
              <a:off x="650520" y="2778120"/>
              <a:ext cx="921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示例输入：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0" name="TextBox 9"/>
            <p:cNvSpPr/>
            <p:nvPr/>
          </p:nvSpPr>
          <p:spPr>
            <a:xfrm>
              <a:off x="650520" y="3054240"/>
              <a:ext cx="31028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入耳、运动稳定、睡眠不掉、年轻配色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Line 10"/>
            <p:cNvSpPr/>
            <p:nvPr/>
          </p:nvSpPr>
          <p:spPr>
            <a:xfrm>
              <a:off x="3666960" y="2571480"/>
              <a:ext cx="399960" cy="0"/>
            </a:xfrm>
            <a:prstGeom prst="line">
              <a:avLst/>
            </a:prstGeom>
            <a:ln w="19050">
              <a:solidFill>
                <a:srgbClr val="3662EA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TextBox 11"/>
            <p:cNvSpPr/>
            <p:nvPr/>
          </p:nvSpPr>
          <p:spPr>
            <a:xfrm>
              <a:off x="4333320" y="1739880"/>
              <a:ext cx="159444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chemeClr val="accent2"/>
                  </a:solidFill>
                  <a:effectLst/>
                  <a:uFillTx/>
                  <a:latin typeface="Arial"/>
                  <a:ea typeface="Microsoft YaHei"/>
                </a:rPr>
                <a:t>拆分需求维度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TextBox 12"/>
            <p:cNvSpPr/>
            <p:nvPr/>
          </p:nvSpPr>
          <p:spPr>
            <a:xfrm>
              <a:off x="4335120" y="2254320"/>
              <a:ext cx="30038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形态 </a:t>
              </a:r>
              <a:r>
                <a:rPr lang="en-US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场景 </a:t>
              </a:r>
              <a:r>
                <a:rPr lang="en-US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功能 </a:t>
              </a:r>
              <a:r>
                <a:rPr lang="en-US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/ </a:t>
              </a: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外观偏好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TextBox 13"/>
            <p:cNvSpPr/>
            <p:nvPr/>
          </p:nvSpPr>
          <p:spPr>
            <a:xfrm>
              <a:off x="4335120" y="2692440"/>
              <a:ext cx="26820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标记约束、冲突和待确认项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TextBox 14"/>
            <p:cNvSpPr/>
            <p:nvPr/>
          </p:nvSpPr>
          <p:spPr>
            <a:xfrm>
              <a:off x="4336560" y="3168720"/>
              <a:ext cx="23760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睡眠归为场景，入耳归为形态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Line 15"/>
            <p:cNvSpPr/>
            <p:nvPr/>
          </p:nvSpPr>
          <p:spPr>
            <a:xfrm>
              <a:off x="7667280" y="2571480"/>
              <a:ext cx="400320" cy="0"/>
            </a:xfrm>
            <a:prstGeom prst="line">
              <a:avLst/>
            </a:prstGeom>
            <a:ln w="19050">
              <a:solidFill>
                <a:srgbClr val="3662EA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TextBox 16"/>
            <p:cNvSpPr/>
            <p:nvPr/>
          </p:nvSpPr>
          <p:spPr>
            <a:xfrm>
              <a:off x="8343360" y="1739880"/>
              <a:ext cx="185688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chemeClr val="accent2"/>
                  </a:solidFill>
                  <a:effectLst/>
                  <a:uFillTx/>
                  <a:latin typeface="Arial"/>
                  <a:ea typeface="Microsoft YaHei"/>
                </a:rPr>
                <a:t>检索与参考组合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TextBox 17"/>
            <p:cNvSpPr/>
            <p:nvPr/>
          </p:nvSpPr>
          <p:spPr>
            <a:xfrm>
              <a:off x="8345160" y="2254320"/>
              <a:ext cx="29041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按维度查询，再组合互补参考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TextBox 18"/>
            <p:cNvSpPr/>
            <p:nvPr/>
          </p:nvSpPr>
          <p:spPr>
            <a:xfrm>
              <a:off x="8345160" y="2692440"/>
              <a:ext cx="24598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去重产品，保留未覆盖项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TextBox 19"/>
            <p:cNvSpPr/>
            <p:nvPr/>
          </p:nvSpPr>
          <p:spPr>
            <a:xfrm>
              <a:off x="8346600" y="3168720"/>
              <a:ext cx="23760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词法和语义检索保留来源记录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1" name="constraint-separation"/>
          <p:cNvGrpSpPr/>
          <p:nvPr/>
        </p:nvGrpSpPr>
        <p:grpSpPr>
          <a:xfrm>
            <a:off x="495360" y="3895560"/>
            <a:ext cx="11201040" cy="919440"/>
            <a:chOff x="495360" y="3895560"/>
            <a:chExt cx="11201040" cy="919440"/>
          </a:xfrm>
        </p:grpSpPr>
        <p:sp>
          <p:nvSpPr>
            <p:cNvPr id="282" name="Line 21"/>
            <p:cNvSpPr/>
            <p:nvPr/>
          </p:nvSpPr>
          <p:spPr>
            <a:xfrm>
              <a:off x="495360" y="3895560"/>
              <a:ext cx="11201040" cy="9000"/>
            </a:xfrm>
            <a:custGeom>
              <a:avLst/>
              <a:gdLst>
                <a:gd name="textAreaLeft" fmla="*/ 0 w 11201040"/>
                <a:gd name="textAreaRight" fmla="*/ 11201400 w 1120104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11201400" h="9525">
                  <a:moveTo>
                    <a:pt x="0" y="0"/>
                  </a:moveTo>
                  <a:lnTo>
                    <a:pt x="11201400" y="0"/>
                  </a:lnTo>
                </a:path>
              </a:pathLst>
            </a:custGeom>
            <a:noFill/>
            <a:ln w="9525">
              <a:solidFill>
                <a:srgbClr val="DCE3E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35640" rIns="90000" bIns="-3564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3" name="Ellipse 22"/>
            <p:cNvSpPr/>
            <p:nvPr/>
          </p:nvSpPr>
          <p:spPr>
            <a:xfrm>
              <a:off x="533520" y="4181400"/>
              <a:ext cx="361440" cy="36144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TextBox 23"/>
            <p:cNvSpPr/>
            <p:nvPr/>
          </p:nvSpPr>
          <p:spPr>
            <a:xfrm>
              <a:off x="1056960" y="4054320"/>
              <a:ext cx="807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硬约束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TextBox 24"/>
            <p:cNvSpPr/>
            <p:nvPr/>
          </p:nvSpPr>
          <p:spPr>
            <a:xfrm>
              <a:off x="1058400" y="4492800"/>
              <a:ext cx="15714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必须遵守的边界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Ellipse 25"/>
            <p:cNvSpPr/>
            <p:nvPr/>
          </p:nvSpPr>
          <p:spPr>
            <a:xfrm>
              <a:off x="4381560" y="4181400"/>
              <a:ext cx="361440" cy="361440"/>
            </a:xfrm>
            <a:prstGeom prst="ellipse">
              <a:avLst/>
            </a:prstGeom>
            <a:solidFill>
              <a:schemeClr val="accent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TextBox 26"/>
            <p:cNvSpPr/>
            <p:nvPr/>
          </p:nvSpPr>
          <p:spPr>
            <a:xfrm>
              <a:off x="4905000" y="4054320"/>
              <a:ext cx="807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软偏好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TextBox 27"/>
            <p:cNvSpPr/>
            <p:nvPr/>
          </p:nvSpPr>
          <p:spPr>
            <a:xfrm>
              <a:off x="4906440" y="4492800"/>
              <a:ext cx="20156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用于排序和方案差异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Ellipse 28"/>
            <p:cNvSpPr/>
            <p:nvPr/>
          </p:nvSpPr>
          <p:spPr>
            <a:xfrm>
              <a:off x="8229600" y="4181400"/>
              <a:ext cx="361440" cy="361440"/>
            </a:xfrm>
            <a:prstGeom prst="ellipse">
              <a:avLst/>
            </a:prstGeom>
            <a:solidFill>
              <a:srgbClr val="D98D2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TextBox 29"/>
            <p:cNvSpPr/>
            <p:nvPr/>
          </p:nvSpPr>
          <p:spPr>
            <a:xfrm>
              <a:off x="8753040" y="4054320"/>
              <a:ext cx="807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待澄清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TextBox 30"/>
            <p:cNvSpPr/>
            <p:nvPr/>
          </p:nvSpPr>
          <p:spPr>
            <a:xfrm>
              <a:off x="8754480" y="4492800"/>
              <a:ext cx="29041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缺少尺寸或优先级时请求澄清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92" name="retrieval-iteration"/>
          <p:cNvGrpSpPr/>
          <p:nvPr/>
        </p:nvGrpSpPr>
        <p:grpSpPr>
          <a:xfrm>
            <a:off x="495360" y="5229360"/>
            <a:ext cx="11201040" cy="923400"/>
            <a:chOff x="495360" y="5229360"/>
            <a:chExt cx="11201040" cy="923400"/>
          </a:xfrm>
        </p:grpSpPr>
        <p:sp>
          <p:nvSpPr>
            <p:cNvPr id="293" name="Rectangle 32"/>
            <p:cNvSpPr/>
            <p:nvPr/>
          </p:nvSpPr>
          <p:spPr>
            <a:xfrm>
              <a:off x="495360" y="5229360"/>
              <a:ext cx="11201040" cy="923400"/>
            </a:xfrm>
            <a:prstGeom prst="roundRect">
              <a:avLst>
                <a:gd name="adj" fmla="val 9278"/>
              </a:avLst>
            </a:prstGeom>
            <a:solidFill>
              <a:schemeClr val="accent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TextBox 33"/>
            <p:cNvSpPr/>
            <p:nvPr/>
          </p:nvSpPr>
          <p:spPr>
            <a:xfrm>
              <a:off x="713880" y="5349960"/>
              <a:ext cx="159444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独立试验结果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5" name="TextBox 34"/>
            <p:cNvSpPr/>
            <p:nvPr/>
          </p:nvSpPr>
          <p:spPr>
            <a:xfrm>
              <a:off x="3230280" y="5388120"/>
              <a:ext cx="445896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参考去重后选择两个不同产品，覆盖更多需求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6" name="TextBox 35"/>
            <p:cNvSpPr/>
            <p:nvPr/>
          </p:nvSpPr>
          <p:spPr>
            <a:xfrm>
              <a:off x="717120" y="5797440"/>
              <a:ext cx="6555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维度拆分与覆盖选择已通过独立试验，尚未自动集成到主项目，佩戴性能待实测。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7" name="footer-label"/>
          <p:cNvSpPr/>
          <p:nvPr/>
        </p:nvSpPr>
        <p:spPr>
          <a:xfrm>
            <a:off x="488520" y="6407280"/>
            <a:ext cx="45568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示例展示特征提取方法，约束强度和优先级仍由用户确认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page-number"/>
          <p:cNvSpPr/>
          <p:nvPr/>
        </p:nvSpPr>
        <p:spPr>
          <a:xfrm>
            <a:off x="11489760" y="6407280"/>
            <a:ext cx="2131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06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9" name="header"/>
          <p:cNvGrpSpPr/>
          <p:nvPr/>
        </p:nvGrpSpPr>
        <p:grpSpPr>
          <a:xfrm>
            <a:off x="478440" y="422280"/>
            <a:ext cx="11209680" cy="973080"/>
            <a:chOff x="478440" y="422280"/>
            <a:chExt cx="11209680" cy="973080"/>
          </a:xfrm>
        </p:grpSpPr>
        <p:sp>
          <p:nvSpPr>
            <p:cNvPr id="300" name="TextBox 2"/>
            <p:cNvSpPr/>
            <p:nvPr/>
          </p:nvSpPr>
          <p:spPr>
            <a:xfrm>
              <a:off x="478440" y="422280"/>
              <a:ext cx="1120104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zh-CN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概念图的输入、依据与绘图计划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1" name="TextBox 3"/>
            <p:cNvSpPr/>
            <p:nvPr/>
          </p:nvSpPr>
          <p:spPr>
            <a:xfrm>
              <a:off x="487080" y="1073160"/>
              <a:ext cx="112010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以鳍翼方向为例，说明用户需求怎样变成可执行的生成</a:t>
              </a:r>
              <a:r>
                <a:rPr lang="en-US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Prompt</a:t>
              </a: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02" name="footer-label"/>
          <p:cNvSpPr/>
          <p:nvPr/>
        </p:nvSpPr>
        <p:spPr>
          <a:xfrm>
            <a:off x="488520" y="6407280"/>
            <a:ext cx="106675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zh-CN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微软雅黑"/>
              </a:rPr>
              <a:t>检索和</a:t>
            </a:r>
            <a:r>
              <a:rPr lang="en-US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微软雅黑"/>
              </a:rPr>
              <a:t>Prompt</a:t>
            </a:r>
            <a:r>
              <a:rPr lang="zh-CN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微软雅黑"/>
              </a:rPr>
              <a:t>有档案；资料与参数的逐条绑定未保存，绘图计划是复盘摘要。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page-number"/>
          <p:cNvSpPr/>
          <p:nvPr/>
        </p:nvSpPr>
        <p:spPr>
          <a:xfrm>
            <a:off x="11489760" y="6407280"/>
            <a:ext cx="2131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09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04" name="example-input"/>
          <p:cNvGrpSpPr/>
          <p:nvPr/>
        </p:nvGrpSpPr>
        <p:grpSpPr>
          <a:xfrm>
            <a:off x="495360" y="1581120"/>
            <a:ext cx="11201040" cy="761760"/>
            <a:chOff x="495360" y="1581120"/>
            <a:chExt cx="11201040" cy="761760"/>
          </a:xfrm>
        </p:grpSpPr>
        <p:sp>
          <p:nvSpPr>
            <p:cNvPr id="305" name="Rectangle 7"/>
            <p:cNvSpPr/>
            <p:nvPr/>
          </p:nvSpPr>
          <p:spPr>
            <a:xfrm>
              <a:off x="495360" y="1581120"/>
              <a:ext cx="11201040" cy="761760"/>
            </a:xfrm>
            <a:prstGeom prst="roundRect">
              <a:avLst>
                <a:gd name="adj" fmla="val 10000"/>
              </a:avLst>
            </a:prstGeom>
            <a:solidFill>
              <a:srgbClr val="F7F8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TextBox 8"/>
            <p:cNvSpPr/>
            <p:nvPr/>
          </p:nvSpPr>
          <p:spPr>
            <a:xfrm>
              <a:off x="658440" y="1673280"/>
              <a:ext cx="9050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输入示例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TextBox 9"/>
            <p:cNvSpPr/>
            <p:nvPr/>
          </p:nvSpPr>
          <p:spPr>
            <a:xfrm>
              <a:off x="1925280" y="1673280"/>
              <a:ext cx="668016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入耳式、舒适、仿生、体积适中，运动稳定、睡觉不掉，配色年轻。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TextBox 10"/>
            <p:cNvSpPr/>
            <p:nvPr/>
          </p:nvSpPr>
          <p:spPr>
            <a:xfrm>
              <a:off x="1926720" y="2006640"/>
              <a:ext cx="56473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拆成产品形态、使用场景与外观偏好；舒适和稳定保留为待验证目标。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09" name="rag-evidence"/>
          <p:cNvGrpSpPr/>
          <p:nvPr/>
        </p:nvGrpSpPr>
        <p:grpSpPr>
          <a:xfrm>
            <a:off x="637920" y="2540160"/>
            <a:ext cx="2844000" cy="2120760"/>
            <a:chOff x="637920" y="2540160"/>
            <a:chExt cx="2844000" cy="2120760"/>
          </a:xfrm>
        </p:grpSpPr>
        <p:sp>
          <p:nvSpPr>
            <p:cNvPr id="310" name="TextBox 12"/>
            <p:cNvSpPr/>
            <p:nvPr/>
          </p:nvSpPr>
          <p:spPr>
            <a:xfrm>
              <a:off x="637920" y="2540160"/>
              <a:ext cx="19173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8B5CF6"/>
                  </a:solidFill>
                  <a:effectLst/>
                  <a:uFillTx/>
                  <a:latin typeface="Arial"/>
                  <a:ea typeface="微软雅黑"/>
                </a:rPr>
                <a:t>1 RAG</a:t>
              </a:r>
              <a:r>
                <a:rPr lang="zh-CN" sz="1950" b="1" u="none" strike="noStrike">
                  <a:solidFill>
                    <a:srgbClr val="8B5CF6"/>
                  </a:solidFill>
                  <a:effectLst/>
                  <a:uFillTx/>
                  <a:latin typeface="Arial"/>
                  <a:ea typeface="微软雅黑"/>
                </a:rPr>
                <a:t>检索依据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TextBox 13"/>
            <p:cNvSpPr/>
            <p:nvPr/>
          </p:nvSpPr>
          <p:spPr>
            <a:xfrm>
              <a:off x="640800" y="2882880"/>
              <a:ext cx="2477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真实关键词检索，返回</a:t>
              </a:r>
              <a:r>
                <a:rPr lang="en-US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4</a:t>
              </a: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个案例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TextBox 14"/>
            <p:cNvSpPr/>
            <p:nvPr/>
          </p:nvSpPr>
          <p:spPr>
            <a:xfrm>
              <a:off x="640080" y="3165480"/>
              <a:ext cx="284184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50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入耳式、舒适、低突出、软支撑</a:t>
              </a:r>
              <a:endPara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TextBox 15"/>
            <p:cNvSpPr/>
            <p:nvPr/>
          </p:nvSpPr>
          <p:spPr>
            <a:xfrm>
              <a:off x="639360" y="3502080"/>
              <a:ext cx="223776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华为耳夹式：软硬分工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TextBox 16"/>
            <p:cNvSpPr/>
            <p:nvPr/>
          </p:nvSpPr>
          <p:spPr>
            <a:xfrm>
              <a:off x="640800" y="3787920"/>
              <a:ext cx="21942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厂商资料；跨形态材料参考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5" name="TextBox 17"/>
            <p:cNvSpPr/>
            <p:nvPr/>
          </p:nvSpPr>
          <p:spPr>
            <a:xfrm>
              <a:off x="639360" y="4111560"/>
              <a:ext cx="26838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QuietOn</a:t>
              </a:r>
              <a:r>
                <a:rPr lang="zh-CN" sz="16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睡眠耳塞：低外突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6" name="TextBox 18"/>
            <p:cNvSpPr/>
            <p:nvPr/>
          </p:nvSpPr>
          <p:spPr>
            <a:xfrm>
              <a:off x="640800" y="4397400"/>
              <a:ext cx="27392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厂商资料；低体量需考虑功能取舍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17" name="Line 20"/>
          <p:cNvSpPr/>
          <p:nvPr/>
        </p:nvSpPr>
        <p:spPr>
          <a:xfrm>
            <a:off x="3962160" y="3590640"/>
            <a:ext cx="314280" cy="0"/>
          </a:xfrm>
          <a:prstGeom prst="line">
            <a:avLst/>
          </a:prstGeom>
          <a:ln w="19050">
            <a:solidFill>
              <a:srgbClr val="3662EA"/>
            </a:solidFill>
            <a:round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18" name="drawing-plan"/>
          <p:cNvGrpSpPr/>
          <p:nvPr/>
        </p:nvGrpSpPr>
        <p:grpSpPr>
          <a:xfrm>
            <a:off x="4428720" y="2540160"/>
            <a:ext cx="2683440" cy="2120760"/>
            <a:chOff x="4428720" y="2540160"/>
            <a:chExt cx="2683440" cy="2120760"/>
          </a:xfrm>
        </p:grpSpPr>
        <p:sp>
          <p:nvSpPr>
            <p:cNvPr id="319" name="TextBox 21"/>
            <p:cNvSpPr/>
            <p:nvPr/>
          </p:nvSpPr>
          <p:spPr>
            <a:xfrm>
              <a:off x="4428720" y="2540160"/>
              <a:ext cx="18133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2 </a:t>
              </a:r>
              <a:r>
                <a:rPr lang="zh-CN" sz="19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绘图计划复盘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TextBox 22"/>
            <p:cNvSpPr/>
            <p:nvPr/>
          </p:nvSpPr>
          <p:spPr>
            <a:xfrm>
              <a:off x="4431960" y="2882880"/>
              <a:ext cx="20584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根据存档生成</a:t>
              </a:r>
              <a:r>
                <a:rPr lang="en-US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Prompt</a:t>
              </a: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归纳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TextBox 23"/>
            <p:cNvSpPr/>
            <p:nvPr/>
          </p:nvSpPr>
          <p:spPr>
            <a:xfrm>
              <a:off x="4430160" y="3178080"/>
              <a:ext cx="26820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鳍翼：椭圆主体＋短宽软鳍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TextBox 24"/>
            <p:cNvSpPr/>
            <p:nvPr/>
          </p:nvSpPr>
          <p:spPr>
            <a:xfrm>
              <a:off x="4430160" y="3492360"/>
              <a:ext cx="24598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蓝灰硬壳＋青色哑光软胶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TextBox 25"/>
            <p:cNvSpPr/>
            <p:nvPr/>
          </p:nvSpPr>
          <p:spPr>
            <a:xfrm>
              <a:off x="4430160" y="3807000"/>
              <a:ext cx="26820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假设：软鳍承托，控制外突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TextBox 26"/>
            <p:cNvSpPr/>
            <p:nvPr/>
          </p:nvSpPr>
          <p:spPr>
            <a:xfrm>
              <a:off x="4431960" y="4130640"/>
              <a:ext cx="25578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统一左耳、短颈耳套与共同组件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TextBox 27"/>
            <p:cNvSpPr/>
            <p:nvPr/>
          </p:nvSpPr>
          <p:spPr>
            <a:xfrm>
              <a:off x="4431960" y="4397400"/>
              <a:ext cx="25578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左佩戴、中四视图、右产品主图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6" name="Line 29"/>
          <p:cNvSpPr/>
          <p:nvPr/>
        </p:nvSpPr>
        <p:spPr>
          <a:xfrm>
            <a:off x="7934040" y="3590640"/>
            <a:ext cx="219240" cy="0"/>
          </a:xfrm>
          <a:prstGeom prst="line">
            <a:avLst/>
          </a:prstGeom>
          <a:ln w="19050">
            <a:solidFill>
              <a:srgbClr val="3662EA"/>
            </a:solidFill>
            <a:round/>
            <a:tailEnd len="lg" type="triangle" w="lg"/>
          </a:ln>
        </p:spPr>
        <p:style>
          <a:lnRef idx="0"/>
          <a:fillRef idx="0"/>
          <a:effectRef idx="0"/>
          <a:fontRef idx="minor"/>
        </p:style>
        <p:txBody>
          <a:bodyPr lIns="90000" tIns="-45000" rIns="90000" bIns="-45000" anchor="t" anchorCtr="1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27" name="generation-prompt"/>
          <p:cNvGrpSpPr/>
          <p:nvPr/>
        </p:nvGrpSpPr>
        <p:grpSpPr>
          <a:xfrm>
            <a:off x="8295840" y="2540160"/>
            <a:ext cx="2963160" cy="2090520"/>
            <a:chOff x="8295840" y="2540160"/>
            <a:chExt cx="2963160" cy="2090520"/>
          </a:xfrm>
        </p:grpSpPr>
        <p:sp>
          <p:nvSpPr>
            <p:cNvPr id="328" name="TextBox 30"/>
            <p:cNvSpPr/>
            <p:nvPr/>
          </p:nvSpPr>
          <p:spPr>
            <a:xfrm>
              <a:off x="8295840" y="2540160"/>
              <a:ext cx="22158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3 </a:t>
              </a:r>
              <a:r>
                <a:rPr lang="zh-CN" sz="19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组装生成</a:t>
              </a:r>
              <a:r>
                <a:rPr lang="en-US" sz="19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Prompt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9" name="TextBox 31"/>
            <p:cNvSpPr/>
            <p:nvPr/>
          </p:nvSpPr>
          <p:spPr>
            <a:xfrm>
              <a:off x="8299080" y="2882880"/>
              <a:ext cx="22402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原始英文</a:t>
              </a:r>
              <a:r>
                <a:rPr lang="en-US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Prompt</a:t>
              </a: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的中文摘要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0" name="TextBox 32"/>
            <p:cNvSpPr/>
            <p:nvPr/>
          </p:nvSpPr>
          <p:spPr>
            <a:xfrm>
              <a:off x="8297280" y="3165480"/>
              <a:ext cx="2961720" cy="1465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ts val="2251"/>
                </a:lnSpc>
              </a:pP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单只左耳，</a:t>
              </a:r>
              <a:r>
                <a:rPr lang="en-US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3:2</a:t>
              </a: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概念展示板</a:t>
              </a:r>
              <a:br>
                <a:rPr sz="1650"/>
              </a:b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椭圆机身＋短宽圆角软鳍</a:t>
              </a:r>
              <a:br>
                <a:rPr sz="1650"/>
              </a:b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蓝灰硬壳＋青色哑光软胶</a:t>
              </a:r>
              <a:br>
                <a:rPr sz="1650"/>
              </a:b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共享组件、连接、比例和遮挡</a:t>
              </a:r>
              <a:br>
                <a:rPr sz="1650"/>
              </a:br>
              <a:r>
                <a:rPr lang="en-US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TOP</a:t>
              </a: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斜俯视，不加高钩与细节格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31" name="concept-output"/>
          <p:cNvGrpSpPr/>
          <p:nvPr/>
        </p:nvGrpSpPr>
        <p:grpSpPr>
          <a:xfrm>
            <a:off x="495360" y="4886280"/>
            <a:ext cx="2142720" cy="1428480"/>
            <a:chOff x="495360" y="4886280"/>
            <a:chExt cx="2142720" cy="1428480"/>
          </a:xfrm>
        </p:grpSpPr>
        <p:pic>
          <p:nvPicPr>
            <p:cNvPr id="332" name="Image 34"/>
            <p:cNvPicPr/>
            <p:nvPr/>
          </p:nvPicPr>
          <p:blipFill>
            <a:blip r:embed="rId1"/>
            <a:stretch/>
          </p:blipFill>
          <p:spPr>
            <a:xfrm>
              <a:off x="495360" y="4886280"/>
              <a:ext cx="2142720" cy="142848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33" name="generation-review"/>
          <p:cNvGrpSpPr/>
          <p:nvPr/>
        </p:nvGrpSpPr>
        <p:grpSpPr>
          <a:xfrm>
            <a:off x="2895480" y="4829040"/>
            <a:ext cx="8800920" cy="1561680"/>
            <a:chOff x="2895480" y="4829040"/>
            <a:chExt cx="8800920" cy="1561680"/>
          </a:xfrm>
        </p:grpSpPr>
        <p:sp>
          <p:nvSpPr>
            <p:cNvPr id="334" name="Rectangle 36"/>
            <p:cNvSpPr/>
            <p:nvPr/>
          </p:nvSpPr>
          <p:spPr>
            <a:xfrm>
              <a:off x="2895480" y="4829040"/>
              <a:ext cx="8800920" cy="1561680"/>
            </a:xfrm>
            <a:prstGeom prst="roundRect">
              <a:avLst>
                <a:gd name="adj" fmla="val 4878"/>
              </a:avLst>
            </a:prstGeom>
            <a:solidFill>
              <a:srgbClr val="F7F8F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5" name="TextBox 39"/>
            <p:cNvSpPr/>
            <p:nvPr/>
          </p:nvSpPr>
          <p:spPr>
            <a:xfrm>
              <a:off x="3095280" y="4921200"/>
              <a:ext cx="26010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4 </a:t>
              </a:r>
              <a:r>
                <a:rPr lang="zh-CN" sz="1950" b="1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图像工具执行与复核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6" name="TextBox 40"/>
            <p:cNvSpPr/>
            <p:nvPr/>
          </p:nvSpPr>
          <p:spPr>
            <a:xfrm>
              <a:off x="3096720" y="5302080"/>
              <a:ext cx="606996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工具按</a:t>
              </a:r>
              <a:r>
                <a:rPr lang="en-US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Prompt</a:t>
              </a: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出图，六方向候选先核查一致性，再由人选型。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TextBox 41"/>
            <p:cNvSpPr/>
            <p:nvPr/>
          </p:nvSpPr>
          <p:spPr>
            <a:xfrm>
              <a:off x="3097440" y="5641920"/>
              <a:ext cx="425556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50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候选：籽荚、卵石、鳍翼、海螺、花苞、双瓣。</a:t>
              </a:r>
              <a:endPara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TextBox 42"/>
            <p:cNvSpPr/>
            <p:nvPr/>
          </p:nvSpPr>
          <p:spPr>
            <a:xfrm>
              <a:off x="3097440" y="5956200"/>
              <a:ext cx="5518080" cy="293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50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核查：左耳方向、连接、材料与视图；发现偏差回改</a:t>
              </a:r>
              <a:r>
                <a:rPr lang="en-US" sz="150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Prompt</a:t>
              </a:r>
              <a:r>
                <a:rPr lang="zh-CN" sz="150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。</a:t>
              </a:r>
              <a:endPara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9" name="header"/>
          <p:cNvGrpSpPr/>
          <p:nvPr/>
        </p:nvGrpSpPr>
        <p:grpSpPr>
          <a:xfrm>
            <a:off x="424080" y="204480"/>
            <a:ext cx="11224440" cy="1157760"/>
            <a:chOff x="424080" y="204480"/>
            <a:chExt cx="11224440" cy="1157760"/>
          </a:xfrm>
        </p:grpSpPr>
        <p:sp>
          <p:nvSpPr>
            <p:cNvPr id="340" name="TextBox 2"/>
            <p:cNvSpPr/>
            <p:nvPr/>
          </p:nvSpPr>
          <p:spPr>
            <a:xfrm>
              <a:off x="424080" y="204480"/>
              <a:ext cx="491976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33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设计特征与六种概念方案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TextBox 3"/>
            <p:cNvSpPr/>
            <p:nvPr/>
          </p:nvSpPr>
          <p:spPr>
            <a:xfrm>
              <a:off x="432360" y="855360"/>
              <a:ext cx="11216160" cy="506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Microsoft YaHei"/>
                </a:rPr>
                <a:t>相同需求下比较不同轮廓、支撑方式和软硬分工，由人选择方向。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defTabSz="457200">
                <a:lnSpc>
                  <a:spcPct val="100000"/>
                </a:lnSpc>
              </a:pP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2" name="concept-gallery"/>
          <p:cNvGrpSpPr/>
          <p:nvPr/>
        </p:nvGrpSpPr>
        <p:grpSpPr>
          <a:xfrm>
            <a:off x="495360" y="1647720"/>
            <a:ext cx="11201040" cy="4123800"/>
            <a:chOff x="495360" y="1647720"/>
            <a:chExt cx="11201040" cy="4123800"/>
          </a:xfrm>
        </p:grpSpPr>
        <p:sp>
          <p:nvSpPr>
            <p:cNvPr id="343" name="Rectangle 5"/>
            <p:cNvSpPr/>
            <p:nvPr/>
          </p:nvSpPr>
          <p:spPr>
            <a:xfrm>
              <a:off x="495360" y="1647720"/>
              <a:ext cx="3495240" cy="1980720"/>
            </a:xfrm>
            <a:prstGeom prst="roundRect">
              <a:avLst>
                <a:gd name="adj" fmla="val 3846"/>
              </a:avLst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44" name="Image 6"/>
            <p:cNvPicPr/>
            <p:nvPr/>
          </p:nvPicPr>
          <p:blipFill>
            <a:blip r:embed="rId1"/>
            <a:srcRect l="68006" t="30002" r="0" b="6002"/>
            <a:stretch/>
          </p:blipFill>
          <p:spPr>
            <a:xfrm>
              <a:off x="669240" y="1752480"/>
              <a:ext cx="1299960" cy="1733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45" name="TextBox 7"/>
            <p:cNvSpPr/>
            <p:nvPr/>
          </p:nvSpPr>
          <p:spPr>
            <a:xfrm>
              <a:off x="2245320" y="1917720"/>
              <a:ext cx="67032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籽荚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TextBox 8"/>
            <p:cNvSpPr/>
            <p:nvPr/>
          </p:nvSpPr>
          <p:spPr>
            <a:xfrm>
              <a:off x="2250720" y="2368440"/>
              <a:ext cx="7243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chemeClr val="accent6"/>
                  </a:solidFill>
                  <a:effectLst/>
                  <a:uFillTx/>
                  <a:latin typeface="Arial"/>
                  <a:ea typeface="Microsoft YaHei"/>
                </a:rPr>
                <a:t>SeedPod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TextBox 9"/>
            <p:cNvSpPr/>
            <p:nvPr/>
          </p:nvSpPr>
          <p:spPr>
            <a:xfrm>
              <a:off x="2248920" y="2844720"/>
              <a:ext cx="13492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浅鞍软胶支撑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8" name="Rectangle 10"/>
            <p:cNvSpPr/>
            <p:nvPr/>
          </p:nvSpPr>
          <p:spPr>
            <a:xfrm>
              <a:off x="4343400" y="1647720"/>
              <a:ext cx="3495240" cy="1980720"/>
            </a:xfrm>
            <a:prstGeom prst="roundRect">
              <a:avLst>
                <a:gd name="adj" fmla="val 3846"/>
              </a:avLst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49" name="Image 11"/>
            <p:cNvPicPr/>
            <p:nvPr/>
          </p:nvPicPr>
          <p:blipFill>
            <a:blip r:embed="rId2"/>
            <a:srcRect l="68006" t="30002" r="0" b="6002"/>
            <a:stretch/>
          </p:blipFill>
          <p:spPr>
            <a:xfrm>
              <a:off x="4517280" y="1752480"/>
              <a:ext cx="1299960" cy="1733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0" name="TextBox 12"/>
            <p:cNvSpPr/>
            <p:nvPr/>
          </p:nvSpPr>
          <p:spPr>
            <a:xfrm>
              <a:off x="6093360" y="1917720"/>
              <a:ext cx="67032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卵石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TextBox 13"/>
            <p:cNvSpPr/>
            <p:nvPr/>
          </p:nvSpPr>
          <p:spPr>
            <a:xfrm>
              <a:off x="6098760" y="2368440"/>
              <a:ext cx="5727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chemeClr val="accent6"/>
                  </a:solidFill>
                  <a:effectLst/>
                  <a:uFillTx/>
                  <a:latin typeface="Arial"/>
                  <a:ea typeface="Microsoft YaHei"/>
                </a:rPr>
                <a:t>Pebble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TextBox 14"/>
            <p:cNvSpPr/>
            <p:nvPr/>
          </p:nvSpPr>
          <p:spPr>
            <a:xfrm>
              <a:off x="6097320" y="2844720"/>
              <a:ext cx="112716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圆润低凸起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Rectangle 15"/>
            <p:cNvSpPr/>
            <p:nvPr/>
          </p:nvSpPr>
          <p:spPr>
            <a:xfrm>
              <a:off x="8191440" y="1647720"/>
              <a:ext cx="3504960" cy="1980720"/>
            </a:xfrm>
            <a:prstGeom prst="roundRect">
              <a:avLst>
                <a:gd name="adj" fmla="val 3846"/>
              </a:avLst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4" name="Image 16"/>
            <p:cNvPicPr/>
            <p:nvPr/>
          </p:nvPicPr>
          <p:blipFill>
            <a:blip r:embed="rId3"/>
            <a:srcRect l="68006" t="25501" r="0" b="10298"/>
            <a:stretch/>
          </p:blipFill>
          <p:spPr>
            <a:xfrm>
              <a:off x="8367480" y="1752480"/>
              <a:ext cx="1295640" cy="1733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55" name="TextBox 17"/>
            <p:cNvSpPr/>
            <p:nvPr/>
          </p:nvSpPr>
          <p:spPr>
            <a:xfrm>
              <a:off x="9941400" y="1917720"/>
              <a:ext cx="67032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鳍翼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TextBox 18"/>
            <p:cNvSpPr/>
            <p:nvPr/>
          </p:nvSpPr>
          <p:spPr>
            <a:xfrm>
              <a:off x="9946800" y="2368440"/>
              <a:ext cx="66888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chemeClr val="accent6"/>
                  </a:solidFill>
                  <a:effectLst/>
                  <a:uFillTx/>
                  <a:latin typeface="Arial"/>
                  <a:ea typeface="Microsoft YaHei"/>
                </a:rPr>
                <a:t>FinWing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TextBox 19"/>
            <p:cNvSpPr/>
            <p:nvPr/>
          </p:nvSpPr>
          <p:spPr>
            <a:xfrm>
              <a:off x="9945360" y="2844720"/>
              <a:ext cx="9050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短宽软鳍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Rectangle 20"/>
            <p:cNvSpPr/>
            <p:nvPr/>
          </p:nvSpPr>
          <p:spPr>
            <a:xfrm>
              <a:off x="495360" y="3790800"/>
              <a:ext cx="3495240" cy="1980720"/>
            </a:xfrm>
            <a:prstGeom prst="roundRect">
              <a:avLst>
                <a:gd name="adj" fmla="val 3846"/>
              </a:avLst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59" name="Image 21"/>
            <p:cNvPicPr/>
            <p:nvPr/>
          </p:nvPicPr>
          <p:blipFill>
            <a:blip r:embed="rId4"/>
            <a:srcRect l="68006" t="30002" r="0" b="6002"/>
            <a:stretch/>
          </p:blipFill>
          <p:spPr>
            <a:xfrm>
              <a:off x="669240" y="3895560"/>
              <a:ext cx="1299960" cy="1733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0" name="TextBox 22"/>
            <p:cNvSpPr/>
            <p:nvPr/>
          </p:nvSpPr>
          <p:spPr>
            <a:xfrm>
              <a:off x="2245320" y="4060800"/>
              <a:ext cx="67032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海螺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1" name="TextBox 23"/>
            <p:cNvSpPr/>
            <p:nvPr/>
          </p:nvSpPr>
          <p:spPr>
            <a:xfrm>
              <a:off x="2250720" y="4511520"/>
              <a:ext cx="5270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chemeClr val="accent6"/>
                  </a:solidFill>
                  <a:effectLst/>
                  <a:uFillTx/>
                  <a:latin typeface="Arial"/>
                  <a:ea typeface="Microsoft YaHei"/>
                </a:rPr>
                <a:t>Spiral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2" name="TextBox 24"/>
            <p:cNvSpPr/>
            <p:nvPr/>
          </p:nvSpPr>
          <p:spPr>
            <a:xfrm>
              <a:off x="2248920" y="4987800"/>
              <a:ext cx="9050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浅卷曲面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3" name="Rectangle 25"/>
            <p:cNvSpPr/>
            <p:nvPr/>
          </p:nvSpPr>
          <p:spPr>
            <a:xfrm>
              <a:off x="4343400" y="3790800"/>
              <a:ext cx="3495240" cy="1980720"/>
            </a:xfrm>
            <a:prstGeom prst="roundRect">
              <a:avLst>
                <a:gd name="adj" fmla="val 3846"/>
              </a:avLst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64" name="Image 26"/>
            <p:cNvPicPr/>
            <p:nvPr/>
          </p:nvPicPr>
          <p:blipFill>
            <a:blip r:embed="rId5"/>
            <a:srcRect l="68006" t="27001" r="0" b="11200"/>
            <a:stretch/>
          </p:blipFill>
          <p:spPr>
            <a:xfrm>
              <a:off x="4494240" y="3895560"/>
              <a:ext cx="1346040" cy="17330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5" name="TextBox 27"/>
            <p:cNvSpPr/>
            <p:nvPr/>
          </p:nvSpPr>
          <p:spPr>
            <a:xfrm>
              <a:off x="6093360" y="4060800"/>
              <a:ext cx="67032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花苞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6" name="TextBox 28"/>
            <p:cNvSpPr/>
            <p:nvPr/>
          </p:nvSpPr>
          <p:spPr>
            <a:xfrm>
              <a:off x="6098760" y="4511520"/>
              <a:ext cx="5097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chemeClr val="accent6"/>
                  </a:solidFill>
                  <a:effectLst/>
                  <a:uFillTx/>
                  <a:latin typeface="Arial"/>
                  <a:ea typeface="Microsoft YaHei"/>
                </a:rPr>
                <a:t>Bloom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7" name="TextBox 29"/>
            <p:cNvSpPr/>
            <p:nvPr/>
          </p:nvSpPr>
          <p:spPr>
            <a:xfrm>
              <a:off x="6097320" y="4987800"/>
              <a:ext cx="13492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花瓣软胶环抱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8" name="Rectangle 30"/>
            <p:cNvSpPr/>
            <p:nvPr/>
          </p:nvSpPr>
          <p:spPr>
            <a:xfrm>
              <a:off x="8191440" y="3790800"/>
              <a:ext cx="3504960" cy="1980720"/>
            </a:xfrm>
            <a:prstGeom prst="roundRect">
              <a:avLst>
                <a:gd name="adj" fmla="val 3846"/>
              </a:avLst>
            </a:prstGeom>
            <a:solidFill>
              <a:schemeClr val="accent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69" name="Image 31"/>
            <p:cNvPicPr/>
            <p:nvPr/>
          </p:nvPicPr>
          <p:blipFill>
            <a:blip r:embed="rId6"/>
            <a:srcRect l="68505" t="25999" r="1499" b="22201"/>
            <a:stretch/>
          </p:blipFill>
          <p:spPr>
            <a:xfrm>
              <a:off x="8315280" y="3942360"/>
              <a:ext cx="1399680" cy="16113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0" name="TextBox 32"/>
            <p:cNvSpPr/>
            <p:nvPr/>
          </p:nvSpPr>
          <p:spPr>
            <a:xfrm>
              <a:off x="9941400" y="4060800"/>
              <a:ext cx="67032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双瓣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1" name="TextBox 33"/>
            <p:cNvSpPr/>
            <p:nvPr/>
          </p:nvSpPr>
          <p:spPr>
            <a:xfrm>
              <a:off x="9946800" y="4511520"/>
              <a:ext cx="8690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350" b="0" u="none" strike="noStrike">
                  <a:solidFill>
                    <a:schemeClr val="accent6"/>
                  </a:solidFill>
                  <a:effectLst/>
                  <a:uFillTx/>
                  <a:latin typeface="Arial"/>
                  <a:ea typeface="Microsoft YaHei"/>
                </a:rPr>
                <a:t>TwinPetal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2" name="TextBox 34"/>
            <p:cNvSpPr/>
            <p:nvPr/>
          </p:nvSpPr>
          <p:spPr>
            <a:xfrm>
              <a:off x="9945360" y="4987800"/>
              <a:ext cx="9050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chemeClr val="dk1"/>
                  </a:solidFill>
                  <a:effectLst/>
                  <a:uFillTx/>
                  <a:latin typeface="Arial"/>
                  <a:ea typeface="Microsoft YaHei"/>
                </a:rPr>
                <a:t>重叠双壳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3" name="demo-boundary"/>
          <p:cNvSpPr/>
          <p:nvPr/>
        </p:nvSpPr>
        <p:spPr>
          <a:xfrm>
            <a:off x="488520" y="5997600"/>
            <a:ext cx="2914200" cy="20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六个左耳概念用于本轮生成流程演示。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footer-label"/>
          <p:cNvSpPr/>
          <p:nvPr/>
        </p:nvSpPr>
        <p:spPr>
          <a:xfrm>
            <a:off x="488520" y="6407280"/>
            <a:ext cx="328464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输入特征决定生成方向，由人比较并选型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age-number"/>
          <p:cNvSpPr/>
          <p:nvPr/>
        </p:nvSpPr>
        <p:spPr>
          <a:xfrm>
            <a:off x="11489760" y="6407280"/>
            <a:ext cx="2131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09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6" name="header"/>
          <p:cNvGrpSpPr/>
          <p:nvPr/>
        </p:nvGrpSpPr>
        <p:grpSpPr>
          <a:xfrm>
            <a:off x="478440" y="422280"/>
            <a:ext cx="11209680" cy="973080"/>
            <a:chOff x="478440" y="422280"/>
            <a:chExt cx="11209680" cy="973080"/>
          </a:xfrm>
        </p:grpSpPr>
        <p:sp>
          <p:nvSpPr>
            <p:cNvPr id="377" name="TextBox 2"/>
            <p:cNvSpPr/>
            <p:nvPr/>
          </p:nvSpPr>
          <p:spPr>
            <a:xfrm>
              <a:off x="478440" y="422280"/>
              <a:ext cx="1120104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en-US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AI</a:t>
              </a:r>
              <a:r>
                <a:rPr lang="zh-CN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怎样把语言变成</a:t>
              </a:r>
              <a:r>
                <a:rPr lang="en-US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CAD</a:t>
              </a:r>
              <a:r>
                <a:rPr lang="zh-CN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操作</a:t>
              </a:r>
              <a:r>
                <a:rPr lang="en-US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 —— </a:t>
              </a:r>
              <a:r>
                <a:rPr lang="en-US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MCP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TextBox 3"/>
            <p:cNvSpPr/>
            <p:nvPr/>
          </p:nvSpPr>
          <p:spPr>
            <a:xfrm>
              <a:off x="487080" y="1073160"/>
              <a:ext cx="112010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读取工具说明和模型状态，确定参数，再生成调用或</a:t>
              </a:r>
              <a:r>
                <a:rPr lang="en-US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Python</a:t>
              </a: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脚本交给</a:t>
              </a:r>
              <a:r>
                <a:rPr lang="en-US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CAD</a:t>
              </a: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79" name="page-number"/>
          <p:cNvSpPr/>
          <p:nvPr/>
        </p:nvSpPr>
        <p:spPr>
          <a:xfrm>
            <a:off x="11489760" y="6407280"/>
            <a:ext cx="2131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08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80" name="language-to-cad"/>
          <p:cNvGrpSpPr/>
          <p:nvPr/>
        </p:nvGrpSpPr>
        <p:grpSpPr>
          <a:xfrm>
            <a:off x="495360" y="1743120"/>
            <a:ext cx="11201040" cy="1995480"/>
            <a:chOff x="495360" y="1743120"/>
            <a:chExt cx="11201040" cy="1995480"/>
          </a:xfrm>
        </p:grpSpPr>
        <p:grpSp>
          <p:nvGrpSpPr>
            <p:cNvPr id="381" name="human-request"/>
            <p:cNvGrpSpPr/>
            <p:nvPr/>
          </p:nvGrpSpPr>
          <p:grpSpPr>
            <a:xfrm>
              <a:off x="495360" y="1743120"/>
              <a:ext cx="2190240" cy="1380600"/>
              <a:chOff x="495360" y="1743120"/>
              <a:chExt cx="2190240" cy="1380600"/>
            </a:xfrm>
          </p:grpSpPr>
          <p:sp>
            <p:nvSpPr>
              <p:cNvPr id="382" name="Rectangle 7"/>
              <p:cNvSpPr/>
              <p:nvPr/>
            </p:nvSpPr>
            <p:spPr>
              <a:xfrm>
                <a:off x="495360" y="1743120"/>
                <a:ext cx="2190240" cy="1380600"/>
              </a:xfrm>
              <a:prstGeom prst="roundRect">
                <a:avLst>
                  <a:gd name="adj" fmla="val 5517"/>
                </a:avLst>
              </a:prstGeom>
              <a:solidFill>
                <a:srgbClr val="FFF2DD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3" name="TextBox 8"/>
              <p:cNvSpPr/>
              <p:nvPr/>
            </p:nvSpPr>
            <p:spPr>
              <a:xfrm>
                <a:off x="657000" y="1835280"/>
                <a:ext cx="1069560" cy="380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950" b="1" u="none" strike="noStrike">
                    <a:solidFill>
                      <a:srgbClr val="13243A"/>
                    </a:solidFill>
                    <a:effectLst/>
                    <a:uFillTx/>
                    <a:latin typeface="Arial"/>
                    <a:ea typeface="微软雅黑"/>
                  </a:rPr>
                  <a:t>人的语言</a:t>
                </a:r>
                <a:endParaRPr lang="en-US" sz="19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4" name="TextBox 9"/>
              <p:cNvSpPr/>
              <p:nvPr/>
            </p:nvSpPr>
            <p:spPr>
              <a:xfrm>
                <a:off x="658440" y="2216160"/>
                <a:ext cx="1571400" cy="322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650" b="0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建一个长方体：</a:t>
                </a:r>
                <a:endParaRPr lang="en-US" sz="16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5" name="TextBox 10"/>
              <p:cNvSpPr/>
              <p:nvPr/>
            </p:nvSpPr>
            <p:spPr>
              <a:xfrm>
                <a:off x="658440" y="2540160"/>
                <a:ext cx="1991160" cy="322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650" b="0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长</a:t>
                </a:r>
                <a:r>
                  <a:rPr lang="en-US" sz="1650" b="0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10</a:t>
                </a:r>
                <a:r>
                  <a:rPr lang="zh-CN" sz="1650" b="0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、宽</a:t>
                </a:r>
                <a:r>
                  <a:rPr lang="en-US" sz="1650" b="0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8</a:t>
                </a:r>
                <a:r>
                  <a:rPr lang="zh-CN" sz="1650" b="0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、高</a:t>
                </a:r>
                <a:r>
                  <a:rPr lang="en-US" sz="1650" b="0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4mm</a:t>
                </a:r>
                <a:endParaRPr lang="en-US" sz="16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86" name="TextBox 11"/>
              <p:cNvSpPr/>
              <p:nvPr/>
            </p:nvSpPr>
            <p:spPr>
              <a:xfrm>
                <a:off x="659880" y="2825640"/>
                <a:ext cx="183060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示意输入，本轮不执行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87" name="Line 13"/>
            <p:cNvSpPr/>
            <p:nvPr/>
          </p:nvSpPr>
          <p:spPr>
            <a:xfrm>
              <a:off x="2781000" y="2438280"/>
              <a:ext cx="209520" cy="0"/>
            </a:xfrm>
            <a:prstGeom prst="line">
              <a:avLst/>
            </a:prstGeom>
            <a:ln w="19050">
              <a:solidFill>
                <a:srgbClr val="3662EA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88" name="ai-understanding"/>
            <p:cNvGrpSpPr/>
            <p:nvPr/>
          </p:nvGrpSpPr>
          <p:grpSpPr>
            <a:xfrm>
              <a:off x="3105000" y="1743120"/>
              <a:ext cx="2495160" cy="1380600"/>
              <a:chOff x="3105000" y="1743120"/>
              <a:chExt cx="2495160" cy="1380600"/>
            </a:xfrm>
          </p:grpSpPr>
          <p:sp>
            <p:nvSpPr>
              <p:cNvPr id="389" name="Rectangle 14"/>
              <p:cNvSpPr/>
              <p:nvPr/>
            </p:nvSpPr>
            <p:spPr>
              <a:xfrm>
                <a:off x="3105000" y="1743120"/>
                <a:ext cx="2495160" cy="1380600"/>
              </a:xfrm>
              <a:prstGeom prst="roundRect">
                <a:avLst>
                  <a:gd name="adj" fmla="val 5517"/>
                </a:avLst>
              </a:prstGeom>
              <a:solidFill>
                <a:srgbClr val="EEF2FF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0" name="TextBox 15"/>
              <p:cNvSpPr/>
              <p:nvPr/>
            </p:nvSpPr>
            <p:spPr>
              <a:xfrm>
                <a:off x="3247560" y="1835280"/>
                <a:ext cx="1872000" cy="380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950" b="1" u="none" strike="noStrike">
                    <a:solidFill>
                      <a:srgbClr val="3662EA"/>
                    </a:solidFill>
                    <a:effectLst/>
                    <a:uFillTx/>
                    <a:latin typeface="Arial"/>
                    <a:ea typeface="微软雅黑"/>
                  </a:rPr>
                  <a:t>AI</a:t>
                </a:r>
                <a:r>
                  <a:rPr lang="zh-CN" sz="1950" b="1" u="none" strike="noStrike">
                    <a:solidFill>
                      <a:srgbClr val="3662EA"/>
                    </a:solidFill>
                    <a:effectLst/>
                    <a:uFillTx/>
                    <a:latin typeface="Arial"/>
                    <a:ea typeface="微软雅黑"/>
                  </a:rPr>
                  <a:t>拆解与选接口</a:t>
                </a:r>
                <a:endParaRPr lang="en-US" sz="19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1" name="TextBox 16"/>
              <p:cNvSpPr/>
              <p:nvPr/>
            </p:nvSpPr>
            <p:spPr>
              <a:xfrm>
                <a:off x="3249000" y="2216160"/>
                <a:ext cx="1793520" cy="322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650" b="0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对象、动作与尺寸</a:t>
                </a:r>
                <a:endParaRPr lang="en-US" sz="16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2" name="TextBox 17"/>
              <p:cNvSpPr/>
              <p:nvPr/>
            </p:nvSpPr>
            <p:spPr>
              <a:xfrm>
                <a:off x="3249000" y="2540160"/>
                <a:ext cx="2015640" cy="322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650" b="0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读取文档与工具说明</a:t>
                </a:r>
                <a:endParaRPr lang="en-US" sz="16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3" name="TextBox 18"/>
              <p:cNvSpPr/>
              <p:nvPr/>
            </p:nvSpPr>
            <p:spPr>
              <a:xfrm>
                <a:off x="3250800" y="2825640"/>
                <a:ext cx="201240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说明约束参数名称与类型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394" name="Line 20"/>
            <p:cNvSpPr/>
            <p:nvPr/>
          </p:nvSpPr>
          <p:spPr>
            <a:xfrm>
              <a:off x="5695920" y="2438280"/>
              <a:ext cx="257040" cy="0"/>
            </a:xfrm>
            <a:prstGeom prst="line">
              <a:avLst/>
            </a:prstGeom>
            <a:ln w="19050">
              <a:solidFill>
                <a:srgbClr val="3662EA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395" name="structured-call"/>
            <p:cNvGrpSpPr/>
            <p:nvPr/>
          </p:nvGrpSpPr>
          <p:grpSpPr>
            <a:xfrm>
              <a:off x="6067440" y="1743120"/>
              <a:ext cx="2714400" cy="1380600"/>
              <a:chOff x="6067440" y="1743120"/>
              <a:chExt cx="2714400" cy="1380600"/>
            </a:xfrm>
          </p:grpSpPr>
          <p:sp>
            <p:nvSpPr>
              <p:cNvPr id="396" name="Rectangle 21"/>
              <p:cNvSpPr/>
              <p:nvPr/>
            </p:nvSpPr>
            <p:spPr>
              <a:xfrm>
                <a:off x="6067440" y="1743120"/>
                <a:ext cx="2714400" cy="1380600"/>
              </a:xfrm>
              <a:prstGeom prst="roundRect">
                <a:avLst>
                  <a:gd name="adj" fmla="val 5517"/>
                </a:avLst>
              </a:prstGeom>
              <a:solidFill>
                <a:srgbClr val="F7F8FC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7" name="TextBox 22"/>
              <p:cNvSpPr/>
              <p:nvPr/>
            </p:nvSpPr>
            <p:spPr>
              <a:xfrm>
                <a:off x="6219360" y="1835280"/>
                <a:ext cx="1872000" cy="380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950" b="1" u="none" strike="noStrike">
                    <a:solidFill>
                      <a:srgbClr val="3662EA"/>
                    </a:solidFill>
                    <a:effectLst/>
                    <a:uFillTx/>
                    <a:latin typeface="Arial"/>
                    <a:ea typeface="微软雅黑"/>
                  </a:rPr>
                  <a:t>AI</a:t>
                </a:r>
                <a:r>
                  <a:rPr lang="zh-CN" sz="1950" b="1" u="none" strike="noStrike">
                    <a:solidFill>
                      <a:srgbClr val="3662EA"/>
                    </a:solidFill>
                    <a:effectLst/>
                    <a:uFillTx/>
                    <a:latin typeface="Arial"/>
                    <a:ea typeface="微软雅黑"/>
                  </a:rPr>
                  <a:t>构造调用参数</a:t>
                </a:r>
                <a:endParaRPr lang="en-US" sz="19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8" name="TextBox 23"/>
              <p:cNvSpPr/>
              <p:nvPr/>
            </p:nvSpPr>
            <p:spPr>
              <a:xfrm>
                <a:off x="6221880" y="2212920"/>
                <a:ext cx="1791720" cy="293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500" b="0" u="none" strike="noStrike">
                    <a:solidFill>
                      <a:srgbClr val="24364C"/>
                    </a:solidFill>
                    <a:effectLst/>
                    <a:uFillTx/>
                    <a:latin typeface="Consolas"/>
                    <a:ea typeface="Consolas"/>
                  </a:rPr>
                  <a:t>name: create_box</a:t>
                </a:r>
                <a:endParaRPr lang="en-US" sz="15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399" name="TextBox 24"/>
              <p:cNvSpPr/>
              <p:nvPr/>
            </p:nvSpPr>
            <p:spPr>
              <a:xfrm>
                <a:off x="6221880" y="2479680"/>
                <a:ext cx="2235960" cy="293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500" b="0" u="none" strike="noStrike">
                    <a:solidFill>
                      <a:srgbClr val="24364C"/>
                    </a:solidFill>
                    <a:effectLst/>
                    <a:uFillTx/>
                    <a:latin typeface="Consolas"/>
                    <a:ea typeface="Consolas"/>
                  </a:rPr>
                  <a:t>length: 10, width: 8</a:t>
                </a:r>
                <a:endParaRPr lang="en-US" sz="15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0" name="TextBox 25"/>
              <p:cNvSpPr/>
              <p:nvPr/>
            </p:nvSpPr>
            <p:spPr>
              <a:xfrm>
                <a:off x="6221880" y="2746440"/>
                <a:ext cx="1014480" cy="293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500" b="0" u="none" strike="noStrike">
                    <a:solidFill>
                      <a:srgbClr val="24364C"/>
                    </a:solidFill>
                    <a:effectLst/>
                    <a:uFillTx/>
                    <a:latin typeface="Consolas"/>
                    <a:ea typeface="Consolas"/>
                  </a:rPr>
                  <a:t>height: 4</a:t>
                </a:r>
                <a:endParaRPr lang="en-US" sz="15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1" name="Line 27"/>
            <p:cNvSpPr/>
            <p:nvPr/>
          </p:nvSpPr>
          <p:spPr>
            <a:xfrm>
              <a:off x="8877240" y="2438280"/>
              <a:ext cx="209520" cy="0"/>
            </a:xfrm>
            <a:prstGeom prst="line">
              <a:avLst/>
            </a:prstGeom>
            <a:ln w="19050">
              <a:solidFill>
                <a:srgbClr val="3662EA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02" name="mcp-execution"/>
            <p:cNvGrpSpPr/>
            <p:nvPr/>
          </p:nvGrpSpPr>
          <p:grpSpPr>
            <a:xfrm>
              <a:off x="9201240" y="1743120"/>
              <a:ext cx="2495160" cy="1380600"/>
              <a:chOff x="9201240" y="1743120"/>
              <a:chExt cx="2495160" cy="1380600"/>
            </a:xfrm>
          </p:grpSpPr>
          <p:sp>
            <p:nvSpPr>
              <p:cNvPr id="403" name="Rectangle 28"/>
              <p:cNvSpPr/>
              <p:nvPr/>
            </p:nvSpPr>
            <p:spPr>
              <a:xfrm>
                <a:off x="9201240" y="1743120"/>
                <a:ext cx="2495160" cy="1380600"/>
              </a:xfrm>
              <a:prstGeom prst="roundRect">
                <a:avLst>
                  <a:gd name="adj" fmla="val 5517"/>
                </a:avLst>
              </a:prstGeom>
              <a:solidFill>
                <a:srgbClr val="E8F6F2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4" name="TextBox 29"/>
              <p:cNvSpPr/>
              <p:nvPr/>
            </p:nvSpPr>
            <p:spPr>
              <a:xfrm>
                <a:off x="9343800" y="1835280"/>
                <a:ext cx="2286720" cy="380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en-US" sz="1950" b="1" u="none" strike="noStrike">
                    <a:solidFill>
                      <a:srgbClr val="069B8A"/>
                    </a:solidFill>
                    <a:effectLst/>
                    <a:uFillTx/>
                    <a:latin typeface="Arial"/>
                    <a:ea typeface="微软雅黑"/>
                  </a:rPr>
                  <a:t>MCP</a:t>
                </a:r>
                <a:r>
                  <a:rPr lang="zh-CN" sz="1950" b="1" u="none" strike="noStrike">
                    <a:solidFill>
                      <a:srgbClr val="069B8A"/>
                    </a:solidFill>
                    <a:effectLst/>
                    <a:uFillTx/>
                    <a:latin typeface="Arial"/>
                    <a:ea typeface="微软雅黑"/>
                  </a:rPr>
                  <a:t>转交</a:t>
                </a:r>
                <a:r>
                  <a:rPr lang="en-US" sz="1950" b="1" u="none" strike="noStrike">
                    <a:solidFill>
                      <a:srgbClr val="069B8A"/>
                    </a:solidFill>
                    <a:effectLst/>
                    <a:uFillTx/>
                    <a:latin typeface="Arial"/>
                    <a:ea typeface="微软雅黑"/>
                  </a:rPr>
                  <a:t>CAD</a:t>
                </a:r>
                <a:r>
                  <a:rPr lang="zh-CN" sz="1950" b="1" u="none" strike="noStrike">
                    <a:solidFill>
                      <a:srgbClr val="069B8A"/>
                    </a:solidFill>
                    <a:effectLst/>
                    <a:uFillTx/>
                    <a:latin typeface="Arial"/>
                    <a:ea typeface="微软雅黑"/>
                  </a:rPr>
                  <a:t>接口</a:t>
                </a:r>
                <a:endParaRPr lang="en-US" sz="19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5" name="TextBox 30"/>
              <p:cNvSpPr/>
              <p:nvPr/>
            </p:nvSpPr>
            <p:spPr>
              <a:xfrm>
                <a:off x="9345240" y="2216160"/>
                <a:ext cx="2269440" cy="322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650" b="0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接收参数，调用</a:t>
                </a:r>
                <a:r>
                  <a:rPr lang="en-US" sz="1650" b="0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Python</a:t>
                </a:r>
                <a:endParaRPr lang="en-US" sz="16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6" name="TextBox 31"/>
              <p:cNvSpPr/>
              <p:nvPr/>
            </p:nvSpPr>
            <p:spPr>
              <a:xfrm>
                <a:off x="9345240" y="2540160"/>
                <a:ext cx="2237760" cy="3222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650" b="0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新增对象、赋值并重算</a:t>
                </a:r>
                <a:endParaRPr lang="en-US" sz="16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07" name="TextBox 32"/>
              <p:cNvSpPr/>
              <p:nvPr/>
            </p:nvSpPr>
            <p:spPr>
              <a:xfrm>
                <a:off x="9346680" y="2825640"/>
                <a:ext cx="219420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返回对象、尺寸与几何状态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08" name="Line 34"/>
            <p:cNvSpPr/>
            <p:nvPr/>
          </p:nvSpPr>
          <p:spPr>
            <a:xfrm>
              <a:off x="10449000" y="3209760"/>
              <a:ext cx="9000" cy="123480"/>
            </a:xfrm>
            <a:custGeom>
              <a:avLst/>
              <a:gdLst>
                <a:gd name="textAreaLeft" fmla="*/ 0 w 9000"/>
                <a:gd name="textAreaRight" fmla="*/ 9360 w 9000"/>
                <a:gd name="textAreaTop" fmla="*/ 0 h 123480"/>
                <a:gd name="textAreaBottom" fmla="*/ 123840 h 123480"/>
              </a:gdLst>
              <a:ahLst/>
              <a:cxnLst/>
              <a:rect l="textAreaLeft" t="textAreaTop" r="textAreaRight" b="textAreaBottom"/>
              <a:pathLst>
                <a:path w="9525" h="123825">
                  <a:moveTo>
                    <a:pt x="0" y="0"/>
                  </a:moveTo>
                  <a:lnTo>
                    <a:pt x="0" y="123825"/>
                  </a:lnTo>
                </a:path>
              </a:pathLst>
            </a:custGeom>
            <a:noFill/>
            <a:ln w="19050">
              <a:solidFill>
                <a:srgbClr val="069B8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Line 35"/>
            <p:cNvSpPr/>
            <p:nvPr/>
          </p:nvSpPr>
          <p:spPr>
            <a:xfrm flipH="1">
              <a:off x="4352760" y="3333600"/>
              <a:ext cx="6095880" cy="0"/>
            </a:xfrm>
            <a:prstGeom prst="line">
              <a:avLst/>
            </a:prstGeom>
            <a:ln w="19050">
              <a:solidFill>
                <a:srgbClr val="069B8A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TextBox 36"/>
            <p:cNvSpPr/>
            <p:nvPr/>
          </p:nvSpPr>
          <p:spPr>
            <a:xfrm>
              <a:off x="4420800" y="3416400"/>
              <a:ext cx="26816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结果回到</a:t>
              </a:r>
              <a:r>
                <a:rPr lang="en-US" sz="1650" b="0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AI</a:t>
              </a:r>
              <a:r>
                <a:rPr lang="zh-CN" sz="1650" b="0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，再检查或返工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1" name="cad-python"/>
          <p:cNvGrpSpPr/>
          <p:nvPr/>
        </p:nvGrpSpPr>
        <p:grpSpPr>
          <a:xfrm>
            <a:off x="485280" y="3816360"/>
            <a:ext cx="4779720" cy="1972440"/>
            <a:chOff x="485280" y="3816360"/>
            <a:chExt cx="4779720" cy="1972440"/>
          </a:xfrm>
        </p:grpSpPr>
        <p:sp>
          <p:nvSpPr>
            <p:cNvPr id="412" name="TextBox 38"/>
            <p:cNvSpPr/>
            <p:nvPr/>
          </p:nvSpPr>
          <p:spPr>
            <a:xfrm>
              <a:off x="485280" y="3816360"/>
              <a:ext cx="283104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CAD</a:t>
              </a:r>
              <a:r>
                <a:rPr lang="zh-CN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操作的</a:t>
              </a:r>
              <a:r>
                <a:rPr lang="en-US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Python</a:t>
              </a:r>
              <a:r>
                <a:rPr lang="zh-CN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代码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TextBox 41"/>
            <p:cNvSpPr/>
            <p:nvPr/>
          </p:nvSpPr>
          <p:spPr>
            <a:xfrm>
              <a:off x="488520" y="4149720"/>
              <a:ext cx="29210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现有服务器实现节选，参数取自调用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TextBox 42"/>
            <p:cNvSpPr/>
            <p:nvPr/>
          </p:nvSpPr>
          <p:spPr>
            <a:xfrm>
              <a:off x="640080" y="4467240"/>
              <a:ext cx="4624920" cy="1321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ts val="2024"/>
                </a:lnSpc>
              </a:pPr>
              <a:r>
                <a:rPr lang="en-US" sz="1500" b="0" u="none" strike="noStrike">
                  <a:solidFill>
                    <a:srgbClr val="24364C"/>
                  </a:solidFill>
                  <a:effectLst/>
                  <a:uFillTx/>
                  <a:latin typeface="Consolas"/>
                  <a:ea typeface="Consolas"/>
                </a:rPr>
                <a:t>box = doc.addObject("Part::Box", "CodexBox")</a:t>
              </a:r>
              <a:br>
                <a:rPr sz="1500"/>
              </a:br>
              <a:r>
                <a:rPr lang="en-US" sz="1500" b="0" u="none" strike="noStrike">
                  <a:solidFill>
                    <a:srgbClr val="24364C"/>
                  </a:solidFill>
                  <a:effectLst/>
                  <a:uFillTx/>
                  <a:latin typeface="Consolas"/>
                  <a:ea typeface="Consolas"/>
                </a:rPr>
                <a:t>box.Length = length</a:t>
              </a:r>
              <a:br>
                <a:rPr sz="1500"/>
              </a:br>
              <a:r>
                <a:rPr lang="en-US" sz="1500" b="0" u="none" strike="noStrike">
                  <a:solidFill>
                    <a:srgbClr val="24364C"/>
                  </a:solidFill>
                  <a:effectLst/>
                  <a:uFillTx/>
                  <a:latin typeface="Consolas"/>
                  <a:ea typeface="Consolas"/>
                </a:rPr>
                <a:t>box.Width = width</a:t>
              </a:r>
              <a:br>
                <a:rPr sz="1500"/>
              </a:br>
              <a:r>
                <a:rPr lang="en-US" sz="1500" b="0" u="none" strike="noStrike">
                  <a:solidFill>
                    <a:srgbClr val="24364C"/>
                  </a:solidFill>
                  <a:effectLst/>
                  <a:uFillTx/>
                  <a:latin typeface="Consolas"/>
                  <a:ea typeface="Consolas"/>
                </a:rPr>
                <a:t>box.Height = height</a:t>
              </a:r>
              <a:br>
                <a:rPr sz="1500"/>
              </a:br>
              <a:r>
                <a:rPr lang="en-US" sz="1500" b="0" u="none" strike="noStrike">
                  <a:solidFill>
                    <a:srgbClr val="24364C"/>
                  </a:solidFill>
                  <a:effectLst/>
                  <a:uFillTx/>
                  <a:latin typeface="Consolas"/>
                  <a:ea typeface="Consolas"/>
                </a:rPr>
                <a:t>doc.recompute()</a:t>
              </a:r>
              <a:endPara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5" name="generated-script"/>
          <p:cNvGrpSpPr/>
          <p:nvPr/>
        </p:nvGrpSpPr>
        <p:grpSpPr>
          <a:xfrm>
            <a:off x="6847920" y="3816360"/>
            <a:ext cx="3982320" cy="2168640"/>
            <a:chOff x="6847920" y="3816360"/>
            <a:chExt cx="3982320" cy="2168640"/>
          </a:xfrm>
        </p:grpSpPr>
        <p:sp>
          <p:nvSpPr>
            <p:cNvPr id="416" name="TextBox 44"/>
            <p:cNvSpPr/>
            <p:nvPr/>
          </p:nvSpPr>
          <p:spPr>
            <a:xfrm>
              <a:off x="6847920" y="3816360"/>
              <a:ext cx="26593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复杂形体：</a:t>
              </a:r>
              <a:r>
                <a:rPr lang="en-US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AI</a:t>
              </a:r>
              <a:r>
                <a:rPr lang="zh-CN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编写脚本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7" name="TextBox 45"/>
            <p:cNvSpPr/>
            <p:nvPr/>
          </p:nvSpPr>
          <p:spPr>
            <a:xfrm>
              <a:off x="6849720" y="4206960"/>
              <a:ext cx="39805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检索</a:t>
              </a:r>
              <a:r>
                <a:rPr lang="en-US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API</a:t>
              </a: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，结合对象和约束编写</a:t>
              </a:r>
              <a:r>
                <a:rPr lang="en-US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Python</a:t>
              </a:r>
              <a:r>
                <a:rPr lang="zh-CN" sz="16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8" name="TextBox 46"/>
            <p:cNvSpPr/>
            <p:nvPr/>
          </p:nvSpPr>
          <p:spPr>
            <a:xfrm>
              <a:off x="7002720" y="4610160"/>
              <a:ext cx="2948760" cy="1064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ts val="2024"/>
                </a:lnSpc>
              </a:pPr>
              <a:r>
                <a:rPr lang="en-US" sz="1500" b="0" u="none" strike="noStrike">
                  <a:solidFill>
                    <a:srgbClr val="24364C"/>
                  </a:solidFill>
                  <a:effectLst/>
                  <a:uFillTx/>
                  <a:latin typeface="Consolas"/>
                  <a:ea typeface="Consolas"/>
                </a:rPr>
                <a:t>"name": "run_freecad_script"</a:t>
              </a:r>
              <a:br>
                <a:rPr sz="1500"/>
              </a:br>
              <a:r>
                <a:rPr lang="en-US" sz="1500" b="0" u="none" strike="noStrike">
                  <a:solidFill>
                    <a:srgbClr val="24364C"/>
                  </a:solidFill>
                  <a:effectLst/>
                  <a:uFillTx/>
                  <a:latin typeface="Consolas"/>
                  <a:ea typeface="Consolas"/>
                </a:rPr>
                <a:t>"arguments": {</a:t>
              </a:r>
              <a:br>
                <a:rPr sz="1500"/>
              </a:br>
              <a:r>
                <a:rPr lang="en-US" sz="1500" b="0" u="none" strike="noStrike">
                  <a:solidFill>
                    <a:srgbClr val="24364C"/>
                  </a:solidFill>
                  <a:effectLst/>
                  <a:uFillTx/>
                  <a:latin typeface="Consolas"/>
                  <a:ea typeface="微软雅黑"/>
                </a:rPr>
                <a:t>"script": "&lt;Python</a:t>
              </a:r>
              <a:r>
                <a:rPr lang="zh-CN" sz="1500" b="0" u="none" strike="noStrike">
                  <a:solidFill>
                    <a:srgbClr val="24364C"/>
                  </a:solidFill>
                  <a:effectLst/>
                  <a:uFillTx/>
                  <a:latin typeface="Consolas"/>
                  <a:ea typeface="微软雅黑"/>
                </a:rPr>
                <a:t>代码</a:t>
              </a:r>
              <a:r>
                <a:rPr lang="en-US" sz="1500" b="0" u="none" strike="noStrike">
                  <a:solidFill>
                    <a:srgbClr val="24364C"/>
                  </a:solidFill>
                  <a:effectLst/>
                  <a:uFillTx/>
                  <a:latin typeface="Consolas"/>
                  <a:ea typeface="微软雅黑"/>
                </a:rPr>
                <a:t>&gt;",</a:t>
              </a:r>
              <a:br>
                <a:rPr sz="1500"/>
              </a:br>
              <a:r>
                <a:rPr lang="en-US" sz="1500" b="0" u="none" strike="noStrike">
                  <a:solidFill>
                    <a:srgbClr val="24364C"/>
                  </a:solidFill>
                  <a:effectLst/>
                  <a:uFillTx/>
                  <a:latin typeface="Consolas"/>
                  <a:ea typeface="Consolas"/>
                </a:rPr>
                <a:t>"timeout_s": 60 }</a:t>
              </a:r>
              <a:endParaRPr lang="en-US" sz="15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TextBox 47"/>
            <p:cNvSpPr/>
            <p:nvPr/>
          </p:nvSpPr>
          <p:spPr>
            <a:xfrm>
              <a:off x="6851160" y="5721480"/>
              <a:ext cx="32846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服务器检查脚本、执行并返回产物及日志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20" name="role-distinction"/>
          <p:cNvGrpSpPr/>
          <p:nvPr/>
        </p:nvGrpSpPr>
        <p:grpSpPr>
          <a:xfrm>
            <a:off x="486000" y="6099120"/>
            <a:ext cx="7455600" cy="351720"/>
            <a:chOff x="486000" y="6099120"/>
            <a:chExt cx="7455600" cy="351720"/>
          </a:xfrm>
        </p:grpSpPr>
        <p:sp>
          <p:nvSpPr>
            <p:cNvPr id="421" name="TextBox 49"/>
            <p:cNvSpPr/>
            <p:nvPr/>
          </p:nvSpPr>
          <p:spPr>
            <a:xfrm>
              <a:off x="486000" y="6099120"/>
              <a:ext cx="74556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AI</a:t>
              </a:r>
              <a:r>
                <a:rPr lang="zh-CN" sz="18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负责语言理解与调用构造，</a:t>
              </a:r>
              <a:r>
                <a:rPr lang="en-US" sz="18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MCP</a:t>
              </a:r>
              <a:r>
                <a:rPr lang="zh-CN" sz="18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按协议传输，</a:t>
              </a:r>
              <a:r>
                <a:rPr lang="en-US" sz="18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CAD</a:t>
              </a:r>
              <a:r>
                <a:rPr lang="zh-CN" sz="18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接口完成建模。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2" name="header"/>
          <p:cNvGrpSpPr/>
          <p:nvPr/>
        </p:nvGrpSpPr>
        <p:grpSpPr>
          <a:xfrm>
            <a:off x="478440" y="384120"/>
            <a:ext cx="11209680" cy="973080"/>
            <a:chOff x="478440" y="384120"/>
            <a:chExt cx="11209680" cy="973080"/>
          </a:xfrm>
        </p:grpSpPr>
        <p:sp>
          <p:nvSpPr>
            <p:cNvPr id="423" name="TextBox 2"/>
            <p:cNvSpPr/>
            <p:nvPr/>
          </p:nvSpPr>
          <p:spPr>
            <a:xfrm>
              <a:off x="478440" y="384120"/>
              <a:ext cx="1120104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en-US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AI</a:t>
              </a:r>
              <a:r>
                <a:rPr lang="zh-CN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协作能力成长：阶段</a:t>
              </a:r>
              <a:r>
                <a:rPr lang="en-US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1</a:t>
              </a:r>
              <a:r>
                <a:rPr lang="zh-CN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至</a:t>
              </a:r>
              <a:r>
                <a:rPr lang="en-US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3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TextBox 3"/>
            <p:cNvSpPr/>
            <p:nvPr/>
          </p:nvSpPr>
          <p:spPr>
            <a:xfrm>
              <a:off x="487080" y="1035000"/>
              <a:ext cx="112010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概念图先行，先选设计方向，再把方案转为可操作</a:t>
              </a:r>
              <a:r>
                <a:rPr lang="en-US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3D</a:t>
              </a: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模型。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25" name="footer-label"/>
          <p:cNvSpPr/>
          <p:nvPr/>
        </p:nvSpPr>
        <p:spPr>
          <a:xfrm>
            <a:off x="488520" y="6473880"/>
            <a:ext cx="56473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zh-CN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微软雅黑"/>
              </a:rPr>
              <a:t>六阶段按能力归纳，方法交叉完善，候选仍待复核。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page-number"/>
          <p:cNvSpPr/>
          <p:nvPr/>
        </p:nvSpPr>
        <p:spPr>
          <a:xfrm>
            <a:off x="11489760" y="6473880"/>
            <a:ext cx="2131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11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Line 7"/>
          <p:cNvSpPr/>
          <p:nvPr/>
        </p:nvSpPr>
        <p:spPr>
          <a:xfrm>
            <a:off x="4210200" y="1676520"/>
            <a:ext cx="9000" cy="4428720"/>
          </a:xfrm>
          <a:custGeom>
            <a:avLst/>
            <a:gdLst>
              <a:gd name="textAreaLeft" fmla="*/ 0 w 9000"/>
              <a:gd name="textAreaRight" fmla="*/ 9360 w 9000"/>
              <a:gd name="textAreaTop" fmla="*/ 0 h 4428720"/>
              <a:gd name="textAreaBottom" fmla="*/ 4429080 h 4428720"/>
            </a:gdLst>
            <a:ahLst/>
            <a:cxnLst/>
            <a:rect l="textAreaLeft" t="textAreaTop" r="textAreaRight" b="textAreaBottom"/>
            <a:pathLst>
              <a:path w="9525" h="4429125">
                <a:moveTo>
                  <a:pt x="0" y="0"/>
                </a:moveTo>
                <a:lnTo>
                  <a:pt x="0" y="4429125"/>
                </a:lnTo>
              </a:path>
            </a:pathLst>
          </a:custGeom>
          <a:noFill/>
          <a:ln w="9525">
            <a:solidFill>
              <a:srgbClr val="DCE3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Line 8"/>
          <p:cNvSpPr/>
          <p:nvPr/>
        </p:nvSpPr>
        <p:spPr>
          <a:xfrm>
            <a:off x="8039160" y="1676520"/>
            <a:ext cx="9000" cy="4428720"/>
          </a:xfrm>
          <a:custGeom>
            <a:avLst/>
            <a:gdLst>
              <a:gd name="textAreaLeft" fmla="*/ 0 w 9000"/>
              <a:gd name="textAreaRight" fmla="*/ 9360 w 9000"/>
              <a:gd name="textAreaTop" fmla="*/ 0 h 4428720"/>
              <a:gd name="textAreaBottom" fmla="*/ 4429080 h 4428720"/>
            </a:gdLst>
            <a:ahLst/>
            <a:cxnLst/>
            <a:rect l="textAreaLeft" t="textAreaTop" r="textAreaRight" b="textAreaBottom"/>
            <a:pathLst>
              <a:path w="9525" h="4429125">
                <a:moveTo>
                  <a:pt x="0" y="0"/>
                </a:moveTo>
                <a:lnTo>
                  <a:pt x="0" y="4429125"/>
                </a:lnTo>
              </a:path>
            </a:pathLst>
          </a:custGeom>
          <a:noFill/>
          <a:ln w="9525">
            <a:solidFill>
              <a:srgbClr val="DCE3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29" name="stage-one"/>
          <p:cNvGrpSpPr/>
          <p:nvPr/>
        </p:nvGrpSpPr>
        <p:grpSpPr>
          <a:xfrm>
            <a:off x="495360" y="1711440"/>
            <a:ext cx="3263400" cy="4228920"/>
            <a:chOff x="495360" y="1711440"/>
            <a:chExt cx="3263400" cy="4228920"/>
          </a:xfrm>
        </p:grpSpPr>
        <p:sp>
          <p:nvSpPr>
            <p:cNvPr id="430" name="Rectangle 9"/>
            <p:cNvSpPr/>
            <p:nvPr/>
          </p:nvSpPr>
          <p:spPr>
            <a:xfrm>
              <a:off x="495360" y="1714680"/>
              <a:ext cx="56880" cy="294840"/>
            </a:xfrm>
            <a:prstGeom prst="rect">
              <a:avLst/>
            </a:prstGeom>
            <a:solidFill>
              <a:srgbClr val="8996A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1" name="TextBox 10"/>
            <p:cNvSpPr/>
            <p:nvPr/>
          </p:nvSpPr>
          <p:spPr>
            <a:xfrm>
              <a:off x="647280" y="1711440"/>
              <a:ext cx="128844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1 </a:t>
              </a:r>
              <a:r>
                <a:rPr lang="zh-CN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几何粗模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32" name="Image 11"/>
            <p:cNvPicPr/>
            <p:nvPr/>
          </p:nvPicPr>
          <p:blipFill>
            <a:blip r:embed="rId1"/>
            <a:stretch/>
          </p:blipFill>
          <p:spPr>
            <a:xfrm>
              <a:off x="1326240" y="2219400"/>
              <a:ext cx="1861560" cy="15998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33" name="TextBox 12"/>
            <p:cNvSpPr/>
            <p:nvPr/>
          </p:nvSpPr>
          <p:spPr>
            <a:xfrm>
              <a:off x="621720" y="3892680"/>
              <a:ext cx="31028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实际早期试作：能出几何，依据不足。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4" name="TextBox 13"/>
            <p:cNvSpPr/>
            <p:nvPr/>
          </p:nvSpPr>
          <p:spPr>
            <a:xfrm>
              <a:off x="621720" y="432108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能力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5" name="TextBox 14"/>
            <p:cNvSpPr/>
            <p:nvPr/>
          </p:nvSpPr>
          <p:spPr>
            <a:xfrm>
              <a:off x="1114200" y="4245120"/>
              <a:ext cx="2382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需求词转为几何粗模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6" name="TextBox 15"/>
            <p:cNvSpPr/>
            <p:nvPr/>
          </p:nvSpPr>
          <p:spPr>
            <a:xfrm>
              <a:off x="621720" y="475920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缺口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7" name="TextBox 16"/>
            <p:cNvSpPr/>
            <p:nvPr/>
          </p:nvSpPr>
          <p:spPr>
            <a:xfrm>
              <a:off x="1114200" y="468324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直接建模缺少形态依据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8" name="TextBox 17"/>
            <p:cNvSpPr/>
            <p:nvPr/>
          </p:nvSpPr>
          <p:spPr>
            <a:xfrm>
              <a:off x="621720" y="519732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8B5CF6"/>
                  </a:solidFill>
                  <a:effectLst/>
                  <a:uFillTx/>
                  <a:latin typeface="Arial"/>
                  <a:ea typeface="微软雅黑"/>
                </a:rPr>
                <a:t>介入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9" name="TextBox 18"/>
            <p:cNvSpPr/>
            <p:nvPr/>
          </p:nvSpPr>
          <p:spPr>
            <a:xfrm>
              <a:off x="1114200" y="512136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8B5CF6"/>
                  </a:solidFill>
                  <a:effectLst/>
                  <a:uFillTx/>
                  <a:latin typeface="Arial"/>
                  <a:ea typeface="微软雅黑"/>
                </a:rPr>
                <a:t>概念图前置与人工选型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0" name="TextBox 19"/>
            <p:cNvSpPr/>
            <p:nvPr/>
          </p:nvSpPr>
          <p:spPr>
            <a:xfrm>
              <a:off x="621720" y="563580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改进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1" name="TextBox 20"/>
            <p:cNvSpPr/>
            <p:nvPr/>
          </p:nvSpPr>
          <p:spPr>
            <a:xfrm>
              <a:off x="1114200" y="555948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先定设计方向，再建模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42" name="stage-two"/>
          <p:cNvGrpSpPr/>
          <p:nvPr/>
        </p:nvGrpSpPr>
        <p:grpSpPr>
          <a:xfrm>
            <a:off x="4324320" y="1711440"/>
            <a:ext cx="3355560" cy="4228920"/>
            <a:chOff x="4324320" y="1711440"/>
            <a:chExt cx="3355560" cy="4228920"/>
          </a:xfrm>
        </p:grpSpPr>
        <p:sp>
          <p:nvSpPr>
            <p:cNvPr id="443" name="Rectangle 22"/>
            <p:cNvSpPr/>
            <p:nvPr/>
          </p:nvSpPr>
          <p:spPr>
            <a:xfrm>
              <a:off x="4324320" y="1714680"/>
              <a:ext cx="56880" cy="294840"/>
            </a:xfrm>
            <a:prstGeom prst="rect">
              <a:avLst/>
            </a:prstGeom>
            <a:solidFill>
              <a:srgbClr val="8B5CF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TextBox 23"/>
            <p:cNvSpPr/>
            <p:nvPr/>
          </p:nvSpPr>
          <p:spPr>
            <a:xfrm>
              <a:off x="4476240" y="1711440"/>
              <a:ext cx="1939680" cy="29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2 </a:t>
              </a:r>
              <a:r>
                <a:rPr lang="zh-CN" sz="1950" b="1" u="none" strike="noStrike">
                  <a:solidFill>
                    <a:schemeClr val="accent1"/>
                  </a:solidFill>
                  <a:effectLst/>
                  <a:uFillTx/>
                  <a:latin typeface="Arial"/>
                  <a:ea typeface="Microsoft YaHei"/>
                </a:rPr>
                <a:t>二维先行与转译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TextBox 28"/>
            <p:cNvSpPr/>
            <p:nvPr/>
          </p:nvSpPr>
          <p:spPr>
            <a:xfrm>
              <a:off x="4450680" y="3892680"/>
              <a:ext cx="25578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早期二维轮廓节选，先定方案。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TextBox 29"/>
            <p:cNvSpPr/>
            <p:nvPr/>
          </p:nvSpPr>
          <p:spPr>
            <a:xfrm>
              <a:off x="4450680" y="432108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能力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TextBox 30"/>
            <p:cNvSpPr/>
            <p:nvPr/>
          </p:nvSpPr>
          <p:spPr>
            <a:xfrm>
              <a:off x="4943160" y="4245120"/>
              <a:ext cx="2382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先比较二维概念方案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TextBox 31"/>
            <p:cNvSpPr/>
            <p:nvPr/>
          </p:nvSpPr>
          <p:spPr>
            <a:xfrm>
              <a:off x="4450680" y="475920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缺口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9" name="TextBox 32"/>
            <p:cNvSpPr/>
            <p:nvPr/>
          </p:nvSpPr>
          <p:spPr>
            <a:xfrm>
              <a:off x="4943160" y="4683240"/>
              <a:ext cx="1733040" cy="299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缺少概念图指导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0" name="TextBox 33"/>
            <p:cNvSpPr/>
            <p:nvPr/>
          </p:nvSpPr>
          <p:spPr>
            <a:xfrm>
              <a:off x="4450680" y="519732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介入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1" name="TextBox 34"/>
            <p:cNvSpPr/>
            <p:nvPr/>
          </p:nvSpPr>
          <p:spPr>
            <a:xfrm>
              <a:off x="4943160" y="512136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概念图先行、锁定方案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2" name="TextBox 35"/>
            <p:cNvSpPr/>
            <p:nvPr/>
          </p:nvSpPr>
          <p:spPr>
            <a:xfrm>
              <a:off x="4450680" y="563580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改进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3" name="TextBox 36"/>
            <p:cNvSpPr/>
            <p:nvPr/>
          </p:nvSpPr>
          <p:spPr>
            <a:xfrm>
              <a:off x="4943160" y="5559480"/>
              <a:ext cx="27367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选定概念，进入</a:t>
              </a:r>
              <a:r>
                <a:rPr lang="en-US" sz="19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3D</a:t>
              </a:r>
              <a:r>
                <a:rPr lang="zh-CN" sz="19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转译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4" name="stage-three"/>
          <p:cNvGrpSpPr/>
          <p:nvPr/>
        </p:nvGrpSpPr>
        <p:grpSpPr>
          <a:xfrm>
            <a:off x="8153280" y="1711440"/>
            <a:ext cx="3072240" cy="4228920"/>
            <a:chOff x="8153280" y="1711440"/>
            <a:chExt cx="3072240" cy="4228920"/>
          </a:xfrm>
        </p:grpSpPr>
        <p:sp>
          <p:nvSpPr>
            <p:cNvPr id="455" name="Rectangle 38"/>
            <p:cNvSpPr/>
            <p:nvPr/>
          </p:nvSpPr>
          <p:spPr>
            <a:xfrm>
              <a:off x="8153280" y="1714680"/>
              <a:ext cx="56880" cy="294840"/>
            </a:xfrm>
            <a:prstGeom prst="rect">
              <a:avLst/>
            </a:prstGeom>
            <a:solidFill>
              <a:srgbClr val="3662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6" name="TextBox 39"/>
            <p:cNvSpPr/>
            <p:nvPr/>
          </p:nvSpPr>
          <p:spPr>
            <a:xfrm>
              <a:off x="8305560" y="1711440"/>
              <a:ext cx="190548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3 </a:t>
              </a:r>
              <a:r>
                <a:rPr lang="zh-CN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概念与</a:t>
              </a:r>
              <a:r>
                <a:rPr lang="en-US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3D</a:t>
              </a:r>
              <a:r>
                <a:rPr lang="zh-CN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联审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7" name="TextBox 40"/>
            <p:cNvSpPr/>
            <p:nvPr/>
          </p:nvSpPr>
          <p:spPr>
            <a:xfrm>
              <a:off x="8327520" y="2168640"/>
              <a:ext cx="740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概念正面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8" name="TextBox 41"/>
            <p:cNvSpPr/>
            <p:nvPr/>
          </p:nvSpPr>
          <p:spPr>
            <a:xfrm>
              <a:off x="9994320" y="2168640"/>
              <a:ext cx="7401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模型正面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59" name="Image 42"/>
            <p:cNvPicPr/>
            <p:nvPr/>
          </p:nvPicPr>
          <p:blipFill>
            <a:blip r:embed="rId2"/>
            <a:srcRect l="49304" t="0" r="29303" b="50006"/>
            <a:stretch/>
          </p:blipFill>
          <p:spPr>
            <a:xfrm>
              <a:off x="8344080" y="2476440"/>
              <a:ext cx="916920" cy="14284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60" name="Image 43"/>
            <p:cNvPicPr/>
            <p:nvPr/>
          </p:nvPicPr>
          <p:blipFill>
            <a:blip r:embed="rId3"/>
            <a:stretch/>
          </p:blipFill>
          <p:spPr>
            <a:xfrm>
              <a:off x="10001160" y="2476440"/>
              <a:ext cx="1224360" cy="1428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61" name="Line 44"/>
            <p:cNvSpPr/>
            <p:nvPr/>
          </p:nvSpPr>
          <p:spPr>
            <a:xfrm>
              <a:off x="9439200" y="3190680"/>
              <a:ext cx="371520" cy="0"/>
            </a:xfrm>
            <a:prstGeom prst="line">
              <a:avLst/>
            </a:prstGeom>
            <a:ln w="19050">
              <a:solidFill>
                <a:srgbClr val="3662EA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TextBox 45"/>
            <p:cNvSpPr/>
            <p:nvPr/>
          </p:nvSpPr>
          <p:spPr>
            <a:xfrm>
              <a:off x="8280000" y="3892680"/>
              <a:ext cx="29210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较新方法示例：同一参照逐项核对。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TextBox 48"/>
            <p:cNvSpPr/>
            <p:nvPr/>
          </p:nvSpPr>
          <p:spPr>
            <a:xfrm>
              <a:off x="8280000" y="432108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能力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TextBox 49"/>
            <p:cNvSpPr/>
            <p:nvPr/>
          </p:nvSpPr>
          <p:spPr>
            <a:xfrm>
              <a:off x="8772120" y="4245120"/>
              <a:ext cx="221148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方案已转为可改</a:t>
              </a:r>
              <a:r>
                <a:rPr lang="en-US" sz="19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3D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TextBox 50"/>
            <p:cNvSpPr/>
            <p:nvPr/>
          </p:nvSpPr>
          <p:spPr>
            <a:xfrm>
              <a:off x="8280000" y="475920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缺口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6" name="TextBox 51"/>
            <p:cNvSpPr/>
            <p:nvPr/>
          </p:nvSpPr>
          <p:spPr>
            <a:xfrm>
              <a:off x="8772120" y="4683240"/>
              <a:ext cx="2382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圈选可能指错作用面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7" name="TextBox 52"/>
            <p:cNvSpPr/>
            <p:nvPr/>
          </p:nvSpPr>
          <p:spPr>
            <a:xfrm>
              <a:off x="8280000" y="519732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介入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8" name="TextBox 53"/>
            <p:cNvSpPr/>
            <p:nvPr/>
          </p:nvSpPr>
          <p:spPr>
            <a:xfrm>
              <a:off x="8772120" y="5121360"/>
              <a:ext cx="2382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对象复标、剖面核查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9" name="TextBox 54"/>
            <p:cNvSpPr/>
            <p:nvPr/>
          </p:nvSpPr>
          <p:spPr>
            <a:xfrm>
              <a:off x="8280000" y="563580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改进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0" name="TextBox 55"/>
            <p:cNvSpPr/>
            <p:nvPr/>
          </p:nvSpPr>
          <p:spPr>
            <a:xfrm>
              <a:off x="8772120" y="5559480"/>
              <a:ext cx="2382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3662EA"/>
                  </a:solidFill>
                  <a:effectLst/>
                  <a:uFillTx/>
                  <a:latin typeface="Arial"/>
                  <a:ea typeface="微软雅黑"/>
                </a:rPr>
                <a:t>反馈有可检查的范围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471" name="Image 10"/>
          <p:cNvPicPr/>
          <p:nvPr/>
        </p:nvPicPr>
        <p:blipFill>
          <a:blip r:embed="rId4"/>
          <a:stretch/>
        </p:blipFill>
        <p:spPr>
          <a:xfrm>
            <a:off x="4476240" y="2168640"/>
            <a:ext cx="2211480" cy="1643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2" name="header"/>
          <p:cNvGrpSpPr/>
          <p:nvPr/>
        </p:nvGrpSpPr>
        <p:grpSpPr>
          <a:xfrm>
            <a:off x="478440" y="422280"/>
            <a:ext cx="11209680" cy="973080"/>
            <a:chOff x="478440" y="422280"/>
            <a:chExt cx="11209680" cy="973080"/>
          </a:xfrm>
        </p:grpSpPr>
        <p:sp>
          <p:nvSpPr>
            <p:cNvPr id="473" name="TextBox 2"/>
            <p:cNvSpPr/>
            <p:nvPr/>
          </p:nvSpPr>
          <p:spPr>
            <a:xfrm>
              <a:off x="478440" y="422280"/>
              <a:ext cx="1120104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en-US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AI</a:t>
              </a:r>
              <a:r>
                <a:rPr lang="zh-CN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协作能力成长：阶段</a:t>
              </a:r>
              <a:r>
                <a:rPr lang="en-US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4</a:t>
              </a:r>
              <a:r>
                <a:rPr lang="zh-CN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至</a:t>
              </a:r>
              <a:r>
                <a:rPr lang="en-US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6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4" name="TextBox 3"/>
            <p:cNvSpPr/>
            <p:nvPr/>
          </p:nvSpPr>
          <p:spPr>
            <a:xfrm>
              <a:off x="487080" y="1073160"/>
              <a:ext cx="112010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真实剖面与耳区知识帮助定位，整机联动和复核回写支持后续任务。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75" name="footer-label"/>
          <p:cNvSpPr/>
          <p:nvPr/>
        </p:nvSpPr>
        <p:spPr>
          <a:xfrm>
            <a:off x="488520" y="6407280"/>
            <a:ext cx="51904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zh-CN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微软雅黑"/>
              </a:rPr>
              <a:t>耳区与剖面支持位置核查，佩戴和跨任务效果继续验证。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page-number"/>
          <p:cNvSpPr/>
          <p:nvPr/>
        </p:nvSpPr>
        <p:spPr>
          <a:xfrm>
            <a:off x="11489760" y="6407280"/>
            <a:ext cx="2131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Microsoft YaHei"/>
              </a:rPr>
              <a:t>12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7" name="Line 7"/>
          <p:cNvSpPr/>
          <p:nvPr/>
        </p:nvSpPr>
        <p:spPr>
          <a:xfrm>
            <a:off x="4210200" y="1676520"/>
            <a:ext cx="9000" cy="4428720"/>
          </a:xfrm>
          <a:custGeom>
            <a:avLst/>
            <a:gdLst>
              <a:gd name="textAreaLeft" fmla="*/ 0 w 9000"/>
              <a:gd name="textAreaRight" fmla="*/ 9360 w 9000"/>
              <a:gd name="textAreaTop" fmla="*/ 0 h 4428720"/>
              <a:gd name="textAreaBottom" fmla="*/ 4429080 h 4428720"/>
            </a:gdLst>
            <a:ahLst/>
            <a:cxnLst/>
            <a:rect l="textAreaLeft" t="textAreaTop" r="textAreaRight" b="textAreaBottom"/>
            <a:pathLst>
              <a:path w="9525" h="4429125">
                <a:moveTo>
                  <a:pt x="0" y="0"/>
                </a:moveTo>
                <a:lnTo>
                  <a:pt x="0" y="4429125"/>
                </a:lnTo>
              </a:path>
            </a:pathLst>
          </a:custGeom>
          <a:noFill/>
          <a:ln w="9525">
            <a:solidFill>
              <a:srgbClr val="DCE3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Line 8"/>
          <p:cNvSpPr/>
          <p:nvPr/>
        </p:nvSpPr>
        <p:spPr>
          <a:xfrm>
            <a:off x="8039160" y="1676520"/>
            <a:ext cx="9000" cy="4428720"/>
          </a:xfrm>
          <a:custGeom>
            <a:avLst/>
            <a:gdLst>
              <a:gd name="textAreaLeft" fmla="*/ 0 w 9000"/>
              <a:gd name="textAreaRight" fmla="*/ 9360 w 9000"/>
              <a:gd name="textAreaTop" fmla="*/ 0 h 4428720"/>
              <a:gd name="textAreaBottom" fmla="*/ 4429080 h 4428720"/>
            </a:gdLst>
            <a:ahLst/>
            <a:cxnLst/>
            <a:rect l="textAreaLeft" t="textAreaTop" r="textAreaRight" b="textAreaBottom"/>
            <a:pathLst>
              <a:path w="9525" h="4429125">
                <a:moveTo>
                  <a:pt x="0" y="0"/>
                </a:moveTo>
                <a:lnTo>
                  <a:pt x="0" y="4429125"/>
                </a:lnTo>
              </a:path>
            </a:pathLst>
          </a:custGeom>
          <a:noFill/>
          <a:ln w="9525">
            <a:solidFill>
              <a:srgbClr val="DCE3E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79" name="stage-four"/>
          <p:cNvGrpSpPr/>
          <p:nvPr/>
        </p:nvGrpSpPr>
        <p:grpSpPr>
          <a:xfrm>
            <a:off x="495360" y="1711440"/>
            <a:ext cx="3374640" cy="4228920"/>
            <a:chOff x="495360" y="1711440"/>
            <a:chExt cx="3374640" cy="4228920"/>
          </a:xfrm>
        </p:grpSpPr>
        <p:sp>
          <p:nvSpPr>
            <p:cNvPr id="480" name="Rectangle 9"/>
            <p:cNvSpPr/>
            <p:nvPr/>
          </p:nvSpPr>
          <p:spPr>
            <a:xfrm>
              <a:off x="495360" y="1714680"/>
              <a:ext cx="56880" cy="294840"/>
            </a:xfrm>
            <a:prstGeom prst="rect">
              <a:avLst/>
            </a:prstGeom>
            <a:solidFill>
              <a:srgbClr val="3662E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TextBox 10"/>
            <p:cNvSpPr/>
            <p:nvPr/>
          </p:nvSpPr>
          <p:spPr>
            <a:xfrm>
              <a:off x="647280" y="1711440"/>
              <a:ext cx="2076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4 </a:t>
              </a:r>
              <a:r>
                <a:rPr lang="zh-CN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圈选与剖面诊断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grpSp>
          <p:nvGrpSpPr>
            <p:cNvPr id="482" name="real-section-vector"/>
            <p:cNvGrpSpPr/>
            <p:nvPr/>
          </p:nvGrpSpPr>
          <p:grpSpPr>
            <a:xfrm>
              <a:off x="628560" y="2060640"/>
              <a:ext cx="3241440" cy="1904760"/>
              <a:chOff x="628560" y="2060640"/>
              <a:chExt cx="3241440" cy="1904760"/>
            </a:xfrm>
          </p:grpSpPr>
          <p:sp>
            <p:nvSpPr>
              <p:cNvPr id="483" name="TextBox 11"/>
              <p:cNvSpPr/>
              <p:nvPr/>
            </p:nvSpPr>
            <p:spPr>
              <a:xfrm>
                <a:off x="640080" y="2060640"/>
                <a:ext cx="418680" cy="293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500" b="1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入口</a:t>
                </a:r>
                <a:endParaRPr lang="en-US" sz="15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4" name="Freeform 12"/>
              <p:cNvSpPr/>
              <p:nvPr/>
            </p:nvSpPr>
            <p:spPr>
              <a:xfrm>
                <a:off x="819360" y="2295360"/>
                <a:ext cx="447120" cy="1399680"/>
              </a:xfrm>
              <a:custGeom>
                <a:avLst/>
                <a:gdLst>
                  <a:gd name="textAreaLeft" fmla="*/ 0 w 447120"/>
                  <a:gd name="textAreaRight" fmla="*/ 447480 w 447120"/>
                  <a:gd name="textAreaTop" fmla="*/ 0 h 1399680"/>
                  <a:gd name="textAreaBottom" fmla="*/ 1400040 h 1399680"/>
                </a:gdLst>
                <a:ahLst/>
                <a:cxnLst/>
                <a:rect l="textAreaLeft" t="textAreaTop" r="textAreaRight" b="textAreaBottom"/>
                <a:pathLst>
                  <a:path w="447465" h="1400175">
                    <a:moveTo>
                      <a:pt x="125187" y="835181"/>
                    </a:moveTo>
                    <a:lnTo>
                      <a:pt x="109947" y="871185"/>
                    </a:lnTo>
                    <a:moveTo>
                      <a:pt x="105023" y="887778"/>
                    </a:moveTo>
                    <a:lnTo>
                      <a:pt x="109947" y="871185"/>
                    </a:lnTo>
                    <a:moveTo>
                      <a:pt x="125187" y="835181"/>
                    </a:moveTo>
                    <a:lnTo>
                      <a:pt x="137893" y="790470"/>
                    </a:lnTo>
                    <a:moveTo>
                      <a:pt x="140703" y="786022"/>
                    </a:moveTo>
                    <a:lnTo>
                      <a:pt x="137893" y="790470"/>
                    </a:lnTo>
                    <a:moveTo>
                      <a:pt x="24470" y="1255147"/>
                    </a:moveTo>
                    <a:lnTo>
                      <a:pt x="22803" y="1248080"/>
                    </a:lnTo>
                    <a:moveTo>
                      <a:pt x="24470" y="1255147"/>
                    </a:moveTo>
                    <a:lnTo>
                      <a:pt x="52245" y="1294924"/>
                    </a:lnTo>
                    <a:moveTo>
                      <a:pt x="58303" y="1307763"/>
                    </a:moveTo>
                    <a:lnTo>
                      <a:pt x="52245" y="1294924"/>
                    </a:lnTo>
                    <a:moveTo>
                      <a:pt x="105023" y="887778"/>
                    </a:moveTo>
                    <a:lnTo>
                      <a:pt x="99517" y="905075"/>
                    </a:lnTo>
                    <a:moveTo>
                      <a:pt x="28089" y="1046093"/>
                    </a:moveTo>
                    <a:lnTo>
                      <a:pt x="51464" y="1002640"/>
                    </a:lnTo>
                    <a:moveTo>
                      <a:pt x="64437" y="979922"/>
                    </a:moveTo>
                    <a:lnTo>
                      <a:pt x="84277" y="933002"/>
                    </a:lnTo>
                    <a:moveTo>
                      <a:pt x="59788" y="986190"/>
                    </a:moveTo>
                    <a:lnTo>
                      <a:pt x="64437" y="979922"/>
                    </a:lnTo>
                    <a:moveTo>
                      <a:pt x="59788" y="986190"/>
                    </a:moveTo>
                    <a:lnTo>
                      <a:pt x="51464" y="1002640"/>
                    </a:lnTo>
                    <a:moveTo>
                      <a:pt x="18555" y="1072553"/>
                    </a:moveTo>
                    <a:lnTo>
                      <a:pt x="28089" y="1046093"/>
                    </a:lnTo>
                    <a:moveTo>
                      <a:pt x="5286" y="1102519"/>
                    </a:moveTo>
                    <a:lnTo>
                      <a:pt x="3715" y="1129789"/>
                    </a:lnTo>
                    <a:moveTo>
                      <a:pt x="0" y="1167936"/>
                    </a:moveTo>
                    <a:lnTo>
                      <a:pt x="3715" y="1129789"/>
                    </a:lnTo>
                    <a:moveTo>
                      <a:pt x="18555" y="1072553"/>
                    </a:moveTo>
                    <a:lnTo>
                      <a:pt x="5286" y="1102519"/>
                    </a:lnTo>
                    <a:moveTo>
                      <a:pt x="99517" y="905075"/>
                    </a:moveTo>
                    <a:lnTo>
                      <a:pt x="84277" y="933002"/>
                    </a:lnTo>
                    <a:moveTo>
                      <a:pt x="58303" y="1307763"/>
                    </a:moveTo>
                    <a:lnTo>
                      <a:pt x="68780" y="1325918"/>
                    </a:lnTo>
                    <a:moveTo>
                      <a:pt x="68780" y="1325918"/>
                    </a:moveTo>
                    <a:lnTo>
                      <a:pt x="99231" y="1353931"/>
                    </a:lnTo>
                    <a:moveTo>
                      <a:pt x="143018" y="1387564"/>
                    </a:moveTo>
                    <a:lnTo>
                      <a:pt x="218656" y="1397660"/>
                    </a:lnTo>
                    <a:moveTo>
                      <a:pt x="143018" y="1387564"/>
                    </a:moveTo>
                    <a:lnTo>
                      <a:pt x="134245" y="1379477"/>
                    </a:lnTo>
                    <a:moveTo>
                      <a:pt x="99231" y="1353931"/>
                    </a:moveTo>
                    <a:lnTo>
                      <a:pt x="134245" y="1379477"/>
                    </a:lnTo>
                    <a:moveTo>
                      <a:pt x="218656" y="1397660"/>
                    </a:moveTo>
                    <a:lnTo>
                      <a:pt x="225095" y="1400175"/>
                    </a:lnTo>
                    <a:moveTo>
                      <a:pt x="241068" y="692048"/>
                    </a:moveTo>
                    <a:lnTo>
                      <a:pt x="260213" y="685524"/>
                    </a:lnTo>
                    <a:moveTo>
                      <a:pt x="260213" y="685524"/>
                    </a:moveTo>
                    <a:lnTo>
                      <a:pt x="268386" y="678799"/>
                    </a:lnTo>
                    <a:moveTo>
                      <a:pt x="156410" y="737864"/>
                    </a:moveTo>
                    <a:lnTo>
                      <a:pt x="157991" y="734778"/>
                    </a:lnTo>
                    <a:moveTo>
                      <a:pt x="147142" y="766001"/>
                    </a:moveTo>
                    <a:lnTo>
                      <a:pt x="156410" y="737864"/>
                    </a:lnTo>
                    <a:moveTo>
                      <a:pt x="157991" y="734778"/>
                    </a:moveTo>
                    <a:lnTo>
                      <a:pt x="173422" y="723243"/>
                    </a:lnTo>
                    <a:moveTo>
                      <a:pt x="147142" y="766001"/>
                    </a:moveTo>
                    <a:lnTo>
                      <a:pt x="140703" y="786022"/>
                    </a:lnTo>
                    <a:moveTo>
                      <a:pt x="201768" y="704450"/>
                    </a:moveTo>
                    <a:lnTo>
                      <a:pt x="173422" y="723243"/>
                    </a:lnTo>
                    <a:moveTo>
                      <a:pt x="241068" y="692048"/>
                    </a:moveTo>
                    <a:lnTo>
                      <a:pt x="201768" y="704450"/>
                    </a:lnTo>
                    <a:moveTo>
                      <a:pt x="65265" y="110176"/>
                    </a:moveTo>
                    <a:lnTo>
                      <a:pt x="70056" y="87058"/>
                    </a:lnTo>
                    <a:moveTo>
                      <a:pt x="65265" y="110176"/>
                    </a:moveTo>
                    <a:lnTo>
                      <a:pt x="60970" y="136665"/>
                    </a:lnTo>
                    <a:moveTo>
                      <a:pt x="299009" y="92774"/>
                    </a:moveTo>
                    <a:lnTo>
                      <a:pt x="303809" y="89668"/>
                    </a:lnTo>
                    <a:moveTo>
                      <a:pt x="293922" y="91745"/>
                    </a:moveTo>
                    <a:lnTo>
                      <a:pt x="299009" y="92774"/>
                    </a:lnTo>
                    <a:moveTo>
                      <a:pt x="277254" y="337252"/>
                    </a:moveTo>
                    <a:lnTo>
                      <a:pt x="296589" y="332356"/>
                    </a:lnTo>
                    <a:moveTo>
                      <a:pt x="296589" y="332356"/>
                    </a:moveTo>
                    <a:lnTo>
                      <a:pt x="333575" y="345777"/>
                    </a:lnTo>
                    <a:moveTo>
                      <a:pt x="333575" y="345777"/>
                    </a:moveTo>
                    <a:lnTo>
                      <a:pt x="344748" y="347910"/>
                    </a:lnTo>
                    <a:moveTo>
                      <a:pt x="244840" y="341843"/>
                    </a:moveTo>
                    <a:lnTo>
                      <a:pt x="260833" y="338442"/>
                    </a:lnTo>
                    <a:moveTo>
                      <a:pt x="277254" y="337252"/>
                    </a:moveTo>
                    <a:lnTo>
                      <a:pt x="260833" y="338442"/>
                    </a:lnTo>
                    <a:moveTo>
                      <a:pt x="223152" y="349910"/>
                    </a:moveTo>
                    <a:lnTo>
                      <a:pt x="244840" y="341843"/>
                    </a:lnTo>
                    <a:moveTo>
                      <a:pt x="355073" y="55597"/>
                    </a:moveTo>
                    <a:lnTo>
                      <a:pt x="356349" y="49835"/>
                    </a:lnTo>
                    <a:moveTo>
                      <a:pt x="356349" y="49835"/>
                    </a:moveTo>
                    <a:lnTo>
                      <a:pt x="368332" y="0"/>
                    </a:lnTo>
                    <a:moveTo>
                      <a:pt x="363493" y="405584"/>
                    </a:moveTo>
                    <a:lnTo>
                      <a:pt x="354235" y="379990"/>
                    </a:lnTo>
                    <a:moveTo>
                      <a:pt x="354235" y="379990"/>
                    </a:moveTo>
                    <a:lnTo>
                      <a:pt x="346443" y="355930"/>
                    </a:lnTo>
                    <a:moveTo>
                      <a:pt x="344748" y="347910"/>
                    </a:moveTo>
                    <a:lnTo>
                      <a:pt x="346443" y="355930"/>
                    </a:lnTo>
                    <a:moveTo>
                      <a:pt x="60970" y="136665"/>
                    </a:moveTo>
                    <a:lnTo>
                      <a:pt x="59446" y="172269"/>
                    </a:lnTo>
                    <a:moveTo>
                      <a:pt x="59446" y="172269"/>
                    </a:moveTo>
                    <a:lnTo>
                      <a:pt x="59474" y="185842"/>
                    </a:lnTo>
                    <a:moveTo>
                      <a:pt x="65627" y="235372"/>
                    </a:moveTo>
                    <a:lnTo>
                      <a:pt x="59474" y="185842"/>
                    </a:lnTo>
                    <a:moveTo>
                      <a:pt x="66046" y="237639"/>
                    </a:moveTo>
                    <a:lnTo>
                      <a:pt x="65627" y="235372"/>
                    </a:lnTo>
                    <a:moveTo>
                      <a:pt x="198311" y="352615"/>
                    </a:moveTo>
                    <a:lnTo>
                      <a:pt x="223152" y="349910"/>
                    </a:lnTo>
                    <a:moveTo>
                      <a:pt x="172155" y="354006"/>
                    </a:moveTo>
                    <a:lnTo>
                      <a:pt x="198311" y="352615"/>
                    </a:lnTo>
                    <a:moveTo>
                      <a:pt x="172155" y="354006"/>
                    </a:moveTo>
                    <a:lnTo>
                      <a:pt x="141551" y="341576"/>
                    </a:lnTo>
                    <a:moveTo>
                      <a:pt x="123168" y="333737"/>
                    </a:moveTo>
                    <a:lnTo>
                      <a:pt x="141551" y="341576"/>
                    </a:lnTo>
                    <a:moveTo>
                      <a:pt x="240535" y="70990"/>
                    </a:moveTo>
                    <a:lnTo>
                      <a:pt x="234410" y="64208"/>
                    </a:lnTo>
                    <a:moveTo>
                      <a:pt x="242926" y="73266"/>
                    </a:moveTo>
                    <a:lnTo>
                      <a:pt x="240535" y="70990"/>
                    </a:lnTo>
                    <a:moveTo>
                      <a:pt x="234410" y="64208"/>
                    </a:moveTo>
                    <a:lnTo>
                      <a:pt x="186176" y="28461"/>
                    </a:lnTo>
                    <a:moveTo>
                      <a:pt x="101394" y="36576"/>
                    </a:moveTo>
                    <a:lnTo>
                      <a:pt x="82658" y="64084"/>
                    </a:lnTo>
                    <a:moveTo>
                      <a:pt x="135093" y="25670"/>
                    </a:moveTo>
                    <a:lnTo>
                      <a:pt x="101394" y="36576"/>
                    </a:lnTo>
                    <a:moveTo>
                      <a:pt x="70056" y="87058"/>
                    </a:moveTo>
                    <a:lnTo>
                      <a:pt x="82658" y="64084"/>
                    </a:lnTo>
                    <a:moveTo>
                      <a:pt x="69637" y="248012"/>
                    </a:moveTo>
                    <a:lnTo>
                      <a:pt x="85306" y="292694"/>
                    </a:lnTo>
                    <a:moveTo>
                      <a:pt x="69637" y="248012"/>
                    </a:moveTo>
                    <a:lnTo>
                      <a:pt x="66046" y="237639"/>
                    </a:lnTo>
                    <a:moveTo>
                      <a:pt x="355073" y="55597"/>
                    </a:moveTo>
                    <a:lnTo>
                      <a:pt x="353158" y="57083"/>
                    </a:lnTo>
                    <a:moveTo>
                      <a:pt x="338538" y="66399"/>
                    </a:moveTo>
                    <a:lnTo>
                      <a:pt x="353158" y="57083"/>
                    </a:lnTo>
                    <a:moveTo>
                      <a:pt x="338538" y="66399"/>
                    </a:moveTo>
                    <a:lnTo>
                      <a:pt x="303809" y="89668"/>
                    </a:lnTo>
                    <a:moveTo>
                      <a:pt x="242926" y="73266"/>
                    </a:moveTo>
                    <a:lnTo>
                      <a:pt x="293922" y="91745"/>
                    </a:lnTo>
                    <a:moveTo>
                      <a:pt x="363493" y="405584"/>
                    </a:moveTo>
                    <a:lnTo>
                      <a:pt x="360931" y="431483"/>
                    </a:lnTo>
                    <a:moveTo>
                      <a:pt x="158877" y="16307"/>
                    </a:moveTo>
                    <a:lnTo>
                      <a:pt x="169383" y="18031"/>
                    </a:lnTo>
                    <a:moveTo>
                      <a:pt x="135093" y="25670"/>
                    </a:moveTo>
                    <a:lnTo>
                      <a:pt x="158877" y="16307"/>
                    </a:lnTo>
                    <a:moveTo>
                      <a:pt x="169383" y="18031"/>
                    </a:moveTo>
                    <a:lnTo>
                      <a:pt x="186176" y="28461"/>
                    </a:lnTo>
                    <a:moveTo>
                      <a:pt x="85306" y="292694"/>
                    </a:moveTo>
                    <a:lnTo>
                      <a:pt x="90268" y="298980"/>
                    </a:lnTo>
                    <a:moveTo>
                      <a:pt x="90268" y="298980"/>
                    </a:moveTo>
                    <a:lnTo>
                      <a:pt x="123168" y="333737"/>
                    </a:lnTo>
                    <a:moveTo>
                      <a:pt x="366398" y="472659"/>
                    </a:moveTo>
                    <a:lnTo>
                      <a:pt x="364617" y="507968"/>
                    </a:lnTo>
                    <a:moveTo>
                      <a:pt x="335147" y="608895"/>
                    </a:moveTo>
                    <a:lnTo>
                      <a:pt x="311820" y="648033"/>
                    </a:lnTo>
                    <a:moveTo>
                      <a:pt x="335147" y="608895"/>
                    </a:moveTo>
                    <a:lnTo>
                      <a:pt x="345615" y="597903"/>
                    </a:lnTo>
                    <a:moveTo>
                      <a:pt x="349625" y="588235"/>
                    </a:moveTo>
                    <a:lnTo>
                      <a:pt x="345615" y="597903"/>
                    </a:lnTo>
                    <a:moveTo>
                      <a:pt x="366398" y="472659"/>
                    </a:moveTo>
                    <a:lnTo>
                      <a:pt x="360931" y="431483"/>
                    </a:lnTo>
                    <a:moveTo>
                      <a:pt x="349625" y="588235"/>
                    </a:moveTo>
                    <a:lnTo>
                      <a:pt x="362722" y="536315"/>
                    </a:lnTo>
                    <a:moveTo>
                      <a:pt x="364617" y="507968"/>
                    </a:moveTo>
                    <a:lnTo>
                      <a:pt x="362722" y="536315"/>
                    </a:lnTo>
                    <a:moveTo>
                      <a:pt x="311820" y="648033"/>
                    </a:moveTo>
                    <a:lnTo>
                      <a:pt x="268386" y="678799"/>
                    </a:lnTo>
                    <a:moveTo>
                      <a:pt x="295408" y="1364990"/>
                    </a:moveTo>
                    <a:lnTo>
                      <a:pt x="235963" y="1398299"/>
                    </a:lnTo>
                    <a:moveTo>
                      <a:pt x="306629" y="1353864"/>
                    </a:moveTo>
                    <a:lnTo>
                      <a:pt x="295408" y="1364990"/>
                    </a:lnTo>
                    <a:moveTo>
                      <a:pt x="306629" y="1353864"/>
                    </a:moveTo>
                    <a:lnTo>
                      <a:pt x="337071" y="1315660"/>
                    </a:lnTo>
                    <a:moveTo>
                      <a:pt x="354035" y="1285646"/>
                    </a:moveTo>
                    <a:lnTo>
                      <a:pt x="383829" y="1223877"/>
                    </a:lnTo>
                    <a:moveTo>
                      <a:pt x="384038" y="1223334"/>
                    </a:moveTo>
                    <a:lnTo>
                      <a:pt x="383829" y="1223877"/>
                    </a:lnTo>
                    <a:moveTo>
                      <a:pt x="337071" y="1315660"/>
                    </a:moveTo>
                    <a:lnTo>
                      <a:pt x="354035" y="1285646"/>
                    </a:lnTo>
                    <a:moveTo>
                      <a:pt x="442903" y="1055818"/>
                    </a:moveTo>
                    <a:lnTo>
                      <a:pt x="432654" y="1081526"/>
                    </a:lnTo>
                    <a:moveTo>
                      <a:pt x="432654" y="1081526"/>
                    </a:moveTo>
                    <a:lnTo>
                      <a:pt x="415061" y="1123026"/>
                    </a:lnTo>
                    <a:moveTo>
                      <a:pt x="400231" y="1172775"/>
                    </a:moveTo>
                    <a:lnTo>
                      <a:pt x="407689" y="1146296"/>
                    </a:lnTo>
                    <a:moveTo>
                      <a:pt x="407689" y="1146296"/>
                    </a:moveTo>
                    <a:lnTo>
                      <a:pt x="415061" y="1123026"/>
                    </a:lnTo>
                    <a:moveTo>
                      <a:pt x="447465" y="1043321"/>
                    </a:moveTo>
                    <a:lnTo>
                      <a:pt x="442903" y="1055818"/>
                    </a:lnTo>
                    <a:moveTo>
                      <a:pt x="394773" y="1186615"/>
                    </a:moveTo>
                    <a:lnTo>
                      <a:pt x="400231" y="1172775"/>
                    </a:lnTo>
                    <a:moveTo>
                      <a:pt x="384219" y="1222648"/>
                    </a:moveTo>
                    <a:lnTo>
                      <a:pt x="394773" y="1186615"/>
                    </a:lnTo>
                    <a:moveTo>
                      <a:pt x="384038" y="1223334"/>
                    </a:moveTo>
                    <a:lnTo>
                      <a:pt x="384219" y="1222648"/>
                    </a:lnTo>
                    <a:moveTo>
                      <a:pt x="225095" y="1400175"/>
                    </a:moveTo>
                    <a:lnTo>
                      <a:pt x="235963" y="1398299"/>
                    </a:lnTo>
                  </a:path>
                </a:pathLst>
              </a:custGeom>
              <a:noFill/>
              <a:ln w="19050">
                <a:solidFill>
                  <a:srgbClr val="7C8F9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5" name="Freeform 13"/>
              <p:cNvSpPr/>
              <p:nvPr/>
            </p:nvSpPr>
            <p:spPr>
              <a:xfrm>
                <a:off x="943560" y="3332880"/>
                <a:ext cx="154800" cy="197280"/>
              </a:xfrm>
              <a:custGeom>
                <a:avLst/>
                <a:gdLst>
                  <a:gd name="textAreaLeft" fmla="*/ 0 w 154800"/>
                  <a:gd name="textAreaRight" fmla="*/ 155160 w 154800"/>
                  <a:gd name="textAreaTop" fmla="*/ 0 h 197280"/>
                  <a:gd name="textAreaBottom" fmla="*/ 197640 h 197280"/>
                </a:gdLst>
                <a:ahLst/>
                <a:cxnLst/>
                <a:rect l="textAreaLeft" t="textAreaTop" r="textAreaRight" b="textAreaBottom"/>
                <a:pathLst>
                  <a:path w="155248" h="197463">
                    <a:moveTo>
                      <a:pt x="88944" y="9573"/>
                    </a:moveTo>
                    <a:lnTo>
                      <a:pt x="93640" y="11268"/>
                    </a:lnTo>
                    <a:moveTo>
                      <a:pt x="94440" y="11668"/>
                    </a:moveTo>
                    <a:lnTo>
                      <a:pt x="107699" y="18183"/>
                    </a:lnTo>
                    <a:moveTo>
                      <a:pt x="107699" y="18183"/>
                    </a:moveTo>
                    <a:lnTo>
                      <a:pt x="116691" y="24022"/>
                    </a:lnTo>
                    <a:moveTo>
                      <a:pt x="93640" y="11268"/>
                    </a:moveTo>
                    <a:lnTo>
                      <a:pt x="94440" y="11668"/>
                    </a:lnTo>
                    <a:moveTo>
                      <a:pt x="116691" y="24022"/>
                    </a:moveTo>
                    <a:lnTo>
                      <a:pt x="120253" y="26337"/>
                    </a:lnTo>
                    <a:moveTo>
                      <a:pt x="124130" y="29651"/>
                    </a:moveTo>
                    <a:lnTo>
                      <a:pt x="131112" y="35614"/>
                    </a:lnTo>
                    <a:moveTo>
                      <a:pt x="131112" y="35614"/>
                    </a:moveTo>
                    <a:lnTo>
                      <a:pt x="135884" y="41062"/>
                    </a:lnTo>
                    <a:moveTo>
                      <a:pt x="120253" y="26337"/>
                    </a:moveTo>
                    <a:lnTo>
                      <a:pt x="124130" y="29651"/>
                    </a:lnTo>
                    <a:moveTo>
                      <a:pt x="140113" y="45882"/>
                    </a:moveTo>
                    <a:lnTo>
                      <a:pt x="143361" y="51016"/>
                    </a:lnTo>
                    <a:moveTo>
                      <a:pt x="135884" y="41062"/>
                    </a:moveTo>
                    <a:lnTo>
                      <a:pt x="140113" y="45882"/>
                    </a:lnTo>
                    <a:moveTo>
                      <a:pt x="143361" y="51016"/>
                    </a:moveTo>
                    <a:lnTo>
                      <a:pt x="147114" y="56960"/>
                    </a:lnTo>
                    <a:moveTo>
                      <a:pt x="150009" y="63894"/>
                    </a:moveTo>
                    <a:lnTo>
                      <a:pt x="152019" y="68704"/>
                    </a:lnTo>
                    <a:moveTo>
                      <a:pt x="152019" y="68704"/>
                    </a:moveTo>
                    <a:lnTo>
                      <a:pt x="153076" y="73466"/>
                    </a:lnTo>
                    <a:moveTo>
                      <a:pt x="147114" y="56960"/>
                    </a:moveTo>
                    <a:lnTo>
                      <a:pt x="150009" y="63894"/>
                    </a:lnTo>
                    <a:moveTo>
                      <a:pt x="153076" y="73466"/>
                    </a:moveTo>
                    <a:lnTo>
                      <a:pt x="154743" y="80924"/>
                    </a:lnTo>
                    <a:moveTo>
                      <a:pt x="154743" y="80924"/>
                    </a:moveTo>
                    <a:lnTo>
                      <a:pt x="155048" y="88554"/>
                    </a:lnTo>
                    <a:moveTo>
                      <a:pt x="155048" y="88554"/>
                    </a:moveTo>
                    <a:lnTo>
                      <a:pt x="155248" y="93440"/>
                    </a:lnTo>
                    <a:moveTo>
                      <a:pt x="155248" y="93440"/>
                    </a:moveTo>
                    <a:lnTo>
                      <a:pt x="154543" y="98622"/>
                    </a:lnTo>
                    <a:moveTo>
                      <a:pt x="154543" y="98622"/>
                    </a:moveTo>
                    <a:lnTo>
                      <a:pt x="153524" y="106051"/>
                    </a:lnTo>
                    <a:moveTo>
                      <a:pt x="151428" y="112747"/>
                    </a:moveTo>
                    <a:lnTo>
                      <a:pt x="149609" y="118586"/>
                    </a:lnTo>
                    <a:moveTo>
                      <a:pt x="149609" y="118586"/>
                    </a:moveTo>
                    <a:lnTo>
                      <a:pt x="146333" y="125206"/>
                    </a:lnTo>
                    <a:moveTo>
                      <a:pt x="153524" y="106051"/>
                    </a:moveTo>
                    <a:lnTo>
                      <a:pt x="151428" y="112747"/>
                    </a:lnTo>
                    <a:moveTo>
                      <a:pt x="146333" y="125206"/>
                    </a:moveTo>
                    <a:lnTo>
                      <a:pt x="143542" y="130845"/>
                    </a:lnTo>
                    <a:moveTo>
                      <a:pt x="143542" y="130845"/>
                    </a:moveTo>
                    <a:lnTo>
                      <a:pt x="140456" y="135331"/>
                    </a:lnTo>
                    <a:moveTo>
                      <a:pt x="140456" y="135331"/>
                    </a:moveTo>
                    <a:lnTo>
                      <a:pt x="135436" y="142627"/>
                    </a:lnTo>
                    <a:moveTo>
                      <a:pt x="135436" y="142627"/>
                    </a:moveTo>
                    <a:lnTo>
                      <a:pt x="132636" y="145742"/>
                    </a:lnTo>
                    <a:moveTo>
                      <a:pt x="132636" y="145742"/>
                    </a:moveTo>
                    <a:lnTo>
                      <a:pt x="125406" y="153781"/>
                    </a:lnTo>
                    <a:moveTo>
                      <a:pt x="125406" y="153781"/>
                    </a:moveTo>
                    <a:lnTo>
                      <a:pt x="123463" y="155477"/>
                    </a:lnTo>
                    <a:moveTo>
                      <a:pt x="123463" y="155477"/>
                    </a:moveTo>
                    <a:lnTo>
                      <a:pt x="113595" y="164116"/>
                    </a:lnTo>
                    <a:moveTo>
                      <a:pt x="113595" y="164116"/>
                    </a:moveTo>
                    <a:lnTo>
                      <a:pt x="113100" y="164468"/>
                    </a:lnTo>
                    <a:moveTo>
                      <a:pt x="113100" y="164468"/>
                    </a:moveTo>
                    <a:lnTo>
                      <a:pt x="110014" y="166621"/>
                    </a:lnTo>
                    <a:moveTo>
                      <a:pt x="109661" y="163992"/>
                    </a:moveTo>
                    <a:lnTo>
                      <a:pt x="109709" y="164392"/>
                    </a:lnTo>
                    <a:moveTo>
                      <a:pt x="109709" y="164392"/>
                    </a:moveTo>
                    <a:lnTo>
                      <a:pt x="110014" y="166621"/>
                    </a:lnTo>
                    <a:moveTo>
                      <a:pt x="89040" y="10287"/>
                    </a:moveTo>
                    <a:lnTo>
                      <a:pt x="89297" y="12211"/>
                    </a:lnTo>
                    <a:moveTo>
                      <a:pt x="88944" y="9573"/>
                    </a:moveTo>
                    <a:lnTo>
                      <a:pt x="89040" y="10287"/>
                    </a:lnTo>
                    <a:moveTo>
                      <a:pt x="2896" y="1105"/>
                    </a:moveTo>
                    <a:lnTo>
                      <a:pt x="8820" y="448"/>
                    </a:lnTo>
                    <a:moveTo>
                      <a:pt x="10401" y="400"/>
                    </a:moveTo>
                    <a:lnTo>
                      <a:pt x="26499" y="0"/>
                    </a:lnTo>
                    <a:moveTo>
                      <a:pt x="26499" y="0"/>
                    </a:moveTo>
                    <a:lnTo>
                      <a:pt x="36909" y="638"/>
                    </a:lnTo>
                    <a:moveTo>
                      <a:pt x="8820" y="448"/>
                    </a:moveTo>
                    <a:lnTo>
                      <a:pt x="10401" y="400"/>
                    </a:lnTo>
                    <a:moveTo>
                      <a:pt x="36909" y="638"/>
                    </a:moveTo>
                    <a:lnTo>
                      <a:pt x="43891" y="1067"/>
                    </a:lnTo>
                    <a:moveTo>
                      <a:pt x="53997" y="2610"/>
                    </a:moveTo>
                    <a:lnTo>
                      <a:pt x="60750" y="3648"/>
                    </a:lnTo>
                    <a:moveTo>
                      <a:pt x="43891" y="1067"/>
                    </a:moveTo>
                    <a:lnTo>
                      <a:pt x="53997" y="2610"/>
                    </a:lnTo>
                    <a:moveTo>
                      <a:pt x="74076" y="7001"/>
                    </a:moveTo>
                    <a:lnTo>
                      <a:pt x="76819" y="7687"/>
                    </a:lnTo>
                    <a:moveTo>
                      <a:pt x="76819" y="7687"/>
                    </a:moveTo>
                    <a:lnTo>
                      <a:pt x="78619" y="8344"/>
                    </a:lnTo>
                    <a:moveTo>
                      <a:pt x="60750" y="3648"/>
                    </a:moveTo>
                    <a:lnTo>
                      <a:pt x="74076" y="7001"/>
                    </a:lnTo>
                    <a:moveTo>
                      <a:pt x="89297" y="12211"/>
                    </a:moveTo>
                    <a:lnTo>
                      <a:pt x="78619" y="8344"/>
                    </a:lnTo>
                    <a:moveTo>
                      <a:pt x="109661" y="163992"/>
                    </a:moveTo>
                    <a:lnTo>
                      <a:pt x="99917" y="170812"/>
                    </a:lnTo>
                    <a:moveTo>
                      <a:pt x="99917" y="170812"/>
                    </a:moveTo>
                    <a:lnTo>
                      <a:pt x="98269" y="171955"/>
                    </a:lnTo>
                    <a:moveTo>
                      <a:pt x="98269" y="171955"/>
                    </a:moveTo>
                    <a:lnTo>
                      <a:pt x="87830" y="177794"/>
                    </a:lnTo>
                    <a:moveTo>
                      <a:pt x="87830" y="177794"/>
                    </a:moveTo>
                    <a:lnTo>
                      <a:pt x="83782" y="180051"/>
                    </a:lnTo>
                    <a:moveTo>
                      <a:pt x="83782" y="180051"/>
                    </a:moveTo>
                    <a:lnTo>
                      <a:pt x="77381" y="182870"/>
                    </a:lnTo>
                    <a:moveTo>
                      <a:pt x="68161" y="186928"/>
                    </a:moveTo>
                    <a:lnTo>
                      <a:pt x="57264" y="190595"/>
                    </a:lnTo>
                    <a:moveTo>
                      <a:pt x="77381" y="182870"/>
                    </a:moveTo>
                    <a:lnTo>
                      <a:pt x="68161" y="186928"/>
                    </a:lnTo>
                    <a:moveTo>
                      <a:pt x="57264" y="190595"/>
                    </a:moveTo>
                    <a:lnTo>
                      <a:pt x="51626" y="192491"/>
                    </a:lnTo>
                    <a:moveTo>
                      <a:pt x="47768" y="193434"/>
                    </a:moveTo>
                    <a:lnTo>
                      <a:pt x="34442" y="196663"/>
                    </a:lnTo>
                    <a:moveTo>
                      <a:pt x="51626" y="192491"/>
                    </a:moveTo>
                    <a:lnTo>
                      <a:pt x="47768" y="193434"/>
                    </a:lnTo>
                    <a:moveTo>
                      <a:pt x="33528" y="196806"/>
                    </a:moveTo>
                    <a:lnTo>
                      <a:pt x="29232" y="197463"/>
                    </a:lnTo>
                    <a:moveTo>
                      <a:pt x="34442" y="196663"/>
                    </a:moveTo>
                    <a:lnTo>
                      <a:pt x="33528" y="196806"/>
                    </a:lnTo>
                    <a:moveTo>
                      <a:pt x="8725" y="22870"/>
                    </a:moveTo>
                    <a:lnTo>
                      <a:pt x="2219" y="23593"/>
                    </a:lnTo>
                    <a:moveTo>
                      <a:pt x="9277" y="22860"/>
                    </a:moveTo>
                    <a:lnTo>
                      <a:pt x="8725" y="22870"/>
                    </a:lnTo>
                    <a:moveTo>
                      <a:pt x="9277" y="22860"/>
                    </a:moveTo>
                    <a:lnTo>
                      <a:pt x="22431" y="22527"/>
                    </a:lnTo>
                    <a:moveTo>
                      <a:pt x="24089" y="22622"/>
                    </a:moveTo>
                    <a:lnTo>
                      <a:pt x="22431" y="22527"/>
                    </a:lnTo>
                    <a:moveTo>
                      <a:pt x="24089" y="22622"/>
                    </a:moveTo>
                    <a:lnTo>
                      <a:pt x="35928" y="23355"/>
                    </a:lnTo>
                    <a:moveTo>
                      <a:pt x="35928" y="23355"/>
                    </a:moveTo>
                    <a:lnTo>
                      <a:pt x="45834" y="24870"/>
                    </a:lnTo>
                    <a:moveTo>
                      <a:pt x="48997" y="25356"/>
                    </a:moveTo>
                    <a:lnTo>
                      <a:pt x="45834" y="24870"/>
                    </a:lnTo>
                    <a:moveTo>
                      <a:pt x="52454" y="26222"/>
                    </a:moveTo>
                    <a:lnTo>
                      <a:pt x="48997" y="25356"/>
                    </a:lnTo>
                    <a:moveTo>
                      <a:pt x="52454" y="26222"/>
                    </a:moveTo>
                    <a:lnTo>
                      <a:pt x="61455" y="28489"/>
                    </a:lnTo>
                    <a:moveTo>
                      <a:pt x="65503" y="29956"/>
                    </a:moveTo>
                    <a:lnTo>
                      <a:pt x="73114" y="32709"/>
                    </a:lnTo>
                    <a:moveTo>
                      <a:pt x="65503" y="29956"/>
                    </a:moveTo>
                    <a:lnTo>
                      <a:pt x="61455" y="28489"/>
                    </a:lnTo>
                    <a:moveTo>
                      <a:pt x="77495" y="34871"/>
                    </a:moveTo>
                    <a:lnTo>
                      <a:pt x="83782" y="37957"/>
                    </a:lnTo>
                    <a:moveTo>
                      <a:pt x="77495" y="34871"/>
                    </a:moveTo>
                    <a:lnTo>
                      <a:pt x="73114" y="32709"/>
                    </a:lnTo>
                    <a:moveTo>
                      <a:pt x="88230" y="40843"/>
                    </a:moveTo>
                    <a:lnTo>
                      <a:pt x="93316" y="44148"/>
                    </a:lnTo>
                    <a:moveTo>
                      <a:pt x="88230" y="40843"/>
                    </a:moveTo>
                    <a:lnTo>
                      <a:pt x="83782" y="37957"/>
                    </a:lnTo>
                    <a:moveTo>
                      <a:pt x="97546" y="47768"/>
                    </a:moveTo>
                    <a:lnTo>
                      <a:pt x="101565" y="51197"/>
                    </a:lnTo>
                    <a:moveTo>
                      <a:pt x="97546" y="47768"/>
                    </a:moveTo>
                    <a:lnTo>
                      <a:pt x="93316" y="44148"/>
                    </a:lnTo>
                    <a:moveTo>
                      <a:pt x="105318" y="55483"/>
                    </a:moveTo>
                    <a:lnTo>
                      <a:pt x="108394" y="58988"/>
                    </a:lnTo>
                    <a:moveTo>
                      <a:pt x="108394" y="58988"/>
                    </a:moveTo>
                    <a:lnTo>
                      <a:pt x="110652" y="62570"/>
                    </a:lnTo>
                    <a:moveTo>
                      <a:pt x="105318" y="55483"/>
                    </a:moveTo>
                    <a:lnTo>
                      <a:pt x="101565" y="51197"/>
                    </a:lnTo>
                    <a:moveTo>
                      <a:pt x="113709" y="67399"/>
                    </a:moveTo>
                    <a:lnTo>
                      <a:pt x="110652" y="62570"/>
                    </a:lnTo>
                    <a:moveTo>
                      <a:pt x="115929" y="72714"/>
                    </a:moveTo>
                    <a:lnTo>
                      <a:pt x="117434" y="76314"/>
                    </a:lnTo>
                    <a:moveTo>
                      <a:pt x="115929" y="72714"/>
                    </a:moveTo>
                    <a:lnTo>
                      <a:pt x="113709" y="67399"/>
                    </a:lnTo>
                    <a:moveTo>
                      <a:pt x="118682" y="81925"/>
                    </a:moveTo>
                    <a:lnTo>
                      <a:pt x="119501" y="85592"/>
                    </a:lnTo>
                    <a:moveTo>
                      <a:pt x="118682" y="81925"/>
                    </a:moveTo>
                    <a:lnTo>
                      <a:pt x="117434" y="76314"/>
                    </a:lnTo>
                    <a:moveTo>
                      <a:pt x="119729" y="91326"/>
                    </a:moveTo>
                    <a:lnTo>
                      <a:pt x="119882" y="95088"/>
                    </a:lnTo>
                    <a:moveTo>
                      <a:pt x="119729" y="91326"/>
                    </a:moveTo>
                    <a:lnTo>
                      <a:pt x="119501" y="85592"/>
                    </a:lnTo>
                    <a:moveTo>
                      <a:pt x="119110" y="100775"/>
                    </a:moveTo>
                    <a:lnTo>
                      <a:pt x="119882" y="95088"/>
                    </a:lnTo>
                    <a:moveTo>
                      <a:pt x="119110" y="100775"/>
                    </a:moveTo>
                    <a:lnTo>
                      <a:pt x="118577" y="104670"/>
                    </a:lnTo>
                    <a:moveTo>
                      <a:pt x="118577" y="104670"/>
                    </a:moveTo>
                    <a:lnTo>
                      <a:pt x="117319" y="108690"/>
                    </a:lnTo>
                    <a:moveTo>
                      <a:pt x="115605" y="114186"/>
                    </a:moveTo>
                    <a:lnTo>
                      <a:pt x="117319" y="108690"/>
                    </a:lnTo>
                    <a:moveTo>
                      <a:pt x="113090" y="119263"/>
                    </a:moveTo>
                    <a:lnTo>
                      <a:pt x="115605" y="114186"/>
                    </a:lnTo>
                    <a:moveTo>
                      <a:pt x="113090" y="119263"/>
                    </a:moveTo>
                    <a:lnTo>
                      <a:pt x="111004" y="123482"/>
                    </a:lnTo>
                    <a:moveTo>
                      <a:pt x="107861" y="128054"/>
                    </a:moveTo>
                    <a:lnTo>
                      <a:pt x="111004" y="123482"/>
                    </a:lnTo>
                    <a:moveTo>
                      <a:pt x="107861" y="128054"/>
                    </a:moveTo>
                    <a:lnTo>
                      <a:pt x="104842" y="132436"/>
                    </a:lnTo>
                    <a:moveTo>
                      <a:pt x="104842" y="132436"/>
                    </a:moveTo>
                    <a:lnTo>
                      <a:pt x="100755" y="136979"/>
                    </a:lnTo>
                    <a:moveTo>
                      <a:pt x="97222" y="140903"/>
                    </a:moveTo>
                    <a:lnTo>
                      <a:pt x="100755" y="136979"/>
                    </a:lnTo>
                    <a:moveTo>
                      <a:pt x="93478" y="144180"/>
                    </a:moveTo>
                    <a:lnTo>
                      <a:pt x="97222" y="140903"/>
                    </a:lnTo>
                    <a:moveTo>
                      <a:pt x="93478" y="144180"/>
                    </a:moveTo>
                    <a:lnTo>
                      <a:pt x="88259" y="148752"/>
                    </a:lnTo>
                    <a:moveTo>
                      <a:pt x="84572" y="151333"/>
                    </a:moveTo>
                    <a:lnTo>
                      <a:pt x="88259" y="148752"/>
                    </a:lnTo>
                    <a:moveTo>
                      <a:pt x="84572" y="151333"/>
                    </a:moveTo>
                    <a:lnTo>
                      <a:pt x="78086" y="155867"/>
                    </a:lnTo>
                    <a:moveTo>
                      <a:pt x="74686" y="157763"/>
                    </a:moveTo>
                    <a:lnTo>
                      <a:pt x="78086" y="155867"/>
                    </a:lnTo>
                    <a:moveTo>
                      <a:pt x="74686" y="157763"/>
                    </a:moveTo>
                    <a:lnTo>
                      <a:pt x="66856" y="162135"/>
                    </a:lnTo>
                    <a:moveTo>
                      <a:pt x="66856" y="162135"/>
                    </a:moveTo>
                    <a:lnTo>
                      <a:pt x="57150" y="166411"/>
                    </a:lnTo>
                    <a:moveTo>
                      <a:pt x="54740" y="167469"/>
                    </a:moveTo>
                    <a:lnTo>
                      <a:pt x="57150" y="166411"/>
                    </a:lnTo>
                    <a:moveTo>
                      <a:pt x="52530" y="168212"/>
                    </a:moveTo>
                    <a:lnTo>
                      <a:pt x="54740" y="167469"/>
                    </a:lnTo>
                    <a:moveTo>
                      <a:pt x="52530" y="168212"/>
                    </a:moveTo>
                    <a:lnTo>
                      <a:pt x="41920" y="171793"/>
                    </a:lnTo>
                    <a:moveTo>
                      <a:pt x="40557" y="172117"/>
                    </a:moveTo>
                    <a:lnTo>
                      <a:pt x="41920" y="171793"/>
                    </a:lnTo>
                    <a:moveTo>
                      <a:pt x="40557" y="172117"/>
                    </a:moveTo>
                    <a:lnTo>
                      <a:pt x="28594" y="175022"/>
                    </a:lnTo>
                    <a:moveTo>
                      <a:pt x="28165" y="175089"/>
                    </a:moveTo>
                    <a:lnTo>
                      <a:pt x="28594" y="175022"/>
                    </a:lnTo>
                    <a:moveTo>
                      <a:pt x="28165" y="175089"/>
                    </a:moveTo>
                    <a:lnTo>
                      <a:pt x="22660" y="175936"/>
                    </a:lnTo>
                    <a:moveTo>
                      <a:pt x="1657" y="3639"/>
                    </a:moveTo>
                    <a:lnTo>
                      <a:pt x="0" y="7029"/>
                    </a:lnTo>
                    <a:moveTo>
                      <a:pt x="2896" y="1105"/>
                    </a:moveTo>
                    <a:lnTo>
                      <a:pt x="1657" y="3639"/>
                    </a:lnTo>
                    <a:moveTo>
                      <a:pt x="26603" y="194462"/>
                    </a:moveTo>
                    <a:lnTo>
                      <a:pt x="24879" y="192500"/>
                    </a:lnTo>
                    <a:moveTo>
                      <a:pt x="29232" y="197463"/>
                    </a:moveTo>
                    <a:lnTo>
                      <a:pt x="26603" y="194462"/>
                    </a:lnTo>
                    <a:moveTo>
                      <a:pt x="22660" y="175936"/>
                    </a:moveTo>
                    <a:lnTo>
                      <a:pt x="23736" y="184004"/>
                    </a:lnTo>
                    <a:moveTo>
                      <a:pt x="23736" y="184004"/>
                    </a:moveTo>
                    <a:lnTo>
                      <a:pt x="24879" y="192500"/>
                    </a:lnTo>
                    <a:moveTo>
                      <a:pt x="1219" y="16107"/>
                    </a:moveTo>
                    <a:lnTo>
                      <a:pt x="2219" y="23593"/>
                    </a:lnTo>
                    <a:moveTo>
                      <a:pt x="0" y="7029"/>
                    </a:moveTo>
                    <a:lnTo>
                      <a:pt x="1219" y="16107"/>
                    </a:lnTo>
                  </a:path>
                </a:pathLst>
              </a:custGeom>
              <a:noFill/>
              <a:ln w="19050">
                <a:solidFill>
                  <a:srgbClr val="497D8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6" name="Freeform 14"/>
              <p:cNvSpPr/>
              <p:nvPr/>
            </p:nvSpPr>
            <p:spPr>
              <a:xfrm>
                <a:off x="829080" y="3227760"/>
                <a:ext cx="400320" cy="387000"/>
              </a:xfrm>
              <a:custGeom>
                <a:avLst/>
                <a:gdLst>
                  <a:gd name="textAreaLeft" fmla="*/ 0 w 400320"/>
                  <a:gd name="textAreaRight" fmla="*/ 400680 w 400320"/>
                  <a:gd name="textAreaTop" fmla="*/ 0 h 387000"/>
                  <a:gd name="textAreaBottom" fmla="*/ 387360 h 387000"/>
                </a:gdLst>
                <a:ahLst/>
                <a:cxnLst/>
                <a:rect l="textAreaLeft" t="textAreaTop" r="textAreaRight" b="textAreaBottom"/>
                <a:pathLst>
                  <a:path w="400564" h="387344">
                    <a:moveTo>
                      <a:pt x="1076" y="173165"/>
                    </a:moveTo>
                    <a:lnTo>
                      <a:pt x="1076" y="172641"/>
                    </a:lnTo>
                    <a:moveTo>
                      <a:pt x="1229" y="174603"/>
                    </a:moveTo>
                    <a:lnTo>
                      <a:pt x="1076" y="173165"/>
                    </a:lnTo>
                    <a:moveTo>
                      <a:pt x="124" y="157153"/>
                    </a:moveTo>
                    <a:lnTo>
                      <a:pt x="610" y="165116"/>
                    </a:lnTo>
                    <a:moveTo>
                      <a:pt x="57" y="155800"/>
                    </a:moveTo>
                    <a:lnTo>
                      <a:pt x="124" y="157153"/>
                    </a:lnTo>
                    <a:moveTo>
                      <a:pt x="610" y="165116"/>
                    </a:moveTo>
                    <a:lnTo>
                      <a:pt x="1076" y="172641"/>
                    </a:lnTo>
                    <a:moveTo>
                      <a:pt x="3896" y="127444"/>
                    </a:moveTo>
                    <a:lnTo>
                      <a:pt x="5058" y="123330"/>
                    </a:lnTo>
                    <a:moveTo>
                      <a:pt x="2962" y="130759"/>
                    </a:moveTo>
                    <a:lnTo>
                      <a:pt x="3896" y="127444"/>
                    </a:lnTo>
                    <a:moveTo>
                      <a:pt x="108814" y="22679"/>
                    </a:moveTo>
                    <a:lnTo>
                      <a:pt x="123863" y="16583"/>
                    </a:lnTo>
                    <a:moveTo>
                      <a:pt x="86249" y="31823"/>
                    </a:moveTo>
                    <a:lnTo>
                      <a:pt x="108814" y="22679"/>
                    </a:lnTo>
                    <a:moveTo>
                      <a:pt x="12983" y="103575"/>
                    </a:moveTo>
                    <a:lnTo>
                      <a:pt x="24717" y="84306"/>
                    </a:lnTo>
                    <a:moveTo>
                      <a:pt x="196939" y="0"/>
                    </a:moveTo>
                    <a:lnTo>
                      <a:pt x="255365" y="6610"/>
                    </a:lnTo>
                    <a:moveTo>
                      <a:pt x="255365" y="6610"/>
                    </a:moveTo>
                    <a:lnTo>
                      <a:pt x="268300" y="8839"/>
                    </a:lnTo>
                    <a:moveTo>
                      <a:pt x="268300" y="8839"/>
                    </a:moveTo>
                    <a:lnTo>
                      <a:pt x="286788" y="13992"/>
                    </a:lnTo>
                    <a:moveTo>
                      <a:pt x="35309" y="71114"/>
                    </a:moveTo>
                    <a:lnTo>
                      <a:pt x="49863" y="58474"/>
                    </a:lnTo>
                    <a:moveTo>
                      <a:pt x="49863" y="58474"/>
                    </a:moveTo>
                    <a:lnTo>
                      <a:pt x="64465" y="45787"/>
                    </a:lnTo>
                    <a:moveTo>
                      <a:pt x="64465" y="45787"/>
                    </a:moveTo>
                    <a:lnTo>
                      <a:pt x="86249" y="31823"/>
                    </a:lnTo>
                    <a:moveTo>
                      <a:pt x="0" y="154334"/>
                    </a:moveTo>
                    <a:lnTo>
                      <a:pt x="57" y="155800"/>
                    </a:lnTo>
                    <a:moveTo>
                      <a:pt x="0" y="154334"/>
                    </a:moveTo>
                    <a:lnTo>
                      <a:pt x="1495" y="142475"/>
                    </a:lnTo>
                    <a:moveTo>
                      <a:pt x="1495" y="142475"/>
                    </a:moveTo>
                    <a:lnTo>
                      <a:pt x="2962" y="130759"/>
                    </a:lnTo>
                    <a:moveTo>
                      <a:pt x="9563" y="112100"/>
                    </a:moveTo>
                    <a:lnTo>
                      <a:pt x="5058" y="123330"/>
                    </a:lnTo>
                    <a:moveTo>
                      <a:pt x="9563" y="112100"/>
                    </a:moveTo>
                    <a:lnTo>
                      <a:pt x="12983" y="103575"/>
                    </a:lnTo>
                    <a:moveTo>
                      <a:pt x="150257" y="10573"/>
                    </a:moveTo>
                    <a:lnTo>
                      <a:pt x="196529" y="29"/>
                    </a:lnTo>
                    <a:moveTo>
                      <a:pt x="150257" y="10573"/>
                    </a:moveTo>
                    <a:lnTo>
                      <a:pt x="123863" y="16583"/>
                    </a:lnTo>
                    <a:moveTo>
                      <a:pt x="30566" y="77019"/>
                    </a:moveTo>
                    <a:lnTo>
                      <a:pt x="35309" y="71114"/>
                    </a:lnTo>
                    <a:moveTo>
                      <a:pt x="30566" y="77019"/>
                    </a:moveTo>
                    <a:lnTo>
                      <a:pt x="24717" y="84306"/>
                    </a:lnTo>
                    <a:moveTo>
                      <a:pt x="311915" y="22203"/>
                    </a:moveTo>
                    <a:lnTo>
                      <a:pt x="333918" y="31051"/>
                    </a:lnTo>
                    <a:moveTo>
                      <a:pt x="333918" y="31051"/>
                    </a:moveTo>
                    <a:lnTo>
                      <a:pt x="361693" y="46368"/>
                    </a:lnTo>
                    <a:moveTo>
                      <a:pt x="311915" y="22203"/>
                    </a:moveTo>
                    <a:lnTo>
                      <a:pt x="286788" y="13992"/>
                    </a:lnTo>
                    <a:moveTo>
                      <a:pt x="196682" y="19"/>
                    </a:moveTo>
                    <a:lnTo>
                      <a:pt x="196529" y="29"/>
                    </a:lnTo>
                    <a:moveTo>
                      <a:pt x="196682" y="19"/>
                    </a:moveTo>
                    <a:lnTo>
                      <a:pt x="196939" y="0"/>
                    </a:lnTo>
                    <a:moveTo>
                      <a:pt x="363417" y="47444"/>
                    </a:moveTo>
                    <a:lnTo>
                      <a:pt x="361693" y="46368"/>
                    </a:lnTo>
                    <a:moveTo>
                      <a:pt x="363417" y="47444"/>
                    </a:moveTo>
                    <a:lnTo>
                      <a:pt x="368646" y="51340"/>
                    </a:lnTo>
                    <a:moveTo>
                      <a:pt x="395802" y="295313"/>
                    </a:moveTo>
                    <a:lnTo>
                      <a:pt x="400564" y="289312"/>
                    </a:lnTo>
                    <a:moveTo>
                      <a:pt x="394164" y="297085"/>
                    </a:moveTo>
                    <a:lnTo>
                      <a:pt x="395802" y="295313"/>
                    </a:lnTo>
                    <a:moveTo>
                      <a:pt x="394164" y="297085"/>
                    </a:moveTo>
                    <a:lnTo>
                      <a:pt x="371418" y="318945"/>
                    </a:lnTo>
                    <a:moveTo>
                      <a:pt x="371418" y="318945"/>
                    </a:moveTo>
                    <a:lnTo>
                      <a:pt x="352606" y="333089"/>
                    </a:lnTo>
                    <a:moveTo>
                      <a:pt x="329984" y="347843"/>
                    </a:moveTo>
                    <a:lnTo>
                      <a:pt x="352606" y="333089"/>
                    </a:lnTo>
                    <a:moveTo>
                      <a:pt x="329984" y="347843"/>
                    </a:moveTo>
                    <a:lnTo>
                      <a:pt x="313744" y="357454"/>
                    </a:lnTo>
                    <a:moveTo>
                      <a:pt x="313744" y="357454"/>
                    </a:moveTo>
                    <a:lnTo>
                      <a:pt x="302047" y="362874"/>
                    </a:lnTo>
                    <a:moveTo>
                      <a:pt x="248450" y="384010"/>
                    </a:moveTo>
                    <a:lnTo>
                      <a:pt x="302047" y="362874"/>
                    </a:lnTo>
                    <a:moveTo>
                      <a:pt x="246545" y="384410"/>
                    </a:moveTo>
                    <a:lnTo>
                      <a:pt x="248450" y="384010"/>
                    </a:lnTo>
                    <a:moveTo>
                      <a:pt x="243383" y="384534"/>
                    </a:moveTo>
                    <a:lnTo>
                      <a:pt x="172231" y="387344"/>
                    </a:lnTo>
                    <a:moveTo>
                      <a:pt x="243383" y="384534"/>
                    </a:moveTo>
                    <a:lnTo>
                      <a:pt x="246545" y="384410"/>
                    </a:lnTo>
                    <a:moveTo>
                      <a:pt x="133302" y="382591"/>
                    </a:moveTo>
                    <a:lnTo>
                      <a:pt x="172231" y="387344"/>
                    </a:lnTo>
                    <a:moveTo>
                      <a:pt x="119663" y="378285"/>
                    </a:moveTo>
                    <a:lnTo>
                      <a:pt x="133302" y="382591"/>
                    </a:lnTo>
                    <a:moveTo>
                      <a:pt x="107480" y="374437"/>
                    </a:moveTo>
                    <a:lnTo>
                      <a:pt x="119663" y="378285"/>
                    </a:lnTo>
                    <a:moveTo>
                      <a:pt x="73800" y="358102"/>
                    </a:moveTo>
                    <a:lnTo>
                      <a:pt x="107480" y="374437"/>
                    </a:lnTo>
                    <a:moveTo>
                      <a:pt x="67323" y="353378"/>
                    </a:moveTo>
                    <a:lnTo>
                      <a:pt x="73800" y="358102"/>
                    </a:lnTo>
                    <a:moveTo>
                      <a:pt x="59369" y="347586"/>
                    </a:moveTo>
                    <a:lnTo>
                      <a:pt x="67323" y="353378"/>
                    </a:lnTo>
                    <a:moveTo>
                      <a:pt x="43720" y="332718"/>
                    </a:moveTo>
                    <a:lnTo>
                      <a:pt x="59369" y="347586"/>
                    </a:lnTo>
                    <a:moveTo>
                      <a:pt x="30451" y="315125"/>
                    </a:moveTo>
                    <a:lnTo>
                      <a:pt x="43720" y="332718"/>
                    </a:lnTo>
                    <a:moveTo>
                      <a:pt x="26899" y="309181"/>
                    </a:moveTo>
                    <a:lnTo>
                      <a:pt x="30451" y="315125"/>
                    </a:lnTo>
                    <a:moveTo>
                      <a:pt x="17069" y="283816"/>
                    </a:moveTo>
                    <a:lnTo>
                      <a:pt x="17412" y="285388"/>
                    </a:lnTo>
                    <a:moveTo>
                      <a:pt x="15183" y="274806"/>
                    </a:moveTo>
                    <a:lnTo>
                      <a:pt x="17069" y="283816"/>
                    </a:lnTo>
                    <a:moveTo>
                      <a:pt x="17412" y="285388"/>
                    </a:moveTo>
                    <a:lnTo>
                      <a:pt x="17812" y="287093"/>
                    </a:lnTo>
                    <a:moveTo>
                      <a:pt x="17812" y="287093"/>
                    </a:moveTo>
                    <a:lnTo>
                      <a:pt x="20898" y="294580"/>
                    </a:lnTo>
                    <a:moveTo>
                      <a:pt x="20898" y="294580"/>
                    </a:moveTo>
                    <a:lnTo>
                      <a:pt x="26899" y="309181"/>
                    </a:lnTo>
                    <a:moveTo>
                      <a:pt x="13973" y="268910"/>
                    </a:moveTo>
                    <a:lnTo>
                      <a:pt x="13659" y="267319"/>
                    </a:lnTo>
                    <a:moveTo>
                      <a:pt x="13973" y="268910"/>
                    </a:moveTo>
                    <a:lnTo>
                      <a:pt x="15183" y="274806"/>
                    </a:lnTo>
                    <a:moveTo>
                      <a:pt x="12630" y="259661"/>
                    </a:moveTo>
                    <a:lnTo>
                      <a:pt x="13659" y="267319"/>
                    </a:lnTo>
                    <a:moveTo>
                      <a:pt x="12316" y="257299"/>
                    </a:moveTo>
                    <a:lnTo>
                      <a:pt x="12630" y="259661"/>
                    </a:lnTo>
                    <a:moveTo>
                      <a:pt x="11401" y="250498"/>
                    </a:moveTo>
                    <a:lnTo>
                      <a:pt x="12316" y="257299"/>
                    </a:lnTo>
                    <a:moveTo>
                      <a:pt x="10801" y="246031"/>
                    </a:moveTo>
                    <a:lnTo>
                      <a:pt x="11401" y="250498"/>
                    </a:lnTo>
                    <a:moveTo>
                      <a:pt x="9944" y="239592"/>
                    </a:moveTo>
                    <a:lnTo>
                      <a:pt x="10801" y="246031"/>
                    </a:lnTo>
                    <a:moveTo>
                      <a:pt x="9411" y="235610"/>
                    </a:moveTo>
                    <a:lnTo>
                      <a:pt x="9944" y="239592"/>
                    </a:lnTo>
                    <a:moveTo>
                      <a:pt x="8420" y="228248"/>
                    </a:moveTo>
                    <a:lnTo>
                      <a:pt x="9411" y="235610"/>
                    </a:lnTo>
                    <a:moveTo>
                      <a:pt x="8077" y="225657"/>
                    </a:moveTo>
                    <a:lnTo>
                      <a:pt x="8420" y="228248"/>
                    </a:lnTo>
                    <a:moveTo>
                      <a:pt x="7753" y="223285"/>
                    </a:moveTo>
                    <a:lnTo>
                      <a:pt x="8077" y="225657"/>
                    </a:lnTo>
                    <a:moveTo>
                      <a:pt x="6753" y="215846"/>
                    </a:moveTo>
                    <a:lnTo>
                      <a:pt x="7753" y="223285"/>
                    </a:lnTo>
                    <a:moveTo>
                      <a:pt x="4629" y="199977"/>
                    </a:moveTo>
                    <a:lnTo>
                      <a:pt x="5420" y="205883"/>
                    </a:lnTo>
                    <a:moveTo>
                      <a:pt x="6410" y="213227"/>
                    </a:moveTo>
                    <a:lnTo>
                      <a:pt x="6753" y="215846"/>
                    </a:lnTo>
                    <a:moveTo>
                      <a:pt x="5420" y="205883"/>
                    </a:moveTo>
                    <a:lnTo>
                      <a:pt x="6410" y="213227"/>
                    </a:lnTo>
                    <a:moveTo>
                      <a:pt x="3429" y="191033"/>
                    </a:moveTo>
                    <a:lnTo>
                      <a:pt x="4020" y="195434"/>
                    </a:lnTo>
                    <a:moveTo>
                      <a:pt x="4020" y="195434"/>
                    </a:moveTo>
                    <a:lnTo>
                      <a:pt x="4629" y="199977"/>
                    </a:lnTo>
                    <a:moveTo>
                      <a:pt x="2505" y="184128"/>
                    </a:moveTo>
                    <a:lnTo>
                      <a:pt x="3429" y="191033"/>
                    </a:lnTo>
                    <a:moveTo>
                      <a:pt x="1229" y="174603"/>
                    </a:moveTo>
                    <a:lnTo>
                      <a:pt x="2505" y="184128"/>
                    </a:lnTo>
                    <a:moveTo>
                      <a:pt x="18793" y="185537"/>
                    </a:moveTo>
                    <a:lnTo>
                      <a:pt x="23393" y="177717"/>
                    </a:lnTo>
                    <a:moveTo>
                      <a:pt x="18793" y="185537"/>
                    </a:moveTo>
                    <a:lnTo>
                      <a:pt x="18002" y="186861"/>
                    </a:lnTo>
                    <a:moveTo>
                      <a:pt x="24860" y="175870"/>
                    </a:moveTo>
                    <a:lnTo>
                      <a:pt x="30289" y="168993"/>
                    </a:lnTo>
                    <a:moveTo>
                      <a:pt x="24860" y="175870"/>
                    </a:moveTo>
                    <a:lnTo>
                      <a:pt x="23393" y="177717"/>
                    </a:lnTo>
                    <a:moveTo>
                      <a:pt x="32737" y="166592"/>
                    </a:moveTo>
                    <a:lnTo>
                      <a:pt x="38605" y="160820"/>
                    </a:lnTo>
                    <a:moveTo>
                      <a:pt x="32737" y="166592"/>
                    </a:moveTo>
                    <a:lnTo>
                      <a:pt x="30289" y="168993"/>
                    </a:lnTo>
                    <a:moveTo>
                      <a:pt x="42358" y="157886"/>
                    </a:moveTo>
                    <a:lnTo>
                      <a:pt x="48187" y="153333"/>
                    </a:lnTo>
                    <a:moveTo>
                      <a:pt x="42358" y="157886"/>
                    </a:moveTo>
                    <a:lnTo>
                      <a:pt x="38605" y="160820"/>
                    </a:lnTo>
                    <a:moveTo>
                      <a:pt x="53578" y="149962"/>
                    </a:moveTo>
                    <a:lnTo>
                      <a:pt x="58912" y="146628"/>
                    </a:lnTo>
                    <a:moveTo>
                      <a:pt x="53578" y="149962"/>
                    </a:moveTo>
                    <a:lnTo>
                      <a:pt x="48187" y="153333"/>
                    </a:lnTo>
                    <a:moveTo>
                      <a:pt x="66218" y="142989"/>
                    </a:moveTo>
                    <a:lnTo>
                      <a:pt x="70609" y="140808"/>
                    </a:lnTo>
                    <a:moveTo>
                      <a:pt x="66218" y="142989"/>
                    </a:moveTo>
                    <a:lnTo>
                      <a:pt x="58912" y="146628"/>
                    </a:lnTo>
                    <a:moveTo>
                      <a:pt x="80067" y="137150"/>
                    </a:moveTo>
                    <a:lnTo>
                      <a:pt x="83096" y="135969"/>
                    </a:lnTo>
                    <a:moveTo>
                      <a:pt x="80067" y="137150"/>
                    </a:moveTo>
                    <a:lnTo>
                      <a:pt x="70609" y="140808"/>
                    </a:lnTo>
                    <a:moveTo>
                      <a:pt x="94831" y="132588"/>
                    </a:moveTo>
                    <a:lnTo>
                      <a:pt x="96193" y="132188"/>
                    </a:lnTo>
                    <a:moveTo>
                      <a:pt x="94831" y="132588"/>
                    </a:moveTo>
                    <a:lnTo>
                      <a:pt x="83096" y="135969"/>
                    </a:lnTo>
                    <a:moveTo>
                      <a:pt x="106032" y="130245"/>
                    </a:moveTo>
                    <a:lnTo>
                      <a:pt x="96193" y="132188"/>
                    </a:lnTo>
                    <a:moveTo>
                      <a:pt x="117081" y="283102"/>
                    </a:moveTo>
                    <a:lnTo>
                      <a:pt x="115910" y="283188"/>
                    </a:lnTo>
                    <a:moveTo>
                      <a:pt x="126454" y="282464"/>
                    </a:moveTo>
                    <a:lnTo>
                      <a:pt x="117081" y="283102"/>
                    </a:lnTo>
                    <a:moveTo>
                      <a:pt x="104937" y="282988"/>
                    </a:moveTo>
                    <a:lnTo>
                      <a:pt x="115910" y="283188"/>
                    </a:lnTo>
                    <a:moveTo>
                      <a:pt x="104937" y="282988"/>
                    </a:moveTo>
                    <a:lnTo>
                      <a:pt x="102289" y="282940"/>
                    </a:lnTo>
                    <a:moveTo>
                      <a:pt x="92993" y="281950"/>
                    </a:moveTo>
                    <a:lnTo>
                      <a:pt x="88983" y="281521"/>
                    </a:lnTo>
                    <a:moveTo>
                      <a:pt x="92993" y="281950"/>
                    </a:moveTo>
                    <a:lnTo>
                      <a:pt x="102289" y="282940"/>
                    </a:lnTo>
                    <a:moveTo>
                      <a:pt x="81363" y="279997"/>
                    </a:moveTo>
                    <a:lnTo>
                      <a:pt x="76190" y="278949"/>
                    </a:lnTo>
                    <a:moveTo>
                      <a:pt x="81363" y="279997"/>
                    </a:moveTo>
                    <a:lnTo>
                      <a:pt x="88983" y="281521"/>
                    </a:lnTo>
                    <a:moveTo>
                      <a:pt x="70171" y="277120"/>
                    </a:moveTo>
                    <a:lnTo>
                      <a:pt x="64113" y="275263"/>
                    </a:lnTo>
                    <a:moveTo>
                      <a:pt x="64113" y="275263"/>
                    </a:moveTo>
                    <a:lnTo>
                      <a:pt x="57255" y="272358"/>
                    </a:lnTo>
                    <a:moveTo>
                      <a:pt x="70171" y="277120"/>
                    </a:moveTo>
                    <a:lnTo>
                      <a:pt x="76190" y="278949"/>
                    </a:lnTo>
                    <a:moveTo>
                      <a:pt x="52921" y="270520"/>
                    </a:moveTo>
                    <a:lnTo>
                      <a:pt x="57255" y="272358"/>
                    </a:lnTo>
                    <a:moveTo>
                      <a:pt x="49654" y="268672"/>
                    </a:moveTo>
                    <a:lnTo>
                      <a:pt x="42805" y="264795"/>
                    </a:lnTo>
                    <a:moveTo>
                      <a:pt x="49654" y="268672"/>
                    </a:moveTo>
                    <a:lnTo>
                      <a:pt x="52921" y="270520"/>
                    </a:lnTo>
                    <a:moveTo>
                      <a:pt x="40596" y="263147"/>
                    </a:moveTo>
                    <a:lnTo>
                      <a:pt x="33899" y="258166"/>
                    </a:lnTo>
                    <a:moveTo>
                      <a:pt x="40596" y="263147"/>
                    </a:moveTo>
                    <a:lnTo>
                      <a:pt x="42805" y="264795"/>
                    </a:lnTo>
                    <a:moveTo>
                      <a:pt x="32518" y="256804"/>
                    </a:moveTo>
                    <a:lnTo>
                      <a:pt x="26346" y="250727"/>
                    </a:lnTo>
                    <a:moveTo>
                      <a:pt x="32518" y="256804"/>
                    </a:moveTo>
                    <a:lnTo>
                      <a:pt x="33899" y="258166"/>
                    </a:lnTo>
                    <a:moveTo>
                      <a:pt x="25565" y="249688"/>
                    </a:moveTo>
                    <a:lnTo>
                      <a:pt x="20260" y="242611"/>
                    </a:lnTo>
                    <a:moveTo>
                      <a:pt x="25565" y="249688"/>
                    </a:moveTo>
                    <a:lnTo>
                      <a:pt x="26346" y="250727"/>
                    </a:lnTo>
                    <a:moveTo>
                      <a:pt x="19869" y="241859"/>
                    </a:moveTo>
                    <a:lnTo>
                      <a:pt x="15735" y="233934"/>
                    </a:lnTo>
                    <a:moveTo>
                      <a:pt x="19869" y="241859"/>
                    </a:moveTo>
                    <a:lnTo>
                      <a:pt x="20260" y="242611"/>
                    </a:lnTo>
                    <a:moveTo>
                      <a:pt x="15564" y="233401"/>
                    </a:moveTo>
                    <a:lnTo>
                      <a:pt x="12830" y="224819"/>
                    </a:lnTo>
                    <a:moveTo>
                      <a:pt x="15564" y="233401"/>
                    </a:moveTo>
                    <a:lnTo>
                      <a:pt x="15735" y="233934"/>
                    </a:lnTo>
                    <a:moveTo>
                      <a:pt x="12773" y="224409"/>
                    </a:moveTo>
                    <a:lnTo>
                      <a:pt x="11601" y="215417"/>
                    </a:lnTo>
                    <a:moveTo>
                      <a:pt x="12773" y="224409"/>
                    </a:moveTo>
                    <a:lnTo>
                      <a:pt x="12830" y="224819"/>
                    </a:lnTo>
                    <a:moveTo>
                      <a:pt x="11620" y="214979"/>
                    </a:moveTo>
                    <a:lnTo>
                      <a:pt x="11601" y="215417"/>
                    </a:lnTo>
                    <a:moveTo>
                      <a:pt x="11620" y="214979"/>
                    </a:moveTo>
                    <a:lnTo>
                      <a:pt x="12068" y="205854"/>
                    </a:lnTo>
                    <a:moveTo>
                      <a:pt x="12202" y="205264"/>
                    </a:moveTo>
                    <a:lnTo>
                      <a:pt x="12068" y="205854"/>
                    </a:lnTo>
                    <a:moveTo>
                      <a:pt x="12202" y="205264"/>
                    </a:moveTo>
                    <a:lnTo>
                      <a:pt x="14211" y="196291"/>
                    </a:lnTo>
                    <a:moveTo>
                      <a:pt x="14573" y="195396"/>
                    </a:moveTo>
                    <a:lnTo>
                      <a:pt x="14211" y="196291"/>
                    </a:lnTo>
                    <a:moveTo>
                      <a:pt x="14573" y="195396"/>
                    </a:moveTo>
                    <a:lnTo>
                      <a:pt x="18002" y="186861"/>
                    </a:lnTo>
                    <a:moveTo>
                      <a:pt x="108766" y="124244"/>
                    </a:moveTo>
                    <a:lnTo>
                      <a:pt x="106032" y="130245"/>
                    </a:lnTo>
                    <a:moveTo>
                      <a:pt x="117577" y="106232"/>
                    </a:moveTo>
                    <a:lnTo>
                      <a:pt x="108766" y="124244"/>
                    </a:lnTo>
                    <a:moveTo>
                      <a:pt x="130026" y="286769"/>
                    </a:moveTo>
                    <a:lnTo>
                      <a:pt x="126454" y="282464"/>
                    </a:lnTo>
                    <a:moveTo>
                      <a:pt x="143913" y="302590"/>
                    </a:moveTo>
                    <a:lnTo>
                      <a:pt x="130026" y="286769"/>
                    </a:lnTo>
                    <a:moveTo>
                      <a:pt x="123501" y="105575"/>
                    </a:moveTo>
                    <a:lnTo>
                      <a:pt x="117577" y="106232"/>
                    </a:lnTo>
                    <a:moveTo>
                      <a:pt x="125082" y="105527"/>
                    </a:moveTo>
                    <a:lnTo>
                      <a:pt x="141180" y="105127"/>
                    </a:lnTo>
                    <a:moveTo>
                      <a:pt x="141180" y="105127"/>
                    </a:moveTo>
                    <a:lnTo>
                      <a:pt x="151590" y="105766"/>
                    </a:lnTo>
                    <a:moveTo>
                      <a:pt x="125082" y="105527"/>
                    </a:moveTo>
                    <a:lnTo>
                      <a:pt x="123501" y="105575"/>
                    </a:lnTo>
                    <a:moveTo>
                      <a:pt x="158572" y="106194"/>
                    </a:moveTo>
                    <a:lnTo>
                      <a:pt x="151590" y="105766"/>
                    </a:lnTo>
                    <a:moveTo>
                      <a:pt x="168678" y="107737"/>
                    </a:moveTo>
                    <a:lnTo>
                      <a:pt x="175431" y="108776"/>
                    </a:lnTo>
                    <a:moveTo>
                      <a:pt x="168678" y="107737"/>
                    </a:moveTo>
                    <a:lnTo>
                      <a:pt x="158572" y="106194"/>
                    </a:lnTo>
                    <a:moveTo>
                      <a:pt x="188757" y="112128"/>
                    </a:moveTo>
                    <a:lnTo>
                      <a:pt x="191500" y="112814"/>
                    </a:lnTo>
                    <a:moveTo>
                      <a:pt x="191500" y="112814"/>
                    </a:moveTo>
                    <a:lnTo>
                      <a:pt x="193300" y="113471"/>
                    </a:lnTo>
                    <a:moveTo>
                      <a:pt x="188757" y="112128"/>
                    </a:moveTo>
                    <a:lnTo>
                      <a:pt x="175431" y="108776"/>
                    </a:lnTo>
                    <a:moveTo>
                      <a:pt x="203978" y="117338"/>
                    </a:moveTo>
                    <a:lnTo>
                      <a:pt x="193300" y="113471"/>
                    </a:lnTo>
                    <a:moveTo>
                      <a:pt x="224342" y="269119"/>
                    </a:moveTo>
                    <a:lnTo>
                      <a:pt x="214598" y="275939"/>
                    </a:lnTo>
                    <a:moveTo>
                      <a:pt x="214598" y="275939"/>
                    </a:moveTo>
                    <a:lnTo>
                      <a:pt x="212950" y="277082"/>
                    </a:lnTo>
                    <a:moveTo>
                      <a:pt x="202511" y="282921"/>
                    </a:moveTo>
                    <a:lnTo>
                      <a:pt x="212950" y="277082"/>
                    </a:lnTo>
                    <a:moveTo>
                      <a:pt x="202511" y="282921"/>
                    </a:moveTo>
                    <a:lnTo>
                      <a:pt x="198463" y="285178"/>
                    </a:lnTo>
                    <a:moveTo>
                      <a:pt x="198463" y="285178"/>
                    </a:moveTo>
                    <a:lnTo>
                      <a:pt x="192062" y="287998"/>
                    </a:lnTo>
                    <a:moveTo>
                      <a:pt x="182842" y="292056"/>
                    </a:moveTo>
                    <a:lnTo>
                      <a:pt x="171945" y="295723"/>
                    </a:lnTo>
                    <a:moveTo>
                      <a:pt x="182842" y="292056"/>
                    </a:moveTo>
                    <a:lnTo>
                      <a:pt x="192062" y="287998"/>
                    </a:lnTo>
                    <a:moveTo>
                      <a:pt x="166306" y="297618"/>
                    </a:moveTo>
                    <a:lnTo>
                      <a:pt x="171945" y="295723"/>
                    </a:lnTo>
                    <a:moveTo>
                      <a:pt x="162449" y="298561"/>
                    </a:moveTo>
                    <a:lnTo>
                      <a:pt x="149123" y="301790"/>
                    </a:lnTo>
                    <a:moveTo>
                      <a:pt x="162449" y="298561"/>
                    </a:moveTo>
                    <a:lnTo>
                      <a:pt x="166306" y="297618"/>
                    </a:lnTo>
                    <a:moveTo>
                      <a:pt x="148209" y="301933"/>
                    </a:moveTo>
                    <a:lnTo>
                      <a:pt x="143913" y="302590"/>
                    </a:lnTo>
                    <a:moveTo>
                      <a:pt x="148209" y="301933"/>
                    </a:moveTo>
                    <a:lnTo>
                      <a:pt x="149123" y="301790"/>
                    </a:lnTo>
                    <a:moveTo>
                      <a:pt x="226905" y="288207"/>
                    </a:moveTo>
                    <a:lnTo>
                      <a:pt x="227714" y="294256"/>
                    </a:lnTo>
                    <a:moveTo>
                      <a:pt x="225600" y="278492"/>
                    </a:moveTo>
                    <a:lnTo>
                      <a:pt x="226905" y="288207"/>
                    </a:lnTo>
                    <a:moveTo>
                      <a:pt x="225600" y="278492"/>
                    </a:moveTo>
                    <a:lnTo>
                      <a:pt x="224342" y="269119"/>
                    </a:lnTo>
                    <a:moveTo>
                      <a:pt x="200606" y="92202"/>
                    </a:moveTo>
                    <a:lnTo>
                      <a:pt x="201549" y="99212"/>
                    </a:lnTo>
                    <a:moveTo>
                      <a:pt x="202778" y="108385"/>
                    </a:moveTo>
                    <a:lnTo>
                      <a:pt x="203978" y="117338"/>
                    </a:lnTo>
                    <a:moveTo>
                      <a:pt x="202778" y="108385"/>
                    </a:moveTo>
                    <a:lnTo>
                      <a:pt x="201549" y="99212"/>
                    </a:lnTo>
                    <a:moveTo>
                      <a:pt x="121148" y="85011"/>
                    </a:moveTo>
                    <a:lnTo>
                      <a:pt x="123587" y="84744"/>
                    </a:lnTo>
                    <a:moveTo>
                      <a:pt x="111185" y="86116"/>
                    </a:moveTo>
                    <a:lnTo>
                      <a:pt x="121148" y="85011"/>
                    </a:lnTo>
                    <a:moveTo>
                      <a:pt x="138341" y="84372"/>
                    </a:moveTo>
                    <a:lnTo>
                      <a:pt x="144942" y="84201"/>
                    </a:lnTo>
                    <a:moveTo>
                      <a:pt x="138341" y="84372"/>
                    </a:moveTo>
                    <a:lnTo>
                      <a:pt x="123587" y="84744"/>
                    </a:lnTo>
                    <a:moveTo>
                      <a:pt x="155429" y="84849"/>
                    </a:moveTo>
                    <a:lnTo>
                      <a:pt x="165973" y="85496"/>
                    </a:lnTo>
                    <a:moveTo>
                      <a:pt x="155429" y="84849"/>
                    </a:moveTo>
                    <a:lnTo>
                      <a:pt x="144942" y="84201"/>
                    </a:lnTo>
                    <a:moveTo>
                      <a:pt x="172307" y="86468"/>
                    </a:moveTo>
                    <a:lnTo>
                      <a:pt x="186347" y="88611"/>
                    </a:lnTo>
                    <a:moveTo>
                      <a:pt x="172307" y="86468"/>
                    </a:moveTo>
                    <a:lnTo>
                      <a:pt x="165973" y="85496"/>
                    </a:lnTo>
                    <a:moveTo>
                      <a:pt x="188843" y="89240"/>
                    </a:moveTo>
                    <a:lnTo>
                      <a:pt x="200606" y="92202"/>
                    </a:lnTo>
                    <a:moveTo>
                      <a:pt x="188843" y="89240"/>
                    </a:moveTo>
                    <a:lnTo>
                      <a:pt x="186347" y="88611"/>
                    </a:lnTo>
                    <a:moveTo>
                      <a:pt x="214189" y="301809"/>
                    </a:moveTo>
                    <a:lnTo>
                      <a:pt x="227714" y="294256"/>
                    </a:lnTo>
                    <a:moveTo>
                      <a:pt x="210188" y="303571"/>
                    </a:moveTo>
                    <a:lnTo>
                      <a:pt x="195301" y="310124"/>
                    </a:lnTo>
                    <a:moveTo>
                      <a:pt x="195301" y="310124"/>
                    </a:moveTo>
                    <a:lnTo>
                      <a:pt x="185433" y="313439"/>
                    </a:lnTo>
                    <a:moveTo>
                      <a:pt x="210188" y="303571"/>
                    </a:moveTo>
                    <a:lnTo>
                      <a:pt x="214189" y="301809"/>
                    </a:lnTo>
                    <a:moveTo>
                      <a:pt x="175317" y="316849"/>
                    </a:moveTo>
                    <a:lnTo>
                      <a:pt x="185433" y="313439"/>
                    </a:lnTo>
                    <a:moveTo>
                      <a:pt x="158182" y="321012"/>
                    </a:moveTo>
                    <a:lnTo>
                      <a:pt x="154553" y="321888"/>
                    </a:lnTo>
                    <a:moveTo>
                      <a:pt x="154553" y="321888"/>
                    </a:moveTo>
                    <a:lnTo>
                      <a:pt x="152286" y="322240"/>
                    </a:lnTo>
                    <a:moveTo>
                      <a:pt x="158182" y="321012"/>
                    </a:moveTo>
                    <a:lnTo>
                      <a:pt x="175317" y="316849"/>
                    </a:lnTo>
                    <a:moveTo>
                      <a:pt x="143046" y="323660"/>
                    </a:moveTo>
                    <a:lnTo>
                      <a:pt x="152286" y="322240"/>
                    </a:lnTo>
                    <a:moveTo>
                      <a:pt x="100841" y="79315"/>
                    </a:moveTo>
                    <a:lnTo>
                      <a:pt x="111185" y="86116"/>
                    </a:lnTo>
                    <a:moveTo>
                      <a:pt x="87030" y="71152"/>
                    </a:moveTo>
                    <a:lnTo>
                      <a:pt x="100841" y="79315"/>
                    </a:lnTo>
                    <a:moveTo>
                      <a:pt x="134045" y="333842"/>
                    </a:moveTo>
                    <a:lnTo>
                      <a:pt x="143046" y="323660"/>
                    </a:lnTo>
                    <a:moveTo>
                      <a:pt x="123692" y="344462"/>
                    </a:moveTo>
                    <a:lnTo>
                      <a:pt x="134045" y="333842"/>
                    </a:lnTo>
                    <a:moveTo>
                      <a:pt x="91859" y="66265"/>
                    </a:moveTo>
                    <a:lnTo>
                      <a:pt x="87030" y="71152"/>
                    </a:lnTo>
                    <a:moveTo>
                      <a:pt x="107594" y="52226"/>
                    </a:moveTo>
                    <a:lnTo>
                      <a:pt x="91859" y="66265"/>
                    </a:lnTo>
                    <a:moveTo>
                      <a:pt x="123758" y="41691"/>
                    </a:moveTo>
                    <a:lnTo>
                      <a:pt x="107594" y="52226"/>
                    </a:lnTo>
                    <a:moveTo>
                      <a:pt x="131997" y="37833"/>
                    </a:moveTo>
                    <a:lnTo>
                      <a:pt x="123758" y="41691"/>
                    </a:lnTo>
                    <a:moveTo>
                      <a:pt x="141027" y="35319"/>
                    </a:moveTo>
                    <a:lnTo>
                      <a:pt x="131997" y="37833"/>
                    </a:lnTo>
                    <a:moveTo>
                      <a:pt x="164649" y="28756"/>
                    </a:moveTo>
                    <a:lnTo>
                      <a:pt x="141027" y="35319"/>
                    </a:lnTo>
                    <a:moveTo>
                      <a:pt x="187223" y="26060"/>
                    </a:moveTo>
                    <a:lnTo>
                      <a:pt x="164649" y="28756"/>
                    </a:lnTo>
                    <a:moveTo>
                      <a:pt x="218437" y="27880"/>
                    </a:moveTo>
                    <a:lnTo>
                      <a:pt x="187223" y="26060"/>
                    </a:lnTo>
                    <a:moveTo>
                      <a:pt x="252765" y="29880"/>
                    </a:moveTo>
                    <a:lnTo>
                      <a:pt x="261852" y="32290"/>
                    </a:lnTo>
                    <a:moveTo>
                      <a:pt x="218437" y="27880"/>
                    </a:moveTo>
                    <a:lnTo>
                      <a:pt x="252765" y="29880"/>
                    </a:lnTo>
                    <a:moveTo>
                      <a:pt x="304762" y="45815"/>
                    </a:moveTo>
                    <a:lnTo>
                      <a:pt x="281226" y="37433"/>
                    </a:lnTo>
                    <a:moveTo>
                      <a:pt x="312134" y="49073"/>
                    </a:moveTo>
                    <a:lnTo>
                      <a:pt x="304762" y="45815"/>
                    </a:lnTo>
                    <a:moveTo>
                      <a:pt x="323936" y="56093"/>
                    </a:moveTo>
                    <a:lnTo>
                      <a:pt x="312134" y="49073"/>
                    </a:lnTo>
                    <a:moveTo>
                      <a:pt x="281226" y="37433"/>
                    </a:moveTo>
                    <a:lnTo>
                      <a:pt x="261852" y="32290"/>
                    </a:lnTo>
                    <a:moveTo>
                      <a:pt x="343881" y="69313"/>
                    </a:moveTo>
                    <a:lnTo>
                      <a:pt x="323936" y="56093"/>
                    </a:lnTo>
                    <a:moveTo>
                      <a:pt x="358816" y="81163"/>
                    </a:moveTo>
                    <a:lnTo>
                      <a:pt x="343881" y="69313"/>
                    </a:lnTo>
                    <a:moveTo>
                      <a:pt x="358816" y="81163"/>
                    </a:moveTo>
                    <a:lnTo>
                      <a:pt x="374961" y="98431"/>
                    </a:lnTo>
                    <a:moveTo>
                      <a:pt x="382657" y="264090"/>
                    </a:moveTo>
                    <a:lnTo>
                      <a:pt x="394268" y="242392"/>
                    </a:lnTo>
                    <a:moveTo>
                      <a:pt x="371389" y="279254"/>
                    </a:moveTo>
                    <a:lnTo>
                      <a:pt x="382657" y="264090"/>
                    </a:lnTo>
                    <a:moveTo>
                      <a:pt x="355102" y="297675"/>
                    </a:moveTo>
                    <a:lnTo>
                      <a:pt x="371389" y="279254"/>
                    </a:lnTo>
                    <a:moveTo>
                      <a:pt x="345796" y="307229"/>
                    </a:moveTo>
                    <a:lnTo>
                      <a:pt x="355102" y="297675"/>
                    </a:lnTo>
                    <a:moveTo>
                      <a:pt x="339719" y="312125"/>
                    </a:moveTo>
                    <a:lnTo>
                      <a:pt x="345796" y="307229"/>
                    </a:lnTo>
                    <a:moveTo>
                      <a:pt x="172650" y="364122"/>
                    </a:moveTo>
                    <a:lnTo>
                      <a:pt x="165630" y="362893"/>
                    </a:lnTo>
                    <a:moveTo>
                      <a:pt x="175841" y="364684"/>
                    </a:moveTo>
                    <a:lnTo>
                      <a:pt x="172650" y="364122"/>
                    </a:lnTo>
                    <a:moveTo>
                      <a:pt x="148523" y="357349"/>
                    </a:moveTo>
                    <a:lnTo>
                      <a:pt x="129159" y="347643"/>
                    </a:lnTo>
                    <a:moveTo>
                      <a:pt x="129159" y="347643"/>
                    </a:moveTo>
                    <a:lnTo>
                      <a:pt x="123692" y="344462"/>
                    </a:lnTo>
                    <a:moveTo>
                      <a:pt x="319907" y="325812"/>
                    </a:moveTo>
                    <a:lnTo>
                      <a:pt x="339719" y="312125"/>
                    </a:lnTo>
                    <a:moveTo>
                      <a:pt x="319907" y="325812"/>
                    </a:moveTo>
                    <a:lnTo>
                      <a:pt x="293265" y="341128"/>
                    </a:lnTo>
                    <a:moveTo>
                      <a:pt x="209740" y="364950"/>
                    </a:moveTo>
                    <a:lnTo>
                      <a:pt x="194177" y="364827"/>
                    </a:lnTo>
                    <a:moveTo>
                      <a:pt x="194177" y="364827"/>
                    </a:moveTo>
                    <a:lnTo>
                      <a:pt x="175841" y="364684"/>
                    </a:lnTo>
                    <a:moveTo>
                      <a:pt x="153505" y="358969"/>
                    </a:moveTo>
                    <a:lnTo>
                      <a:pt x="148523" y="357349"/>
                    </a:lnTo>
                    <a:moveTo>
                      <a:pt x="153505" y="358969"/>
                    </a:moveTo>
                    <a:lnTo>
                      <a:pt x="165630" y="362893"/>
                    </a:lnTo>
                    <a:moveTo>
                      <a:pt x="262033" y="351530"/>
                    </a:moveTo>
                    <a:lnTo>
                      <a:pt x="230991" y="361855"/>
                    </a:lnTo>
                    <a:moveTo>
                      <a:pt x="262033" y="351530"/>
                    </a:moveTo>
                    <a:lnTo>
                      <a:pt x="293265" y="341128"/>
                    </a:lnTo>
                    <a:moveTo>
                      <a:pt x="222799" y="363045"/>
                    </a:moveTo>
                    <a:lnTo>
                      <a:pt x="230991" y="361855"/>
                    </a:lnTo>
                    <a:moveTo>
                      <a:pt x="222799" y="363045"/>
                    </a:moveTo>
                    <a:lnTo>
                      <a:pt x="209740" y="364950"/>
                    </a:lnTo>
                    <a:moveTo>
                      <a:pt x="398793" y="276054"/>
                    </a:moveTo>
                    <a:lnTo>
                      <a:pt x="400564" y="289312"/>
                    </a:lnTo>
                    <a:moveTo>
                      <a:pt x="397640" y="267472"/>
                    </a:moveTo>
                    <a:lnTo>
                      <a:pt x="398793" y="276054"/>
                    </a:lnTo>
                    <a:moveTo>
                      <a:pt x="396411" y="258328"/>
                    </a:moveTo>
                    <a:lnTo>
                      <a:pt x="397640" y="267472"/>
                    </a:lnTo>
                    <a:moveTo>
                      <a:pt x="396411" y="258328"/>
                    </a:moveTo>
                    <a:lnTo>
                      <a:pt x="394268" y="242392"/>
                    </a:lnTo>
                    <a:moveTo>
                      <a:pt x="370522" y="65361"/>
                    </a:moveTo>
                    <a:lnTo>
                      <a:pt x="371732" y="74352"/>
                    </a:lnTo>
                    <a:moveTo>
                      <a:pt x="371732" y="74352"/>
                    </a:moveTo>
                    <a:lnTo>
                      <a:pt x="374961" y="98431"/>
                    </a:lnTo>
                    <a:moveTo>
                      <a:pt x="368646" y="51340"/>
                    </a:moveTo>
                    <a:lnTo>
                      <a:pt x="370522" y="65361"/>
                    </a:lnTo>
                  </a:path>
                </a:pathLst>
              </a:custGeom>
              <a:noFill/>
              <a:ln w="19050">
                <a:solidFill>
                  <a:srgbClr val="D98536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7" name="Freeform 15"/>
              <p:cNvSpPr/>
              <p:nvPr/>
            </p:nvSpPr>
            <p:spPr>
              <a:xfrm>
                <a:off x="1196280" y="2557440"/>
                <a:ext cx="66240" cy="90000"/>
              </a:xfrm>
              <a:custGeom>
                <a:avLst/>
                <a:gdLst>
                  <a:gd name="textAreaLeft" fmla="*/ 0 w 66240"/>
                  <a:gd name="textAreaRight" fmla="*/ 66600 w 66240"/>
                  <a:gd name="textAreaTop" fmla="*/ 0 h 90000"/>
                  <a:gd name="textAreaBottom" fmla="*/ 90360 h 90000"/>
                </a:gdLst>
                <a:ahLst/>
                <a:cxnLst/>
                <a:rect l="textAreaLeft" t="textAreaTop" r="textAreaRight" b="textAreaBottom"/>
                <a:pathLst>
                  <a:path w="66732" h="90297">
                    <a:moveTo>
                      <a:pt x="16602" y="962"/>
                    </a:moveTo>
                    <a:lnTo>
                      <a:pt x="14888" y="1438"/>
                    </a:lnTo>
                    <a:moveTo>
                      <a:pt x="16602" y="962"/>
                    </a:moveTo>
                    <a:lnTo>
                      <a:pt x="22879" y="0"/>
                    </a:lnTo>
                    <a:moveTo>
                      <a:pt x="24536" y="19"/>
                    </a:moveTo>
                    <a:lnTo>
                      <a:pt x="22879" y="0"/>
                    </a:lnTo>
                    <a:moveTo>
                      <a:pt x="49901" y="16516"/>
                    </a:moveTo>
                    <a:lnTo>
                      <a:pt x="55540" y="24413"/>
                    </a:lnTo>
                    <a:moveTo>
                      <a:pt x="55540" y="24413"/>
                    </a:moveTo>
                    <a:lnTo>
                      <a:pt x="57112" y="26518"/>
                    </a:lnTo>
                    <a:moveTo>
                      <a:pt x="27880" y="1295"/>
                    </a:moveTo>
                    <a:lnTo>
                      <a:pt x="36128" y="3972"/>
                    </a:lnTo>
                    <a:moveTo>
                      <a:pt x="27880" y="1295"/>
                    </a:moveTo>
                    <a:lnTo>
                      <a:pt x="24536" y="19"/>
                    </a:lnTo>
                    <a:moveTo>
                      <a:pt x="61246" y="36595"/>
                    </a:moveTo>
                    <a:lnTo>
                      <a:pt x="57112" y="26518"/>
                    </a:lnTo>
                    <a:moveTo>
                      <a:pt x="61246" y="36595"/>
                    </a:moveTo>
                    <a:lnTo>
                      <a:pt x="63998" y="42910"/>
                    </a:lnTo>
                    <a:moveTo>
                      <a:pt x="38252" y="5848"/>
                    </a:moveTo>
                    <a:lnTo>
                      <a:pt x="47635" y="13345"/>
                    </a:lnTo>
                    <a:moveTo>
                      <a:pt x="38252" y="5848"/>
                    </a:moveTo>
                    <a:lnTo>
                      <a:pt x="36128" y="3972"/>
                    </a:lnTo>
                    <a:moveTo>
                      <a:pt x="60360" y="82706"/>
                    </a:moveTo>
                    <a:lnTo>
                      <a:pt x="58979" y="84630"/>
                    </a:lnTo>
                    <a:moveTo>
                      <a:pt x="54150" y="88201"/>
                    </a:moveTo>
                    <a:lnTo>
                      <a:pt x="53892" y="88382"/>
                    </a:lnTo>
                    <a:moveTo>
                      <a:pt x="54150" y="88201"/>
                    </a:moveTo>
                    <a:lnTo>
                      <a:pt x="58979" y="84630"/>
                    </a:lnTo>
                    <a:moveTo>
                      <a:pt x="66732" y="61998"/>
                    </a:moveTo>
                    <a:lnTo>
                      <a:pt x="63265" y="77962"/>
                    </a:lnTo>
                    <a:moveTo>
                      <a:pt x="64980" y="50378"/>
                    </a:moveTo>
                    <a:lnTo>
                      <a:pt x="63998" y="42910"/>
                    </a:lnTo>
                    <a:moveTo>
                      <a:pt x="64980" y="50378"/>
                    </a:moveTo>
                    <a:lnTo>
                      <a:pt x="66732" y="61998"/>
                    </a:lnTo>
                    <a:moveTo>
                      <a:pt x="48006" y="13916"/>
                    </a:moveTo>
                    <a:lnTo>
                      <a:pt x="47635" y="13345"/>
                    </a:lnTo>
                    <a:moveTo>
                      <a:pt x="48006" y="13916"/>
                    </a:moveTo>
                    <a:lnTo>
                      <a:pt x="49901" y="16516"/>
                    </a:lnTo>
                    <a:moveTo>
                      <a:pt x="48206" y="90192"/>
                    </a:moveTo>
                    <a:lnTo>
                      <a:pt x="53892" y="88382"/>
                    </a:lnTo>
                    <a:moveTo>
                      <a:pt x="48206" y="90192"/>
                    </a:moveTo>
                    <a:lnTo>
                      <a:pt x="47892" y="90297"/>
                    </a:lnTo>
                    <a:moveTo>
                      <a:pt x="47892" y="90297"/>
                    </a:moveTo>
                    <a:lnTo>
                      <a:pt x="47539" y="90287"/>
                    </a:lnTo>
                    <a:moveTo>
                      <a:pt x="40853" y="90202"/>
                    </a:moveTo>
                    <a:lnTo>
                      <a:pt x="47539" y="90287"/>
                    </a:lnTo>
                    <a:moveTo>
                      <a:pt x="63084" y="78781"/>
                    </a:moveTo>
                    <a:lnTo>
                      <a:pt x="63265" y="77962"/>
                    </a:lnTo>
                    <a:moveTo>
                      <a:pt x="62941" y="78981"/>
                    </a:moveTo>
                    <a:lnTo>
                      <a:pt x="60360" y="82706"/>
                    </a:lnTo>
                    <a:moveTo>
                      <a:pt x="62941" y="78981"/>
                    </a:moveTo>
                    <a:lnTo>
                      <a:pt x="63084" y="78781"/>
                    </a:lnTo>
                    <a:moveTo>
                      <a:pt x="39014" y="89383"/>
                    </a:moveTo>
                    <a:lnTo>
                      <a:pt x="40853" y="90202"/>
                    </a:lnTo>
                    <a:moveTo>
                      <a:pt x="25422" y="82934"/>
                    </a:moveTo>
                    <a:lnTo>
                      <a:pt x="15859" y="72542"/>
                    </a:lnTo>
                    <a:moveTo>
                      <a:pt x="25422" y="82934"/>
                    </a:moveTo>
                    <a:lnTo>
                      <a:pt x="39014" y="89383"/>
                    </a:lnTo>
                    <a:moveTo>
                      <a:pt x="12106" y="68409"/>
                    </a:moveTo>
                    <a:lnTo>
                      <a:pt x="15859" y="72542"/>
                    </a:lnTo>
                    <a:moveTo>
                      <a:pt x="8049" y="60274"/>
                    </a:moveTo>
                    <a:lnTo>
                      <a:pt x="12106" y="68409"/>
                    </a:lnTo>
                    <a:moveTo>
                      <a:pt x="8049" y="60274"/>
                    </a:moveTo>
                    <a:lnTo>
                      <a:pt x="3772" y="51806"/>
                    </a:lnTo>
                    <a:moveTo>
                      <a:pt x="629" y="37719"/>
                    </a:moveTo>
                    <a:lnTo>
                      <a:pt x="0" y="35014"/>
                    </a:lnTo>
                    <a:moveTo>
                      <a:pt x="0" y="35014"/>
                    </a:moveTo>
                    <a:lnTo>
                      <a:pt x="76" y="33395"/>
                    </a:lnTo>
                    <a:moveTo>
                      <a:pt x="629" y="37719"/>
                    </a:moveTo>
                    <a:lnTo>
                      <a:pt x="3772" y="51806"/>
                    </a:lnTo>
                    <a:moveTo>
                      <a:pt x="448" y="27165"/>
                    </a:moveTo>
                    <a:lnTo>
                      <a:pt x="76" y="33395"/>
                    </a:lnTo>
                    <a:moveTo>
                      <a:pt x="1105" y="19145"/>
                    </a:moveTo>
                    <a:lnTo>
                      <a:pt x="448" y="27165"/>
                    </a:lnTo>
                    <a:moveTo>
                      <a:pt x="1838" y="17717"/>
                    </a:moveTo>
                    <a:lnTo>
                      <a:pt x="6706" y="7515"/>
                    </a:lnTo>
                    <a:moveTo>
                      <a:pt x="1838" y="17717"/>
                    </a:moveTo>
                    <a:lnTo>
                      <a:pt x="1105" y="19145"/>
                    </a:lnTo>
                    <a:moveTo>
                      <a:pt x="13202" y="2257"/>
                    </a:moveTo>
                    <a:lnTo>
                      <a:pt x="14888" y="1438"/>
                    </a:lnTo>
                    <a:moveTo>
                      <a:pt x="10554" y="3772"/>
                    </a:moveTo>
                    <a:lnTo>
                      <a:pt x="13202" y="2257"/>
                    </a:lnTo>
                    <a:moveTo>
                      <a:pt x="7744" y="6553"/>
                    </a:moveTo>
                    <a:lnTo>
                      <a:pt x="10554" y="3772"/>
                    </a:lnTo>
                    <a:moveTo>
                      <a:pt x="7744" y="6553"/>
                    </a:moveTo>
                    <a:lnTo>
                      <a:pt x="6706" y="7515"/>
                    </a:lnTo>
                  </a:path>
                </a:pathLst>
              </a:custGeom>
              <a:noFill/>
              <a:ln w="19050">
                <a:solidFill>
                  <a:srgbClr val="A357B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8" name="TextBox 16"/>
              <p:cNvSpPr/>
              <p:nvPr/>
            </p:nvSpPr>
            <p:spPr>
              <a:xfrm>
                <a:off x="1687680" y="2060640"/>
                <a:ext cx="822600" cy="2930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500" b="1" u="none" strike="noStrike">
                    <a:solidFill>
                      <a:srgbClr val="24364C"/>
                    </a:solidFill>
                    <a:effectLst/>
                    <a:uFillTx/>
                    <a:latin typeface="Arial"/>
                    <a:ea typeface="微软雅黑"/>
                  </a:rPr>
                  <a:t>软叶邻近</a:t>
                </a:r>
                <a:endParaRPr lang="en-US" sz="15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89" name="Freeform 17"/>
              <p:cNvSpPr/>
              <p:nvPr/>
            </p:nvSpPr>
            <p:spPr>
              <a:xfrm>
                <a:off x="1740240" y="2295360"/>
                <a:ext cx="2129760" cy="1399680"/>
              </a:xfrm>
              <a:custGeom>
                <a:avLst/>
                <a:gdLst>
                  <a:gd name="textAreaLeft" fmla="*/ 0 w 2129760"/>
                  <a:gd name="textAreaRight" fmla="*/ 2130120 w 2129760"/>
                  <a:gd name="textAreaTop" fmla="*/ 0 h 1399680"/>
                  <a:gd name="textAreaBottom" fmla="*/ 1400040 h 1399680"/>
                </a:gdLst>
                <a:ahLst/>
                <a:cxnLst/>
                <a:rect l="textAreaLeft" t="textAreaTop" r="textAreaRight" b="textAreaBottom"/>
                <a:pathLst>
                  <a:path w="2130076" h="1400175">
                    <a:moveTo>
                      <a:pt x="1889122" y="1109462"/>
                    </a:moveTo>
                    <a:lnTo>
                      <a:pt x="1997602" y="1027119"/>
                    </a:lnTo>
                    <a:moveTo>
                      <a:pt x="990267" y="1354979"/>
                    </a:moveTo>
                    <a:lnTo>
                      <a:pt x="1054370" y="1343339"/>
                    </a:lnTo>
                    <a:moveTo>
                      <a:pt x="1880845" y="1114749"/>
                    </a:moveTo>
                    <a:lnTo>
                      <a:pt x="1886312" y="1111158"/>
                    </a:lnTo>
                    <a:moveTo>
                      <a:pt x="1886312" y="1111158"/>
                    </a:moveTo>
                    <a:lnTo>
                      <a:pt x="1887141" y="1110605"/>
                    </a:lnTo>
                    <a:moveTo>
                      <a:pt x="1880845" y="1114749"/>
                    </a:moveTo>
                    <a:lnTo>
                      <a:pt x="1771850" y="1181786"/>
                    </a:lnTo>
                    <a:moveTo>
                      <a:pt x="1771850" y="1181786"/>
                    </a:moveTo>
                    <a:lnTo>
                      <a:pt x="1748314" y="1193635"/>
                    </a:lnTo>
                    <a:moveTo>
                      <a:pt x="1671552" y="1232297"/>
                    </a:moveTo>
                    <a:lnTo>
                      <a:pt x="1748314" y="1193635"/>
                    </a:lnTo>
                    <a:moveTo>
                      <a:pt x="1346102" y="1312240"/>
                    </a:moveTo>
                    <a:lnTo>
                      <a:pt x="1346902" y="1312154"/>
                    </a:lnTo>
                    <a:moveTo>
                      <a:pt x="1346902" y="1312154"/>
                    </a:moveTo>
                    <a:lnTo>
                      <a:pt x="1349188" y="1311831"/>
                    </a:lnTo>
                    <a:moveTo>
                      <a:pt x="157505" y="1156468"/>
                    </a:moveTo>
                    <a:lnTo>
                      <a:pt x="206121" y="1202379"/>
                    </a:lnTo>
                    <a:moveTo>
                      <a:pt x="290189" y="1285789"/>
                    </a:moveTo>
                    <a:lnTo>
                      <a:pt x="255775" y="1258786"/>
                    </a:lnTo>
                    <a:moveTo>
                      <a:pt x="255775" y="1258786"/>
                    </a:moveTo>
                    <a:lnTo>
                      <a:pt x="206121" y="1202379"/>
                    </a:lnTo>
                    <a:moveTo>
                      <a:pt x="100155" y="1061933"/>
                    </a:moveTo>
                    <a:lnTo>
                      <a:pt x="150952" y="1143200"/>
                    </a:lnTo>
                    <a:moveTo>
                      <a:pt x="157505" y="1156468"/>
                    </a:moveTo>
                    <a:lnTo>
                      <a:pt x="150952" y="1143200"/>
                    </a:lnTo>
                    <a:moveTo>
                      <a:pt x="744274" y="1391879"/>
                    </a:moveTo>
                    <a:lnTo>
                      <a:pt x="776259" y="1387869"/>
                    </a:lnTo>
                    <a:moveTo>
                      <a:pt x="776259" y="1387869"/>
                    </a:moveTo>
                    <a:lnTo>
                      <a:pt x="835476" y="1378944"/>
                    </a:lnTo>
                    <a:moveTo>
                      <a:pt x="1746047" y="756323"/>
                    </a:moveTo>
                    <a:lnTo>
                      <a:pt x="1727730" y="739188"/>
                    </a:lnTo>
                    <a:moveTo>
                      <a:pt x="1746047" y="756323"/>
                    </a:moveTo>
                    <a:lnTo>
                      <a:pt x="1792167" y="765238"/>
                    </a:lnTo>
                    <a:moveTo>
                      <a:pt x="1847278" y="783536"/>
                    </a:moveTo>
                    <a:lnTo>
                      <a:pt x="1792167" y="765238"/>
                    </a:lnTo>
                    <a:moveTo>
                      <a:pt x="1694783" y="645681"/>
                    </a:moveTo>
                    <a:lnTo>
                      <a:pt x="1707794" y="677513"/>
                    </a:lnTo>
                    <a:moveTo>
                      <a:pt x="1707794" y="677513"/>
                    </a:moveTo>
                    <a:lnTo>
                      <a:pt x="1727730" y="739188"/>
                    </a:lnTo>
                    <a:moveTo>
                      <a:pt x="1847278" y="783536"/>
                    </a:moveTo>
                    <a:lnTo>
                      <a:pt x="1903714" y="778688"/>
                    </a:lnTo>
                    <a:moveTo>
                      <a:pt x="1903714" y="778688"/>
                    </a:moveTo>
                    <a:lnTo>
                      <a:pt x="1965779" y="774944"/>
                    </a:lnTo>
                    <a:moveTo>
                      <a:pt x="391716" y="1357303"/>
                    </a:moveTo>
                    <a:lnTo>
                      <a:pt x="391354" y="1357255"/>
                    </a:lnTo>
                    <a:moveTo>
                      <a:pt x="391354" y="1357255"/>
                    </a:moveTo>
                    <a:lnTo>
                      <a:pt x="389658" y="1356265"/>
                    </a:lnTo>
                    <a:moveTo>
                      <a:pt x="1216676" y="1321413"/>
                    </a:moveTo>
                    <a:lnTo>
                      <a:pt x="1346102" y="1312240"/>
                    </a:lnTo>
                    <a:moveTo>
                      <a:pt x="1179405" y="1330490"/>
                    </a:moveTo>
                    <a:lnTo>
                      <a:pt x="1216676" y="1321413"/>
                    </a:lnTo>
                    <a:moveTo>
                      <a:pt x="392821" y="1357608"/>
                    </a:moveTo>
                    <a:lnTo>
                      <a:pt x="525980" y="1393336"/>
                    </a:lnTo>
                    <a:moveTo>
                      <a:pt x="525980" y="1393336"/>
                    </a:moveTo>
                    <a:lnTo>
                      <a:pt x="623964" y="1397860"/>
                    </a:lnTo>
                    <a:moveTo>
                      <a:pt x="623964" y="1397860"/>
                    </a:moveTo>
                    <a:lnTo>
                      <a:pt x="655577" y="1399908"/>
                    </a:lnTo>
                    <a:moveTo>
                      <a:pt x="391716" y="1357303"/>
                    </a:moveTo>
                    <a:lnTo>
                      <a:pt x="392821" y="1357608"/>
                    </a:lnTo>
                    <a:moveTo>
                      <a:pt x="14135" y="769287"/>
                    </a:moveTo>
                    <a:lnTo>
                      <a:pt x="200" y="657215"/>
                    </a:lnTo>
                    <a:moveTo>
                      <a:pt x="1965779" y="774944"/>
                    </a:moveTo>
                    <a:lnTo>
                      <a:pt x="1993059" y="787584"/>
                    </a:lnTo>
                    <a:moveTo>
                      <a:pt x="25232" y="825713"/>
                    </a:moveTo>
                    <a:lnTo>
                      <a:pt x="20288" y="805853"/>
                    </a:lnTo>
                    <a:moveTo>
                      <a:pt x="14135" y="769287"/>
                    </a:moveTo>
                    <a:lnTo>
                      <a:pt x="20288" y="805853"/>
                    </a:lnTo>
                    <a:moveTo>
                      <a:pt x="1179405" y="1330490"/>
                    </a:moveTo>
                    <a:lnTo>
                      <a:pt x="1107262" y="1339806"/>
                    </a:lnTo>
                    <a:moveTo>
                      <a:pt x="25232" y="825713"/>
                    </a:moveTo>
                    <a:lnTo>
                      <a:pt x="53550" y="939184"/>
                    </a:lnTo>
                    <a:moveTo>
                      <a:pt x="96250" y="1047960"/>
                    </a:moveTo>
                    <a:lnTo>
                      <a:pt x="57426" y="955967"/>
                    </a:lnTo>
                    <a:moveTo>
                      <a:pt x="57426" y="955967"/>
                    </a:moveTo>
                    <a:lnTo>
                      <a:pt x="53550" y="939184"/>
                    </a:lnTo>
                    <a:moveTo>
                      <a:pt x="1458820" y="1287132"/>
                    </a:moveTo>
                    <a:lnTo>
                      <a:pt x="1349188" y="1311831"/>
                    </a:lnTo>
                    <a:moveTo>
                      <a:pt x="1054370" y="1343339"/>
                    </a:moveTo>
                    <a:lnTo>
                      <a:pt x="1107262" y="1339806"/>
                    </a:lnTo>
                    <a:moveTo>
                      <a:pt x="389658" y="1356265"/>
                    </a:moveTo>
                    <a:lnTo>
                      <a:pt x="290189" y="1285789"/>
                    </a:lnTo>
                    <a:moveTo>
                      <a:pt x="1889122" y="1109462"/>
                    </a:moveTo>
                    <a:lnTo>
                      <a:pt x="1887141" y="1110605"/>
                    </a:lnTo>
                    <a:moveTo>
                      <a:pt x="744274" y="1391879"/>
                    </a:moveTo>
                    <a:lnTo>
                      <a:pt x="690772" y="1400175"/>
                    </a:lnTo>
                    <a:moveTo>
                      <a:pt x="690772" y="1400175"/>
                    </a:moveTo>
                    <a:lnTo>
                      <a:pt x="655577" y="1399908"/>
                    </a:lnTo>
                    <a:moveTo>
                      <a:pt x="96250" y="1047960"/>
                    </a:moveTo>
                    <a:lnTo>
                      <a:pt x="100155" y="1061933"/>
                    </a:lnTo>
                    <a:moveTo>
                      <a:pt x="990267" y="1354979"/>
                    </a:moveTo>
                    <a:lnTo>
                      <a:pt x="942365" y="1361665"/>
                    </a:lnTo>
                    <a:moveTo>
                      <a:pt x="912400" y="1368285"/>
                    </a:moveTo>
                    <a:lnTo>
                      <a:pt x="942365" y="1361665"/>
                    </a:lnTo>
                    <a:moveTo>
                      <a:pt x="1694783" y="645681"/>
                    </a:moveTo>
                    <a:lnTo>
                      <a:pt x="1706328" y="570005"/>
                    </a:lnTo>
                    <a:moveTo>
                      <a:pt x="2069249" y="969855"/>
                    </a:moveTo>
                    <a:lnTo>
                      <a:pt x="2092928" y="931374"/>
                    </a:lnTo>
                    <a:moveTo>
                      <a:pt x="1997602" y="1027119"/>
                    </a:moveTo>
                    <a:lnTo>
                      <a:pt x="2069249" y="969855"/>
                    </a:lnTo>
                    <a:moveTo>
                      <a:pt x="2102329" y="882882"/>
                    </a:moveTo>
                    <a:lnTo>
                      <a:pt x="2092928" y="931374"/>
                    </a:lnTo>
                    <a:moveTo>
                      <a:pt x="1562662" y="1267606"/>
                    </a:moveTo>
                    <a:lnTo>
                      <a:pt x="1639967" y="1246442"/>
                    </a:lnTo>
                    <a:moveTo>
                      <a:pt x="1510474" y="1280208"/>
                    </a:moveTo>
                    <a:lnTo>
                      <a:pt x="1562662" y="1267606"/>
                    </a:lnTo>
                    <a:moveTo>
                      <a:pt x="2094395" y="769753"/>
                    </a:moveTo>
                    <a:lnTo>
                      <a:pt x="2025158" y="776154"/>
                    </a:lnTo>
                    <a:moveTo>
                      <a:pt x="1993059" y="787584"/>
                    </a:moveTo>
                    <a:lnTo>
                      <a:pt x="2025158" y="776154"/>
                    </a:lnTo>
                    <a:moveTo>
                      <a:pt x="835476" y="1378944"/>
                    </a:moveTo>
                    <a:lnTo>
                      <a:pt x="912400" y="1368285"/>
                    </a:lnTo>
                    <a:moveTo>
                      <a:pt x="1510474" y="1280208"/>
                    </a:moveTo>
                    <a:lnTo>
                      <a:pt x="1458820" y="1287132"/>
                    </a:lnTo>
                    <a:moveTo>
                      <a:pt x="2102329" y="882882"/>
                    </a:moveTo>
                    <a:lnTo>
                      <a:pt x="2130076" y="828161"/>
                    </a:lnTo>
                    <a:moveTo>
                      <a:pt x="2094395" y="769753"/>
                    </a:moveTo>
                    <a:lnTo>
                      <a:pt x="2130076" y="828161"/>
                    </a:lnTo>
                    <a:moveTo>
                      <a:pt x="1639967" y="1246442"/>
                    </a:moveTo>
                    <a:lnTo>
                      <a:pt x="1671552" y="1232297"/>
                    </a:lnTo>
                    <a:moveTo>
                      <a:pt x="1854756" y="322250"/>
                    </a:moveTo>
                    <a:lnTo>
                      <a:pt x="1826009" y="346796"/>
                    </a:lnTo>
                    <a:moveTo>
                      <a:pt x="1777536" y="408622"/>
                    </a:moveTo>
                    <a:lnTo>
                      <a:pt x="1826009" y="346796"/>
                    </a:lnTo>
                    <a:moveTo>
                      <a:pt x="0" y="569995"/>
                    </a:moveTo>
                    <a:lnTo>
                      <a:pt x="3362" y="520560"/>
                    </a:lnTo>
                    <a:moveTo>
                      <a:pt x="10135" y="478288"/>
                    </a:moveTo>
                    <a:lnTo>
                      <a:pt x="3362" y="520560"/>
                    </a:lnTo>
                    <a:moveTo>
                      <a:pt x="1854756" y="322250"/>
                    </a:moveTo>
                    <a:lnTo>
                      <a:pt x="1912591" y="258194"/>
                    </a:lnTo>
                    <a:moveTo>
                      <a:pt x="1939233" y="238430"/>
                    </a:moveTo>
                    <a:lnTo>
                      <a:pt x="1912591" y="258194"/>
                    </a:lnTo>
                    <a:moveTo>
                      <a:pt x="51216" y="99641"/>
                    </a:moveTo>
                    <a:lnTo>
                      <a:pt x="56226" y="164173"/>
                    </a:lnTo>
                    <a:moveTo>
                      <a:pt x="56140" y="197234"/>
                    </a:moveTo>
                    <a:lnTo>
                      <a:pt x="56226" y="164173"/>
                    </a:lnTo>
                    <a:moveTo>
                      <a:pt x="45568" y="281664"/>
                    </a:moveTo>
                    <a:lnTo>
                      <a:pt x="56140" y="197234"/>
                    </a:lnTo>
                    <a:moveTo>
                      <a:pt x="0" y="569995"/>
                    </a:moveTo>
                    <a:lnTo>
                      <a:pt x="200" y="657215"/>
                    </a:lnTo>
                    <a:moveTo>
                      <a:pt x="1756362" y="446132"/>
                    </a:moveTo>
                    <a:lnTo>
                      <a:pt x="1777536" y="408622"/>
                    </a:lnTo>
                    <a:moveTo>
                      <a:pt x="1718558" y="530047"/>
                    </a:moveTo>
                    <a:lnTo>
                      <a:pt x="1756362" y="446132"/>
                    </a:lnTo>
                    <a:moveTo>
                      <a:pt x="1718558" y="530047"/>
                    </a:moveTo>
                    <a:lnTo>
                      <a:pt x="1713643" y="541934"/>
                    </a:lnTo>
                    <a:moveTo>
                      <a:pt x="2061629" y="157924"/>
                    </a:moveTo>
                    <a:lnTo>
                      <a:pt x="2013109" y="183251"/>
                    </a:lnTo>
                    <a:moveTo>
                      <a:pt x="23041" y="400021"/>
                    </a:moveTo>
                    <a:lnTo>
                      <a:pt x="10135" y="478288"/>
                    </a:lnTo>
                    <a:moveTo>
                      <a:pt x="1983029" y="206454"/>
                    </a:moveTo>
                    <a:lnTo>
                      <a:pt x="1939233" y="238430"/>
                    </a:lnTo>
                    <a:moveTo>
                      <a:pt x="2013109" y="183251"/>
                    </a:moveTo>
                    <a:lnTo>
                      <a:pt x="1983029" y="206454"/>
                    </a:lnTo>
                    <a:moveTo>
                      <a:pt x="1711195" y="545363"/>
                    </a:moveTo>
                    <a:lnTo>
                      <a:pt x="1713643" y="541934"/>
                    </a:lnTo>
                    <a:moveTo>
                      <a:pt x="1711195" y="545363"/>
                    </a:moveTo>
                    <a:lnTo>
                      <a:pt x="1706328" y="570005"/>
                    </a:lnTo>
                    <a:moveTo>
                      <a:pt x="45568" y="281664"/>
                    </a:moveTo>
                    <a:lnTo>
                      <a:pt x="29832" y="343262"/>
                    </a:lnTo>
                    <a:moveTo>
                      <a:pt x="23041" y="400021"/>
                    </a:moveTo>
                    <a:lnTo>
                      <a:pt x="29832" y="343262"/>
                    </a:lnTo>
                    <a:moveTo>
                      <a:pt x="51216" y="99641"/>
                    </a:moveTo>
                    <a:lnTo>
                      <a:pt x="19069" y="0"/>
                    </a:lnTo>
                  </a:path>
                </a:pathLst>
              </a:custGeom>
              <a:noFill/>
              <a:ln w="19050">
                <a:solidFill>
                  <a:srgbClr val="7C8F9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0" name="Freeform 18"/>
              <p:cNvSpPr/>
              <p:nvPr/>
            </p:nvSpPr>
            <p:spPr>
              <a:xfrm>
                <a:off x="2946600" y="2770200"/>
                <a:ext cx="493560" cy="147960"/>
              </a:xfrm>
              <a:custGeom>
                <a:avLst/>
                <a:gdLst>
                  <a:gd name="textAreaLeft" fmla="*/ 0 w 493560"/>
                  <a:gd name="textAreaRight" fmla="*/ 493920 w 493560"/>
                  <a:gd name="textAreaTop" fmla="*/ 0 h 147960"/>
                  <a:gd name="textAreaBottom" fmla="*/ 148320 h 147960"/>
                </a:gdLst>
                <a:ahLst/>
                <a:cxnLst/>
                <a:rect l="textAreaLeft" t="textAreaTop" r="textAreaRight" b="textAreaBottom"/>
                <a:pathLst>
                  <a:path w="494014" h="148219">
                    <a:moveTo>
                      <a:pt x="7191" y="81296"/>
                    </a:moveTo>
                    <a:lnTo>
                      <a:pt x="1419" y="77362"/>
                    </a:lnTo>
                    <a:moveTo>
                      <a:pt x="7191" y="81296"/>
                    </a:moveTo>
                    <a:lnTo>
                      <a:pt x="36376" y="100089"/>
                    </a:lnTo>
                    <a:moveTo>
                      <a:pt x="1419" y="77362"/>
                    </a:moveTo>
                    <a:lnTo>
                      <a:pt x="676" y="67570"/>
                    </a:lnTo>
                    <a:moveTo>
                      <a:pt x="0" y="56121"/>
                    </a:moveTo>
                    <a:lnTo>
                      <a:pt x="676" y="67570"/>
                    </a:lnTo>
                    <a:moveTo>
                      <a:pt x="0" y="56121"/>
                    </a:moveTo>
                    <a:lnTo>
                      <a:pt x="18517" y="44739"/>
                    </a:lnTo>
                    <a:moveTo>
                      <a:pt x="43729" y="29651"/>
                    </a:moveTo>
                    <a:lnTo>
                      <a:pt x="18517" y="44739"/>
                    </a:lnTo>
                    <a:moveTo>
                      <a:pt x="67542" y="16774"/>
                    </a:moveTo>
                    <a:lnTo>
                      <a:pt x="43729" y="29651"/>
                    </a:lnTo>
                    <a:moveTo>
                      <a:pt x="125349" y="8011"/>
                    </a:moveTo>
                    <a:lnTo>
                      <a:pt x="67542" y="16774"/>
                    </a:lnTo>
                    <a:moveTo>
                      <a:pt x="198892" y="124"/>
                    </a:moveTo>
                    <a:lnTo>
                      <a:pt x="176965" y="2410"/>
                    </a:lnTo>
                    <a:moveTo>
                      <a:pt x="176965" y="2410"/>
                    </a:moveTo>
                    <a:lnTo>
                      <a:pt x="125349" y="8011"/>
                    </a:lnTo>
                    <a:moveTo>
                      <a:pt x="233248" y="0"/>
                    </a:moveTo>
                    <a:lnTo>
                      <a:pt x="198892" y="124"/>
                    </a:lnTo>
                    <a:moveTo>
                      <a:pt x="264281" y="2657"/>
                    </a:moveTo>
                    <a:lnTo>
                      <a:pt x="233248" y="0"/>
                    </a:lnTo>
                    <a:moveTo>
                      <a:pt x="307638" y="9639"/>
                    </a:moveTo>
                    <a:lnTo>
                      <a:pt x="264281" y="2657"/>
                    </a:lnTo>
                    <a:moveTo>
                      <a:pt x="321164" y="11897"/>
                    </a:moveTo>
                    <a:lnTo>
                      <a:pt x="307638" y="9639"/>
                    </a:lnTo>
                    <a:moveTo>
                      <a:pt x="369170" y="22136"/>
                    </a:moveTo>
                    <a:lnTo>
                      <a:pt x="340690" y="16231"/>
                    </a:lnTo>
                    <a:moveTo>
                      <a:pt x="340690" y="16231"/>
                    </a:moveTo>
                    <a:lnTo>
                      <a:pt x="321164" y="11897"/>
                    </a:lnTo>
                    <a:moveTo>
                      <a:pt x="56036" y="113481"/>
                    </a:moveTo>
                    <a:lnTo>
                      <a:pt x="36376" y="100089"/>
                    </a:lnTo>
                    <a:moveTo>
                      <a:pt x="407422" y="30871"/>
                    </a:moveTo>
                    <a:lnTo>
                      <a:pt x="389601" y="27137"/>
                    </a:lnTo>
                    <a:moveTo>
                      <a:pt x="389601" y="27137"/>
                    </a:moveTo>
                    <a:lnTo>
                      <a:pt x="369170" y="22136"/>
                    </a:lnTo>
                    <a:moveTo>
                      <a:pt x="108937" y="131483"/>
                    </a:moveTo>
                    <a:lnTo>
                      <a:pt x="84268" y="123777"/>
                    </a:lnTo>
                    <a:moveTo>
                      <a:pt x="63122" y="117205"/>
                    </a:moveTo>
                    <a:lnTo>
                      <a:pt x="56036" y="113481"/>
                    </a:lnTo>
                    <a:moveTo>
                      <a:pt x="84268" y="123777"/>
                    </a:moveTo>
                    <a:lnTo>
                      <a:pt x="63122" y="117205"/>
                    </a:lnTo>
                    <a:moveTo>
                      <a:pt x="422205" y="33776"/>
                    </a:moveTo>
                    <a:lnTo>
                      <a:pt x="407422" y="30871"/>
                    </a:lnTo>
                    <a:moveTo>
                      <a:pt x="435569" y="37319"/>
                    </a:moveTo>
                    <a:lnTo>
                      <a:pt x="422205" y="33776"/>
                    </a:lnTo>
                    <a:moveTo>
                      <a:pt x="455590" y="42624"/>
                    </a:moveTo>
                    <a:lnTo>
                      <a:pt x="445980" y="40615"/>
                    </a:lnTo>
                    <a:moveTo>
                      <a:pt x="445980" y="40615"/>
                    </a:moveTo>
                    <a:lnTo>
                      <a:pt x="435569" y="37319"/>
                    </a:lnTo>
                    <a:moveTo>
                      <a:pt x="485156" y="50340"/>
                    </a:moveTo>
                    <a:lnTo>
                      <a:pt x="486175" y="50578"/>
                    </a:lnTo>
                    <a:moveTo>
                      <a:pt x="473593" y="47187"/>
                    </a:moveTo>
                    <a:lnTo>
                      <a:pt x="485156" y="50340"/>
                    </a:lnTo>
                    <a:moveTo>
                      <a:pt x="470926" y="46587"/>
                    </a:moveTo>
                    <a:lnTo>
                      <a:pt x="455590" y="42624"/>
                    </a:lnTo>
                    <a:moveTo>
                      <a:pt x="471992" y="46939"/>
                    </a:moveTo>
                    <a:lnTo>
                      <a:pt x="473593" y="47187"/>
                    </a:lnTo>
                    <a:moveTo>
                      <a:pt x="471992" y="46939"/>
                    </a:moveTo>
                    <a:lnTo>
                      <a:pt x="470926" y="46587"/>
                    </a:lnTo>
                    <a:moveTo>
                      <a:pt x="400774" y="124044"/>
                    </a:moveTo>
                    <a:lnTo>
                      <a:pt x="369227" y="132874"/>
                    </a:lnTo>
                    <a:moveTo>
                      <a:pt x="406375" y="122615"/>
                    </a:moveTo>
                    <a:lnTo>
                      <a:pt x="400774" y="124044"/>
                    </a:lnTo>
                    <a:moveTo>
                      <a:pt x="363188" y="134207"/>
                    </a:moveTo>
                    <a:lnTo>
                      <a:pt x="361483" y="134626"/>
                    </a:lnTo>
                    <a:moveTo>
                      <a:pt x="363188" y="134207"/>
                    </a:moveTo>
                    <a:lnTo>
                      <a:pt x="369227" y="132874"/>
                    </a:lnTo>
                    <a:moveTo>
                      <a:pt x="431625" y="113224"/>
                    </a:moveTo>
                    <a:lnTo>
                      <a:pt x="406375" y="122615"/>
                    </a:lnTo>
                    <a:moveTo>
                      <a:pt x="441731" y="109823"/>
                    </a:moveTo>
                    <a:lnTo>
                      <a:pt x="431625" y="113224"/>
                    </a:lnTo>
                    <a:moveTo>
                      <a:pt x="113167" y="132702"/>
                    </a:moveTo>
                    <a:lnTo>
                      <a:pt x="108937" y="131483"/>
                    </a:lnTo>
                    <a:moveTo>
                      <a:pt x="491747" y="53492"/>
                    </a:moveTo>
                    <a:lnTo>
                      <a:pt x="491366" y="53026"/>
                    </a:lnTo>
                    <a:moveTo>
                      <a:pt x="490490" y="52511"/>
                    </a:moveTo>
                    <a:lnTo>
                      <a:pt x="486175" y="50578"/>
                    </a:lnTo>
                    <a:moveTo>
                      <a:pt x="492033" y="53664"/>
                    </a:moveTo>
                    <a:lnTo>
                      <a:pt x="491747" y="53492"/>
                    </a:lnTo>
                    <a:moveTo>
                      <a:pt x="492033" y="53664"/>
                    </a:moveTo>
                    <a:lnTo>
                      <a:pt x="493319" y="55216"/>
                    </a:lnTo>
                    <a:moveTo>
                      <a:pt x="491366" y="53026"/>
                    </a:moveTo>
                    <a:lnTo>
                      <a:pt x="490490" y="52511"/>
                    </a:lnTo>
                    <a:moveTo>
                      <a:pt x="490128" y="71228"/>
                    </a:moveTo>
                    <a:lnTo>
                      <a:pt x="485404" y="78686"/>
                    </a:lnTo>
                    <a:moveTo>
                      <a:pt x="492700" y="65923"/>
                    </a:moveTo>
                    <a:lnTo>
                      <a:pt x="492404" y="66989"/>
                    </a:lnTo>
                    <a:moveTo>
                      <a:pt x="492404" y="66989"/>
                    </a:moveTo>
                    <a:lnTo>
                      <a:pt x="490128" y="71228"/>
                    </a:lnTo>
                    <a:moveTo>
                      <a:pt x="123282" y="134007"/>
                    </a:moveTo>
                    <a:lnTo>
                      <a:pt x="113167" y="132702"/>
                    </a:lnTo>
                    <a:moveTo>
                      <a:pt x="150057" y="140541"/>
                    </a:moveTo>
                    <a:lnTo>
                      <a:pt x="156096" y="141970"/>
                    </a:lnTo>
                    <a:moveTo>
                      <a:pt x="150057" y="140541"/>
                    </a:moveTo>
                    <a:lnTo>
                      <a:pt x="123282" y="134007"/>
                    </a:lnTo>
                    <a:moveTo>
                      <a:pt x="172260" y="145304"/>
                    </a:moveTo>
                    <a:lnTo>
                      <a:pt x="172250" y="145304"/>
                    </a:lnTo>
                    <a:moveTo>
                      <a:pt x="172250" y="145304"/>
                    </a:moveTo>
                    <a:lnTo>
                      <a:pt x="156096" y="141970"/>
                    </a:lnTo>
                    <a:moveTo>
                      <a:pt x="188805" y="146742"/>
                    </a:moveTo>
                    <a:lnTo>
                      <a:pt x="172260" y="145304"/>
                    </a:lnTo>
                    <a:moveTo>
                      <a:pt x="230819" y="148219"/>
                    </a:moveTo>
                    <a:lnTo>
                      <a:pt x="214341" y="147790"/>
                    </a:lnTo>
                    <a:moveTo>
                      <a:pt x="214341" y="147790"/>
                    </a:moveTo>
                    <a:lnTo>
                      <a:pt x="188805" y="146742"/>
                    </a:lnTo>
                    <a:moveTo>
                      <a:pt x="242459" y="148199"/>
                    </a:moveTo>
                    <a:lnTo>
                      <a:pt x="230819" y="148219"/>
                    </a:lnTo>
                    <a:moveTo>
                      <a:pt x="251679" y="147942"/>
                    </a:moveTo>
                    <a:lnTo>
                      <a:pt x="242459" y="148199"/>
                    </a:lnTo>
                    <a:moveTo>
                      <a:pt x="260385" y="147466"/>
                    </a:moveTo>
                    <a:lnTo>
                      <a:pt x="251679" y="147942"/>
                    </a:lnTo>
                    <a:moveTo>
                      <a:pt x="293627" y="144837"/>
                    </a:moveTo>
                    <a:lnTo>
                      <a:pt x="260385" y="147466"/>
                    </a:lnTo>
                    <a:moveTo>
                      <a:pt x="305419" y="143751"/>
                    </a:moveTo>
                    <a:lnTo>
                      <a:pt x="293627" y="144837"/>
                    </a:lnTo>
                    <a:moveTo>
                      <a:pt x="312020" y="142875"/>
                    </a:moveTo>
                    <a:lnTo>
                      <a:pt x="305419" y="143751"/>
                    </a:lnTo>
                    <a:moveTo>
                      <a:pt x="360759" y="134836"/>
                    </a:moveTo>
                    <a:lnTo>
                      <a:pt x="320126" y="141494"/>
                    </a:lnTo>
                    <a:moveTo>
                      <a:pt x="360759" y="134836"/>
                    </a:moveTo>
                    <a:lnTo>
                      <a:pt x="361483" y="134626"/>
                    </a:lnTo>
                    <a:moveTo>
                      <a:pt x="320126" y="141494"/>
                    </a:moveTo>
                    <a:lnTo>
                      <a:pt x="312020" y="142875"/>
                    </a:lnTo>
                    <a:moveTo>
                      <a:pt x="456695" y="102470"/>
                    </a:moveTo>
                    <a:lnTo>
                      <a:pt x="447113" y="107775"/>
                    </a:lnTo>
                    <a:moveTo>
                      <a:pt x="456695" y="102470"/>
                    </a:moveTo>
                    <a:lnTo>
                      <a:pt x="467592" y="95612"/>
                    </a:lnTo>
                    <a:moveTo>
                      <a:pt x="447113" y="107775"/>
                    </a:moveTo>
                    <a:lnTo>
                      <a:pt x="441731" y="109823"/>
                    </a:lnTo>
                    <a:moveTo>
                      <a:pt x="479012" y="85658"/>
                    </a:moveTo>
                    <a:lnTo>
                      <a:pt x="470525" y="93678"/>
                    </a:lnTo>
                    <a:moveTo>
                      <a:pt x="479012" y="85658"/>
                    </a:moveTo>
                    <a:lnTo>
                      <a:pt x="485404" y="78686"/>
                    </a:lnTo>
                    <a:moveTo>
                      <a:pt x="470525" y="93678"/>
                    </a:moveTo>
                    <a:lnTo>
                      <a:pt x="467592" y="95612"/>
                    </a:lnTo>
                    <a:moveTo>
                      <a:pt x="494014" y="58912"/>
                    </a:moveTo>
                    <a:lnTo>
                      <a:pt x="492700" y="65923"/>
                    </a:lnTo>
                    <a:moveTo>
                      <a:pt x="493614" y="56540"/>
                    </a:moveTo>
                    <a:lnTo>
                      <a:pt x="493319" y="55216"/>
                    </a:lnTo>
                    <a:moveTo>
                      <a:pt x="493614" y="56540"/>
                    </a:moveTo>
                    <a:lnTo>
                      <a:pt x="493919" y="58493"/>
                    </a:lnTo>
                    <a:moveTo>
                      <a:pt x="493919" y="58493"/>
                    </a:moveTo>
                    <a:lnTo>
                      <a:pt x="494014" y="58912"/>
                    </a:lnTo>
                  </a:path>
                </a:pathLst>
              </a:custGeom>
              <a:noFill/>
              <a:ln w="19050">
                <a:solidFill>
                  <a:srgbClr val="A357B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1" name="Line 19"/>
              <p:cNvSpPr/>
              <p:nvPr/>
            </p:nvSpPr>
            <p:spPr>
              <a:xfrm>
                <a:off x="628560" y="3809880"/>
                <a:ext cx="171000" cy="9000"/>
              </a:xfrm>
              <a:custGeom>
                <a:avLst/>
                <a:gdLst>
                  <a:gd name="textAreaLeft" fmla="*/ 0 w 171000"/>
                  <a:gd name="textAreaRight" fmla="*/ 171360 w 1710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7C8F9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5640" rIns="90000" bIns="-3564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2" name="TextBox 20"/>
              <p:cNvSpPr/>
              <p:nvPr/>
            </p:nvSpPr>
            <p:spPr>
              <a:xfrm>
                <a:off x="850320" y="3701880"/>
                <a:ext cx="37692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耳面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3" name="Line 21"/>
              <p:cNvSpPr/>
              <p:nvPr/>
            </p:nvSpPr>
            <p:spPr>
              <a:xfrm>
                <a:off x="1467000" y="3809880"/>
                <a:ext cx="171000" cy="9000"/>
              </a:xfrm>
              <a:custGeom>
                <a:avLst/>
                <a:gdLst>
                  <a:gd name="textAreaLeft" fmla="*/ 0 w 171000"/>
                  <a:gd name="textAreaRight" fmla="*/ 171360 w 1710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D98536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5640" rIns="90000" bIns="-3564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4" name="TextBox 22"/>
              <p:cNvSpPr/>
              <p:nvPr/>
            </p:nvSpPr>
            <p:spPr>
              <a:xfrm>
                <a:off x="1688760" y="3701880"/>
                <a:ext cx="37692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耳套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5" name="Line 23"/>
              <p:cNvSpPr/>
              <p:nvPr/>
            </p:nvSpPr>
            <p:spPr>
              <a:xfrm>
                <a:off x="2305080" y="3809880"/>
                <a:ext cx="171000" cy="9000"/>
              </a:xfrm>
              <a:custGeom>
                <a:avLst/>
                <a:gdLst>
                  <a:gd name="textAreaLeft" fmla="*/ 0 w 171000"/>
                  <a:gd name="textAreaRight" fmla="*/ 171360 w 1710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497D8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5640" rIns="90000" bIns="-3564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6" name="TextBox 24"/>
              <p:cNvSpPr/>
              <p:nvPr/>
            </p:nvSpPr>
            <p:spPr>
              <a:xfrm>
                <a:off x="2526840" y="3701880"/>
                <a:ext cx="55872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出音管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7" name="Line 25"/>
              <p:cNvSpPr/>
              <p:nvPr/>
            </p:nvSpPr>
            <p:spPr>
              <a:xfrm>
                <a:off x="3143160" y="3809880"/>
                <a:ext cx="171000" cy="9000"/>
              </a:xfrm>
              <a:custGeom>
                <a:avLst/>
                <a:gdLst>
                  <a:gd name="textAreaLeft" fmla="*/ 0 w 171000"/>
                  <a:gd name="textAreaRight" fmla="*/ 171360 w 171000"/>
                  <a:gd name="textAreaTop" fmla="*/ 0 h 9000"/>
                  <a:gd name="textAreaBottom" fmla="*/ 9360 h 9000"/>
                </a:gdLst>
                <a:ahLst/>
                <a:cxnLst/>
                <a:rect l="textAreaLeft" t="textAreaTop" r="textAreaRight" b="textAreaBottom"/>
                <a:pathLst>
                  <a:path w="171450" h="9525">
                    <a:moveTo>
                      <a:pt x="0" y="0"/>
                    </a:moveTo>
                    <a:lnTo>
                      <a:pt x="171450" y="0"/>
                    </a:lnTo>
                  </a:path>
                </a:pathLst>
              </a:custGeom>
              <a:noFill/>
              <a:ln w="28575">
                <a:solidFill>
                  <a:srgbClr val="A357B9"/>
                </a:solidFill>
                <a:round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-35640" rIns="90000" bIns="-35640" anchor="t">
                <a:noAutofit/>
              </a:bodyPr>
              <a:p>
                <a:pPr/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sp>
            <p:nvSpPr>
              <p:cNvPr id="498" name="TextBox 26"/>
              <p:cNvSpPr/>
              <p:nvPr/>
            </p:nvSpPr>
            <p:spPr>
              <a:xfrm>
                <a:off x="3364920" y="3701880"/>
                <a:ext cx="376920" cy="2635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0" tIns="0" rIns="0" bIns="0" anchor="t">
                <a:spAutoFit/>
              </a:bodyPr>
              <a:p>
                <a:pPr defTabSz="457200">
                  <a:lnSpc>
                    <a:spcPct val="100000"/>
                  </a:lnSpc>
                </a:pPr>
                <a:r>
                  <a:rPr lang="zh-CN" sz="1350" b="0" u="none" strike="noStrike">
                    <a:solidFill>
                      <a:srgbClr val="66758A"/>
                    </a:solidFill>
                    <a:effectLst/>
                    <a:uFillTx/>
                    <a:latin typeface="Arial"/>
                    <a:ea typeface="微软雅黑"/>
                  </a:rPr>
                  <a:t>软叶</a:t>
                </a:r>
                <a:endParaRPr lang="en-US" sz="135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sp>
          <p:nvSpPr>
            <p:cNvPr id="499" name="TextBox 28"/>
            <p:cNvSpPr/>
            <p:nvPr/>
          </p:nvSpPr>
          <p:spPr>
            <a:xfrm>
              <a:off x="621720" y="3892680"/>
              <a:ext cx="273924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真实截线节选，各幅等比例展示。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0" name="TextBox 29"/>
            <p:cNvSpPr/>
            <p:nvPr/>
          </p:nvSpPr>
          <p:spPr>
            <a:xfrm>
              <a:off x="621720" y="432108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能力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1" name="TextBox 30"/>
            <p:cNvSpPr/>
            <p:nvPr/>
          </p:nvSpPr>
          <p:spPr>
            <a:xfrm>
              <a:off x="1114200" y="4245120"/>
              <a:ext cx="2382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截线可查层次与距离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2" name="TextBox 31"/>
            <p:cNvSpPr/>
            <p:nvPr/>
          </p:nvSpPr>
          <p:spPr>
            <a:xfrm>
              <a:off x="621720" y="475920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缺口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3" name="TextBox 32"/>
            <p:cNvSpPr/>
            <p:nvPr/>
          </p:nvSpPr>
          <p:spPr>
            <a:xfrm>
              <a:off x="1114200" y="468324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耳区名称缺少模型定位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4" name="TextBox 33"/>
            <p:cNvSpPr/>
            <p:nvPr/>
          </p:nvSpPr>
          <p:spPr>
            <a:xfrm>
              <a:off x="621720" y="519732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8B5CF6"/>
                  </a:solidFill>
                  <a:effectLst/>
                  <a:uFillTx/>
                  <a:latin typeface="Arial"/>
                  <a:ea typeface="微软雅黑"/>
                </a:rPr>
                <a:t>介入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5" name="TextBox 34"/>
            <p:cNvSpPr/>
            <p:nvPr/>
          </p:nvSpPr>
          <p:spPr>
            <a:xfrm>
              <a:off x="1114200" y="5121360"/>
              <a:ext cx="2382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8B5CF6"/>
                  </a:solidFill>
                  <a:effectLst/>
                  <a:uFillTx/>
                  <a:latin typeface="Arial"/>
                  <a:ea typeface="微软雅黑"/>
                </a:rPr>
                <a:t>图谱与中英名称绑定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6" name="TextBox 35"/>
            <p:cNvSpPr/>
            <p:nvPr/>
          </p:nvSpPr>
          <p:spPr>
            <a:xfrm>
              <a:off x="621720" y="563580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8B5CF6"/>
                  </a:solidFill>
                  <a:effectLst/>
                  <a:uFillTx/>
                  <a:latin typeface="Arial"/>
                  <a:ea typeface="微软雅黑"/>
                </a:rPr>
                <a:t>改进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7" name="TextBox 36"/>
            <p:cNvSpPr/>
            <p:nvPr/>
          </p:nvSpPr>
          <p:spPr>
            <a:xfrm>
              <a:off x="1114200" y="5559480"/>
              <a:ext cx="211968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8B5CF6"/>
                  </a:solidFill>
                  <a:effectLst/>
                  <a:uFillTx/>
                  <a:latin typeface="Arial"/>
                  <a:ea typeface="微软雅黑"/>
                </a:rPr>
                <a:t>反馈对应实际耳区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08" name="stage-five"/>
          <p:cNvGrpSpPr/>
          <p:nvPr/>
        </p:nvGrpSpPr>
        <p:grpSpPr>
          <a:xfrm>
            <a:off x="4324320" y="1711440"/>
            <a:ext cx="3263400" cy="4228920"/>
            <a:chOff x="4324320" y="1711440"/>
            <a:chExt cx="3263400" cy="4228920"/>
          </a:xfrm>
        </p:grpSpPr>
        <p:sp>
          <p:nvSpPr>
            <p:cNvPr id="509" name="Rectangle 40"/>
            <p:cNvSpPr/>
            <p:nvPr/>
          </p:nvSpPr>
          <p:spPr>
            <a:xfrm>
              <a:off x="4324320" y="1714680"/>
              <a:ext cx="56880" cy="294840"/>
            </a:xfrm>
            <a:prstGeom prst="rect">
              <a:avLst/>
            </a:prstGeom>
            <a:solidFill>
              <a:srgbClr val="8B5CF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TextBox 41"/>
            <p:cNvSpPr/>
            <p:nvPr/>
          </p:nvSpPr>
          <p:spPr>
            <a:xfrm>
              <a:off x="4476240" y="1711440"/>
              <a:ext cx="2076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5 </a:t>
              </a:r>
              <a:r>
                <a:rPr lang="zh-CN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耳区语义与定位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11" name="Image 42"/>
            <p:cNvPicPr/>
            <p:nvPr/>
          </p:nvPicPr>
          <p:blipFill>
            <a:blip r:embed="rId1"/>
            <a:srcRect l="0" t="9003" r="39685" b="0"/>
            <a:stretch/>
          </p:blipFill>
          <p:spPr>
            <a:xfrm>
              <a:off x="4429080" y="2238480"/>
              <a:ext cx="1599840" cy="159948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12" name="TextBox 43"/>
            <p:cNvSpPr/>
            <p:nvPr/>
          </p:nvSpPr>
          <p:spPr>
            <a:xfrm>
              <a:off x="6202080" y="2273400"/>
              <a:ext cx="6829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1" u="none" strike="noStrike">
                  <a:solidFill>
                    <a:srgbClr val="8B5CF6"/>
                  </a:solidFill>
                  <a:effectLst/>
                  <a:uFillTx/>
                  <a:latin typeface="Arial"/>
                  <a:ea typeface="微软雅黑"/>
                </a:rPr>
                <a:t>耳甲艇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3" name="TextBox 44"/>
            <p:cNvSpPr/>
            <p:nvPr/>
          </p:nvSpPr>
          <p:spPr>
            <a:xfrm>
              <a:off x="6204240" y="2543040"/>
              <a:ext cx="1094760" cy="23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Arial"/>
                </a:rPr>
                <a:t>Cymba concha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4" name="TextBox 45"/>
            <p:cNvSpPr/>
            <p:nvPr/>
          </p:nvSpPr>
          <p:spPr>
            <a:xfrm>
              <a:off x="6202080" y="2825640"/>
              <a:ext cx="6829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1" u="none" strike="noStrike">
                  <a:solidFill>
                    <a:srgbClr val="8B5CF6"/>
                  </a:solidFill>
                  <a:effectLst/>
                  <a:uFillTx/>
                  <a:latin typeface="Arial"/>
                  <a:ea typeface="微软雅黑"/>
                </a:rPr>
                <a:t>耳轮脚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TextBox 46"/>
            <p:cNvSpPr/>
            <p:nvPr/>
          </p:nvSpPr>
          <p:spPr>
            <a:xfrm>
              <a:off x="6204240" y="3095640"/>
              <a:ext cx="914400" cy="23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Arial"/>
                </a:rPr>
                <a:t>Crus of helix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TextBox 47"/>
            <p:cNvSpPr/>
            <p:nvPr/>
          </p:nvSpPr>
          <p:spPr>
            <a:xfrm>
              <a:off x="6202080" y="3378240"/>
              <a:ext cx="6829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1" u="none" strike="noStrike">
                  <a:solidFill>
                    <a:srgbClr val="8B5CF6"/>
                  </a:solidFill>
                  <a:effectLst/>
                  <a:uFillTx/>
                  <a:latin typeface="Arial"/>
                  <a:ea typeface="微软雅黑"/>
                </a:rPr>
                <a:t>耳甲腔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TextBox 48"/>
            <p:cNvSpPr/>
            <p:nvPr/>
          </p:nvSpPr>
          <p:spPr>
            <a:xfrm>
              <a:off x="6204240" y="3648240"/>
              <a:ext cx="1094760" cy="234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20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Arial"/>
                </a:rPr>
                <a:t>Cavum concha</a:t>
              </a:r>
              <a:endPara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8" name="TextBox 49"/>
            <p:cNvSpPr/>
            <p:nvPr/>
          </p:nvSpPr>
          <p:spPr>
            <a:xfrm>
              <a:off x="4450680" y="3892680"/>
              <a:ext cx="23760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名称、图谱与实际源面对应。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9" name="TextBox 50"/>
            <p:cNvSpPr/>
            <p:nvPr/>
          </p:nvSpPr>
          <p:spPr>
            <a:xfrm>
              <a:off x="4450680" y="432108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能力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0" name="TextBox 51"/>
            <p:cNvSpPr/>
            <p:nvPr/>
          </p:nvSpPr>
          <p:spPr>
            <a:xfrm>
              <a:off x="4943160" y="4245120"/>
              <a:ext cx="21492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10</a:t>
              </a:r>
              <a:r>
                <a:rPr lang="zh-CN" sz="19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区名称对应源面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1" name="TextBox 52"/>
            <p:cNvSpPr/>
            <p:nvPr/>
          </p:nvSpPr>
          <p:spPr>
            <a:xfrm>
              <a:off x="4450680" y="475920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缺口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2" name="TextBox 53"/>
            <p:cNvSpPr/>
            <p:nvPr/>
          </p:nvSpPr>
          <p:spPr>
            <a:xfrm>
              <a:off x="4943160" y="468324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局部变形掩盖姿态问题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3" name="TextBox 54"/>
            <p:cNvSpPr/>
            <p:nvPr/>
          </p:nvSpPr>
          <p:spPr>
            <a:xfrm>
              <a:off x="4450680" y="519732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介入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TextBox 55"/>
            <p:cNvSpPr/>
            <p:nvPr/>
          </p:nvSpPr>
          <p:spPr>
            <a:xfrm>
              <a:off x="4943160" y="512136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新旧耳对齐、整机联动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TextBox 56"/>
            <p:cNvSpPr/>
            <p:nvPr/>
          </p:nvSpPr>
          <p:spPr>
            <a:xfrm>
              <a:off x="4450680" y="563580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改进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TextBox 57"/>
            <p:cNvSpPr/>
            <p:nvPr/>
          </p:nvSpPr>
          <p:spPr>
            <a:xfrm>
              <a:off x="4943160" y="5559480"/>
              <a:ext cx="211968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贴合目标指导位姿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7" name="stage-six"/>
          <p:cNvGrpSpPr/>
          <p:nvPr/>
        </p:nvGrpSpPr>
        <p:grpSpPr>
          <a:xfrm>
            <a:off x="8153280" y="1711440"/>
            <a:ext cx="3323880" cy="4228920"/>
            <a:chOff x="8153280" y="1711440"/>
            <a:chExt cx="3323880" cy="4228920"/>
          </a:xfrm>
        </p:grpSpPr>
        <p:sp>
          <p:nvSpPr>
            <p:cNvPr id="528" name="Rectangle 59"/>
            <p:cNvSpPr/>
            <p:nvPr/>
          </p:nvSpPr>
          <p:spPr>
            <a:xfrm>
              <a:off x="8153280" y="1714680"/>
              <a:ext cx="56880" cy="294840"/>
            </a:xfrm>
            <a:prstGeom prst="rect">
              <a:avLst/>
            </a:prstGeom>
            <a:solidFill>
              <a:srgbClr val="069B8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9" name="TextBox 60"/>
            <p:cNvSpPr/>
            <p:nvPr/>
          </p:nvSpPr>
          <p:spPr>
            <a:xfrm>
              <a:off x="8305560" y="1711440"/>
              <a:ext cx="2076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6 </a:t>
              </a:r>
              <a:r>
                <a:rPr lang="zh-CN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联合佩戴与复核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0" name="TextBox 61"/>
            <p:cNvSpPr/>
            <p:nvPr/>
          </p:nvSpPr>
          <p:spPr>
            <a:xfrm>
              <a:off x="8213040" y="2168640"/>
              <a:ext cx="5587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调整前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TextBox 62"/>
            <p:cNvSpPr/>
            <p:nvPr/>
          </p:nvSpPr>
          <p:spPr>
            <a:xfrm>
              <a:off x="9946800" y="2168640"/>
              <a:ext cx="92196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整机调整后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32" name="Image 63"/>
            <p:cNvPicPr/>
            <p:nvPr/>
          </p:nvPicPr>
          <p:blipFill>
            <a:blip r:embed="rId2"/>
            <a:stretch/>
          </p:blipFill>
          <p:spPr>
            <a:xfrm>
              <a:off x="8267760" y="2381400"/>
              <a:ext cx="1476000" cy="14760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533" name="Image 64"/>
            <p:cNvPicPr/>
            <p:nvPr/>
          </p:nvPicPr>
          <p:blipFill>
            <a:blip r:embed="rId3"/>
            <a:stretch/>
          </p:blipFill>
          <p:spPr>
            <a:xfrm>
              <a:off x="10001160" y="2381400"/>
              <a:ext cx="1476000" cy="147600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34" name="TextBox 65"/>
            <p:cNvSpPr/>
            <p:nvPr/>
          </p:nvSpPr>
          <p:spPr>
            <a:xfrm>
              <a:off x="8280000" y="3892680"/>
              <a:ext cx="23220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真实保存态，同一相机</a:t>
              </a:r>
              <a:r>
                <a:rPr lang="en-US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A/B</a:t>
              </a:r>
              <a:r>
                <a:rPr lang="zh-CN" sz="13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。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5" name="TextBox 66"/>
            <p:cNvSpPr/>
            <p:nvPr/>
          </p:nvSpPr>
          <p:spPr>
            <a:xfrm>
              <a:off x="8280000" y="432108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能力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TextBox 67"/>
            <p:cNvSpPr/>
            <p:nvPr/>
          </p:nvSpPr>
          <p:spPr>
            <a:xfrm>
              <a:off x="8772120" y="4245120"/>
              <a:ext cx="238212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24364C"/>
                  </a:solidFill>
                  <a:effectLst/>
                  <a:uFillTx/>
                  <a:latin typeface="Arial"/>
                  <a:ea typeface="微软雅黑"/>
                </a:rPr>
                <a:t>整机方向获局部确认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7" name="TextBox 68"/>
            <p:cNvSpPr/>
            <p:nvPr/>
          </p:nvSpPr>
          <p:spPr>
            <a:xfrm>
              <a:off x="8280000" y="475920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缺口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8" name="TextBox 69"/>
            <p:cNvSpPr/>
            <p:nvPr/>
          </p:nvSpPr>
          <p:spPr>
            <a:xfrm>
              <a:off x="8772120" y="468324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接合、承托与实测待验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9" name="TextBox 70"/>
            <p:cNvSpPr/>
            <p:nvPr/>
          </p:nvSpPr>
          <p:spPr>
            <a:xfrm>
              <a:off x="8280000" y="519732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介入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0" name="TextBox 71"/>
            <p:cNvSpPr/>
            <p:nvPr/>
          </p:nvSpPr>
          <p:spPr>
            <a:xfrm>
              <a:off x="8772120" y="5121360"/>
              <a:ext cx="256644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保存复核、</a:t>
              </a:r>
              <a:r>
                <a:rPr lang="en-US" sz="1950" b="0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A/B</a:t>
              </a:r>
              <a:r>
                <a:rPr lang="zh-CN" sz="1950" b="0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与回写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1" name="TextBox 72"/>
            <p:cNvSpPr/>
            <p:nvPr/>
          </p:nvSpPr>
          <p:spPr>
            <a:xfrm>
              <a:off x="8280000" y="5635800"/>
              <a:ext cx="37692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1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改进</a:t>
              </a:r>
              <a:endParaRPr lang="en-US" sz="13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2" name="TextBox 73"/>
            <p:cNvSpPr/>
            <p:nvPr/>
          </p:nvSpPr>
          <p:spPr>
            <a:xfrm>
              <a:off x="8772120" y="555948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069B8A"/>
                  </a:solidFill>
                  <a:effectLst/>
                  <a:uFillTx/>
                  <a:latin typeface="Arial"/>
                  <a:ea typeface="微软雅黑"/>
                </a:rPr>
                <a:t>可追溯候选，欠项留账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header"/>
          <p:cNvGrpSpPr/>
          <p:nvPr/>
        </p:nvGrpSpPr>
        <p:grpSpPr>
          <a:xfrm>
            <a:off x="478440" y="422280"/>
            <a:ext cx="11209680" cy="973080"/>
            <a:chOff x="478440" y="422280"/>
            <a:chExt cx="11209680" cy="973080"/>
          </a:xfrm>
        </p:grpSpPr>
        <p:sp>
          <p:nvSpPr>
            <p:cNvPr id="544" name="TextBox 2"/>
            <p:cNvSpPr/>
            <p:nvPr/>
          </p:nvSpPr>
          <p:spPr>
            <a:xfrm>
              <a:off x="478440" y="422280"/>
              <a:ext cx="1120104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zh-CN" sz="33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复核结果如何进入下一轮</a:t>
              </a:r>
              <a:endParaRPr lang="en-US" sz="33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5" name="TextBox 3"/>
            <p:cNvSpPr/>
            <p:nvPr/>
          </p:nvSpPr>
          <p:spPr>
            <a:xfrm>
              <a:off x="487080" y="1073160"/>
              <a:ext cx="112010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no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确认需求和修改方案后实施，同版回执支持人工复核，规则再进入工作流与执行入口。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6" name="footer-label"/>
          <p:cNvSpPr/>
          <p:nvPr/>
        </p:nvSpPr>
        <p:spPr>
          <a:xfrm>
            <a:off x="488520" y="6407280"/>
            <a:ext cx="106675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defTabSz="457200">
              <a:lnSpc>
                <a:spcPct val="100000"/>
              </a:lnSpc>
            </a:pPr>
            <a:r>
              <a:rPr lang="zh-CN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微软雅黑"/>
              </a:rPr>
              <a:t>通过范围与欠项分别记录，回写后检查实际读取和回归。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age-number"/>
          <p:cNvSpPr/>
          <p:nvPr/>
        </p:nvSpPr>
        <p:spPr>
          <a:xfrm>
            <a:off x="11489760" y="6407280"/>
            <a:ext cx="2131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66758A"/>
                </a:solidFill>
                <a:effectLst/>
                <a:uFillTx/>
                <a:latin typeface="Arial"/>
                <a:ea typeface="Arial"/>
              </a:rPr>
              <a:t>13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48" name="review-loop"/>
          <p:cNvGrpSpPr/>
          <p:nvPr/>
        </p:nvGrpSpPr>
        <p:grpSpPr>
          <a:xfrm>
            <a:off x="487080" y="1847880"/>
            <a:ext cx="6389640" cy="3071880"/>
            <a:chOff x="487080" y="1847880"/>
            <a:chExt cx="6389640" cy="3071880"/>
          </a:xfrm>
        </p:grpSpPr>
        <p:sp>
          <p:nvSpPr>
            <p:cNvPr id="549" name="Rectangle 7"/>
            <p:cNvSpPr/>
            <p:nvPr/>
          </p:nvSpPr>
          <p:spPr>
            <a:xfrm>
              <a:off x="495360" y="1847880"/>
              <a:ext cx="1847520" cy="875880"/>
            </a:xfrm>
            <a:prstGeom prst="roundRect">
              <a:avLst>
                <a:gd name="adj" fmla="val 9783"/>
              </a:avLst>
            </a:prstGeom>
            <a:solidFill>
              <a:srgbClr val="FFF2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0" name="TextBox 8"/>
            <p:cNvSpPr/>
            <p:nvPr/>
          </p:nvSpPr>
          <p:spPr>
            <a:xfrm>
              <a:off x="676800" y="1994040"/>
              <a:ext cx="12294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人提出反馈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1" name="TextBox 9"/>
            <p:cNvSpPr/>
            <p:nvPr/>
          </p:nvSpPr>
          <p:spPr>
            <a:xfrm>
              <a:off x="677520" y="2330280"/>
              <a:ext cx="17935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描述、圈选、目标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2" name="Line 10"/>
            <p:cNvSpPr/>
            <p:nvPr/>
          </p:nvSpPr>
          <p:spPr>
            <a:xfrm>
              <a:off x="2447640" y="2286000"/>
              <a:ext cx="209520" cy="0"/>
            </a:xfrm>
            <a:prstGeom prst="line">
              <a:avLst/>
            </a:prstGeom>
            <a:ln w="19050">
              <a:solidFill>
                <a:srgbClr val="24364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3" name="Rectangle 11"/>
            <p:cNvSpPr/>
            <p:nvPr/>
          </p:nvSpPr>
          <p:spPr>
            <a:xfrm>
              <a:off x="2762280" y="1847880"/>
              <a:ext cx="1847520" cy="875880"/>
            </a:xfrm>
            <a:prstGeom prst="roundRect">
              <a:avLst>
                <a:gd name="adj" fmla="val 9783"/>
              </a:avLst>
            </a:prstGeom>
            <a:solidFill>
              <a:srgbClr val="EBF3F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4" name="TextBox 12"/>
            <p:cNvSpPr/>
            <p:nvPr/>
          </p:nvSpPr>
          <p:spPr>
            <a:xfrm>
              <a:off x="2943720" y="1994040"/>
              <a:ext cx="1243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2D83C5"/>
                  </a:solidFill>
                  <a:effectLst/>
                  <a:uFillTx/>
                  <a:latin typeface="Arial"/>
                  <a:ea typeface="微软雅黑"/>
                </a:rPr>
                <a:t>AI</a:t>
              </a:r>
              <a:r>
                <a:rPr lang="zh-CN" sz="1800" b="1" u="none" strike="noStrike">
                  <a:solidFill>
                    <a:srgbClr val="2D83C5"/>
                  </a:solidFill>
                  <a:effectLst/>
                  <a:uFillTx/>
                  <a:latin typeface="Arial"/>
                  <a:ea typeface="微软雅黑"/>
                </a:rPr>
                <a:t>复述方案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5" name="TextBox 13"/>
            <p:cNvSpPr/>
            <p:nvPr/>
          </p:nvSpPr>
          <p:spPr>
            <a:xfrm>
              <a:off x="2944440" y="2330280"/>
              <a:ext cx="13492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改动与保护项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6" name="Line 14"/>
            <p:cNvSpPr/>
            <p:nvPr/>
          </p:nvSpPr>
          <p:spPr>
            <a:xfrm>
              <a:off x="4714560" y="2286000"/>
              <a:ext cx="209520" cy="0"/>
            </a:xfrm>
            <a:prstGeom prst="line">
              <a:avLst/>
            </a:prstGeom>
            <a:ln w="19050">
              <a:solidFill>
                <a:srgbClr val="24364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7" name="Rectangle 15"/>
            <p:cNvSpPr/>
            <p:nvPr/>
          </p:nvSpPr>
          <p:spPr>
            <a:xfrm>
              <a:off x="5029200" y="1847880"/>
              <a:ext cx="1847520" cy="875880"/>
            </a:xfrm>
            <a:prstGeom prst="roundRect">
              <a:avLst>
                <a:gd name="adj" fmla="val 9783"/>
              </a:avLst>
            </a:prstGeom>
            <a:solidFill>
              <a:srgbClr val="FFF2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8" name="TextBox 16"/>
            <p:cNvSpPr/>
            <p:nvPr/>
          </p:nvSpPr>
          <p:spPr>
            <a:xfrm>
              <a:off x="5210640" y="1994040"/>
              <a:ext cx="12294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人确认方案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9" name="TextBox 17"/>
            <p:cNvSpPr/>
            <p:nvPr/>
          </p:nvSpPr>
          <p:spPr>
            <a:xfrm>
              <a:off x="5211360" y="2330280"/>
              <a:ext cx="112716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范围与取舍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0" name="Line 18"/>
            <p:cNvSpPr/>
            <p:nvPr/>
          </p:nvSpPr>
          <p:spPr>
            <a:xfrm>
              <a:off x="5952960" y="2828880"/>
              <a:ext cx="0" cy="542880"/>
            </a:xfrm>
            <a:prstGeom prst="line">
              <a:avLst/>
            </a:prstGeom>
            <a:ln w="19050">
              <a:solidFill>
                <a:srgbClr val="24364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1" name="Rectangle 19"/>
            <p:cNvSpPr/>
            <p:nvPr/>
          </p:nvSpPr>
          <p:spPr>
            <a:xfrm>
              <a:off x="5029200" y="3476520"/>
              <a:ext cx="1847520" cy="875880"/>
            </a:xfrm>
            <a:prstGeom prst="roundRect">
              <a:avLst>
                <a:gd name="adj" fmla="val 9783"/>
              </a:avLst>
            </a:prstGeom>
            <a:solidFill>
              <a:srgbClr val="EAF7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2" name="TextBox 20"/>
            <p:cNvSpPr/>
            <p:nvPr/>
          </p:nvSpPr>
          <p:spPr>
            <a:xfrm>
              <a:off x="5210640" y="3622680"/>
              <a:ext cx="12430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800" b="1" u="none" strike="noStrike">
                  <a:solidFill>
                    <a:srgbClr val="22A965"/>
                  </a:solidFill>
                  <a:effectLst/>
                  <a:uFillTx/>
                  <a:latin typeface="Arial"/>
                  <a:ea typeface="微软雅黑"/>
                </a:rPr>
                <a:t>AI</a:t>
              </a:r>
              <a:r>
                <a:rPr lang="zh-CN" sz="1800" b="1" u="none" strike="noStrike">
                  <a:solidFill>
                    <a:srgbClr val="22A965"/>
                  </a:solidFill>
                  <a:effectLst/>
                  <a:uFillTx/>
                  <a:latin typeface="Arial"/>
                  <a:ea typeface="微软雅黑"/>
                </a:rPr>
                <a:t>实施修改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3" name="TextBox 21"/>
            <p:cNvSpPr/>
            <p:nvPr/>
          </p:nvSpPr>
          <p:spPr>
            <a:xfrm>
              <a:off x="5211360" y="3959280"/>
              <a:ext cx="15714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保存、独立重开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4" name="Line 22"/>
            <p:cNvSpPr/>
            <p:nvPr/>
          </p:nvSpPr>
          <p:spPr>
            <a:xfrm flipH="1">
              <a:off x="4714560" y="3914640"/>
              <a:ext cx="209520" cy="0"/>
            </a:xfrm>
            <a:prstGeom prst="line">
              <a:avLst/>
            </a:prstGeom>
            <a:ln w="19050">
              <a:solidFill>
                <a:srgbClr val="24364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5" name="Rectangle 23"/>
            <p:cNvSpPr/>
            <p:nvPr/>
          </p:nvSpPr>
          <p:spPr>
            <a:xfrm>
              <a:off x="2762280" y="3476520"/>
              <a:ext cx="1847520" cy="875880"/>
            </a:xfrm>
            <a:prstGeom prst="roundRect">
              <a:avLst>
                <a:gd name="adj" fmla="val 9783"/>
              </a:avLst>
            </a:prstGeom>
            <a:solidFill>
              <a:srgbClr val="E9F4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6" name="TextBox 24"/>
            <p:cNvSpPr/>
            <p:nvPr/>
          </p:nvSpPr>
          <p:spPr>
            <a:xfrm>
              <a:off x="2943720" y="3622680"/>
              <a:ext cx="147168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087F8C"/>
                  </a:solidFill>
                  <a:effectLst/>
                  <a:uFillTx/>
                  <a:latin typeface="Arial"/>
                  <a:ea typeface="微软雅黑"/>
                </a:rPr>
                <a:t>形成对照回执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7" name="TextBox 25"/>
            <p:cNvSpPr/>
            <p:nvPr/>
          </p:nvSpPr>
          <p:spPr>
            <a:xfrm>
              <a:off x="2944440" y="3959280"/>
              <a:ext cx="15955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同条件</a:t>
              </a:r>
              <a:r>
                <a:rPr lang="en-US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A/B PDF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8" name="Line 26"/>
            <p:cNvSpPr/>
            <p:nvPr/>
          </p:nvSpPr>
          <p:spPr>
            <a:xfrm flipH="1">
              <a:off x="2447640" y="3914640"/>
              <a:ext cx="209520" cy="0"/>
            </a:xfrm>
            <a:prstGeom prst="line">
              <a:avLst/>
            </a:prstGeom>
            <a:ln w="19050">
              <a:solidFill>
                <a:srgbClr val="24364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9" name="Rectangle 27"/>
            <p:cNvSpPr/>
            <p:nvPr/>
          </p:nvSpPr>
          <p:spPr>
            <a:xfrm>
              <a:off x="495360" y="3476520"/>
              <a:ext cx="1847520" cy="875880"/>
            </a:xfrm>
            <a:prstGeom prst="roundRect">
              <a:avLst>
                <a:gd name="adj" fmla="val 9783"/>
              </a:avLst>
            </a:prstGeom>
            <a:solidFill>
              <a:srgbClr val="FFF2E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0" name="TextBox 28"/>
            <p:cNvSpPr/>
            <p:nvPr/>
          </p:nvSpPr>
          <p:spPr>
            <a:xfrm>
              <a:off x="676800" y="3622680"/>
              <a:ext cx="12294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人复核结果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1" name="TextBox 29"/>
            <p:cNvSpPr/>
            <p:nvPr/>
          </p:nvSpPr>
          <p:spPr>
            <a:xfrm>
              <a:off x="677520" y="3959280"/>
              <a:ext cx="15714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66758A"/>
                  </a:solidFill>
                  <a:effectLst/>
                  <a:uFillTx/>
                  <a:latin typeface="Arial"/>
                  <a:ea typeface="微软雅黑"/>
                </a:rPr>
                <a:t>认可范围、欠项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2" name="Line 32"/>
            <p:cNvSpPr/>
            <p:nvPr/>
          </p:nvSpPr>
          <p:spPr>
            <a:xfrm flipV="1">
              <a:off x="1419120" y="2828880"/>
              <a:ext cx="0" cy="542880"/>
            </a:xfrm>
            <a:prstGeom prst="line">
              <a:avLst/>
            </a:prstGeom>
            <a:ln w="19050">
              <a:solidFill>
                <a:srgbClr val="087F8C"/>
              </a:solidFill>
              <a:custDash>
                <a:ds d="250000" sp="150000"/>
              </a:custDash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3" name="TextBox 33"/>
            <p:cNvSpPr/>
            <p:nvPr/>
          </p:nvSpPr>
          <p:spPr>
            <a:xfrm>
              <a:off x="487080" y="4597560"/>
              <a:ext cx="49032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087F8C"/>
                  </a:solidFill>
                  <a:effectLst/>
                  <a:uFillTx/>
                  <a:latin typeface="Arial"/>
                  <a:ea typeface="微软雅黑"/>
                </a:rPr>
                <a:t>通过范围与未解决项分别记录，未通过继续返工。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74" name="receipt-evidence"/>
          <p:cNvGrpSpPr/>
          <p:nvPr/>
        </p:nvGrpSpPr>
        <p:grpSpPr>
          <a:xfrm>
            <a:off x="7400520" y="1797120"/>
            <a:ext cx="4058280" cy="3079440"/>
            <a:chOff x="7400520" y="1797120"/>
            <a:chExt cx="4058280" cy="3079440"/>
          </a:xfrm>
        </p:grpSpPr>
        <p:sp>
          <p:nvSpPr>
            <p:cNvPr id="575" name="TextBox 35"/>
            <p:cNvSpPr/>
            <p:nvPr/>
          </p:nvSpPr>
          <p:spPr>
            <a:xfrm>
              <a:off x="7400520" y="1797120"/>
              <a:ext cx="290700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13243A"/>
                  </a:solidFill>
                  <a:effectLst/>
                  <a:uFillTx/>
                  <a:latin typeface="Arial"/>
                  <a:ea typeface="微软雅黑"/>
                </a:rPr>
                <a:t>一次软叶微移的实际回执</a:t>
              </a:r>
              <a:endParaRPr lang="en-US" sz="19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76" name="Image 36"/>
            <p:cNvPicPr/>
            <p:nvPr/>
          </p:nvPicPr>
          <p:blipFill>
            <a:blip r:embed="rId1"/>
            <a:stretch/>
          </p:blipFill>
          <p:spPr>
            <a:xfrm>
              <a:off x="7647840" y="2181240"/>
              <a:ext cx="3810960" cy="269532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77" name="consumer-handoff"/>
          <p:cNvGrpSpPr/>
          <p:nvPr/>
        </p:nvGrpSpPr>
        <p:grpSpPr>
          <a:xfrm>
            <a:off x="495360" y="5143680"/>
            <a:ext cx="11201040" cy="1009440"/>
            <a:chOff x="495360" y="5143680"/>
            <a:chExt cx="11201040" cy="1009440"/>
          </a:xfrm>
        </p:grpSpPr>
        <p:sp>
          <p:nvSpPr>
            <p:cNvPr id="578" name="Rectangle 38"/>
            <p:cNvSpPr/>
            <p:nvPr/>
          </p:nvSpPr>
          <p:spPr>
            <a:xfrm>
              <a:off x="495360" y="5143680"/>
              <a:ext cx="11201040" cy="1009440"/>
            </a:xfrm>
            <a:prstGeom prst="roundRect">
              <a:avLst>
                <a:gd name="adj" fmla="val 8491"/>
              </a:avLst>
            </a:prstGeom>
            <a:solidFill>
              <a:srgbClr val="1324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9" name="TextBox 39"/>
            <p:cNvSpPr/>
            <p:nvPr/>
          </p:nvSpPr>
          <p:spPr>
            <a:xfrm>
              <a:off x="724320" y="5261040"/>
              <a:ext cx="3168000" cy="351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8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微软雅黑"/>
                </a:rPr>
                <a:t>回写以后，还要检查实际读取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0" name="TextBox 40"/>
            <p:cNvSpPr/>
            <p:nvPr/>
          </p:nvSpPr>
          <p:spPr>
            <a:xfrm>
              <a:off x="725040" y="5645160"/>
              <a:ext cx="21589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微软雅黑"/>
                </a:rPr>
                <a:t>工作流与项目</a:t>
              </a:r>
              <a:r>
                <a:rPr lang="en-US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微软雅黑"/>
                </a:rPr>
                <a:t>Memory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1" name="TextBox 41"/>
            <p:cNvSpPr/>
            <p:nvPr/>
          </p:nvSpPr>
          <p:spPr>
            <a:xfrm>
              <a:off x="3811320" y="5645160"/>
              <a:ext cx="26820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微软雅黑"/>
                </a:rPr>
                <a:t>生成指令、模板、工具入口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2" name="TextBox 42"/>
            <p:cNvSpPr/>
            <p:nvPr/>
          </p:nvSpPr>
          <p:spPr>
            <a:xfrm>
              <a:off x="8125920" y="5645160"/>
              <a:ext cx="223776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微软雅黑"/>
                </a:rPr>
                <a:t>已知正反例与下一任务</a:t>
              </a:r>
              <a:endParaRPr lang="en-US" sz="16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3" name="Line 43"/>
            <p:cNvSpPr/>
            <p:nvPr/>
          </p:nvSpPr>
          <p:spPr>
            <a:xfrm>
              <a:off x="3038400" y="5781600"/>
              <a:ext cx="533160" cy="0"/>
            </a:xfrm>
            <a:prstGeom prst="line">
              <a:avLst/>
            </a:prstGeom>
            <a:ln w="28575">
              <a:solidFill>
                <a:srgbClr val="087F8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4" name="Line 44"/>
            <p:cNvSpPr/>
            <p:nvPr/>
          </p:nvSpPr>
          <p:spPr>
            <a:xfrm>
              <a:off x="6953040" y="5781600"/>
              <a:ext cx="924120" cy="0"/>
            </a:xfrm>
            <a:prstGeom prst="line">
              <a:avLst/>
            </a:prstGeom>
            <a:ln w="28575">
              <a:solidFill>
                <a:srgbClr val="087F8C"/>
              </a:solidFill>
              <a:round/>
              <a:tailEnd len="lg" type="triangle" w="lg"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45000" rIns="90000" bIns="-45000" anchor="t" anchorCtr="1">
              <a:noAutofit/>
            </a:bodyPr>
            <a:p>
              <a:pPr/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header"/>
          <p:cNvGrpSpPr/>
          <p:nvPr/>
        </p:nvGrpSpPr>
        <p:grpSpPr>
          <a:xfrm>
            <a:off x="478440" y="422280"/>
            <a:ext cx="6244560" cy="973080"/>
            <a:chOff x="478440" y="422280"/>
            <a:chExt cx="6244560" cy="973080"/>
          </a:xfrm>
        </p:grpSpPr>
        <p:sp>
          <p:nvSpPr>
            <p:cNvPr id="586" name="TextBox 2"/>
            <p:cNvSpPr/>
            <p:nvPr/>
          </p:nvSpPr>
          <p:spPr>
            <a:xfrm>
              <a:off x="478440" y="422280"/>
              <a:ext cx="4031280" cy="645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33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阶段进展与后续验证</a:t>
              </a:r>
              <a:endParaRPr lang="en-US" sz="33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7" name="TextBox 3"/>
            <p:cNvSpPr/>
            <p:nvPr/>
          </p:nvSpPr>
          <p:spPr>
            <a:xfrm>
              <a:off x="487080" y="1073160"/>
              <a:ext cx="62359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已有流程证据支持方法检查，跨任务复用与产品性能仍需验证。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88" name="status-layers"/>
          <p:cNvGrpSpPr/>
          <p:nvPr/>
        </p:nvGrpSpPr>
        <p:grpSpPr>
          <a:xfrm>
            <a:off x="495360" y="1743120"/>
            <a:ext cx="11201040" cy="1952280"/>
            <a:chOff x="495360" y="1743120"/>
            <a:chExt cx="11201040" cy="1952280"/>
          </a:xfrm>
        </p:grpSpPr>
        <p:sp>
          <p:nvSpPr>
            <p:cNvPr id="589" name="Rectangle 5"/>
            <p:cNvSpPr/>
            <p:nvPr/>
          </p:nvSpPr>
          <p:spPr>
            <a:xfrm>
              <a:off x="495360" y="1743120"/>
              <a:ext cx="3428640" cy="1952280"/>
            </a:xfrm>
            <a:prstGeom prst="roundRect">
              <a:avLst>
                <a:gd name="adj" fmla="val 4878"/>
              </a:avLst>
            </a:prstGeom>
            <a:solidFill>
              <a:srgbClr val="2034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0" name="TextBox 6"/>
            <p:cNvSpPr/>
            <p:nvPr/>
          </p:nvSpPr>
          <p:spPr>
            <a:xfrm>
              <a:off x="713880" y="1863720"/>
              <a:ext cx="211968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67CBB8"/>
                  </a:solidFill>
                  <a:effectLst/>
                  <a:uFillTx/>
                  <a:latin typeface="Arial"/>
                  <a:ea typeface="Microsoft YaHei"/>
                </a:rPr>
                <a:t>主项目已用的方法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1" name="TextBox 7"/>
            <p:cNvSpPr/>
            <p:nvPr/>
          </p:nvSpPr>
          <p:spPr>
            <a:xfrm>
              <a:off x="715680" y="2368440"/>
              <a:ext cx="306900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US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RAG</a:t>
              </a: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检索、概念前置、工具执行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2" name="TextBox 8"/>
            <p:cNvSpPr/>
            <p:nvPr/>
          </p:nvSpPr>
          <p:spPr>
            <a:xfrm>
              <a:off x="715680" y="2730600"/>
              <a:ext cx="312624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保存重开、审核回执、规则回写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3" name="TextBox 9"/>
            <p:cNvSpPr/>
            <p:nvPr/>
          </p:nvSpPr>
          <p:spPr>
            <a:xfrm>
              <a:off x="717120" y="3244680"/>
              <a:ext cx="25578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流程记录可核查，产品仍待验收</a:t>
              </a:r>
              <a:endParaRPr lang="en-US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4" name="Rectangle 10"/>
            <p:cNvSpPr/>
            <p:nvPr/>
          </p:nvSpPr>
          <p:spPr>
            <a:xfrm>
              <a:off x="4381560" y="1743120"/>
              <a:ext cx="3428640" cy="1952280"/>
            </a:xfrm>
            <a:prstGeom prst="roundRect">
              <a:avLst>
                <a:gd name="adj" fmla="val 4878"/>
              </a:avLst>
            </a:prstGeom>
            <a:solidFill>
              <a:srgbClr val="2034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5" name="TextBox 11"/>
            <p:cNvSpPr/>
            <p:nvPr/>
          </p:nvSpPr>
          <p:spPr>
            <a:xfrm>
              <a:off x="4600080" y="1863720"/>
              <a:ext cx="159444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82A0FF"/>
                  </a:solidFill>
                  <a:effectLst/>
                  <a:uFillTx/>
                  <a:latin typeface="Arial"/>
                  <a:ea typeface="Microsoft YaHei"/>
                </a:rPr>
                <a:t>独立试验结果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6" name="TextBox 12"/>
            <p:cNvSpPr/>
            <p:nvPr/>
          </p:nvSpPr>
          <p:spPr>
            <a:xfrm>
              <a:off x="4601880" y="2368440"/>
              <a:ext cx="302616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形态</a:t>
              </a:r>
              <a:r>
                <a:rPr lang="en-US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/</a:t>
              </a: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场景拆分、需求覆盖选择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7" name="TextBox 13"/>
            <p:cNvSpPr/>
            <p:nvPr/>
          </p:nvSpPr>
          <p:spPr>
            <a:xfrm>
              <a:off x="4601880" y="2730600"/>
              <a:ext cx="24598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图文用途与尺寸归属审核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8" name="TextBox 14"/>
            <p:cNvSpPr/>
            <p:nvPr/>
          </p:nvSpPr>
          <p:spPr>
            <a:xfrm>
              <a:off x="4603320" y="3244680"/>
              <a:ext cx="23760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尚未全部迁入主项目自动路径</a:t>
              </a:r>
              <a:endParaRPr lang="en-US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9" name="Rectangle 15"/>
            <p:cNvSpPr/>
            <p:nvPr/>
          </p:nvSpPr>
          <p:spPr>
            <a:xfrm>
              <a:off x="8267760" y="1743120"/>
              <a:ext cx="3428640" cy="1952280"/>
            </a:xfrm>
            <a:prstGeom prst="roundRect">
              <a:avLst>
                <a:gd name="adj" fmla="val 4878"/>
              </a:avLst>
            </a:prstGeom>
            <a:solidFill>
              <a:srgbClr val="20344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pPr/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0" name="TextBox 16"/>
            <p:cNvSpPr/>
            <p:nvPr/>
          </p:nvSpPr>
          <p:spPr>
            <a:xfrm>
              <a:off x="8486280" y="1863720"/>
              <a:ext cx="159444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1" u="none" strike="noStrike">
                  <a:solidFill>
                    <a:srgbClr val="F1BD70"/>
                  </a:solidFill>
                  <a:effectLst/>
                  <a:uFillTx/>
                  <a:latin typeface="Arial"/>
                  <a:ea typeface="Microsoft YaHei"/>
                </a:rPr>
                <a:t>待验证的问题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1" name="TextBox 17"/>
            <p:cNvSpPr/>
            <p:nvPr/>
          </p:nvSpPr>
          <p:spPr>
            <a:xfrm>
              <a:off x="8488080" y="2368440"/>
              <a:ext cx="25819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效率</a:t>
              </a:r>
              <a:r>
                <a:rPr lang="en-US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/</a:t>
              </a: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设计质量的因果提升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2" name="TextBox 18"/>
            <p:cNvSpPr/>
            <p:nvPr/>
          </p:nvSpPr>
          <p:spPr>
            <a:xfrm>
              <a:off x="8488080" y="2730600"/>
              <a:ext cx="29041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真实舒适、稳定、材料与制造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3" name="TextBox 19"/>
            <p:cNvSpPr/>
            <p:nvPr/>
          </p:nvSpPr>
          <p:spPr>
            <a:xfrm>
              <a:off x="8489520" y="3244680"/>
              <a:ext cx="2012400" cy="263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3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效率需对照，性能需实测</a:t>
              </a:r>
              <a:endParaRPr lang="en-US" sz="13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4" name="next-research"/>
          <p:cNvGrpSpPr/>
          <p:nvPr/>
        </p:nvGrpSpPr>
        <p:grpSpPr>
          <a:xfrm>
            <a:off x="483120" y="4213080"/>
            <a:ext cx="10912320" cy="1982880"/>
            <a:chOff x="483120" y="4213080"/>
            <a:chExt cx="10912320" cy="1982880"/>
          </a:xfrm>
        </p:grpSpPr>
        <p:sp>
          <p:nvSpPr>
            <p:cNvPr id="605" name="TextBox 21"/>
            <p:cNvSpPr/>
            <p:nvPr/>
          </p:nvSpPr>
          <p:spPr>
            <a:xfrm>
              <a:off x="483120" y="4213080"/>
              <a:ext cx="2608560" cy="469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2400" b="1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下一轮的验证安排</a:t>
              </a:r>
              <a:endParaRPr lang="en-US" sz="24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6" name="TextBox 22"/>
            <p:cNvSpPr/>
            <p:nvPr/>
          </p:nvSpPr>
          <p:spPr>
            <a:xfrm>
              <a:off x="485280" y="4778280"/>
              <a:ext cx="264456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换一组需求与产品任务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7" name="TextBox 23"/>
            <p:cNvSpPr/>
            <p:nvPr/>
          </p:nvSpPr>
          <p:spPr>
            <a:xfrm>
              <a:off x="4581000" y="4778280"/>
              <a:ext cx="316944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记录错误、返工与资料缺口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8" name="TextBox 24"/>
            <p:cNvSpPr/>
            <p:nvPr/>
          </p:nvSpPr>
          <p:spPr>
            <a:xfrm>
              <a:off x="8934120" y="4778280"/>
              <a:ext cx="2119680" cy="380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950" b="0" u="none" strike="noStrike">
                  <a:solidFill>
                    <a:srgbClr val="FFFFFF"/>
                  </a:solidFill>
                  <a:effectLst/>
                  <a:uFillTx/>
                  <a:latin typeface="Arial"/>
                  <a:ea typeface="Microsoft YaHei"/>
                </a:rPr>
                <a:t>统一标准开展对照</a:t>
              </a:r>
              <a:endPara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9" name="TextBox 25"/>
            <p:cNvSpPr/>
            <p:nvPr/>
          </p:nvSpPr>
          <p:spPr>
            <a:xfrm>
              <a:off x="487080" y="5245200"/>
              <a:ext cx="24598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检查特征提取和规则复用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0" name="TextBox 26"/>
            <p:cNvSpPr/>
            <p:nvPr/>
          </p:nvSpPr>
          <p:spPr>
            <a:xfrm>
              <a:off x="4582800" y="5245200"/>
              <a:ext cx="24598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追踪规则读取与失效情况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1" name="TextBox 27"/>
            <p:cNvSpPr/>
            <p:nvPr/>
          </p:nvSpPr>
          <p:spPr>
            <a:xfrm>
              <a:off x="8935560" y="5245200"/>
              <a:ext cx="245988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BAC9DE"/>
                  </a:solidFill>
                  <a:effectLst/>
                  <a:uFillTx/>
                  <a:latin typeface="Arial"/>
                  <a:ea typeface="Microsoft YaHei"/>
                </a:rPr>
                <a:t>试戴与工程测试分别开展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12" name="TextBox 28"/>
            <p:cNvSpPr/>
            <p:nvPr/>
          </p:nvSpPr>
          <p:spPr>
            <a:xfrm>
              <a:off x="487080" y="5873760"/>
              <a:ext cx="8457120" cy="32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0" tIns="0" rIns="0" bIns="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zh-CN" sz="1650" b="0" u="none" strike="noStrike">
                  <a:solidFill>
                    <a:srgbClr val="F1BD70"/>
                  </a:solidFill>
                  <a:effectLst/>
                  <a:uFillTx/>
                  <a:latin typeface="Arial"/>
                  <a:ea typeface="Microsoft YaHei"/>
                </a:rPr>
                <a:t>产品进度：姿态精修暂缓，接合待复核，后续多视图与造型回归待开展，原欠项保留。</a:t>
              </a:r>
              <a:endParaRPr lang="en-US" sz="165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3" name="footer-label"/>
          <p:cNvSpPr/>
          <p:nvPr/>
        </p:nvSpPr>
        <p:spPr>
          <a:xfrm>
            <a:off x="488520" y="6407280"/>
            <a:ext cx="437508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350" b="0" u="none" strike="noStrike">
                <a:solidFill>
                  <a:srgbClr val="BAC9DE"/>
                </a:solidFill>
                <a:effectLst/>
                <a:uFillTx/>
                <a:latin typeface="Arial"/>
                <a:ea typeface="Microsoft YaHei"/>
              </a:rPr>
              <a:t>方法应用、用户验收、产品性能与跨任务验证分别记录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4" name="page-number"/>
          <p:cNvSpPr/>
          <p:nvPr/>
        </p:nvSpPr>
        <p:spPr>
          <a:xfrm>
            <a:off x="11489760" y="6407280"/>
            <a:ext cx="213120" cy="263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noAutofit/>
          </a:bodyPr>
          <a:p>
            <a:pPr algn="r" defTabSz="457200">
              <a:lnSpc>
                <a:spcPct val="100000"/>
              </a:lnSpc>
            </a:pPr>
            <a:r>
              <a:rPr lang="en-US" sz="1350" b="0" u="none" strike="noStrike">
                <a:solidFill>
                  <a:srgbClr val="BAC9DE"/>
                </a:solidFill>
                <a:effectLst/>
                <a:uFillTx/>
                <a:latin typeface="Arial"/>
                <a:ea typeface="Arial"/>
              </a:rPr>
              <a:t>14</a:t>
            </a:r>
            <a:endParaRPr lang="en-US" sz="13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ai-workflow-report">
  <a:themeElements>
    <a:clrScheme name="ai-workflow-report">
      <a:dk1>
        <a:srgbClr val="24364C"/>
      </a:dk1>
      <a:lt1>
        <a:srgbClr val="FFFFFF"/>
      </a:lt1>
      <a:dk2>
        <a:srgbClr val="1F497D"/>
      </a:dk2>
      <a:lt2>
        <a:srgbClr val="FFFFFF"/>
      </a:lt2>
      <a:accent1>
        <a:srgbClr val="13243A"/>
      </a:accent1>
      <a:accent2>
        <a:srgbClr val="3662EA"/>
      </a:accent2>
      <a:accent3>
        <a:srgbClr val="3662EA"/>
      </a:accent3>
      <a:accent4>
        <a:srgbClr val="13243A"/>
      </a:accent4>
      <a:accent5>
        <a:srgbClr val="F7F8FC"/>
      </a:accent5>
      <a:accent6>
        <a:srgbClr val="8B5CF6"/>
      </a:accent6>
      <a:hlink>
        <a:srgbClr val="3662EA"/>
      </a:hlink>
      <a:folHlink>
        <a:srgbClr val="3662EA"/>
      </a:folHlink>
    </a:clrScheme>
    <a:fontScheme name="ai-workflow-report">
      <a:majorFont>
        <a:latin typeface="Arial" pitchFamily="0" charset="1"/>
        <a:ea typeface="Microsoft YaHei" pitchFamily="0" charset="1"/>
        <a:cs typeface="Arial" pitchFamily="0" charset="1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itchFamily="0" charset="1"/>
        <a:ea typeface="Microsoft YaHei" pitchFamily="0" charset="1"/>
        <a:cs typeface="Arial" pitchFamily="0" charset="1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LibreOffice/26.8.0.3$Windows_X86_64 LibreOffice_project/bce0998afefdbc355585ca324285661a2170ba77</Application>
  <AppVersion>15.0000</AppVersion>
  <Words>4021</Words>
  <Paragraphs>741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2026-10-05T05:37:00Z</dcterms:created>
  <dc:creator/>
  <dc:description/>
  <dc:language>en-US</dc:language>
  <cp:lastModifiedBy>无羁.</cp:lastModifiedBy>
  <dcterms:modified xsi:type="dcterms:W3CDTF">2026-10-05T09:26:01Z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9789CAEDCF8240608A02AD6845FCDB37_12</vt:lpwstr>
  </property>
  <property fmtid="{D5CDD505-2E9C-101B-9397-08002B2CF9AE}" pid="3" name="KSOProductBuildVer">
    <vt:lpwstr>2052-12.1.0.28505</vt:lpwstr>
  </property>
  <property fmtid="{D5CDD505-2E9C-101B-9397-08002B2CF9AE}" pid="4" name="PresentationFormat">
    <vt:lpwstr>On-screen Show (16:9)</vt:lpwstr>
  </property>
  <property fmtid="{D5CDD505-2E9C-101B-9397-08002B2CF9AE}" pid="5" name="Slides">
    <vt:i4>13</vt:i4>
  </property>
</Properties>
</file>