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2q/weQ7NrHHunKBMwxcIdvHBu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C296E5-4685-40E7-A592-16E1309CADE4}">
  <a:tblStyle styleId="{9AC296E5-4685-40E7-A592-16E1309CADE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f9c6fad91c_1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f9c6fad91c_1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 name="Google Shape;18;g3f9c6fad91c_1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g3f9c857b24b_0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 name="Google Shape;23;g3f9c857b24b_0_2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g3f9c857b24b_0_2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9c857b24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9c857b24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f9c857b24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9c857b24b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9c857b24b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problem, plainly. A scan says how big and what shape an ear is. It cannot say what to build. We already tried designing straight from numbers - space around the ear, how far it sticks out, how much room to leave - and got objects that passed every rule and were not earphones. Adding more numbers makes that worse, not better. The ear data should be a boundary for size, direction and placement only.</a:t>
            </a:r>
            <a:endParaRPr/>
          </a:p>
        </p:txBody>
      </p:sp>
      <p:sp>
        <p:nvSpPr>
          <p:cNvPr id="160" name="Google Shape;160;g3f9c857b24b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9c857b24b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f9c857b24b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fix, plainly. Build a searchable scrapbook of real earphones so the system knows what it is designing and why before it makes a shape. Every line in an entry carries a label for how much to trust it. The material is public: maker sites, shop listings and reviews, design press and licensed 3D files. Then work in three steps - say what we want in plain words, show a person a few different looks, and only then build a first CAD of the outside. Battery, acoustics, comfort and per-person fit are layered in after the look is agreed.</a:t>
            </a:r>
            <a:endParaRPr/>
          </a:p>
        </p:txBody>
      </p:sp>
      <p:sp>
        <p:nvSpPr>
          <p:cNvPr id="201" name="Google Shape;201;g3f9c857b24b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9c857b24b_18_3: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f9c857b24b_18_3:notes"/>
          <p:cNvSpPr/>
          <p:nvPr>
            <p:ph idx="2" type="sldImg"/>
          </p:nvPr>
        </p:nvSpPr>
        <p:spPr>
          <a:xfrm>
            <a:off x="990815" y="914400"/>
            <a:ext cx="48771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Walkthrough of Zhang et al., Sensors 2026, 26(11):3493 - an annotation-free pipeline that builds a 3D atlas and statistical shape model of the auricular bowl from 50 surface scans.</a:t>
            </a:r>
            <a:endParaRPr/>
          </a:p>
        </p:txBody>
      </p:sp>
      <p:sp>
        <p:nvSpPr>
          <p:cNvPr id="262" name="Google Shape;26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access under CC BY, so the full text is freely available via Europe PMC.</a:t>
            </a:r>
            <a:endParaRPr/>
          </a:p>
        </p:txBody>
      </p:sp>
      <p:sp>
        <p:nvSpPr>
          <p:cNvPr id="271" name="Google Shape;27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Merged from the objective and problem-statement pages. The three claims map onto the result blocks later in the deck.</a:t>
            </a:r>
            <a:endParaRPr/>
          </a:p>
        </p:txBody>
      </p:sp>
      <p:sp>
        <p:nvSpPr>
          <p:cNvPr id="286" name="Google Shape;2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scope caveat matters for anyone reusing these dimensions: the region is larger than the literal concha bowl.</a:t>
            </a:r>
            <a:endParaRPr/>
          </a:p>
        </p:txBody>
      </p:sp>
      <p:sp>
        <p:nvSpPr>
          <p:cNvPr id="313" name="Google Shape;3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right-ear-only limitation is the one most likely to bite anyone reusing this atlas.</a:t>
            </a:r>
            <a:endParaRPr/>
          </a:p>
        </p:txBody>
      </p:sp>
      <p:sp>
        <p:nvSpPr>
          <p:cNvPr id="329" name="Google Shape;3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pass of the outer loop runs ICP to full convergence internally. Both are "iterative", which is where the confusion comes from.</a:t>
            </a:r>
            <a:endParaRPr/>
          </a:p>
        </p:txBody>
      </p:sp>
      <p:sp>
        <p:nvSpPr>
          <p:cNvPr id="351" name="Google Shape;35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 = 1 decision is what makes the resulting shape model usable for absolute dimensions rather than shape only.</a:t>
            </a:r>
            <a:endParaRPr/>
          </a:p>
        </p:txBody>
      </p:sp>
      <p:sp>
        <p:nvSpPr>
          <p:cNvPr id="414" name="Google Shape;4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FPS is the crux of the annotation-free claim. BiTPS is what actually removes shape difference.</a:t>
            </a:r>
            <a:endParaRPr/>
          </a:p>
        </p:txBody>
      </p:sp>
      <p:sp>
        <p:nvSpPr>
          <p:cNvPr id="425" name="Google Shape;4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Correspondence and atlas quality bootstrap each other across the five iterations.</a:t>
            </a:r>
            <a:endParaRPr/>
          </a:p>
        </p:txBody>
      </p:sp>
      <p:sp>
        <p:nvSpPr>
          <p:cNvPr id="441" name="Google Shape;4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scanner-resolution comparison is the key takeaway: registration residual is now close to the limit of what the measurement itself can resolve.</a:t>
            </a:r>
            <a:endParaRPr/>
          </a:p>
        </p:txBody>
      </p:sp>
      <p:sp>
        <p:nvSpPr>
          <p:cNvPr id="450" name="Google Shape;4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1" name="Shape 11"/>
        <p:cNvGrpSpPr/>
        <p:nvPr/>
      </p:nvGrpSpPr>
      <p:grpSpPr>
        <a:xfrm>
          <a:off x="0" y="0"/>
          <a:ext cx="0" cy="0"/>
          <a:chOff x="0" y="0"/>
          <a:chExt cx="0" cy="0"/>
        </a:xfrm>
      </p:grpSpPr>
      <p:sp>
        <p:nvSpPr>
          <p:cNvPr id="12" name="Google Shape;12;g3f9c857b24b_18_103"/>
          <p:cNvSpPr txBox="1"/>
          <p:nvPr>
            <p:ph idx="10" type="dt"/>
          </p:nvPr>
        </p:nvSpPr>
        <p:spPr>
          <a:xfrm>
            <a:off x="489600" y="4735800"/>
            <a:ext cx="2160000" cy="237600"/>
          </a:xfrm>
          <a:prstGeom prst="rect">
            <a:avLst/>
          </a:prstGeom>
          <a:noFill/>
          <a:ln>
            <a:noFill/>
          </a:ln>
        </p:spPr>
        <p:txBody>
          <a:bodyPr anchorCtr="0" anchor="ctr" bIns="35800" lIns="71625" spcFirstLastPara="1" rIns="71625" wrap="square" tIns="35800">
            <a:norm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3" name="Google Shape;13;g3f9c857b24b_18_103"/>
          <p:cNvSpPr txBox="1"/>
          <p:nvPr>
            <p:ph idx="11" type="ftr"/>
          </p:nvPr>
        </p:nvSpPr>
        <p:spPr>
          <a:xfrm>
            <a:off x="3292800" y="4735800"/>
            <a:ext cx="3168000" cy="237600"/>
          </a:xfrm>
          <a:prstGeom prst="rect">
            <a:avLst/>
          </a:prstGeom>
          <a:noFill/>
          <a:ln>
            <a:noFill/>
          </a:ln>
        </p:spPr>
        <p:txBody>
          <a:bodyPr anchorCtr="0" anchor="ctr" bIns="35800" lIns="71625" spcFirstLastPara="1" rIns="71625" wrap="square" tIns="35800">
            <a:norm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4" name="Google Shape;14;g3f9c857b24b_18_103"/>
          <p:cNvSpPr txBox="1"/>
          <p:nvPr>
            <p:ph idx="12" type="sldNum"/>
          </p:nvPr>
        </p:nvSpPr>
        <p:spPr>
          <a:xfrm>
            <a:off x="7102080" y="4735800"/>
            <a:ext cx="2160000" cy="237600"/>
          </a:xfrm>
          <a:prstGeom prst="rect">
            <a:avLst/>
          </a:prstGeom>
          <a:noFill/>
          <a:ln>
            <a:noFill/>
          </a:ln>
        </p:spPr>
        <p:txBody>
          <a:bodyPr anchorCtr="0" anchor="ctr" bIns="35800" lIns="71625" spcFirstLastPara="1" rIns="71625" wrap="square" tIns="35800">
            <a:normAutofit lnSpcReduction="10000"/>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g3f9c6fad91c_1_22"/>
          <p:cNvSpPr txBox="1"/>
          <p:nvPr/>
        </p:nvSpPr>
        <p:spPr>
          <a:xfrm>
            <a:off x="640080" y="1920240"/>
            <a:ext cx="10241400" cy="17373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5282D"/>
              </a:buClr>
              <a:buSzPts val="4600"/>
              <a:buFont typeface="Cambria"/>
              <a:buNone/>
            </a:pPr>
            <a:r>
              <a:rPr b="1" lang="en-US" sz="4600">
                <a:solidFill>
                  <a:srgbClr val="15282D"/>
                </a:solidFill>
                <a:latin typeface="Cambria"/>
                <a:ea typeface="Cambria"/>
                <a:cs typeface="Cambria"/>
                <a:sym typeface="Cambria"/>
              </a:rPr>
              <a:t>Overall </a:t>
            </a:r>
            <a:r>
              <a:rPr b="1" lang="en-US" sz="4600">
                <a:solidFill>
                  <a:srgbClr val="15282D"/>
                </a:solidFill>
                <a:latin typeface="Cambria"/>
                <a:ea typeface="Cambria"/>
                <a:cs typeface="Cambria"/>
                <a:sym typeface="Cambria"/>
              </a:rPr>
              <a:t>Earphone Design Flow</a:t>
            </a:r>
            <a:endParaRPr b="0" i="0" sz="4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g3f9c857b24b_0_274"/>
          <p:cNvSpPr/>
          <p:nvPr/>
        </p:nvSpPr>
        <p:spPr>
          <a:xfrm>
            <a:off x="566928" y="3246120"/>
            <a:ext cx="2880300" cy="1847100"/>
          </a:xfrm>
          <a:prstGeom prst="roundRect">
            <a:avLst>
              <a:gd fmla="val 3960" name="adj"/>
            </a:avLst>
          </a:prstGeom>
          <a:solidFill>
            <a:srgbClr val="F4F8F8"/>
          </a:solidFill>
          <a:ln cap="flat" cmpd="sng" w="15225">
            <a:solidFill>
              <a:srgbClr val="C3D6D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f9c857b24b_0_274"/>
          <p:cNvSpPr txBox="1"/>
          <p:nvPr/>
        </p:nvSpPr>
        <p:spPr>
          <a:xfrm>
            <a:off x="658368" y="3291840"/>
            <a:ext cx="2697600" cy="201300"/>
          </a:xfrm>
          <a:prstGeom prst="rect">
            <a:avLst/>
          </a:prstGeom>
          <a:noFill/>
          <a:ln>
            <a:noFill/>
          </a:ln>
        </p:spPr>
        <p:txBody>
          <a:bodyPr anchorCtr="0" anchor="ctr" bIns="0" lIns="0" spcFirstLastPara="1" rIns="0" wrap="square" tIns="0">
            <a:noAutofit/>
          </a:bodyPr>
          <a:lstStyle/>
          <a:p>
            <a:pPr indent="0" lvl="0" marL="0" marR="0" rtl="0" algn="l">
              <a:lnSpc>
                <a:spcPct val="122222"/>
              </a:lnSpc>
              <a:spcBef>
                <a:spcPts val="0"/>
              </a:spcBef>
              <a:spcAft>
                <a:spcPts val="0"/>
              </a:spcAft>
              <a:buClr>
                <a:srgbClr val="A9772A"/>
              </a:buClr>
              <a:buSzPts val="900"/>
              <a:buFont typeface="Calibri"/>
              <a:buNone/>
            </a:pPr>
            <a:r>
              <a:rPr b="1" i="0" lang="en-US" sz="900" u="none" cap="none" strike="noStrike">
                <a:solidFill>
                  <a:srgbClr val="A9772A"/>
                </a:solidFill>
                <a:latin typeface="Calibri"/>
                <a:ea typeface="Calibri"/>
                <a:cs typeface="Calibri"/>
                <a:sym typeface="Calibri"/>
              </a:rPr>
              <a:t>PRIOR KNOWLEDGE BASE</a:t>
            </a:r>
            <a:endParaRPr b="0" i="0" sz="900" u="none" cap="none" strike="noStrike">
              <a:solidFill>
                <a:srgbClr val="000000"/>
              </a:solidFill>
              <a:latin typeface="Calibri"/>
              <a:ea typeface="Calibri"/>
              <a:cs typeface="Calibri"/>
              <a:sym typeface="Calibri"/>
            </a:endParaRPr>
          </a:p>
        </p:txBody>
      </p:sp>
      <p:sp>
        <p:nvSpPr>
          <p:cNvPr id="28" name="Google Shape;28;g3f9c857b24b_0_274"/>
          <p:cNvSpPr/>
          <p:nvPr/>
        </p:nvSpPr>
        <p:spPr>
          <a:xfrm>
            <a:off x="658368" y="3529584"/>
            <a:ext cx="2697600" cy="255900"/>
          </a:xfrm>
          <a:prstGeom prst="roundRect">
            <a:avLst>
              <a:gd fmla="val 21429" name="adj"/>
            </a:avLst>
          </a:prstGeom>
          <a:solidFill>
            <a:srgbClr val="F7EBD6"/>
          </a:solidFill>
          <a:ln cap="flat" cmpd="sng" w="15225">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g3f9c857b24b_0_274"/>
          <p:cNvSpPr txBox="1"/>
          <p:nvPr/>
        </p:nvSpPr>
        <p:spPr>
          <a:xfrm>
            <a:off x="694944" y="3529584"/>
            <a:ext cx="2624400" cy="255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0" i="0" lang="en-US" sz="720" u="none" cap="none" strike="noStrike">
                <a:solidFill>
                  <a:srgbClr val="15282D"/>
                </a:solidFill>
                <a:latin typeface="Calibri"/>
                <a:ea typeface="Calibri"/>
                <a:cs typeface="Calibri"/>
                <a:sym typeface="Calibri"/>
              </a:rPr>
              <a:t>Human Factors / Anatomy</a:t>
            </a:r>
            <a:endParaRPr b="0" i="0" sz="720" u="none" cap="none" strike="noStrike">
              <a:solidFill>
                <a:srgbClr val="000000"/>
              </a:solidFill>
              <a:latin typeface="Calibri"/>
              <a:ea typeface="Calibri"/>
              <a:cs typeface="Calibri"/>
              <a:sym typeface="Calibri"/>
            </a:endParaRPr>
          </a:p>
        </p:txBody>
      </p:sp>
      <p:sp>
        <p:nvSpPr>
          <p:cNvPr id="30" name="Google Shape;30;g3f9c857b24b_0_274"/>
          <p:cNvSpPr/>
          <p:nvPr/>
        </p:nvSpPr>
        <p:spPr>
          <a:xfrm>
            <a:off x="658368" y="3822192"/>
            <a:ext cx="2697600" cy="255900"/>
          </a:xfrm>
          <a:prstGeom prst="roundRect">
            <a:avLst>
              <a:gd fmla="val 21429" name="adj"/>
            </a:avLst>
          </a:prstGeom>
          <a:solidFill>
            <a:srgbClr val="F7EBD6"/>
          </a:solidFill>
          <a:ln cap="flat" cmpd="sng" w="15225">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3f9c857b24b_0_274"/>
          <p:cNvSpPr txBox="1"/>
          <p:nvPr/>
        </p:nvSpPr>
        <p:spPr>
          <a:xfrm>
            <a:off x="694944" y="3822192"/>
            <a:ext cx="2624400" cy="255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0" i="0" lang="en-US" sz="720" u="none" cap="none" strike="noStrike">
                <a:solidFill>
                  <a:srgbClr val="15282D"/>
                </a:solidFill>
                <a:latin typeface="Calibri"/>
                <a:ea typeface="Calibri"/>
                <a:cs typeface="Calibri"/>
                <a:sym typeface="Calibri"/>
              </a:rPr>
              <a:t>Commercial Benchmarks &amp; Patents</a:t>
            </a:r>
            <a:endParaRPr b="0" i="0" sz="720" u="none" cap="none" strike="noStrike">
              <a:solidFill>
                <a:srgbClr val="000000"/>
              </a:solidFill>
              <a:latin typeface="Calibri"/>
              <a:ea typeface="Calibri"/>
              <a:cs typeface="Calibri"/>
              <a:sym typeface="Calibri"/>
            </a:endParaRPr>
          </a:p>
        </p:txBody>
      </p:sp>
      <p:sp>
        <p:nvSpPr>
          <p:cNvPr id="32" name="Google Shape;32;g3f9c857b24b_0_274"/>
          <p:cNvSpPr/>
          <p:nvPr/>
        </p:nvSpPr>
        <p:spPr>
          <a:xfrm>
            <a:off x="658368" y="4114800"/>
            <a:ext cx="2697600" cy="255900"/>
          </a:xfrm>
          <a:prstGeom prst="roundRect">
            <a:avLst>
              <a:gd fmla="val 21429" name="adj"/>
            </a:avLst>
          </a:prstGeom>
          <a:solidFill>
            <a:srgbClr val="F7EBD6"/>
          </a:solidFill>
          <a:ln cap="flat" cmpd="sng" w="15225">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f9c857b24b_0_274"/>
          <p:cNvSpPr txBox="1"/>
          <p:nvPr/>
        </p:nvSpPr>
        <p:spPr>
          <a:xfrm>
            <a:off x="694944" y="4114800"/>
            <a:ext cx="2624400" cy="255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0" i="0" lang="en-US" sz="720" u="none" cap="none" strike="noStrike">
                <a:solidFill>
                  <a:srgbClr val="15282D"/>
                </a:solidFill>
                <a:latin typeface="Calibri"/>
                <a:ea typeface="Calibri"/>
                <a:cs typeface="Calibri"/>
                <a:sym typeface="Calibri"/>
              </a:rPr>
              <a:t>Manufacturability Rules</a:t>
            </a:r>
            <a:endParaRPr b="0" i="0" sz="720" u="none" cap="none" strike="noStrike">
              <a:solidFill>
                <a:srgbClr val="000000"/>
              </a:solidFill>
              <a:latin typeface="Calibri"/>
              <a:ea typeface="Calibri"/>
              <a:cs typeface="Calibri"/>
              <a:sym typeface="Calibri"/>
            </a:endParaRPr>
          </a:p>
        </p:txBody>
      </p:sp>
      <p:sp>
        <p:nvSpPr>
          <p:cNvPr id="34" name="Google Shape;34;g3f9c857b24b_0_274"/>
          <p:cNvSpPr/>
          <p:nvPr/>
        </p:nvSpPr>
        <p:spPr>
          <a:xfrm>
            <a:off x="658368" y="4407408"/>
            <a:ext cx="2697600" cy="384000"/>
          </a:xfrm>
          <a:prstGeom prst="roundRect">
            <a:avLst>
              <a:gd fmla="val 14286" name="adj"/>
            </a:avLst>
          </a:prstGeom>
          <a:solidFill>
            <a:srgbClr val="EBD9B4"/>
          </a:solidFill>
          <a:ln cap="flat" cmpd="sng" w="15225">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f9c857b24b_0_274"/>
          <p:cNvSpPr txBox="1"/>
          <p:nvPr/>
        </p:nvSpPr>
        <p:spPr>
          <a:xfrm>
            <a:off x="694944" y="4407408"/>
            <a:ext cx="2624400" cy="3840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Real Wearing Relationship</a:t>
            </a:r>
            <a:endParaRPr b="0" i="0" sz="720" u="none" cap="none" strike="noStrike">
              <a:solidFill>
                <a:srgbClr val="000000"/>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Pose / Contact Distribution</a:t>
            </a:r>
            <a:endParaRPr b="0" i="0" sz="720" u="none" cap="none" strike="noStrike">
              <a:solidFill>
                <a:srgbClr val="000000"/>
              </a:solidFill>
              <a:latin typeface="Calibri"/>
              <a:ea typeface="Calibri"/>
              <a:cs typeface="Calibri"/>
              <a:sym typeface="Calibri"/>
            </a:endParaRPr>
          </a:p>
        </p:txBody>
      </p:sp>
      <p:sp>
        <p:nvSpPr>
          <p:cNvPr id="36" name="Google Shape;36;g3f9c857b24b_0_274"/>
          <p:cNvSpPr txBox="1"/>
          <p:nvPr/>
        </p:nvSpPr>
        <p:spPr>
          <a:xfrm>
            <a:off x="457200" y="182880"/>
            <a:ext cx="7498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82D"/>
              </a:buClr>
              <a:buSzPts val="2000"/>
              <a:buFont typeface="Cambria"/>
              <a:buNone/>
            </a:pPr>
            <a:r>
              <a:rPr b="1" i="0" lang="en-US" sz="2000" u="none" cap="none" strike="noStrike">
                <a:solidFill>
                  <a:srgbClr val="15282D"/>
                </a:solidFill>
                <a:latin typeface="Cambria"/>
                <a:ea typeface="Cambria"/>
                <a:cs typeface="Cambria"/>
                <a:sym typeface="Cambria"/>
              </a:rPr>
              <a:t>Agent-Driven Parametric Earphone Design Pipeline</a:t>
            </a:r>
            <a:endParaRPr b="0" i="0" sz="2000" u="none" cap="none" strike="noStrike">
              <a:solidFill>
                <a:schemeClr val="dk1"/>
              </a:solidFill>
              <a:latin typeface="Calibri"/>
              <a:ea typeface="Calibri"/>
              <a:cs typeface="Calibri"/>
              <a:sym typeface="Calibri"/>
            </a:endParaRPr>
          </a:p>
        </p:txBody>
      </p:sp>
      <p:sp>
        <p:nvSpPr>
          <p:cNvPr id="37" name="Google Shape;37;g3f9c857b24b_0_274"/>
          <p:cNvSpPr/>
          <p:nvPr/>
        </p:nvSpPr>
        <p:spPr>
          <a:xfrm>
            <a:off x="566928" y="868680"/>
            <a:ext cx="2880300" cy="2212800"/>
          </a:xfrm>
          <a:prstGeom prst="roundRect">
            <a:avLst>
              <a:gd fmla="val 3306" name="adj"/>
            </a:avLst>
          </a:prstGeom>
          <a:solidFill>
            <a:srgbClr val="F4F8F8"/>
          </a:solidFill>
          <a:ln cap="flat" cmpd="sng" w="15225">
            <a:solidFill>
              <a:srgbClr val="C3D6D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f9c857b24b_0_274"/>
          <p:cNvSpPr txBox="1"/>
          <p:nvPr/>
        </p:nvSpPr>
        <p:spPr>
          <a:xfrm>
            <a:off x="658368" y="914400"/>
            <a:ext cx="2697600" cy="201300"/>
          </a:xfrm>
          <a:prstGeom prst="rect">
            <a:avLst/>
          </a:prstGeom>
          <a:noFill/>
          <a:ln>
            <a:noFill/>
          </a:ln>
        </p:spPr>
        <p:txBody>
          <a:bodyPr anchorCtr="0" anchor="ctr" bIns="0" lIns="0" spcFirstLastPara="1" rIns="0" wrap="square" tIns="0">
            <a:noAutofit/>
          </a:bodyPr>
          <a:lstStyle/>
          <a:p>
            <a:pPr indent="0" lvl="0" marL="0" marR="0" rtl="0" algn="l">
              <a:lnSpc>
                <a:spcPct val="122222"/>
              </a:lnSpc>
              <a:spcBef>
                <a:spcPts val="0"/>
              </a:spcBef>
              <a:spcAft>
                <a:spcPts val="0"/>
              </a:spcAft>
              <a:buClr>
                <a:srgbClr val="0E6A74"/>
              </a:buClr>
              <a:buSzPts val="900"/>
              <a:buFont typeface="Calibri"/>
              <a:buNone/>
            </a:pPr>
            <a:r>
              <a:rPr b="1" i="0" lang="en-US" sz="900" u="none" cap="none" strike="noStrike">
                <a:solidFill>
                  <a:srgbClr val="0E6A74"/>
                </a:solidFill>
                <a:latin typeface="Calibri"/>
                <a:ea typeface="Calibri"/>
                <a:cs typeface="Calibri"/>
                <a:sym typeface="Calibri"/>
              </a:rPr>
              <a:t>INPUT LAYER</a:t>
            </a:r>
            <a:endParaRPr b="0" i="0" sz="900" u="none" cap="none" strike="noStrike">
              <a:solidFill>
                <a:schemeClr val="dk1"/>
              </a:solidFill>
              <a:latin typeface="Calibri"/>
              <a:ea typeface="Calibri"/>
              <a:cs typeface="Calibri"/>
              <a:sym typeface="Calibri"/>
            </a:endParaRPr>
          </a:p>
        </p:txBody>
      </p:sp>
      <p:sp>
        <p:nvSpPr>
          <p:cNvPr id="39" name="Google Shape;39;g3f9c857b24b_0_274"/>
          <p:cNvSpPr/>
          <p:nvPr/>
        </p:nvSpPr>
        <p:spPr>
          <a:xfrm>
            <a:off x="658368" y="1152144"/>
            <a:ext cx="1312200" cy="274200"/>
          </a:xfrm>
          <a:prstGeom prst="roundRect">
            <a:avLst>
              <a:gd fmla="val 20000" name="adj"/>
            </a:avLst>
          </a:prstGeom>
          <a:solidFill>
            <a:srgbClr val="E4EDF5"/>
          </a:solidFill>
          <a:ln cap="flat" cmpd="sng" w="15225">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g3f9c857b24b_0_274"/>
          <p:cNvSpPr txBox="1"/>
          <p:nvPr/>
        </p:nvSpPr>
        <p:spPr>
          <a:xfrm>
            <a:off x="694944" y="1152144"/>
            <a:ext cx="1239000" cy="2742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0" i="0" lang="en-US" sz="720" u="none" cap="none" strike="noStrike">
                <a:solidFill>
                  <a:srgbClr val="15282D"/>
                </a:solidFill>
                <a:latin typeface="Calibri"/>
                <a:ea typeface="Calibri"/>
                <a:cs typeface="Calibri"/>
                <a:sym typeface="Calibri"/>
              </a:rPr>
              <a:t>Requirement Specs</a:t>
            </a:r>
            <a:endParaRPr b="0" i="0" sz="720" u="none" cap="none" strike="noStrike">
              <a:solidFill>
                <a:schemeClr val="dk1"/>
              </a:solidFill>
              <a:latin typeface="Calibri"/>
              <a:ea typeface="Calibri"/>
              <a:cs typeface="Calibri"/>
              <a:sym typeface="Calibri"/>
            </a:endParaRPr>
          </a:p>
        </p:txBody>
      </p:sp>
      <p:sp>
        <p:nvSpPr>
          <p:cNvPr id="41" name="Google Shape;41;g3f9c857b24b_0_274"/>
          <p:cNvSpPr/>
          <p:nvPr/>
        </p:nvSpPr>
        <p:spPr>
          <a:xfrm>
            <a:off x="2043684" y="1152144"/>
            <a:ext cx="1312200" cy="274200"/>
          </a:xfrm>
          <a:prstGeom prst="roundRect">
            <a:avLst>
              <a:gd fmla="val 20000" name="adj"/>
            </a:avLst>
          </a:prstGeom>
          <a:solidFill>
            <a:srgbClr val="E4EDF5"/>
          </a:solidFill>
          <a:ln cap="flat" cmpd="sng" w="15225">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f9c857b24b_0_274"/>
          <p:cNvSpPr txBox="1"/>
          <p:nvPr/>
        </p:nvSpPr>
        <p:spPr>
          <a:xfrm>
            <a:off x="2080260" y="1152144"/>
            <a:ext cx="1239000" cy="2742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0" i="0" lang="en-US" sz="720" u="none" cap="none" strike="noStrike">
                <a:solidFill>
                  <a:srgbClr val="15282D"/>
                </a:solidFill>
                <a:latin typeface="Calibri"/>
                <a:ea typeface="Calibri"/>
                <a:cs typeface="Calibri"/>
                <a:sym typeface="Calibri"/>
              </a:rPr>
              <a:t>Constraints</a:t>
            </a:r>
            <a:endParaRPr b="0" i="0" sz="720" u="none" cap="none" strike="noStrike">
              <a:solidFill>
                <a:schemeClr val="dk1"/>
              </a:solidFill>
              <a:latin typeface="Calibri"/>
              <a:ea typeface="Calibri"/>
              <a:cs typeface="Calibri"/>
              <a:sym typeface="Calibri"/>
            </a:endParaRPr>
          </a:p>
        </p:txBody>
      </p:sp>
      <p:sp>
        <p:nvSpPr>
          <p:cNvPr id="43" name="Google Shape;43;g3f9c857b24b_0_274"/>
          <p:cNvSpPr txBox="1"/>
          <p:nvPr/>
        </p:nvSpPr>
        <p:spPr>
          <a:xfrm>
            <a:off x="658368" y="1481328"/>
            <a:ext cx="2697600" cy="183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E7FB0"/>
              </a:buClr>
              <a:buSzPts val="800"/>
              <a:buFont typeface="Calibri"/>
              <a:buNone/>
            </a:pPr>
            <a:r>
              <a:rPr b="1" i="0" lang="en-US" sz="800" u="none" cap="none" strike="noStrike">
                <a:solidFill>
                  <a:srgbClr val="4E7FB0"/>
                </a:solidFill>
                <a:latin typeface="Calibri"/>
                <a:ea typeface="Calibri"/>
                <a:cs typeface="Calibri"/>
                <a:sym typeface="Calibri"/>
              </a:rPr>
              <a:t>3D Scan Data Sources</a:t>
            </a:r>
            <a:endParaRPr b="0" i="0" sz="800" u="none" cap="none" strike="noStrike">
              <a:solidFill>
                <a:schemeClr val="dk1"/>
              </a:solidFill>
              <a:latin typeface="Calibri"/>
              <a:ea typeface="Calibri"/>
              <a:cs typeface="Calibri"/>
              <a:sym typeface="Calibri"/>
            </a:endParaRPr>
          </a:p>
        </p:txBody>
      </p:sp>
      <p:sp>
        <p:nvSpPr>
          <p:cNvPr id="44" name="Google Shape;44;g3f9c857b24b_0_274"/>
          <p:cNvSpPr/>
          <p:nvPr/>
        </p:nvSpPr>
        <p:spPr>
          <a:xfrm>
            <a:off x="658368" y="1700784"/>
            <a:ext cx="2697600" cy="329100"/>
          </a:xfrm>
          <a:prstGeom prst="roundRect">
            <a:avLst>
              <a:gd fmla="val 16667" name="adj"/>
            </a:avLst>
          </a:prstGeom>
          <a:solidFill>
            <a:srgbClr val="E4EDF5"/>
          </a:solidFill>
          <a:ln cap="flat" cmpd="sng" w="15225">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f9c857b24b_0_274"/>
          <p:cNvSpPr txBox="1"/>
          <p:nvPr/>
        </p:nvSpPr>
        <p:spPr>
          <a:xfrm>
            <a:off x="694944" y="1700784"/>
            <a:ext cx="2624400" cy="329100"/>
          </a:xfrm>
          <a:prstGeom prst="rect">
            <a:avLst/>
          </a:prstGeom>
          <a:noFill/>
          <a:ln>
            <a:noFill/>
          </a:ln>
        </p:spPr>
        <p:txBody>
          <a:bodyPr anchorCtr="0" anchor="ctr" bIns="0" lIns="0" spcFirstLastPara="1" rIns="0" wrap="square" tIns="0">
            <a:noAutofit/>
          </a:bodyPr>
          <a:lstStyle/>
          <a:p>
            <a:pPr indent="0" lvl="0" marL="0" marR="0" rtl="0" algn="ctr">
              <a:lnSpc>
                <a:spcPct val="132352"/>
              </a:lnSpc>
              <a:spcBef>
                <a:spcPts val="0"/>
              </a:spcBef>
              <a:spcAft>
                <a:spcPts val="0"/>
              </a:spcAft>
              <a:buClr>
                <a:srgbClr val="15282D"/>
              </a:buClr>
              <a:buSzPts val="680"/>
              <a:buFont typeface="Calibri"/>
              <a:buNone/>
            </a:pPr>
            <a:r>
              <a:rPr b="0" i="0" lang="en-US" sz="680" u="none" cap="none" strike="noStrike">
                <a:solidFill>
                  <a:srgbClr val="15282D"/>
                </a:solidFill>
                <a:latin typeface="Calibri"/>
                <a:ea typeface="Calibri"/>
                <a:cs typeface="Calibri"/>
                <a:sym typeface="Calibri"/>
              </a:rPr>
              <a:t>Physical Product Scan</a:t>
            </a:r>
            <a:endParaRPr b="0" i="0" sz="680" u="none" cap="none" strike="noStrike">
              <a:solidFill>
                <a:schemeClr val="dk1"/>
              </a:solidFill>
              <a:latin typeface="Calibri"/>
              <a:ea typeface="Calibri"/>
              <a:cs typeface="Calibri"/>
              <a:sym typeface="Calibri"/>
            </a:endParaRPr>
          </a:p>
          <a:p>
            <a:pPr indent="0" lvl="0" marL="0" marR="0" rtl="0" algn="ctr">
              <a:lnSpc>
                <a:spcPct val="132352"/>
              </a:lnSpc>
              <a:spcBef>
                <a:spcPts val="0"/>
              </a:spcBef>
              <a:spcAft>
                <a:spcPts val="0"/>
              </a:spcAft>
              <a:buClr>
                <a:srgbClr val="15282D"/>
              </a:buClr>
              <a:buSzPts val="680"/>
              <a:buFont typeface="Calibri"/>
              <a:buNone/>
            </a:pPr>
            <a:r>
              <a:rPr b="0" i="0" lang="en-US" sz="680" u="none" cap="none" strike="noStrike">
                <a:solidFill>
                  <a:srgbClr val="15282D"/>
                </a:solidFill>
                <a:latin typeface="Calibri"/>
                <a:ea typeface="Calibri"/>
                <a:cs typeface="Calibri"/>
                <a:sym typeface="Calibri"/>
              </a:rPr>
              <a:t>Existing Commercial Earphones</a:t>
            </a:r>
            <a:endParaRPr b="0" i="0" sz="680" u="none" cap="none" strike="noStrike">
              <a:solidFill>
                <a:schemeClr val="dk1"/>
              </a:solidFill>
              <a:latin typeface="Calibri"/>
              <a:ea typeface="Calibri"/>
              <a:cs typeface="Calibri"/>
              <a:sym typeface="Calibri"/>
            </a:endParaRPr>
          </a:p>
        </p:txBody>
      </p:sp>
      <p:sp>
        <p:nvSpPr>
          <p:cNvPr id="46" name="Google Shape;46;g3f9c857b24b_0_274"/>
          <p:cNvSpPr/>
          <p:nvPr/>
        </p:nvSpPr>
        <p:spPr>
          <a:xfrm>
            <a:off x="658368" y="2066544"/>
            <a:ext cx="2697600" cy="329100"/>
          </a:xfrm>
          <a:prstGeom prst="roundRect">
            <a:avLst>
              <a:gd fmla="val 16667" name="adj"/>
            </a:avLst>
          </a:prstGeom>
          <a:solidFill>
            <a:srgbClr val="E4EDF5"/>
          </a:solidFill>
          <a:ln cap="flat" cmpd="sng" w="15225">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f9c857b24b_0_274"/>
          <p:cNvSpPr txBox="1"/>
          <p:nvPr/>
        </p:nvSpPr>
        <p:spPr>
          <a:xfrm>
            <a:off x="694944" y="2066544"/>
            <a:ext cx="2624400" cy="329100"/>
          </a:xfrm>
          <a:prstGeom prst="rect">
            <a:avLst/>
          </a:prstGeom>
          <a:noFill/>
          <a:ln>
            <a:noFill/>
          </a:ln>
        </p:spPr>
        <p:txBody>
          <a:bodyPr anchorCtr="0" anchor="ctr" bIns="0" lIns="0" spcFirstLastPara="1" rIns="0" wrap="square" tIns="0">
            <a:noAutofit/>
          </a:bodyPr>
          <a:lstStyle/>
          <a:p>
            <a:pPr indent="0" lvl="0" marL="0" marR="0" rtl="0" algn="ctr">
              <a:lnSpc>
                <a:spcPct val="132352"/>
              </a:lnSpc>
              <a:spcBef>
                <a:spcPts val="0"/>
              </a:spcBef>
              <a:spcAft>
                <a:spcPts val="0"/>
              </a:spcAft>
              <a:buClr>
                <a:srgbClr val="15282D"/>
              </a:buClr>
              <a:buSzPts val="680"/>
              <a:buFont typeface="Calibri"/>
              <a:buNone/>
            </a:pPr>
            <a:r>
              <a:rPr b="0" i="0" lang="en-US" sz="680" u="none" cap="none" strike="noStrike">
                <a:solidFill>
                  <a:srgbClr val="15282D"/>
                </a:solidFill>
                <a:latin typeface="Calibri"/>
                <a:ea typeface="Calibri"/>
                <a:cs typeface="Calibri"/>
                <a:sym typeface="Calibri"/>
              </a:rPr>
              <a:t>Individual Ear Mold Scan</a:t>
            </a:r>
            <a:endParaRPr b="0" i="0" sz="680" u="none" cap="none" strike="noStrike">
              <a:solidFill>
                <a:schemeClr val="dk1"/>
              </a:solidFill>
              <a:latin typeface="Calibri"/>
              <a:ea typeface="Calibri"/>
              <a:cs typeface="Calibri"/>
              <a:sym typeface="Calibri"/>
            </a:endParaRPr>
          </a:p>
          <a:p>
            <a:pPr indent="0" lvl="0" marL="0" marR="0" rtl="0" algn="ctr">
              <a:lnSpc>
                <a:spcPct val="132352"/>
              </a:lnSpc>
              <a:spcBef>
                <a:spcPts val="0"/>
              </a:spcBef>
              <a:spcAft>
                <a:spcPts val="0"/>
              </a:spcAft>
              <a:buClr>
                <a:srgbClr val="15282D"/>
              </a:buClr>
              <a:buSzPts val="680"/>
              <a:buFont typeface="Calibri"/>
              <a:buNone/>
            </a:pPr>
            <a:r>
              <a:rPr b="0" i="0" lang="en-US" sz="680" u="none" cap="none" strike="noStrike">
                <a:solidFill>
                  <a:srgbClr val="15282D"/>
                </a:solidFill>
                <a:latin typeface="Calibri"/>
                <a:ea typeface="Calibri"/>
                <a:cs typeface="Calibri"/>
                <a:sym typeface="Calibri"/>
              </a:rPr>
              <a:t>Team Members’ Ear Molds</a:t>
            </a:r>
            <a:endParaRPr b="0" i="0" sz="680" u="none" cap="none" strike="noStrike">
              <a:solidFill>
                <a:schemeClr val="dk1"/>
              </a:solidFill>
              <a:latin typeface="Calibri"/>
              <a:ea typeface="Calibri"/>
              <a:cs typeface="Calibri"/>
              <a:sym typeface="Calibri"/>
            </a:endParaRPr>
          </a:p>
        </p:txBody>
      </p:sp>
      <p:sp>
        <p:nvSpPr>
          <p:cNvPr id="48" name="Google Shape;48;g3f9c857b24b_0_274"/>
          <p:cNvSpPr/>
          <p:nvPr/>
        </p:nvSpPr>
        <p:spPr>
          <a:xfrm>
            <a:off x="658368" y="2432304"/>
            <a:ext cx="2697600" cy="402300"/>
          </a:xfrm>
          <a:prstGeom prst="roundRect">
            <a:avLst>
              <a:gd fmla="val 13636" name="adj"/>
            </a:avLst>
          </a:prstGeom>
          <a:solidFill>
            <a:srgbClr val="CFE0F0"/>
          </a:solidFill>
          <a:ln cap="flat" cmpd="sng" w="15225">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f9c857b24b_0_274"/>
          <p:cNvSpPr txBox="1"/>
          <p:nvPr/>
        </p:nvSpPr>
        <p:spPr>
          <a:xfrm>
            <a:off x="694944" y="2432304"/>
            <a:ext cx="2624400" cy="402300"/>
          </a:xfrm>
          <a:prstGeom prst="rect">
            <a:avLst/>
          </a:prstGeom>
          <a:noFill/>
          <a:ln>
            <a:noFill/>
          </a:ln>
        </p:spPr>
        <p:txBody>
          <a:bodyPr anchorCtr="0" anchor="ctr" bIns="0" lIns="0" spcFirstLastPara="1" rIns="0" wrap="square" tIns="0">
            <a:noAutofit/>
          </a:bodyPr>
          <a:lstStyle/>
          <a:p>
            <a:pPr indent="0" lvl="0" marL="0" marR="0" rtl="0" algn="ctr">
              <a:lnSpc>
                <a:spcPct val="132352"/>
              </a:lnSpc>
              <a:spcBef>
                <a:spcPts val="0"/>
              </a:spcBef>
              <a:spcAft>
                <a:spcPts val="0"/>
              </a:spcAft>
              <a:buClr>
                <a:srgbClr val="15282D"/>
              </a:buClr>
              <a:buSzPts val="680"/>
              <a:buFont typeface="Calibri"/>
              <a:buNone/>
            </a:pPr>
            <a:r>
              <a:rPr b="1" i="0" lang="en-US" sz="680" u="none" cap="none" strike="noStrike">
                <a:solidFill>
                  <a:srgbClr val="15282D"/>
                </a:solidFill>
                <a:latin typeface="Calibri"/>
                <a:ea typeface="Calibri"/>
                <a:cs typeface="Calibri"/>
                <a:sym typeface="Calibri"/>
              </a:rPr>
              <a:t>Combined Scan: Ear Mold + Product Worn</a:t>
            </a:r>
            <a:endParaRPr b="0" i="0" sz="680" u="none" cap="none" strike="noStrike">
              <a:solidFill>
                <a:schemeClr val="dk1"/>
              </a:solidFill>
              <a:latin typeface="Calibri"/>
              <a:ea typeface="Calibri"/>
              <a:cs typeface="Calibri"/>
              <a:sym typeface="Calibri"/>
            </a:endParaRPr>
          </a:p>
          <a:p>
            <a:pPr indent="0" lvl="0" marL="0" marR="0" rtl="0" algn="ctr">
              <a:lnSpc>
                <a:spcPct val="132352"/>
              </a:lnSpc>
              <a:spcBef>
                <a:spcPts val="0"/>
              </a:spcBef>
              <a:spcAft>
                <a:spcPts val="0"/>
              </a:spcAft>
              <a:buClr>
                <a:srgbClr val="15282D"/>
              </a:buClr>
              <a:buSzPts val="680"/>
              <a:buFont typeface="Calibri"/>
              <a:buNone/>
            </a:pPr>
            <a:r>
              <a:rPr b="1" i="0" lang="en-US" sz="680" u="none" cap="none" strike="noStrike">
                <a:solidFill>
                  <a:srgbClr val="15282D"/>
                </a:solidFill>
                <a:latin typeface="Calibri"/>
                <a:ea typeface="Calibri"/>
                <a:cs typeface="Calibri"/>
                <a:sym typeface="Calibri"/>
              </a:rPr>
              <a:t>→ Real Wearing Pose</a:t>
            </a:r>
            <a:endParaRPr b="0" i="0" sz="680" u="none" cap="none" strike="noStrike">
              <a:solidFill>
                <a:schemeClr val="dk1"/>
              </a:solidFill>
              <a:latin typeface="Calibri"/>
              <a:ea typeface="Calibri"/>
              <a:cs typeface="Calibri"/>
              <a:sym typeface="Calibri"/>
            </a:endParaRPr>
          </a:p>
        </p:txBody>
      </p:sp>
      <p:sp>
        <p:nvSpPr>
          <p:cNvPr id="50" name="Google Shape;50;g3f9c857b24b_0_274"/>
          <p:cNvSpPr/>
          <p:nvPr/>
        </p:nvSpPr>
        <p:spPr>
          <a:xfrm>
            <a:off x="402336" y="1857146"/>
            <a:ext cx="2559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3f9c857b24b_0_274"/>
          <p:cNvSpPr/>
          <p:nvPr/>
        </p:nvSpPr>
        <p:spPr>
          <a:xfrm>
            <a:off x="394106" y="1865376"/>
            <a:ext cx="16500" cy="20847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f9c857b24b_0_274"/>
          <p:cNvSpPr/>
          <p:nvPr/>
        </p:nvSpPr>
        <p:spPr>
          <a:xfrm>
            <a:off x="402336" y="3941978"/>
            <a:ext cx="2103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3f9c857b24b_0_274"/>
          <p:cNvSpPr/>
          <p:nvPr/>
        </p:nvSpPr>
        <p:spPr>
          <a:xfrm>
            <a:off x="534924" y="3886200"/>
            <a:ext cx="155400" cy="128100"/>
          </a:xfrm>
          <a:prstGeom prst="rightArrow">
            <a:avLst>
              <a:gd fmla="val 50000" name="adj1"/>
              <a:gd fmla="val 50000" name="adj2"/>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3f9c857b24b_0_274"/>
          <p:cNvSpPr/>
          <p:nvPr/>
        </p:nvSpPr>
        <p:spPr>
          <a:xfrm>
            <a:off x="237744" y="2625242"/>
            <a:ext cx="4206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f9c857b24b_0_274"/>
          <p:cNvSpPr/>
          <p:nvPr/>
        </p:nvSpPr>
        <p:spPr>
          <a:xfrm>
            <a:off x="229514" y="2633472"/>
            <a:ext cx="16500" cy="19659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3f9c857b24b_0_274"/>
          <p:cNvSpPr/>
          <p:nvPr/>
        </p:nvSpPr>
        <p:spPr>
          <a:xfrm>
            <a:off x="237744" y="4591202"/>
            <a:ext cx="3750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f9c857b24b_0_274"/>
          <p:cNvSpPr/>
          <p:nvPr/>
        </p:nvSpPr>
        <p:spPr>
          <a:xfrm>
            <a:off x="534924" y="4535424"/>
            <a:ext cx="155400" cy="128100"/>
          </a:xfrm>
          <a:prstGeom prst="rightArrow">
            <a:avLst>
              <a:gd fmla="val 50000" name="adj1"/>
              <a:gd fmla="val 50000" name="adj2"/>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f9c857b24b_0_274"/>
          <p:cNvSpPr/>
          <p:nvPr/>
        </p:nvSpPr>
        <p:spPr>
          <a:xfrm>
            <a:off x="3703320" y="932688"/>
            <a:ext cx="1261800" cy="1225200"/>
          </a:xfrm>
          <a:prstGeom prst="roundRect">
            <a:avLst>
              <a:gd fmla="val 4478" name="adj"/>
            </a:avLst>
          </a:prstGeom>
          <a:solidFill>
            <a:srgbClr val="E3F0F1"/>
          </a:solidFill>
          <a:ln cap="flat" cmpd="sng" w="15225">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f9c857b24b_0_274"/>
          <p:cNvSpPr txBox="1"/>
          <p:nvPr/>
        </p:nvSpPr>
        <p:spPr>
          <a:xfrm>
            <a:off x="3739896" y="932688"/>
            <a:ext cx="1188600" cy="12252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800"/>
              <a:buFont typeface="Calibri"/>
              <a:buNone/>
            </a:pPr>
            <a:r>
              <a:rPr b="1" i="0" lang="en-US" sz="800" u="none" cap="none" strike="noStrike">
                <a:solidFill>
                  <a:srgbClr val="15282D"/>
                </a:solidFill>
                <a:latin typeface="Calibri"/>
                <a:ea typeface="Calibri"/>
                <a:cs typeface="Calibri"/>
                <a:sym typeface="Calibri"/>
              </a:rPr>
              <a:t>Agent Planner</a:t>
            </a:r>
            <a:endParaRPr b="0" i="0" sz="8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800"/>
              <a:buFont typeface="Calibri"/>
              <a:buNone/>
            </a:pPr>
            <a:r>
              <a:rPr b="1" i="0" lang="en-US" sz="800" u="none" cap="none" strike="noStrike">
                <a:solidFill>
                  <a:srgbClr val="15282D"/>
                </a:solidFill>
                <a:latin typeface="Calibri"/>
                <a:ea typeface="Calibri"/>
                <a:cs typeface="Calibri"/>
                <a:sym typeface="Calibri"/>
              </a:rPr>
              <a:t>Requirements →</a:t>
            </a:r>
            <a:endParaRPr b="0" i="0" sz="8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800"/>
              <a:buFont typeface="Calibri"/>
              <a:buNone/>
            </a:pPr>
            <a:r>
              <a:rPr b="1" i="0" lang="en-US" sz="800" u="none" cap="none" strike="noStrike">
                <a:solidFill>
                  <a:srgbClr val="15282D"/>
                </a:solidFill>
                <a:latin typeface="Calibri"/>
                <a:ea typeface="Calibri"/>
                <a:cs typeface="Calibri"/>
                <a:sym typeface="Calibri"/>
              </a:rPr>
              <a:t>Parametric Design Intent</a:t>
            </a:r>
            <a:endParaRPr b="0" i="0" sz="800" u="none" cap="none" strike="noStrike">
              <a:solidFill>
                <a:schemeClr val="dk1"/>
              </a:solidFill>
              <a:latin typeface="Calibri"/>
              <a:ea typeface="Calibri"/>
              <a:cs typeface="Calibri"/>
              <a:sym typeface="Calibri"/>
            </a:endParaRPr>
          </a:p>
        </p:txBody>
      </p:sp>
      <p:sp>
        <p:nvSpPr>
          <p:cNvPr id="60" name="Google Shape;60;g3f9c857b24b_0_274"/>
          <p:cNvSpPr/>
          <p:nvPr/>
        </p:nvSpPr>
        <p:spPr>
          <a:xfrm>
            <a:off x="5102352" y="932688"/>
            <a:ext cx="1261800" cy="1225200"/>
          </a:xfrm>
          <a:prstGeom prst="roundRect">
            <a:avLst>
              <a:gd fmla="val 4478" name="adj"/>
            </a:avLst>
          </a:prstGeom>
          <a:solidFill>
            <a:srgbClr val="FFFFFF"/>
          </a:solidFill>
          <a:ln cap="flat" cmpd="sng" w="15225">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3f9c857b24b_0_274"/>
          <p:cNvSpPr txBox="1"/>
          <p:nvPr/>
        </p:nvSpPr>
        <p:spPr>
          <a:xfrm>
            <a:off x="5138928" y="932688"/>
            <a:ext cx="1188600" cy="1225200"/>
          </a:xfrm>
          <a:prstGeom prst="rect">
            <a:avLst/>
          </a:prstGeom>
          <a:noFill/>
          <a:ln>
            <a:noFill/>
          </a:ln>
        </p:spPr>
        <p:txBody>
          <a:bodyPr anchorCtr="0" anchor="ctr" bIns="0" lIns="0" spcFirstLastPara="1" rIns="0" wrap="square" tIns="0">
            <a:noAutofit/>
          </a:bodyPr>
          <a:lstStyle/>
          <a:p>
            <a:pPr indent="0" lvl="0" marL="0" marR="0" rtl="0" algn="ctr">
              <a:lnSpc>
                <a:spcPct val="127907"/>
              </a:lnSpc>
              <a:spcBef>
                <a:spcPts val="0"/>
              </a:spcBef>
              <a:spcAft>
                <a:spcPts val="0"/>
              </a:spcAft>
              <a:buClr>
                <a:srgbClr val="15282D"/>
              </a:buClr>
              <a:buSzPts val="860"/>
              <a:buFont typeface="Calibri"/>
              <a:buNone/>
            </a:pPr>
            <a:r>
              <a:rPr b="0" i="0" lang="en-US" sz="860" u="none" cap="none" strike="noStrike">
                <a:solidFill>
                  <a:srgbClr val="15282D"/>
                </a:solidFill>
                <a:latin typeface="Calibri"/>
                <a:ea typeface="Calibri"/>
                <a:cs typeface="Calibri"/>
                <a:sym typeface="Calibri"/>
              </a:rPr>
              <a:t>Parameter Set</a:t>
            </a:r>
            <a:endParaRPr b="0" i="0" sz="860" u="none" cap="none" strike="noStrike">
              <a:solidFill>
                <a:schemeClr val="dk1"/>
              </a:solidFill>
              <a:latin typeface="Calibri"/>
              <a:ea typeface="Calibri"/>
              <a:cs typeface="Calibri"/>
              <a:sym typeface="Calibri"/>
            </a:endParaRPr>
          </a:p>
          <a:p>
            <a:pPr indent="0" lvl="0" marL="0" marR="0" rtl="0" algn="ctr">
              <a:lnSpc>
                <a:spcPct val="127907"/>
              </a:lnSpc>
              <a:spcBef>
                <a:spcPts val="0"/>
              </a:spcBef>
              <a:spcAft>
                <a:spcPts val="0"/>
              </a:spcAft>
              <a:buClr>
                <a:srgbClr val="15282D"/>
              </a:buClr>
              <a:buSzPts val="860"/>
              <a:buFont typeface="Calibri"/>
              <a:buNone/>
            </a:pPr>
            <a:r>
              <a:rPr b="0" i="0" lang="en-US" sz="860" u="none" cap="none" strike="noStrike">
                <a:solidFill>
                  <a:srgbClr val="15282D"/>
                </a:solidFill>
                <a:latin typeface="Calibri"/>
                <a:ea typeface="Calibri"/>
                <a:cs typeface="Calibri"/>
                <a:sym typeface="Calibri"/>
              </a:rPr>
              <a:t>Generation</a:t>
            </a:r>
            <a:endParaRPr b="0" i="0" sz="860" u="none" cap="none" strike="noStrike">
              <a:solidFill>
                <a:schemeClr val="dk1"/>
              </a:solidFill>
              <a:latin typeface="Calibri"/>
              <a:ea typeface="Calibri"/>
              <a:cs typeface="Calibri"/>
              <a:sym typeface="Calibri"/>
            </a:endParaRPr>
          </a:p>
        </p:txBody>
      </p:sp>
      <p:sp>
        <p:nvSpPr>
          <p:cNvPr id="62" name="Google Shape;62;g3f9c857b24b_0_274"/>
          <p:cNvSpPr/>
          <p:nvPr/>
        </p:nvSpPr>
        <p:spPr>
          <a:xfrm>
            <a:off x="6501384" y="932688"/>
            <a:ext cx="1261800" cy="1225200"/>
          </a:xfrm>
          <a:prstGeom prst="roundRect">
            <a:avLst>
              <a:gd fmla="val 4478" name="adj"/>
            </a:avLst>
          </a:prstGeom>
          <a:solidFill>
            <a:srgbClr val="E3F0F1"/>
          </a:solidFill>
          <a:ln cap="flat" cmpd="sng" w="15225">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f9c857b24b_0_274"/>
          <p:cNvSpPr txBox="1"/>
          <p:nvPr/>
        </p:nvSpPr>
        <p:spPr>
          <a:xfrm>
            <a:off x="6537960" y="932688"/>
            <a:ext cx="1188600" cy="1225200"/>
          </a:xfrm>
          <a:prstGeom prst="rect">
            <a:avLst/>
          </a:prstGeom>
          <a:noFill/>
          <a:ln>
            <a:noFill/>
          </a:ln>
        </p:spPr>
        <p:txBody>
          <a:bodyPr anchorCtr="0" anchor="ctr" bIns="0" lIns="0" spcFirstLastPara="1" rIns="0" wrap="square" tIns="0">
            <a:noAutofit/>
          </a:bodyPr>
          <a:lstStyle/>
          <a:p>
            <a:pPr indent="0" lvl="0" marL="0" marR="0" rtl="0" algn="ctr">
              <a:lnSpc>
                <a:spcPct val="128205"/>
              </a:lnSpc>
              <a:spcBef>
                <a:spcPts val="0"/>
              </a:spcBef>
              <a:spcAft>
                <a:spcPts val="0"/>
              </a:spcAft>
              <a:buClr>
                <a:srgbClr val="15282D"/>
              </a:buClr>
              <a:buSzPts val="780"/>
              <a:buFont typeface="Calibri"/>
              <a:buNone/>
            </a:pPr>
            <a:r>
              <a:rPr b="0" i="0" lang="en-US" sz="780" u="none" cap="none" strike="noStrike">
                <a:solidFill>
                  <a:srgbClr val="15282D"/>
                </a:solidFill>
                <a:latin typeface="Calibri"/>
                <a:ea typeface="Calibri"/>
                <a:cs typeface="Calibri"/>
                <a:sym typeface="Calibri"/>
              </a:rPr>
              <a:t>FreeCAD Execution Layer</a:t>
            </a:r>
            <a:endParaRPr b="0" i="0" sz="780" u="none" cap="none" strike="noStrike">
              <a:solidFill>
                <a:schemeClr val="dk1"/>
              </a:solidFill>
              <a:latin typeface="Calibri"/>
              <a:ea typeface="Calibri"/>
              <a:cs typeface="Calibri"/>
              <a:sym typeface="Calibri"/>
            </a:endParaRPr>
          </a:p>
          <a:p>
            <a:pPr indent="0" lvl="0" marL="0" marR="0" rtl="0" algn="ctr">
              <a:lnSpc>
                <a:spcPct val="128205"/>
              </a:lnSpc>
              <a:spcBef>
                <a:spcPts val="0"/>
              </a:spcBef>
              <a:spcAft>
                <a:spcPts val="0"/>
              </a:spcAft>
              <a:buClr>
                <a:srgbClr val="15282D"/>
              </a:buClr>
              <a:buSzPts val="780"/>
              <a:buFont typeface="Calibri"/>
              <a:buNone/>
            </a:pPr>
            <a:r>
              <a:rPr b="0" i="0" lang="en-US" sz="780" u="none" cap="none" strike="noStrike">
                <a:solidFill>
                  <a:srgbClr val="15282D"/>
                </a:solidFill>
                <a:latin typeface="Calibri"/>
                <a:ea typeface="Calibri"/>
                <a:cs typeface="Calibri"/>
                <a:sym typeface="Calibri"/>
              </a:rPr>
              <a:t>MCP Toolchain /</a:t>
            </a:r>
            <a:endParaRPr b="0" i="0" sz="780" u="none" cap="none" strike="noStrike">
              <a:solidFill>
                <a:schemeClr val="dk1"/>
              </a:solidFill>
              <a:latin typeface="Calibri"/>
              <a:ea typeface="Calibri"/>
              <a:cs typeface="Calibri"/>
              <a:sym typeface="Calibri"/>
            </a:endParaRPr>
          </a:p>
          <a:p>
            <a:pPr indent="0" lvl="0" marL="0" marR="0" rtl="0" algn="ctr">
              <a:lnSpc>
                <a:spcPct val="128205"/>
              </a:lnSpc>
              <a:spcBef>
                <a:spcPts val="0"/>
              </a:spcBef>
              <a:spcAft>
                <a:spcPts val="0"/>
              </a:spcAft>
              <a:buClr>
                <a:srgbClr val="15282D"/>
              </a:buClr>
              <a:buSzPts val="780"/>
              <a:buFont typeface="Calibri"/>
              <a:buNone/>
            </a:pPr>
            <a:r>
              <a:rPr b="0" i="0" lang="en-US" sz="780" u="none" cap="none" strike="noStrike">
                <a:solidFill>
                  <a:srgbClr val="15282D"/>
                </a:solidFill>
                <a:latin typeface="Calibri"/>
                <a:ea typeface="Calibri"/>
                <a:cs typeface="Calibri"/>
                <a:sym typeface="Calibri"/>
              </a:rPr>
              <a:t>Parametric Scripts</a:t>
            </a:r>
            <a:endParaRPr b="0" i="0" sz="780" u="none" cap="none" strike="noStrike">
              <a:solidFill>
                <a:schemeClr val="dk1"/>
              </a:solidFill>
              <a:latin typeface="Calibri"/>
              <a:ea typeface="Calibri"/>
              <a:cs typeface="Calibri"/>
              <a:sym typeface="Calibri"/>
            </a:endParaRPr>
          </a:p>
        </p:txBody>
      </p:sp>
      <p:sp>
        <p:nvSpPr>
          <p:cNvPr id="64" name="Google Shape;64;g3f9c857b24b_0_274"/>
          <p:cNvSpPr/>
          <p:nvPr/>
        </p:nvSpPr>
        <p:spPr>
          <a:xfrm>
            <a:off x="7900416" y="932688"/>
            <a:ext cx="1261800" cy="1225200"/>
          </a:xfrm>
          <a:prstGeom prst="roundRect">
            <a:avLst>
              <a:gd fmla="val 4478" name="adj"/>
            </a:avLst>
          </a:prstGeom>
          <a:solidFill>
            <a:srgbClr val="FFFFFF"/>
          </a:solidFill>
          <a:ln cap="flat" cmpd="sng" w="15225">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f9c857b24b_0_274"/>
          <p:cNvSpPr txBox="1"/>
          <p:nvPr/>
        </p:nvSpPr>
        <p:spPr>
          <a:xfrm>
            <a:off x="7936992" y="932688"/>
            <a:ext cx="1188600" cy="1225200"/>
          </a:xfrm>
          <a:prstGeom prst="rect">
            <a:avLst/>
          </a:prstGeom>
          <a:noFill/>
          <a:ln>
            <a:noFill/>
          </a:ln>
        </p:spPr>
        <p:txBody>
          <a:bodyPr anchorCtr="0" anchor="ctr" bIns="0" lIns="0" spcFirstLastPara="1" rIns="0" wrap="square" tIns="0">
            <a:noAutofit/>
          </a:bodyPr>
          <a:lstStyle/>
          <a:p>
            <a:pPr indent="0" lvl="0" marL="0" marR="0" rtl="0" algn="ctr">
              <a:lnSpc>
                <a:spcPct val="130952"/>
              </a:lnSpc>
              <a:spcBef>
                <a:spcPts val="0"/>
              </a:spcBef>
              <a:spcAft>
                <a:spcPts val="0"/>
              </a:spcAft>
              <a:buClr>
                <a:srgbClr val="15282D"/>
              </a:buClr>
              <a:buSzPts val="839"/>
              <a:buFont typeface="Calibri"/>
              <a:buNone/>
            </a:pPr>
            <a:r>
              <a:rPr b="0" i="0" lang="en-US" sz="840" u="none" cap="none" strike="noStrike">
                <a:solidFill>
                  <a:srgbClr val="15282D"/>
                </a:solidFill>
                <a:latin typeface="Calibri"/>
                <a:ea typeface="Calibri"/>
                <a:cs typeface="Calibri"/>
                <a:sym typeface="Calibri"/>
              </a:rPr>
              <a:t>3D Model</a:t>
            </a:r>
            <a:endParaRPr b="0" i="0" sz="840" u="none" cap="none" strike="noStrike">
              <a:solidFill>
                <a:schemeClr val="dk1"/>
              </a:solidFill>
              <a:latin typeface="Calibri"/>
              <a:ea typeface="Calibri"/>
              <a:cs typeface="Calibri"/>
              <a:sym typeface="Calibri"/>
            </a:endParaRPr>
          </a:p>
          <a:p>
            <a:pPr indent="0" lvl="0" marL="0" marR="0" rtl="0" algn="ctr">
              <a:lnSpc>
                <a:spcPct val="130952"/>
              </a:lnSpc>
              <a:spcBef>
                <a:spcPts val="0"/>
              </a:spcBef>
              <a:spcAft>
                <a:spcPts val="0"/>
              </a:spcAft>
              <a:buClr>
                <a:srgbClr val="15282D"/>
              </a:buClr>
              <a:buSzPts val="839"/>
              <a:buFont typeface="Calibri"/>
              <a:buNone/>
            </a:pPr>
            <a:r>
              <a:rPr b="0" i="0" lang="en-US" sz="840" u="none" cap="none" strike="noStrike">
                <a:solidFill>
                  <a:srgbClr val="15282D"/>
                </a:solidFill>
                <a:latin typeface="Calibri"/>
                <a:ea typeface="Calibri"/>
                <a:cs typeface="Calibri"/>
                <a:sym typeface="Calibri"/>
              </a:rPr>
              <a:t>STL / STEP / FCStd</a:t>
            </a:r>
            <a:endParaRPr b="0" i="0" sz="840" u="none" cap="none" strike="noStrike">
              <a:solidFill>
                <a:schemeClr val="dk1"/>
              </a:solidFill>
              <a:latin typeface="Calibri"/>
              <a:ea typeface="Calibri"/>
              <a:cs typeface="Calibri"/>
              <a:sym typeface="Calibri"/>
            </a:endParaRPr>
          </a:p>
        </p:txBody>
      </p:sp>
      <p:sp>
        <p:nvSpPr>
          <p:cNvPr id="66" name="Google Shape;66;g3f9c857b24b_0_274"/>
          <p:cNvSpPr/>
          <p:nvPr/>
        </p:nvSpPr>
        <p:spPr>
          <a:xfrm>
            <a:off x="9299448" y="932688"/>
            <a:ext cx="1261800" cy="1225200"/>
          </a:xfrm>
          <a:prstGeom prst="roundRect">
            <a:avLst>
              <a:gd fmla="val 4478" name="adj"/>
            </a:avLst>
          </a:prstGeom>
          <a:solidFill>
            <a:srgbClr val="FFFFFF"/>
          </a:solidFill>
          <a:ln cap="flat" cmpd="sng" w="15225">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f9c857b24b_0_274"/>
          <p:cNvSpPr txBox="1"/>
          <p:nvPr/>
        </p:nvSpPr>
        <p:spPr>
          <a:xfrm>
            <a:off x="9336024" y="932688"/>
            <a:ext cx="1188600" cy="1225200"/>
          </a:xfrm>
          <a:prstGeom prst="rect">
            <a:avLst/>
          </a:prstGeom>
          <a:noFill/>
          <a:ln>
            <a:noFill/>
          </a:ln>
        </p:spPr>
        <p:txBody>
          <a:bodyPr anchorCtr="0" anchor="ctr" bIns="0" lIns="0" spcFirstLastPara="1" rIns="0" wrap="square" tIns="0">
            <a:noAutofit/>
          </a:bodyPr>
          <a:lstStyle/>
          <a:p>
            <a:pPr indent="0" lvl="0" marL="0" marR="0" rtl="0" algn="ctr">
              <a:lnSpc>
                <a:spcPct val="121951"/>
              </a:lnSpc>
              <a:spcBef>
                <a:spcPts val="0"/>
              </a:spcBef>
              <a:spcAft>
                <a:spcPts val="0"/>
              </a:spcAft>
              <a:buClr>
                <a:srgbClr val="15282D"/>
              </a:buClr>
              <a:buSzPts val="820"/>
              <a:buFont typeface="Calibri"/>
              <a:buNone/>
            </a:pPr>
            <a:r>
              <a:rPr b="0" i="0" lang="en-US" sz="820" u="none" cap="none" strike="noStrike">
                <a:solidFill>
                  <a:srgbClr val="15282D"/>
                </a:solidFill>
                <a:latin typeface="Calibri"/>
                <a:ea typeface="Calibri"/>
                <a:cs typeface="Calibri"/>
                <a:sym typeface="Calibri"/>
              </a:rPr>
              <a:t>Automated Geometric</a:t>
            </a:r>
            <a:endParaRPr b="0" i="0" sz="820" u="none" cap="none" strike="noStrike">
              <a:solidFill>
                <a:schemeClr val="dk1"/>
              </a:solidFill>
              <a:latin typeface="Calibri"/>
              <a:ea typeface="Calibri"/>
              <a:cs typeface="Calibri"/>
              <a:sym typeface="Calibri"/>
            </a:endParaRPr>
          </a:p>
          <a:p>
            <a:pPr indent="0" lvl="0" marL="0" marR="0" rtl="0" algn="ctr">
              <a:lnSpc>
                <a:spcPct val="121951"/>
              </a:lnSpc>
              <a:spcBef>
                <a:spcPts val="0"/>
              </a:spcBef>
              <a:spcAft>
                <a:spcPts val="0"/>
              </a:spcAft>
              <a:buClr>
                <a:srgbClr val="15282D"/>
              </a:buClr>
              <a:buSzPts val="820"/>
              <a:buFont typeface="Calibri"/>
              <a:buNone/>
            </a:pPr>
            <a:r>
              <a:rPr b="0" i="0" lang="en-US" sz="820" u="none" cap="none" strike="noStrike">
                <a:solidFill>
                  <a:srgbClr val="15282D"/>
                </a:solidFill>
                <a:latin typeface="Calibri"/>
                <a:ea typeface="Calibri"/>
                <a:cs typeface="Calibri"/>
                <a:sym typeface="Calibri"/>
              </a:rPr>
              <a:t>Inspection</a:t>
            </a:r>
            <a:endParaRPr b="0" i="0" sz="820" u="none" cap="none" strike="noStrike">
              <a:solidFill>
                <a:schemeClr val="dk1"/>
              </a:solidFill>
              <a:latin typeface="Calibri"/>
              <a:ea typeface="Calibri"/>
              <a:cs typeface="Calibri"/>
              <a:sym typeface="Calibri"/>
            </a:endParaRPr>
          </a:p>
        </p:txBody>
      </p:sp>
      <p:sp>
        <p:nvSpPr>
          <p:cNvPr id="68" name="Google Shape;68;g3f9c857b24b_0_274"/>
          <p:cNvSpPr/>
          <p:nvPr/>
        </p:nvSpPr>
        <p:spPr>
          <a:xfrm>
            <a:off x="10707624" y="978408"/>
            <a:ext cx="1042500" cy="1134000"/>
          </a:xfrm>
          <a:prstGeom prst="diamond">
            <a:avLst/>
          </a:prstGeom>
          <a:solidFill>
            <a:srgbClr val="FBE9E4"/>
          </a:solidFill>
          <a:ln cap="flat" cmpd="sng" w="17775">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f9c857b24b_0_274"/>
          <p:cNvSpPr txBox="1"/>
          <p:nvPr/>
        </p:nvSpPr>
        <p:spPr>
          <a:xfrm>
            <a:off x="10762488" y="978408"/>
            <a:ext cx="932700" cy="1134000"/>
          </a:xfrm>
          <a:prstGeom prst="rect">
            <a:avLst/>
          </a:prstGeom>
          <a:noFill/>
          <a:ln>
            <a:noFill/>
          </a:ln>
        </p:spPr>
        <p:txBody>
          <a:bodyPr anchorCtr="0" anchor="ctr" bIns="0" lIns="0" spcFirstLastPara="1" rIns="0" wrap="square" tIns="0">
            <a:noAutofit/>
          </a:bodyPr>
          <a:lstStyle/>
          <a:p>
            <a:pPr indent="0" lvl="0" marL="0" marR="0" rtl="0" algn="ctr">
              <a:lnSpc>
                <a:spcPct val="129411"/>
              </a:lnSpc>
              <a:spcBef>
                <a:spcPts val="0"/>
              </a:spcBef>
              <a:spcAft>
                <a:spcPts val="0"/>
              </a:spcAft>
              <a:buClr>
                <a:srgbClr val="B94A32"/>
              </a:buClr>
              <a:buSzPts val="850"/>
              <a:buFont typeface="Calibri"/>
              <a:buNone/>
            </a:pPr>
            <a:r>
              <a:rPr b="1" i="0" lang="en-US" sz="850" u="none" cap="none" strike="noStrike">
                <a:solidFill>
                  <a:srgbClr val="B94A32"/>
                </a:solidFill>
                <a:latin typeface="Calibri"/>
                <a:ea typeface="Calibri"/>
                <a:cs typeface="Calibri"/>
                <a:sym typeface="Calibri"/>
              </a:rPr>
              <a:t>Divergence</a:t>
            </a:r>
            <a:endParaRPr b="0" i="0" sz="850" u="none" cap="none" strike="noStrike">
              <a:solidFill>
                <a:schemeClr val="dk1"/>
              </a:solidFill>
              <a:latin typeface="Calibri"/>
              <a:ea typeface="Calibri"/>
              <a:cs typeface="Calibri"/>
              <a:sym typeface="Calibri"/>
            </a:endParaRPr>
          </a:p>
          <a:p>
            <a:pPr indent="0" lvl="0" marL="0" marR="0" rtl="0" algn="ctr">
              <a:lnSpc>
                <a:spcPct val="129411"/>
              </a:lnSpc>
              <a:spcBef>
                <a:spcPts val="0"/>
              </a:spcBef>
              <a:spcAft>
                <a:spcPts val="0"/>
              </a:spcAft>
              <a:buClr>
                <a:srgbClr val="B94A32"/>
              </a:buClr>
              <a:buSzPts val="850"/>
              <a:buFont typeface="Calibri"/>
              <a:buNone/>
            </a:pPr>
            <a:r>
              <a:rPr b="1" i="0" lang="en-US" sz="850" u="none" cap="none" strike="noStrike">
                <a:solidFill>
                  <a:srgbClr val="B94A32"/>
                </a:solidFill>
                <a:latin typeface="Calibri"/>
                <a:ea typeface="Calibri"/>
                <a:cs typeface="Calibri"/>
                <a:sym typeface="Calibri"/>
              </a:rPr>
              <a:t>Point</a:t>
            </a:r>
            <a:endParaRPr b="0" i="0" sz="850" u="none" cap="none" strike="noStrike">
              <a:solidFill>
                <a:schemeClr val="dk1"/>
              </a:solidFill>
              <a:latin typeface="Calibri"/>
              <a:ea typeface="Calibri"/>
              <a:cs typeface="Calibri"/>
              <a:sym typeface="Calibri"/>
            </a:endParaRPr>
          </a:p>
        </p:txBody>
      </p:sp>
      <p:sp>
        <p:nvSpPr>
          <p:cNvPr id="70" name="Google Shape;70;g3f9c857b24b_0_274"/>
          <p:cNvSpPr/>
          <p:nvPr/>
        </p:nvSpPr>
        <p:spPr>
          <a:xfrm>
            <a:off x="4965192" y="1537106"/>
            <a:ext cx="91500" cy="16500"/>
          </a:xfrm>
          <a:prstGeom prst="rect">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f9c857b24b_0_274"/>
          <p:cNvSpPr/>
          <p:nvPr/>
        </p:nvSpPr>
        <p:spPr>
          <a:xfrm>
            <a:off x="4978908" y="1481328"/>
            <a:ext cx="155400" cy="128100"/>
          </a:xfrm>
          <a:prstGeom prst="rightArrow">
            <a:avLst>
              <a:gd fmla="val 50000" name="adj1"/>
              <a:gd fmla="val 50000" name="adj2"/>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3f9c857b24b_0_274"/>
          <p:cNvSpPr/>
          <p:nvPr/>
        </p:nvSpPr>
        <p:spPr>
          <a:xfrm>
            <a:off x="6364224" y="1537106"/>
            <a:ext cx="91500" cy="16500"/>
          </a:xfrm>
          <a:prstGeom prst="rect">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f9c857b24b_0_274"/>
          <p:cNvSpPr/>
          <p:nvPr/>
        </p:nvSpPr>
        <p:spPr>
          <a:xfrm>
            <a:off x="6377940" y="1481328"/>
            <a:ext cx="155400" cy="128100"/>
          </a:xfrm>
          <a:prstGeom prst="rightArrow">
            <a:avLst>
              <a:gd fmla="val 50000" name="adj1"/>
              <a:gd fmla="val 50000" name="adj2"/>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f9c857b24b_0_274"/>
          <p:cNvSpPr/>
          <p:nvPr/>
        </p:nvSpPr>
        <p:spPr>
          <a:xfrm>
            <a:off x="7763256" y="1537106"/>
            <a:ext cx="91500" cy="16500"/>
          </a:xfrm>
          <a:prstGeom prst="rect">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f9c857b24b_0_274"/>
          <p:cNvSpPr/>
          <p:nvPr/>
        </p:nvSpPr>
        <p:spPr>
          <a:xfrm>
            <a:off x="7776972" y="1481328"/>
            <a:ext cx="155400" cy="128100"/>
          </a:xfrm>
          <a:prstGeom prst="rightArrow">
            <a:avLst>
              <a:gd fmla="val 50000" name="adj1"/>
              <a:gd fmla="val 50000" name="adj2"/>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f9c857b24b_0_274"/>
          <p:cNvSpPr/>
          <p:nvPr/>
        </p:nvSpPr>
        <p:spPr>
          <a:xfrm>
            <a:off x="9162288" y="1537106"/>
            <a:ext cx="91500" cy="16500"/>
          </a:xfrm>
          <a:prstGeom prst="rect">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f9c857b24b_0_274"/>
          <p:cNvSpPr/>
          <p:nvPr/>
        </p:nvSpPr>
        <p:spPr>
          <a:xfrm>
            <a:off x="9176004" y="1481328"/>
            <a:ext cx="155400" cy="128100"/>
          </a:xfrm>
          <a:prstGeom prst="rightArrow">
            <a:avLst>
              <a:gd fmla="val 50000" name="adj1"/>
              <a:gd fmla="val 50000" name="adj2"/>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f9c857b24b_0_274"/>
          <p:cNvSpPr/>
          <p:nvPr/>
        </p:nvSpPr>
        <p:spPr>
          <a:xfrm>
            <a:off x="10561320" y="1537106"/>
            <a:ext cx="100500" cy="165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f9c857b24b_0_274"/>
          <p:cNvSpPr/>
          <p:nvPr/>
        </p:nvSpPr>
        <p:spPr>
          <a:xfrm>
            <a:off x="10584180" y="1481328"/>
            <a:ext cx="155400" cy="128100"/>
          </a:xfrm>
          <a:prstGeom prst="right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f9c857b24b_0_274"/>
          <p:cNvSpPr txBox="1"/>
          <p:nvPr/>
        </p:nvSpPr>
        <p:spPr>
          <a:xfrm>
            <a:off x="10515600" y="1271016"/>
            <a:ext cx="3840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0E6A74"/>
              </a:buClr>
              <a:buSzPts val="740"/>
              <a:buFont typeface="Calibri"/>
              <a:buNone/>
            </a:pPr>
            <a:r>
              <a:rPr b="1" i="0" lang="en-US" sz="740" u="none" cap="none" strike="noStrike">
                <a:solidFill>
                  <a:srgbClr val="0E6A74"/>
                </a:solidFill>
                <a:latin typeface="Calibri"/>
                <a:ea typeface="Calibri"/>
                <a:cs typeface="Calibri"/>
                <a:sym typeface="Calibri"/>
              </a:rPr>
              <a:t>Pass</a:t>
            </a:r>
            <a:endParaRPr b="0" i="0" sz="740" u="none" cap="none" strike="noStrike">
              <a:solidFill>
                <a:schemeClr val="dk1"/>
              </a:solidFill>
              <a:latin typeface="Calibri"/>
              <a:ea typeface="Calibri"/>
              <a:cs typeface="Calibri"/>
              <a:sym typeface="Calibri"/>
            </a:endParaRPr>
          </a:p>
        </p:txBody>
      </p:sp>
      <p:sp>
        <p:nvSpPr>
          <p:cNvPr id="81" name="Google Shape;81;g3f9c857b24b_0_274"/>
          <p:cNvSpPr/>
          <p:nvPr/>
        </p:nvSpPr>
        <p:spPr>
          <a:xfrm>
            <a:off x="3447288" y="1966874"/>
            <a:ext cx="1371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f9c857b24b_0_274"/>
          <p:cNvSpPr/>
          <p:nvPr/>
        </p:nvSpPr>
        <p:spPr>
          <a:xfrm>
            <a:off x="3576218" y="1399032"/>
            <a:ext cx="16500" cy="5760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f9c857b24b_0_274"/>
          <p:cNvSpPr/>
          <p:nvPr/>
        </p:nvSpPr>
        <p:spPr>
          <a:xfrm>
            <a:off x="3584448" y="1390802"/>
            <a:ext cx="73200" cy="16500"/>
          </a:xfrm>
          <a:prstGeom prst="rect">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f9c857b24b_0_274"/>
          <p:cNvSpPr/>
          <p:nvPr/>
        </p:nvSpPr>
        <p:spPr>
          <a:xfrm>
            <a:off x="3579876" y="1335024"/>
            <a:ext cx="155400" cy="128100"/>
          </a:xfrm>
          <a:prstGeom prst="rightArrow">
            <a:avLst>
              <a:gd fmla="val 50000" name="adj1"/>
              <a:gd fmla="val 50000" name="adj2"/>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f9c857b24b_0_274"/>
          <p:cNvSpPr/>
          <p:nvPr/>
        </p:nvSpPr>
        <p:spPr>
          <a:xfrm>
            <a:off x="8414423" y="2432304"/>
            <a:ext cx="1874400" cy="603600"/>
          </a:xfrm>
          <a:prstGeom prst="roundRect">
            <a:avLst>
              <a:gd fmla="val 9091" name="adj"/>
            </a:avLst>
          </a:prstGeom>
          <a:solidFill>
            <a:srgbClr val="EDE4F2"/>
          </a:solidFill>
          <a:ln cap="flat" cmpd="sng" w="152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f9c857b24b_0_274"/>
          <p:cNvSpPr txBox="1"/>
          <p:nvPr/>
        </p:nvSpPr>
        <p:spPr>
          <a:xfrm>
            <a:off x="8450999" y="2432304"/>
            <a:ext cx="1801500" cy="603600"/>
          </a:xfrm>
          <a:prstGeom prst="rect">
            <a:avLst/>
          </a:prstGeom>
          <a:noFill/>
          <a:ln>
            <a:noFill/>
          </a:ln>
        </p:spPr>
        <p:txBody>
          <a:bodyPr anchorCtr="0" anchor="ctr" bIns="0" lIns="0" spcFirstLastPara="1" rIns="0" wrap="square" tIns="0">
            <a:noAutofit/>
          </a:bodyPr>
          <a:lstStyle/>
          <a:p>
            <a:pPr indent="0" lvl="0" marL="0" marR="0" rtl="0" algn="ctr">
              <a:lnSpc>
                <a:spcPct val="121951"/>
              </a:lnSpc>
              <a:spcBef>
                <a:spcPts val="0"/>
              </a:spcBef>
              <a:spcAft>
                <a:spcPts val="0"/>
              </a:spcAft>
              <a:buClr>
                <a:srgbClr val="15282D"/>
              </a:buClr>
              <a:buSzPts val="820"/>
              <a:buFont typeface="Calibri"/>
              <a:buNone/>
            </a:pPr>
            <a:r>
              <a:rPr b="1" i="0" lang="en-US" sz="820" u="none" cap="none" strike="noStrike">
                <a:solidFill>
                  <a:srgbClr val="15282D"/>
                </a:solidFill>
                <a:latin typeface="Calibri"/>
                <a:ea typeface="Calibri"/>
                <a:cs typeface="Calibri"/>
                <a:sym typeface="Calibri"/>
              </a:rPr>
              <a:t>Expert Selection</a:t>
            </a:r>
            <a:endParaRPr b="0" i="0" sz="820" u="none" cap="none" strike="noStrike">
              <a:solidFill>
                <a:schemeClr val="dk1"/>
              </a:solidFill>
              <a:latin typeface="Calibri"/>
              <a:ea typeface="Calibri"/>
              <a:cs typeface="Calibri"/>
              <a:sym typeface="Calibri"/>
            </a:endParaRPr>
          </a:p>
          <a:p>
            <a:pPr indent="0" lvl="0" marL="0" marR="0" rtl="0" algn="ctr">
              <a:lnSpc>
                <a:spcPct val="121951"/>
              </a:lnSpc>
              <a:spcBef>
                <a:spcPts val="0"/>
              </a:spcBef>
              <a:spcAft>
                <a:spcPts val="0"/>
              </a:spcAft>
              <a:buClr>
                <a:srgbClr val="15282D"/>
              </a:buClr>
              <a:buSzPts val="820"/>
              <a:buFont typeface="Calibri"/>
              <a:buNone/>
            </a:pPr>
            <a:r>
              <a:rPr b="1" i="0" lang="en-US" sz="820" u="none" cap="none" strike="noStrike">
                <a:solidFill>
                  <a:srgbClr val="15282D"/>
                </a:solidFill>
                <a:latin typeface="Calibri"/>
                <a:ea typeface="Calibri"/>
                <a:cs typeface="Calibri"/>
                <a:sym typeface="Calibri"/>
              </a:rPr>
              <a:t>Chosen Prototype</a:t>
            </a:r>
            <a:endParaRPr b="0" i="0" sz="820" u="none" cap="none" strike="noStrike">
              <a:solidFill>
                <a:schemeClr val="dk1"/>
              </a:solidFill>
              <a:latin typeface="Calibri"/>
              <a:ea typeface="Calibri"/>
              <a:cs typeface="Calibri"/>
              <a:sym typeface="Calibri"/>
            </a:endParaRPr>
          </a:p>
        </p:txBody>
      </p:sp>
      <p:sp>
        <p:nvSpPr>
          <p:cNvPr id="87" name="Google Shape;87;g3f9c857b24b_0_274"/>
          <p:cNvSpPr/>
          <p:nvPr/>
        </p:nvSpPr>
        <p:spPr>
          <a:xfrm>
            <a:off x="11220602" y="2112264"/>
            <a:ext cx="16500" cy="192000"/>
          </a:xfrm>
          <a:prstGeom prst="rect">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f9c857b24b_0_274"/>
          <p:cNvSpPr/>
          <p:nvPr/>
        </p:nvSpPr>
        <p:spPr>
          <a:xfrm>
            <a:off x="10424160" y="2296058"/>
            <a:ext cx="804600" cy="16500"/>
          </a:xfrm>
          <a:prstGeom prst="rect">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f9c857b24b_0_274"/>
          <p:cNvSpPr/>
          <p:nvPr/>
        </p:nvSpPr>
        <p:spPr>
          <a:xfrm>
            <a:off x="10422323" y="2304288"/>
            <a:ext cx="16500" cy="429900"/>
          </a:xfrm>
          <a:prstGeom prst="rect">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f9c857b24b_0_274"/>
          <p:cNvSpPr/>
          <p:nvPr/>
        </p:nvSpPr>
        <p:spPr>
          <a:xfrm>
            <a:off x="10282510" y="2670048"/>
            <a:ext cx="155400" cy="128100"/>
          </a:xfrm>
          <a:prstGeom prst="leftArrow">
            <a:avLst>
              <a:gd fmla="val 50000" name="adj1"/>
              <a:gd fmla="val 50000" name="adj2"/>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f9c857b24b_0_274"/>
          <p:cNvSpPr txBox="1"/>
          <p:nvPr/>
        </p:nvSpPr>
        <p:spPr>
          <a:xfrm>
            <a:off x="10598258" y="2112170"/>
            <a:ext cx="5487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7B5EA7"/>
              </a:buClr>
              <a:buSzPts val="740"/>
              <a:buFont typeface="Calibri"/>
              <a:buNone/>
            </a:pPr>
            <a:r>
              <a:rPr b="1" i="0" lang="en-US" sz="740" u="none" cap="none" strike="noStrike">
                <a:solidFill>
                  <a:srgbClr val="7B5EA7"/>
                </a:solidFill>
                <a:latin typeface="Calibri"/>
                <a:ea typeface="Calibri"/>
                <a:cs typeface="Calibri"/>
                <a:sym typeface="Calibri"/>
              </a:rPr>
              <a:t>Path 1</a:t>
            </a:r>
            <a:endParaRPr b="0" i="0" sz="740" u="none" cap="none" strike="noStrike">
              <a:solidFill>
                <a:schemeClr val="dk1"/>
              </a:solidFill>
              <a:latin typeface="Calibri"/>
              <a:ea typeface="Calibri"/>
              <a:cs typeface="Calibri"/>
              <a:sym typeface="Calibri"/>
            </a:endParaRPr>
          </a:p>
        </p:txBody>
      </p:sp>
      <p:sp>
        <p:nvSpPr>
          <p:cNvPr id="92" name="Google Shape;92;g3f9c857b24b_0_274"/>
          <p:cNvSpPr/>
          <p:nvPr/>
        </p:nvSpPr>
        <p:spPr>
          <a:xfrm>
            <a:off x="10287000" y="3639312"/>
            <a:ext cx="1463100" cy="1316700"/>
          </a:xfrm>
          <a:prstGeom prst="roundRect">
            <a:avLst>
              <a:gd fmla="val 4167" name="adj"/>
            </a:avLst>
          </a:prstGeom>
          <a:solidFill>
            <a:srgbClr val="E3F0F1"/>
          </a:solidFill>
          <a:ln cap="flat" cmpd="sng" w="15225">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f9c857b24b_0_274"/>
          <p:cNvSpPr txBox="1"/>
          <p:nvPr/>
        </p:nvSpPr>
        <p:spPr>
          <a:xfrm>
            <a:off x="10323576" y="3639312"/>
            <a:ext cx="1389900" cy="13167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Emulator Layer</a:t>
            </a:r>
            <a:endParaRPr b="0" i="0" sz="72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Acoustic Simulation</a:t>
            </a:r>
            <a:endParaRPr b="0" i="0" sz="72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FEM / BEM</a:t>
            </a:r>
            <a:endParaRPr b="0" i="0" sz="72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(Extensible to Other</a:t>
            </a:r>
            <a:endParaRPr b="0" i="0" sz="72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720"/>
              <a:buFont typeface="Calibri"/>
              <a:buNone/>
            </a:pPr>
            <a:r>
              <a:rPr b="1" i="0" lang="en-US" sz="720" u="none" cap="none" strike="noStrike">
                <a:solidFill>
                  <a:srgbClr val="15282D"/>
                </a:solidFill>
                <a:latin typeface="Calibri"/>
                <a:ea typeface="Calibri"/>
                <a:cs typeface="Calibri"/>
                <a:sym typeface="Calibri"/>
              </a:rPr>
              <a:t>Simulation Tools)</a:t>
            </a:r>
            <a:endParaRPr b="0" i="0" sz="720" u="none" cap="none" strike="noStrike">
              <a:solidFill>
                <a:schemeClr val="dk1"/>
              </a:solidFill>
              <a:latin typeface="Calibri"/>
              <a:ea typeface="Calibri"/>
              <a:cs typeface="Calibri"/>
              <a:sym typeface="Calibri"/>
            </a:endParaRPr>
          </a:p>
        </p:txBody>
      </p:sp>
      <p:sp>
        <p:nvSpPr>
          <p:cNvPr id="94" name="Google Shape;94;g3f9c857b24b_0_274"/>
          <p:cNvSpPr/>
          <p:nvPr/>
        </p:nvSpPr>
        <p:spPr>
          <a:xfrm>
            <a:off x="8613648" y="3639312"/>
            <a:ext cx="1463100" cy="1316700"/>
          </a:xfrm>
          <a:prstGeom prst="roundRect">
            <a:avLst>
              <a:gd fmla="val 4167" name="adj"/>
            </a:avLst>
          </a:prstGeom>
          <a:solidFill>
            <a:srgbClr val="FFFFFF"/>
          </a:solidFill>
          <a:ln cap="flat" cmpd="sng" w="15225">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f9c857b24b_0_274"/>
          <p:cNvSpPr txBox="1"/>
          <p:nvPr/>
        </p:nvSpPr>
        <p:spPr>
          <a:xfrm>
            <a:off x="8650224" y="3639312"/>
            <a:ext cx="1389900" cy="13167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5282D"/>
              </a:buClr>
              <a:buSzPts val="800"/>
              <a:buFont typeface="Calibri"/>
              <a:buNone/>
            </a:pPr>
            <a:r>
              <a:rPr b="0" i="0" lang="en-US" sz="800" u="none" cap="none" strike="noStrike">
                <a:solidFill>
                  <a:srgbClr val="15282D"/>
                </a:solidFill>
                <a:latin typeface="Calibri"/>
                <a:ea typeface="Calibri"/>
                <a:cs typeface="Calibri"/>
                <a:sym typeface="Calibri"/>
              </a:rPr>
              <a:t>Simulation Results →</a:t>
            </a:r>
            <a:endParaRPr b="0" i="0" sz="8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15282D"/>
              </a:buClr>
              <a:buSzPts val="800"/>
              <a:buFont typeface="Calibri"/>
              <a:buNone/>
            </a:pPr>
            <a:r>
              <a:rPr b="0" i="0" lang="en-US" sz="800" u="none" cap="none" strike="noStrike">
                <a:solidFill>
                  <a:srgbClr val="15282D"/>
                </a:solidFill>
                <a:latin typeface="Calibri"/>
                <a:ea typeface="Calibri"/>
                <a:cs typeface="Calibri"/>
                <a:sym typeface="Calibri"/>
              </a:rPr>
              <a:t>Quantitative Metrics</a:t>
            </a:r>
            <a:endParaRPr b="0" i="0" sz="800" u="none" cap="none" strike="noStrike">
              <a:solidFill>
                <a:schemeClr val="dk1"/>
              </a:solidFill>
              <a:latin typeface="Calibri"/>
              <a:ea typeface="Calibri"/>
              <a:cs typeface="Calibri"/>
              <a:sym typeface="Calibri"/>
            </a:endParaRPr>
          </a:p>
        </p:txBody>
      </p:sp>
      <p:sp>
        <p:nvSpPr>
          <p:cNvPr id="96" name="Google Shape;96;g3f9c857b24b_0_274"/>
          <p:cNvSpPr/>
          <p:nvPr/>
        </p:nvSpPr>
        <p:spPr>
          <a:xfrm>
            <a:off x="6940296" y="3639312"/>
            <a:ext cx="1463100" cy="1316700"/>
          </a:xfrm>
          <a:prstGeom prst="roundRect">
            <a:avLst>
              <a:gd fmla="val 4167" name="adj"/>
            </a:avLst>
          </a:prstGeom>
          <a:solidFill>
            <a:srgbClr val="E3F0F1"/>
          </a:solidFill>
          <a:ln cap="flat" cmpd="sng" w="15225">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f9c857b24b_0_274"/>
          <p:cNvSpPr txBox="1"/>
          <p:nvPr/>
        </p:nvSpPr>
        <p:spPr>
          <a:xfrm>
            <a:off x="6976872" y="3639312"/>
            <a:ext cx="1389900" cy="1316700"/>
          </a:xfrm>
          <a:prstGeom prst="rect">
            <a:avLst/>
          </a:prstGeom>
          <a:noFill/>
          <a:ln>
            <a:noFill/>
          </a:ln>
        </p:spPr>
        <p:txBody>
          <a:bodyPr anchorCtr="0" anchor="ctr" bIns="0" lIns="0" spcFirstLastPara="1" rIns="0" wrap="square" tIns="0">
            <a:noAutofit/>
          </a:bodyPr>
          <a:lstStyle/>
          <a:p>
            <a:pPr indent="0" lvl="0" marL="0" marR="0" rtl="0" algn="ctr">
              <a:lnSpc>
                <a:spcPct val="121621"/>
              </a:lnSpc>
              <a:spcBef>
                <a:spcPts val="0"/>
              </a:spcBef>
              <a:spcAft>
                <a:spcPts val="0"/>
              </a:spcAft>
              <a:buClr>
                <a:srgbClr val="15282D"/>
              </a:buClr>
              <a:buSzPts val="740"/>
              <a:buFont typeface="Calibri"/>
              <a:buNone/>
            </a:pPr>
            <a:r>
              <a:rPr b="1" i="0" lang="en-US" sz="740" u="none" cap="none" strike="noStrike">
                <a:solidFill>
                  <a:srgbClr val="15282D"/>
                </a:solidFill>
                <a:latin typeface="Calibri"/>
                <a:ea typeface="Calibri"/>
                <a:cs typeface="Calibri"/>
                <a:sym typeface="Calibri"/>
              </a:rPr>
              <a:t>Agent Interpretation</a:t>
            </a:r>
            <a:endParaRPr b="0" i="0" sz="740" u="none" cap="none" strike="noStrike">
              <a:solidFill>
                <a:schemeClr val="dk1"/>
              </a:solidFill>
              <a:latin typeface="Calibri"/>
              <a:ea typeface="Calibri"/>
              <a:cs typeface="Calibri"/>
              <a:sym typeface="Calibri"/>
            </a:endParaRPr>
          </a:p>
          <a:p>
            <a:pPr indent="0" lvl="0" marL="0" marR="0" rtl="0" algn="ctr">
              <a:lnSpc>
                <a:spcPct val="121621"/>
              </a:lnSpc>
              <a:spcBef>
                <a:spcPts val="0"/>
              </a:spcBef>
              <a:spcAft>
                <a:spcPts val="0"/>
              </a:spcAft>
              <a:buClr>
                <a:srgbClr val="15282D"/>
              </a:buClr>
              <a:buSzPts val="740"/>
              <a:buFont typeface="Calibri"/>
              <a:buNone/>
            </a:pPr>
            <a:r>
              <a:rPr b="1" i="0" lang="en-US" sz="740" u="none" cap="none" strike="noStrike">
                <a:solidFill>
                  <a:srgbClr val="15282D"/>
                </a:solidFill>
                <a:latin typeface="Calibri"/>
                <a:ea typeface="Calibri"/>
                <a:cs typeface="Calibri"/>
                <a:sym typeface="Calibri"/>
              </a:rPr>
              <a:t>Compare Against</a:t>
            </a:r>
            <a:endParaRPr b="0" i="0" sz="740" u="none" cap="none" strike="noStrike">
              <a:solidFill>
                <a:schemeClr val="dk1"/>
              </a:solidFill>
              <a:latin typeface="Calibri"/>
              <a:ea typeface="Calibri"/>
              <a:cs typeface="Calibri"/>
              <a:sym typeface="Calibri"/>
            </a:endParaRPr>
          </a:p>
          <a:p>
            <a:pPr indent="0" lvl="0" marL="0" marR="0" rtl="0" algn="ctr">
              <a:lnSpc>
                <a:spcPct val="121621"/>
              </a:lnSpc>
              <a:spcBef>
                <a:spcPts val="0"/>
              </a:spcBef>
              <a:spcAft>
                <a:spcPts val="0"/>
              </a:spcAft>
              <a:buClr>
                <a:srgbClr val="15282D"/>
              </a:buClr>
              <a:buSzPts val="740"/>
              <a:buFont typeface="Calibri"/>
              <a:buNone/>
            </a:pPr>
            <a:r>
              <a:rPr b="1" i="0" lang="en-US" sz="740" u="none" cap="none" strike="noStrike">
                <a:solidFill>
                  <a:srgbClr val="15282D"/>
                </a:solidFill>
                <a:latin typeface="Calibri"/>
                <a:ea typeface="Calibri"/>
                <a:cs typeface="Calibri"/>
                <a:sym typeface="Calibri"/>
              </a:rPr>
              <a:t>Design Targets,</a:t>
            </a:r>
            <a:endParaRPr b="0" i="0" sz="740" u="none" cap="none" strike="noStrike">
              <a:solidFill>
                <a:schemeClr val="dk1"/>
              </a:solidFill>
              <a:latin typeface="Calibri"/>
              <a:ea typeface="Calibri"/>
              <a:cs typeface="Calibri"/>
              <a:sym typeface="Calibri"/>
            </a:endParaRPr>
          </a:p>
          <a:p>
            <a:pPr indent="0" lvl="0" marL="0" marR="0" rtl="0" algn="ctr">
              <a:lnSpc>
                <a:spcPct val="121621"/>
              </a:lnSpc>
              <a:spcBef>
                <a:spcPts val="0"/>
              </a:spcBef>
              <a:spcAft>
                <a:spcPts val="0"/>
              </a:spcAft>
              <a:buClr>
                <a:srgbClr val="15282D"/>
              </a:buClr>
              <a:buSzPts val="740"/>
              <a:buFont typeface="Calibri"/>
              <a:buNone/>
            </a:pPr>
            <a:r>
              <a:rPr b="1" i="0" lang="en-US" sz="740" u="none" cap="none" strike="noStrike">
                <a:solidFill>
                  <a:srgbClr val="15282D"/>
                </a:solidFill>
                <a:latin typeface="Calibri"/>
                <a:ea typeface="Calibri"/>
                <a:cs typeface="Calibri"/>
                <a:sym typeface="Calibri"/>
              </a:rPr>
              <a:t>Identify Failure Causes</a:t>
            </a:r>
            <a:endParaRPr b="0" i="0" sz="740" u="none" cap="none" strike="noStrike">
              <a:solidFill>
                <a:schemeClr val="dk1"/>
              </a:solidFill>
              <a:latin typeface="Calibri"/>
              <a:ea typeface="Calibri"/>
              <a:cs typeface="Calibri"/>
              <a:sym typeface="Calibri"/>
            </a:endParaRPr>
          </a:p>
        </p:txBody>
      </p:sp>
      <p:sp>
        <p:nvSpPr>
          <p:cNvPr id="98" name="Google Shape;98;g3f9c857b24b_0_274"/>
          <p:cNvSpPr/>
          <p:nvPr/>
        </p:nvSpPr>
        <p:spPr>
          <a:xfrm>
            <a:off x="5633994" y="3739896"/>
            <a:ext cx="1170300" cy="1115700"/>
          </a:xfrm>
          <a:prstGeom prst="diamond">
            <a:avLst/>
          </a:prstGeom>
          <a:solidFill>
            <a:srgbClr val="FBE9E4"/>
          </a:solidFill>
          <a:ln cap="flat" cmpd="sng" w="17775">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f9c857b24b_0_274"/>
          <p:cNvSpPr txBox="1"/>
          <p:nvPr/>
        </p:nvSpPr>
        <p:spPr>
          <a:xfrm>
            <a:off x="5688858" y="3739896"/>
            <a:ext cx="1060800" cy="1115700"/>
          </a:xfrm>
          <a:prstGeom prst="rect">
            <a:avLst/>
          </a:prstGeom>
          <a:noFill/>
          <a:ln>
            <a:noFill/>
          </a:ln>
        </p:spPr>
        <p:txBody>
          <a:bodyPr anchorCtr="0" anchor="ctr" bIns="0" lIns="0" spcFirstLastPara="1" rIns="0" wrap="square" tIns="0">
            <a:noAutofit/>
          </a:bodyPr>
          <a:lstStyle/>
          <a:p>
            <a:pPr indent="0" lvl="0" marL="0" marR="0" rtl="0" algn="ctr">
              <a:lnSpc>
                <a:spcPct val="129411"/>
              </a:lnSpc>
              <a:spcBef>
                <a:spcPts val="0"/>
              </a:spcBef>
              <a:spcAft>
                <a:spcPts val="0"/>
              </a:spcAft>
              <a:buClr>
                <a:srgbClr val="B94A32"/>
              </a:buClr>
              <a:buSzPts val="850"/>
              <a:buFont typeface="Calibri"/>
              <a:buNone/>
            </a:pPr>
            <a:r>
              <a:rPr b="1" i="0" lang="en-US" sz="850" u="none" cap="none" strike="noStrike">
                <a:solidFill>
                  <a:srgbClr val="B94A32"/>
                </a:solidFill>
                <a:latin typeface="Calibri"/>
                <a:ea typeface="Calibri"/>
                <a:cs typeface="Calibri"/>
                <a:sym typeface="Calibri"/>
              </a:rPr>
              <a:t>Target</a:t>
            </a:r>
            <a:endParaRPr b="0" i="0" sz="850" u="none" cap="none" strike="noStrike">
              <a:solidFill>
                <a:schemeClr val="dk1"/>
              </a:solidFill>
              <a:latin typeface="Calibri"/>
              <a:ea typeface="Calibri"/>
              <a:cs typeface="Calibri"/>
              <a:sym typeface="Calibri"/>
            </a:endParaRPr>
          </a:p>
          <a:p>
            <a:pPr indent="0" lvl="0" marL="0" marR="0" rtl="0" algn="ctr">
              <a:lnSpc>
                <a:spcPct val="129411"/>
              </a:lnSpc>
              <a:spcBef>
                <a:spcPts val="0"/>
              </a:spcBef>
              <a:spcAft>
                <a:spcPts val="0"/>
              </a:spcAft>
              <a:buClr>
                <a:srgbClr val="B94A32"/>
              </a:buClr>
              <a:buSzPts val="850"/>
              <a:buFont typeface="Calibri"/>
              <a:buNone/>
            </a:pPr>
            <a:r>
              <a:rPr b="1" i="0" lang="en-US" sz="850" u="none" cap="none" strike="noStrike">
                <a:solidFill>
                  <a:srgbClr val="B94A32"/>
                </a:solidFill>
                <a:latin typeface="Calibri"/>
                <a:ea typeface="Calibri"/>
                <a:cs typeface="Calibri"/>
                <a:sym typeface="Calibri"/>
              </a:rPr>
              <a:t>Met?</a:t>
            </a:r>
            <a:endParaRPr b="0" i="0" sz="850" u="none" cap="none" strike="noStrike">
              <a:solidFill>
                <a:schemeClr val="dk1"/>
              </a:solidFill>
              <a:latin typeface="Calibri"/>
              <a:ea typeface="Calibri"/>
              <a:cs typeface="Calibri"/>
              <a:sym typeface="Calibri"/>
            </a:endParaRPr>
          </a:p>
        </p:txBody>
      </p:sp>
      <p:sp>
        <p:nvSpPr>
          <p:cNvPr id="100" name="Google Shape;100;g3f9c857b24b_0_274"/>
          <p:cNvSpPr/>
          <p:nvPr/>
        </p:nvSpPr>
        <p:spPr>
          <a:xfrm>
            <a:off x="11220602" y="2112264"/>
            <a:ext cx="16500" cy="14814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f9c857b24b_0_274"/>
          <p:cNvSpPr/>
          <p:nvPr/>
        </p:nvSpPr>
        <p:spPr>
          <a:xfrm>
            <a:off x="11164824" y="3515868"/>
            <a:ext cx="128100" cy="155400"/>
          </a:xfrm>
          <a:prstGeom prst="down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f9c857b24b_0_274"/>
          <p:cNvSpPr txBox="1"/>
          <p:nvPr/>
        </p:nvSpPr>
        <p:spPr>
          <a:xfrm>
            <a:off x="10991088" y="3218688"/>
            <a:ext cx="5487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0E6A74"/>
              </a:buClr>
              <a:buSzPts val="740"/>
              <a:buFont typeface="Calibri"/>
              <a:buNone/>
            </a:pPr>
            <a:r>
              <a:rPr b="1" i="0" lang="en-US" sz="740" u="none" cap="none" strike="noStrike">
                <a:solidFill>
                  <a:srgbClr val="0E6A74"/>
                </a:solidFill>
                <a:latin typeface="Calibri"/>
                <a:ea typeface="Calibri"/>
                <a:cs typeface="Calibri"/>
                <a:sym typeface="Calibri"/>
              </a:rPr>
              <a:t>Path 2</a:t>
            </a:r>
            <a:endParaRPr b="0" i="0" sz="740" u="none" cap="none" strike="noStrike">
              <a:solidFill>
                <a:schemeClr val="dk1"/>
              </a:solidFill>
              <a:latin typeface="Calibri"/>
              <a:ea typeface="Calibri"/>
              <a:cs typeface="Calibri"/>
              <a:sym typeface="Calibri"/>
            </a:endParaRPr>
          </a:p>
        </p:txBody>
      </p:sp>
      <p:sp>
        <p:nvSpPr>
          <p:cNvPr id="103" name="Google Shape;103;g3f9c857b24b_0_274"/>
          <p:cNvSpPr/>
          <p:nvPr/>
        </p:nvSpPr>
        <p:spPr>
          <a:xfrm>
            <a:off x="10122408" y="4289450"/>
            <a:ext cx="164700" cy="165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f9c857b24b_0_274"/>
          <p:cNvSpPr/>
          <p:nvPr/>
        </p:nvSpPr>
        <p:spPr>
          <a:xfrm>
            <a:off x="10044684" y="4233672"/>
            <a:ext cx="155400" cy="128100"/>
          </a:xfrm>
          <a:prstGeom prst="left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f9c857b24b_0_274"/>
          <p:cNvSpPr/>
          <p:nvPr/>
        </p:nvSpPr>
        <p:spPr>
          <a:xfrm>
            <a:off x="8449056" y="4289450"/>
            <a:ext cx="164700" cy="165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f9c857b24b_0_274"/>
          <p:cNvSpPr/>
          <p:nvPr/>
        </p:nvSpPr>
        <p:spPr>
          <a:xfrm>
            <a:off x="8371332" y="4233672"/>
            <a:ext cx="155400" cy="128100"/>
          </a:xfrm>
          <a:prstGeom prst="left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f9c857b24b_0_274"/>
          <p:cNvSpPr/>
          <p:nvPr/>
        </p:nvSpPr>
        <p:spPr>
          <a:xfrm>
            <a:off x="6775704" y="4289450"/>
            <a:ext cx="164700" cy="165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f9c857b24b_0_274"/>
          <p:cNvSpPr/>
          <p:nvPr/>
        </p:nvSpPr>
        <p:spPr>
          <a:xfrm>
            <a:off x="6697980" y="4233672"/>
            <a:ext cx="155400" cy="128100"/>
          </a:xfrm>
          <a:prstGeom prst="left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f9c857b24b_0_274"/>
          <p:cNvSpPr/>
          <p:nvPr/>
        </p:nvSpPr>
        <p:spPr>
          <a:xfrm>
            <a:off x="5559552" y="4289450"/>
            <a:ext cx="18300" cy="16500"/>
          </a:xfrm>
          <a:prstGeom prst="rect">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f9c857b24b_0_274"/>
          <p:cNvSpPr/>
          <p:nvPr/>
        </p:nvSpPr>
        <p:spPr>
          <a:xfrm rot="-10793363">
            <a:off x="5447399" y="4233604"/>
            <a:ext cx="155400" cy="128100"/>
          </a:xfrm>
          <a:prstGeom prst="rightArrow">
            <a:avLst>
              <a:gd fmla="val 50000" name="adj1"/>
              <a:gd fmla="val 50000" name="adj2"/>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f9c857b24b_0_274"/>
          <p:cNvSpPr txBox="1"/>
          <p:nvPr/>
        </p:nvSpPr>
        <p:spPr>
          <a:xfrm>
            <a:off x="5427685" y="4014310"/>
            <a:ext cx="3840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0E6A74"/>
              </a:buClr>
              <a:buSzPts val="740"/>
              <a:buFont typeface="Calibri"/>
              <a:buNone/>
            </a:pPr>
            <a:r>
              <a:rPr b="1" i="0" lang="en-US" sz="740" u="none" cap="none" strike="noStrike">
                <a:solidFill>
                  <a:srgbClr val="0E6A74"/>
                </a:solidFill>
                <a:latin typeface="Calibri"/>
                <a:ea typeface="Calibri"/>
                <a:cs typeface="Calibri"/>
                <a:sym typeface="Calibri"/>
              </a:rPr>
              <a:t>Yes</a:t>
            </a:r>
            <a:endParaRPr b="0" i="0" sz="740" u="none" cap="none" strike="noStrike">
              <a:solidFill>
                <a:schemeClr val="dk1"/>
              </a:solidFill>
              <a:latin typeface="Calibri"/>
              <a:ea typeface="Calibri"/>
              <a:cs typeface="Calibri"/>
              <a:sym typeface="Calibri"/>
            </a:endParaRPr>
          </a:p>
        </p:txBody>
      </p:sp>
      <p:sp>
        <p:nvSpPr>
          <p:cNvPr id="112" name="Google Shape;112;g3f9c857b24b_0_274"/>
          <p:cNvSpPr/>
          <p:nvPr/>
        </p:nvSpPr>
        <p:spPr>
          <a:xfrm>
            <a:off x="9922154" y="786384"/>
            <a:ext cx="16500" cy="1464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f9c857b24b_0_274"/>
          <p:cNvSpPr/>
          <p:nvPr/>
        </p:nvSpPr>
        <p:spPr>
          <a:xfrm>
            <a:off x="5733288" y="778154"/>
            <a:ext cx="4197000" cy="165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f9c857b24b_0_274"/>
          <p:cNvSpPr/>
          <p:nvPr/>
        </p:nvSpPr>
        <p:spPr>
          <a:xfrm>
            <a:off x="5725058" y="786384"/>
            <a:ext cx="16500" cy="1005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f9c857b24b_0_274"/>
          <p:cNvSpPr/>
          <p:nvPr/>
        </p:nvSpPr>
        <p:spPr>
          <a:xfrm>
            <a:off x="5669280" y="809244"/>
            <a:ext cx="128100" cy="155400"/>
          </a:xfrm>
          <a:prstGeom prst="downArrow">
            <a:avLst>
              <a:gd fmla="val 50000" name="adj1"/>
              <a:gd fmla="val 50000" name="adj2"/>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f9c857b24b_0_274"/>
          <p:cNvSpPr txBox="1"/>
          <p:nvPr/>
        </p:nvSpPr>
        <p:spPr>
          <a:xfrm>
            <a:off x="7589520" y="676656"/>
            <a:ext cx="11886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B94A32"/>
              </a:buClr>
              <a:buSzPts val="740"/>
              <a:buFont typeface="Calibri"/>
              <a:buNone/>
            </a:pPr>
            <a:r>
              <a:rPr b="1" i="0" lang="en-US" sz="740" u="none" cap="none" strike="noStrike">
                <a:solidFill>
                  <a:srgbClr val="B94A32"/>
                </a:solidFill>
                <a:latin typeface="Calibri"/>
                <a:ea typeface="Calibri"/>
                <a:cs typeface="Calibri"/>
                <a:sym typeface="Calibri"/>
              </a:rPr>
              <a:t>Fail, send back</a:t>
            </a:r>
            <a:endParaRPr b="0" i="0" sz="740" u="none" cap="none" strike="noStrike">
              <a:solidFill>
                <a:schemeClr val="dk1"/>
              </a:solidFill>
              <a:latin typeface="Calibri"/>
              <a:ea typeface="Calibri"/>
              <a:cs typeface="Calibri"/>
              <a:sym typeface="Calibri"/>
            </a:endParaRPr>
          </a:p>
        </p:txBody>
      </p:sp>
      <p:sp>
        <p:nvSpPr>
          <p:cNvPr id="117" name="Google Shape;117;g3f9c857b24b_0_274"/>
          <p:cNvSpPr/>
          <p:nvPr/>
        </p:nvSpPr>
        <p:spPr>
          <a:xfrm>
            <a:off x="6136538" y="3291840"/>
            <a:ext cx="16500" cy="4482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f9c857b24b_0_274"/>
          <p:cNvSpPr/>
          <p:nvPr/>
        </p:nvSpPr>
        <p:spPr>
          <a:xfrm>
            <a:off x="5733288" y="3283610"/>
            <a:ext cx="411600" cy="165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f9c857b24b_0_274"/>
          <p:cNvSpPr/>
          <p:nvPr/>
        </p:nvSpPr>
        <p:spPr>
          <a:xfrm>
            <a:off x="5725058" y="2203704"/>
            <a:ext cx="16500" cy="1088100"/>
          </a:xfrm>
          <a:prstGeom prst="rect">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f9c857b24b_0_274"/>
          <p:cNvSpPr/>
          <p:nvPr/>
        </p:nvSpPr>
        <p:spPr>
          <a:xfrm>
            <a:off x="5669280" y="2125980"/>
            <a:ext cx="128100" cy="155400"/>
          </a:xfrm>
          <a:prstGeom prst="upArrow">
            <a:avLst>
              <a:gd fmla="val 50000" name="adj1"/>
              <a:gd fmla="val 50000" name="adj2"/>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f9c857b24b_0_274"/>
          <p:cNvSpPr txBox="1"/>
          <p:nvPr/>
        </p:nvSpPr>
        <p:spPr>
          <a:xfrm>
            <a:off x="5180102" y="3056350"/>
            <a:ext cx="1518000" cy="183000"/>
          </a:xfrm>
          <a:prstGeom prst="rect">
            <a:avLst/>
          </a:prstGeom>
          <a:solidFill>
            <a:srgbClr val="FFFFFF"/>
          </a:solidFill>
          <a:ln>
            <a:noFill/>
          </a:ln>
        </p:spPr>
        <p:txBody>
          <a:bodyPr anchorCtr="0" anchor="ctr" bIns="0" lIns="0" spcFirstLastPara="1" rIns="0" wrap="square" tIns="0">
            <a:noAutofit/>
          </a:bodyPr>
          <a:lstStyle/>
          <a:p>
            <a:pPr indent="0" lvl="0" marL="0" marR="0" rtl="0" algn="ctr">
              <a:spcBef>
                <a:spcPts val="0"/>
              </a:spcBef>
              <a:spcAft>
                <a:spcPts val="0"/>
              </a:spcAft>
              <a:buClr>
                <a:srgbClr val="B94A32"/>
              </a:buClr>
              <a:buSzPts val="740"/>
              <a:buFont typeface="Calibri"/>
              <a:buNone/>
            </a:pPr>
            <a:r>
              <a:rPr b="1" i="0" lang="en-US" sz="740" u="none" cap="none" strike="noStrike">
                <a:solidFill>
                  <a:srgbClr val="B94A32"/>
                </a:solidFill>
                <a:latin typeface="Calibri"/>
                <a:ea typeface="Calibri"/>
                <a:cs typeface="Calibri"/>
                <a:sym typeface="Calibri"/>
              </a:rPr>
              <a:t>No, decide next iteration</a:t>
            </a:r>
            <a:endParaRPr b="0" i="0" sz="740" u="none" cap="none" strike="noStrike">
              <a:solidFill>
                <a:schemeClr val="dk1"/>
              </a:solidFill>
              <a:latin typeface="Calibri"/>
              <a:ea typeface="Calibri"/>
              <a:cs typeface="Calibri"/>
              <a:sym typeface="Calibri"/>
            </a:endParaRPr>
          </a:p>
        </p:txBody>
      </p:sp>
      <p:sp>
        <p:nvSpPr>
          <p:cNvPr id="122" name="Google Shape;122;g3f9c857b24b_0_274"/>
          <p:cNvSpPr/>
          <p:nvPr/>
        </p:nvSpPr>
        <p:spPr>
          <a:xfrm>
            <a:off x="566928" y="5230368"/>
            <a:ext cx="5559600" cy="1316700"/>
          </a:xfrm>
          <a:prstGeom prst="roundRect">
            <a:avLst>
              <a:gd fmla="val 4861" name="adj"/>
            </a:avLst>
          </a:prstGeom>
          <a:solidFill>
            <a:srgbClr val="F4F8F8"/>
          </a:solidFill>
          <a:ln cap="flat" cmpd="sng" w="15225">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f9c857b24b_0_274"/>
          <p:cNvSpPr txBox="1"/>
          <p:nvPr/>
        </p:nvSpPr>
        <p:spPr>
          <a:xfrm>
            <a:off x="713232" y="5303520"/>
            <a:ext cx="5266800" cy="201300"/>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0E6A74"/>
              </a:buClr>
              <a:buSzPts val="950"/>
              <a:buFont typeface="Calibri"/>
              <a:buNone/>
            </a:pPr>
            <a:r>
              <a:rPr b="1" i="0" lang="en-US" sz="950" u="none" cap="none" strike="noStrike">
                <a:solidFill>
                  <a:srgbClr val="0E6A74"/>
                </a:solidFill>
                <a:latin typeface="Calibri"/>
                <a:ea typeface="Calibri"/>
                <a:cs typeface="Calibri"/>
                <a:sym typeface="Calibri"/>
              </a:rPr>
              <a:t>Two ways out of the Divergence Point</a:t>
            </a:r>
            <a:endParaRPr b="0" i="0" sz="950" u="none" cap="none" strike="noStrike">
              <a:solidFill>
                <a:schemeClr val="dk1"/>
              </a:solidFill>
              <a:latin typeface="Calibri"/>
              <a:ea typeface="Calibri"/>
              <a:cs typeface="Calibri"/>
              <a:sym typeface="Calibri"/>
            </a:endParaRPr>
          </a:p>
        </p:txBody>
      </p:sp>
      <p:sp>
        <p:nvSpPr>
          <p:cNvPr id="124" name="Google Shape;124;g3f9c857b24b_0_274"/>
          <p:cNvSpPr txBox="1"/>
          <p:nvPr/>
        </p:nvSpPr>
        <p:spPr>
          <a:xfrm>
            <a:off x="713232" y="5559552"/>
            <a:ext cx="1773900" cy="183000"/>
          </a:xfrm>
          <a:prstGeom prst="rect">
            <a:avLst/>
          </a:prstGeom>
          <a:noFill/>
          <a:ln>
            <a:noFill/>
          </a:ln>
        </p:spPr>
        <p:txBody>
          <a:bodyPr anchorCtr="0" anchor="ctr" bIns="0" lIns="0" spcFirstLastPara="1" rIns="0" wrap="square" tIns="0">
            <a:noAutofit/>
          </a:bodyPr>
          <a:lstStyle/>
          <a:p>
            <a:pPr indent="0" lvl="0" marL="0" marR="0" rtl="0" algn="l">
              <a:lnSpc>
                <a:spcPct val="128205"/>
              </a:lnSpc>
              <a:spcBef>
                <a:spcPts val="0"/>
              </a:spcBef>
              <a:spcAft>
                <a:spcPts val="0"/>
              </a:spcAft>
              <a:buClr>
                <a:srgbClr val="7B5EA7"/>
              </a:buClr>
              <a:buSzPts val="780"/>
              <a:buFont typeface="Calibri"/>
              <a:buNone/>
            </a:pPr>
            <a:r>
              <a:rPr b="1" i="0" lang="en-US" sz="780" u="none" cap="none" strike="noStrike">
                <a:solidFill>
                  <a:srgbClr val="7B5EA7"/>
                </a:solidFill>
                <a:latin typeface="Calibri"/>
                <a:ea typeface="Calibri"/>
                <a:cs typeface="Calibri"/>
                <a:sym typeface="Calibri"/>
              </a:rPr>
              <a:t>Path 1 — human in the loop:</a:t>
            </a:r>
            <a:endParaRPr b="0" i="0" sz="780" u="none" cap="none" strike="noStrike">
              <a:solidFill>
                <a:schemeClr val="dk1"/>
              </a:solidFill>
              <a:latin typeface="Calibri"/>
              <a:ea typeface="Calibri"/>
              <a:cs typeface="Calibri"/>
              <a:sym typeface="Calibri"/>
            </a:endParaRPr>
          </a:p>
        </p:txBody>
      </p:sp>
      <p:sp>
        <p:nvSpPr>
          <p:cNvPr id="125" name="Google Shape;125;g3f9c857b24b_0_274"/>
          <p:cNvSpPr txBox="1"/>
          <p:nvPr/>
        </p:nvSpPr>
        <p:spPr>
          <a:xfrm>
            <a:off x="2523744" y="5559552"/>
            <a:ext cx="3474600" cy="183000"/>
          </a:xfrm>
          <a:prstGeom prst="rect">
            <a:avLst/>
          </a:prstGeom>
          <a:noFill/>
          <a:ln>
            <a:noFill/>
          </a:ln>
        </p:spPr>
        <p:txBody>
          <a:bodyPr anchorCtr="0" anchor="ctr" bIns="0" lIns="0" spcFirstLastPara="1" rIns="0" wrap="square" tIns="0">
            <a:noAutofit/>
          </a:bodyPr>
          <a:lstStyle/>
          <a:p>
            <a:pPr indent="0" lvl="0" marL="0" marR="0" rtl="0" algn="l">
              <a:lnSpc>
                <a:spcPct val="128205"/>
              </a:lnSpc>
              <a:spcBef>
                <a:spcPts val="0"/>
              </a:spcBef>
              <a:spcAft>
                <a:spcPts val="0"/>
              </a:spcAft>
              <a:buClr>
                <a:srgbClr val="15282D"/>
              </a:buClr>
              <a:buSzPts val="780"/>
              <a:buFont typeface="Calibri"/>
              <a:buNone/>
            </a:pPr>
            <a:r>
              <a:rPr b="0" i="0" lang="en-US" sz="780" u="none" cap="none" strike="noStrike">
                <a:solidFill>
                  <a:srgbClr val="15282D"/>
                </a:solidFill>
                <a:latin typeface="Calibri"/>
                <a:ea typeface="Calibri"/>
                <a:cs typeface="Calibri"/>
                <a:sym typeface="Calibri"/>
              </a:rPr>
              <a:t>an expert picks a prototype. Ends there.</a:t>
            </a:r>
            <a:endParaRPr b="0" i="0" sz="780" u="none" cap="none" strike="noStrike">
              <a:solidFill>
                <a:schemeClr val="dk1"/>
              </a:solidFill>
              <a:latin typeface="Calibri"/>
              <a:ea typeface="Calibri"/>
              <a:cs typeface="Calibri"/>
              <a:sym typeface="Calibri"/>
            </a:endParaRPr>
          </a:p>
        </p:txBody>
      </p:sp>
      <p:sp>
        <p:nvSpPr>
          <p:cNvPr id="126" name="Google Shape;126;g3f9c857b24b_0_274"/>
          <p:cNvSpPr txBox="1"/>
          <p:nvPr/>
        </p:nvSpPr>
        <p:spPr>
          <a:xfrm>
            <a:off x="713232" y="5779008"/>
            <a:ext cx="1773900" cy="183000"/>
          </a:xfrm>
          <a:prstGeom prst="rect">
            <a:avLst/>
          </a:prstGeom>
          <a:noFill/>
          <a:ln>
            <a:noFill/>
          </a:ln>
        </p:spPr>
        <p:txBody>
          <a:bodyPr anchorCtr="0" anchor="ctr" bIns="0" lIns="0" spcFirstLastPara="1" rIns="0" wrap="square" tIns="0">
            <a:noAutofit/>
          </a:bodyPr>
          <a:lstStyle/>
          <a:p>
            <a:pPr indent="0" lvl="0" marL="0" marR="0" rtl="0" algn="l">
              <a:lnSpc>
                <a:spcPct val="128205"/>
              </a:lnSpc>
              <a:spcBef>
                <a:spcPts val="0"/>
              </a:spcBef>
              <a:spcAft>
                <a:spcPts val="0"/>
              </a:spcAft>
              <a:buClr>
                <a:srgbClr val="0E6A74"/>
              </a:buClr>
              <a:buSzPts val="780"/>
              <a:buFont typeface="Calibri"/>
              <a:buNone/>
            </a:pPr>
            <a:r>
              <a:rPr b="1" i="0" lang="en-US" sz="780" u="none" cap="none" strike="noStrike">
                <a:solidFill>
                  <a:srgbClr val="0E6A74"/>
                </a:solidFill>
                <a:latin typeface="Calibri"/>
                <a:ea typeface="Calibri"/>
                <a:cs typeface="Calibri"/>
                <a:sym typeface="Calibri"/>
              </a:rPr>
              <a:t>Path 2 — simulate and iterate:</a:t>
            </a:r>
            <a:endParaRPr b="0" i="0" sz="780" u="none" cap="none" strike="noStrike">
              <a:solidFill>
                <a:schemeClr val="dk1"/>
              </a:solidFill>
              <a:latin typeface="Calibri"/>
              <a:ea typeface="Calibri"/>
              <a:cs typeface="Calibri"/>
              <a:sym typeface="Calibri"/>
            </a:endParaRPr>
          </a:p>
        </p:txBody>
      </p:sp>
      <p:sp>
        <p:nvSpPr>
          <p:cNvPr id="127" name="Google Shape;127;g3f9c857b24b_0_274"/>
          <p:cNvSpPr txBox="1"/>
          <p:nvPr/>
        </p:nvSpPr>
        <p:spPr>
          <a:xfrm>
            <a:off x="2523744" y="5779008"/>
            <a:ext cx="3474600" cy="183000"/>
          </a:xfrm>
          <a:prstGeom prst="rect">
            <a:avLst/>
          </a:prstGeom>
          <a:noFill/>
          <a:ln>
            <a:noFill/>
          </a:ln>
        </p:spPr>
        <p:txBody>
          <a:bodyPr anchorCtr="0" anchor="ctr" bIns="0" lIns="0" spcFirstLastPara="1" rIns="0" wrap="square" tIns="0">
            <a:noAutofit/>
          </a:bodyPr>
          <a:lstStyle/>
          <a:p>
            <a:pPr indent="0" lvl="0" marL="0" marR="0" rtl="0" algn="l">
              <a:lnSpc>
                <a:spcPct val="128205"/>
              </a:lnSpc>
              <a:spcBef>
                <a:spcPts val="0"/>
              </a:spcBef>
              <a:spcAft>
                <a:spcPts val="0"/>
              </a:spcAft>
              <a:buClr>
                <a:srgbClr val="15282D"/>
              </a:buClr>
              <a:buSzPts val="780"/>
              <a:buFont typeface="Calibri"/>
              <a:buNone/>
            </a:pPr>
            <a:r>
              <a:rPr b="0" i="0" lang="en-US" sz="780" u="none" cap="none" strike="noStrike">
                <a:solidFill>
                  <a:srgbClr val="15282D"/>
                </a:solidFill>
                <a:latin typeface="Calibri"/>
                <a:ea typeface="Calibri"/>
                <a:cs typeface="Calibri"/>
                <a:sym typeface="Calibri"/>
              </a:rPr>
              <a:t>metrics computed, agent reads them, loop decides.</a:t>
            </a:r>
            <a:endParaRPr b="0" i="0" sz="780" u="none" cap="none" strike="noStrike">
              <a:solidFill>
                <a:schemeClr val="dk1"/>
              </a:solidFill>
              <a:latin typeface="Calibri"/>
              <a:ea typeface="Calibri"/>
              <a:cs typeface="Calibri"/>
              <a:sym typeface="Calibri"/>
            </a:endParaRPr>
          </a:p>
        </p:txBody>
      </p:sp>
      <p:sp>
        <p:nvSpPr>
          <p:cNvPr id="128" name="Google Shape;128;g3f9c857b24b_0_274"/>
          <p:cNvSpPr txBox="1"/>
          <p:nvPr/>
        </p:nvSpPr>
        <p:spPr>
          <a:xfrm>
            <a:off x="713232" y="6071616"/>
            <a:ext cx="5266800" cy="384000"/>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B94A32"/>
              </a:buClr>
              <a:buSzPts val="780"/>
              <a:buFont typeface="Calibri"/>
              <a:buNone/>
            </a:pPr>
            <a:r>
              <a:rPr b="1" i="0" lang="en-US" sz="780" u="none" cap="none" strike="noStrike">
                <a:solidFill>
                  <a:srgbClr val="B94A32"/>
                </a:solidFill>
                <a:latin typeface="Calibri"/>
                <a:ea typeface="Calibri"/>
                <a:cs typeface="Calibri"/>
                <a:sym typeface="Calibri"/>
              </a:rPr>
              <a:t>Both feedback edges — inspection failure and target not met — return to Parameter Set Generation. That is the only re-entry point.</a:t>
            </a:r>
            <a:endParaRPr b="0" i="0" sz="780" u="none" cap="none" strike="noStrike">
              <a:solidFill>
                <a:schemeClr val="dk1"/>
              </a:solidFill>
              <a:latin typeface="Calibri"/>
              <a:ea typeface="Calibri"/>
              <a:cs typeface="Calibri"/>
              <a:sym typeface="Calibri"/>
            </a:endParaRPr>
          </a:p>
        </p:txBody>
      </p:sp>
      <p:sp>
        <p:nvSpPr>
          <p:cNvPr id="129" name="Google Shape;129;g3f9c857b24b_0_274"/>
          <p:cNvSpPr/>
          <p:nvPr/>
        </p:nvSpPr>
        <p:spPr>
          <a:xfrm>
            <a:off x="6327648" y="5230368"/>
            <a:ext cx="5294400" cy="1316700"/>
          </a:xfrm>
          <a:prstGeom prst="roundRect">
            <a:avLst>
              <a:gd fmla="val 4861" name="adj"/>
            </a:avLst>
          </a:prstGeom>
          <a:solidFill>
            <a:srgbClr val="F4F8F8"/>
          </a:solidFill>
          <a:ln cap="flat" cmpd="sng" w="15225">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f9c857b24b_0_274"/>
          <p:cNvSpPr txBox="1"/>
          <p:nvPr/>
        </p:nvSpPr>
        <p:spPr>
          <a:xfrm>
            <a:off x="6473952" y="5303520"/>
            <a:ext cx="5001900" cy="201300"/>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0E6A74"/>
              </a:buClr>
              <a:buSzPts val="950"/>
              <a:buFont typeface="Calibri"/>
              <a:buNone/>
            </a:pPr>
            <a:r>
              <a:rPr b="1" i="0" lang="en-US" sz="950" u="none" cap="none" strike="noStrike">
                <a:solidFill>
                  <a:srgbClr val="0E6A74"/>
                </a:solidFill>
                <a:latin typeface="Calibri"/>
                <a:ea typeface="Calibri"/>
                <a:cs typeface="Calibri"/>
                <a:sym typeface="Calibri"/>
              </a:rPr>
              <a:t>Colour key</a:t>
            </a:r>
            <a:endParaRPr b="0" i="0" sz="950" u="none" cap="none" strike="noStrike">
              <a:solidFill>
                <a:schemeClr val="dk1"/>
              </a:solidFill>
              <a:latin typeface="Calibri"/>
              <a:ea typeface="Calibri"/>
              <a:cs typeface="Calibri"/>
              <a:sym typeface="Calibri"/>
            </a:endParaRPr>
          </a:p>
        </p:txBody>
      </p:sp>
      <p:sp>
        <p:nvSpPr>
          <p:cNvPr id="131" name="Google Shape;131;g3f9c857b24b_0_274"/>
          <p:cNvSpPr txBox="1"/>
          <p:nvPr/>
        </p:nvSpPr>
        <p:spPr>
          <a:xfrm>
            <a:off x="6473952" y="6108192"/>
            <a:ext cx="5001900" cy="384000"/>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4E7FB0"/>
              </a:buClr>
              <a:buSzPts val="780"/>
              <a:buFont typeface="Calibri"/>
              <a:buNone/>
            </a:pPr>
            <a:r>
              <a:rPr b="1" i="0" lang="en-US" sz="780" u="none" cap="none" strike="noStrike">
                <a:solidFill>
                  <a:srgbClr val="4E7FB0"/>
                </a:solidFill>
                <a:latin typeface="Calibri"/>
                <a:ea typeface="Calibri"/>
                <a:cs typeface="Calibri"/>
                <a:sym typeface="Calibri"/>
              </a:rPr>
              <a:t>Scan evidence also feeds the priors: product scans → commercial benchmarks; combined ear-mold + worn-product scans → real wearing relationship.</a:t>
            </a:r>
            <a:endParaRPr b="0" i="0" sz="780" u="none" cap="none" strike="noStrike">
              <a:solidFill>
                <a:schemeClr val="dk1"/>
              </a:solidFill>
              <a:latin typeface="Calibri"/>
              <a:ea typeface="Calibri"/>
              <a:cs typeface="Calibri"/>
              <a:sym typeface="Calibri"/>
            </a:endParaRPr>
          </a:p>
        </p:txBody>
      </p:sp>
      <p:sp>
        <p:nvSpPr>
          <p:cNvPr id="132" name="Google Shape;132;g3f9c857b24b_0_274"/>
          <p:cNvSpPr/>
          <p:nvPr/>
        </p:nvSpPr>
        <p:spPr>
          <a:xfrm>
            <a:off x="3447288" y="4161434"/>
            <a:ext cx="137100" cy="16500"/>
          </a:xfrm>
          <a:prstGeom prst="rect">
            <a:avLst/>
          </a:prstGeom>
          <a:solidFill>
            <a:srgbClr val="A9772A"/>
          </a:solidFill>
          <a:ln cap="flat" cmpd="sng" w="12700">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f9c857b24b_0_274"/>
          <p:cNvSpPr/>
          <p:nvPr/>
        </p:nvSpPr>
        <p:spPr>
          <a:xfrm>
            <a:off x="3576218" y="1746504"/>
            <a:ext cx="16500" cy="2423100"/>
          </a:xfrm>
          <a:prstGeom prst="rect">
            <a:avLst/>
          </a:prstGeom>
          <a:solidFill>
            <a:srgbClr val="A9772A"/>
          </a:solidFill>
          <a:ln cap="flat" cmpd="sng" w="12700">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f9c857b24b_0_274"/>
          <p:cNvSpPr/>
          <p:nvPr/>
        </p:nvSpPr>
        <p:spPr>
          <a:xfrm>
            <a:off x="3579876" y="1682496"/>
            <a:ext cx="155400" cy="128100"/>
          </a:xfrm>
          <a:prstGeom prst="rightArrow">
            <a:avLst>
              <a:gd fmla="val 50000" name="adj1"/>
              <a:gd fmla="val 50000" name="adj2"/>
            </a:avLst>
          </a:prstGeom>
          <a:solidFill>
            <a:srgbClr val="A9772A"/>
          </a:solidFill>
          <a:ln cap="flat" cmpd="sng" w="12700">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f9c857b24b_0_274"/>
          <p:cNvSpPr/>
          <p:nvPr/>
        </p:nvSpPr>
        <p:spPr>
          <a:xfrm>
            <a:off x="3802312" y="3639388"/>
            <a:ext cx="1622100" cy="1316700"/>
          </a:xfrm>
          <a:prstGeom prst="roundRect">
            <a:avLst>
              <a:gd fmla="val 4167" name="adj"/>
            </a:avLst>
          </a:prstGeom>
          <a:solidFill>
            <a:srgbClr val="15282D"/>
          </a:solidFill>
          <a:ln cap="flat" cmpd="sng" w="15225">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f9c857b24b_0_274"/>
          <p:cNvSpPr txBox="1"/>
          <p:nvPr/>
        </p:nvSpPr>
        <p:spPr>
          <a:xfrm>
            <a:off x="3833206" y="3639388"/>
            <a:ext cx="1560300" cy="1316700"/>
          </a:xfrm>
          <a:prstGeom prst="rect">
            <a:avLst/>
          </a:prstGeom>
          <a:noFill/>
          <a:ln>
            <a:noFill/>
          </a:ln>
        </p:spPr>
        <p:txBody>
          <a:bodyPr anchorCtr="0" anchor="ctr" bIns="0" lIns="0" spcFirstLastPara="1" rIns="0" wrap="square" tIns="0">
            <a:noAutofit/>
          </a:bodyPr>
          <a:lstStyle/>
          <a:p>
            <a:pPr indent="0" lvl="0" marL="0" marR="0" rtl="0" algn="ctr">
              <a:lnSpc>
                <a:spcPct val="130952"/>
              </a:lnSpc>
              <a:spcBef>
                <a:spcPts val="0"/>
              </a:spcBef>
              <a:spcAft>
                <a:spcPts val="0"/>
              </a:spcAft>
              <a:buClr>
                <a:srgbClr val="FFFFFF"/>
              </a:buClr>
              <a:buSzPts val="839"/>
              <a:buFont typeface="Calibri"/>
              <a:buNone/>
            </a:pPr>
            <a:r>
              <a:rPr b="1" i="0" lang="en-US" sz="840" u="none" cap="none" strike="noStrike">
                <a:solidFill>
                  <a:srgbClr val="FFFFFF"/>
                </a:solidFill>
                <a:latin typeface="Calibri"/>
                <a:ea typeface="Calibri"/>
                <a:cs typeface="Calibri"/>
                <a:sym typeface="Calibri"/>
              </a:rPr>
              <a:t>Converged Delivery</a:t>
            </a:r>
            <a:endParaRPr b="0" i="0" sz="840" u="none" cap="none" strike="noStrike">
              <a:solidFill>
                <a:srgbClr val="000000"/>
              </a:solidFill>
              <a:latin typeface="Calibri"/>
              <a:ea typeface="Calibri"/>
              <a:cs typeface="Calibri"/>
              <a:sym typeface="Calibri"/>
            </a:endParaRPr>
          </a:p>
          <a:p>
            <a:pPr indent="0" lvl="0" marL="0" marR="0" rtl="0" algn="ctr">
              <a:lnSpc>
                <a:spcPct val="130952"/>
              </a:lnSpc>
              <a:spcBef>
                <a:spcPts val="0"/>
              </a:spcBef>
              <a:spcAft>
                <a:spcPts val="0"/>
              </a:spcAft>
              <a:buClr>
                <a:srgbClr val="FFFFFF"/>
              </a:buClr>
              <a:buSzPts val="839"/>
              <a:buFont typeface="Calibri"/>
              <a:buNone/>
            </a:pPr>
            <a:r>
              <a:rPr b="1" i="0" lang="en-US" sz="840" u="none" cap="none" strike="noStrike">
                <a:solidFill>
                  <a:srgbClr val="FFFFFF"/>
                </a:solidFill>
                <a:latin typeface="Calibri"/>
                <a:ea typeface="Calibri"/>
                <a:cs typeface="Calibri"/>
                <a:sym typeface="Calibri"/>
              </a:rPr>
              <a:t>Model + Full Generation</a:t>
            </a:r>
            <a:endParaRPr b="0" i="0" sz="840" u="none" cap="none" strike="noStrike">
              <a:solidFill>
                <a:srgbClr val="000000"/>
              </a:solidFill>
              <a:latin typeface="Calibri"/>
              <a:ea typeface="Calibri"/>
              <a:cs typeface="Calibri"/>
              <a:sym typeface="Calibri"/>
            </a:endParaRPr>
          </a:p>
          <a:p>
            <a:pPr indent="0" lvl="0" marL="0" marR="0" rtl="0" algn="ctr">
              <a:lnSpc>
                <a:spcPct val="130952"/>
              </a:lnSpc>
              <a:spcBef>
                <a:spcPts val="0"/>
              </a:spcBef>
              <a:spcAft>
                <a:spcPts val="0"/>
              </a:spcAft>
              <a:buClr>
                <a:srgbClr val="FFFFFF"/>
              </a:buClr>
              <a:buSzPts val="839"/>
              <a:buFont typeface="Calibri"/>
              <a:buNone/>
            </a:pPr>
            <a:r>
              <a:rPr b="1" i="0" lang="en-US" sz="840" u="none" cap="none" strike="noStrike">
                <a:solidFill>
                  <a:srgbClr val="FFFFFF"/>
                </a:solidFill>
                <a:latin typeface="Calibri"/>
                <a:ea typeface="Calibri"/>
                <a:cs typeface="Calibri"/>
                <a:sym typeface="Calibri"/>
              </a:rPr>
              <a:t>Traceability Chain</a:t>
            </a:r>
            <a:endParaRPr b="0" i="0" sz="840" u="none" cap="none" strike="noStrike">
              <a:solidFill>
                <a:srgbClr val="000000"/>
              </a:solidFill>
              <a:latin typeface="Calibri"/>
              <a:ea typeface="Calibri"/>
              <a:cs typeface="Calibri"/>
              <a:sym typeface="Calibri"/>
            </a:endParaRPr>
          </a:p>
        </p:txBody>
      </p:sp>
      <p:sp>
        <p:nvSpPr>
          <p:cNvPr id="137" name="Google Shape;137;g3f9c857b24b_0_274"/>
          <p:cNvSpPr/>
          <p:nvPr/>
        </p:nvSpPr>
        <p:spPr>
          <a:xfrm>
            <a:off x="6473952" y="5605272"/>
            <a:ext cx="137100" cy="137100"/>
          </a:xfrm>
          <a:prstGeom prst="roundRect">
            <a:avLst>
              <a:gd fmla="val 26667" name="adj"/>
            </a:avLst>
          </a:prstGeom>
          <a:solidFill>
            <a:srgbClr val="4E7FB0"/>
          </a:solidFill>
          <a:ln cap="flat" cmpd="sng" w="12700">
            <a:solidFill>
              <a:srgbClr val="4E7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9c857b24b_0_274"/>
          <p:cNvSpPr txBox="1"/>
          <p:nvPr/>
        </p:nvSpPr>
        <p:spPr>
          <a:xfrm>
            <a:off x="6656832" y="5577840"/>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3D scan evidence</a:t>
            </a:r>
            <a:endParaRPr b="0" i="0" sz="760" u="none" cap="none" strike="noStrike">
              <a:solidFill>
                <a:srgbClr val="000000"/>
              </a:solidFill>
              <a:latin typeface="Calibri"/>
              <a:ea typeface="Calibri"/>
              <a:cs typeface="Calibri"/>
              <a:sym typeface="Calibri"/>
            </a:endParaRPr>
          </a:p>
        </p:txBody>
      </p:sp>
      <p:sp>
        <p:nvSpPr>
          <p:cNvPr id="139" name="Google Shape;139;g3f9c857b24b_0_274"/>
          <p:cNvSpPr/>
          <p:nvPr/>
        </p:nvSpPr>
        <p:spPr>
          <a:xfrm>
            <a:off x="8165592" y="5605272"/>
            <a:ext cx="137100" cy="137100"/>
          </a:xfrm>
          <a:prstGeom prst="roundRect">
            <a:avLst>
              <a:gd fmla="val 26667" name="adj"/>
            </a:avLst>
          </a:prstGeom>
          <a:solidFill>
            <a:srgbClr val="A9772A"/>
          </a:solidFill>
          <a:ln cap="flat" cmpd="sng" w="12700">
            <a:solidFill>
              <a:srgbClr val="A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f9c857b24b_0_274"/>
          <p:cNvSpPr txBox="1"/>
          <p:nvPr/>
        </p:nvSpPr>
        <p:spPr>
          <a:xfrm>
            <a:off x="8348472" y="5577840"/>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prior knowledge</a:t>
            </a:r>
            <a:endParaRPr b="0" i="0" sz="760" u="none" cap="none" strike="noStrike">
              <a:solidFill>
                <a:srgbClr val="000000"/>
              </a:solidFill>
              <a:latin typeface="Calibri"/>
              <a:ea typeface="Calibri"/>
              <a:cs typeface="Calibri"/>
              <a:sym typeface="Calibri"/>
            </a:endParaRPr>
          </a:p>
        </p:txBody>
      </p:sp>
      <p:sp>
        <p:nvSpPr>
          <p:cNvPr id="141" name="Google Shape;141;g3f9c857b24b_0_274"/>
          <p:cNvSpPr/>
          <p:nvPr/>
        </p:nvSpPr>
        <p:spPr>
          <a:xfrm>
            <a:off x="9857232" y="5605272"/>
            <a:ext cx="137100" cy="137100"/>
          </a:xfrm>
          <a:prstGeom prst="roundRect">
            <a:avLst>
              <a:gd fmla="val 26667" name="adj"/>
            </a:avLst>
          </a:prstGeom>
          <a:solidFill>
            <a:srgbClr val="0E6A74"/>
          </a:solidFill>
          <a:ln cap="flat" cmpd="sng" w="12700">
            <a:solidFill>
              <a:srgbClr val="0E6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f9c857b24b_0_274"/>
          <p:cNvSpPr txBox="1"/>
          <p:nvPr/>
        </p:nvSpPr>
        <p:spPr>
          <a:xfrm>
            <a:off x="10040112" y="5577840"/>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agent / tooling</a:t>
            </a:r>
            <a:endParaRPr b="0" i="0" sz="760" u="none" cap="none" strike="noStrike">
              <a:solidFill>
                <a:srgbClr val="000000"/>
              </a:solidFill>
              <a:latin typeface="Calibri"/>
              <a:ea typeface="Calibri"/>
              <a:cs typeface="Calibri"/>
              <a:sym typeface="Calibri"/>
            </a:endParaRPr>
          </a:p>
        </p:txBody>
      </p:sp>
      <p:sp>
        <p:nvSpPr>
          <p:cNvPr id="143" name="Google Shape;143;g3f9c857b24b_0_274"/>
          <p:cNvSpPr/>
          <p:nvPr/>
        </p:nvSpPr>
        <p:spPr>
          <a:xfrm>
            <a:off x="6473952" y="5843016"/>
            <a:ext cx="137100" cy="137100"/>
          </a:xfrm>
          <a:prstGeom prst="roundRect">
            <a:avLst>
              <a:gd fmla="val 26667" name="adj"/>
            </a:avLst>
          </a:prstGeom>
          <a:solidFill>
            <a:srgbClr val="B94A32"/>
          </a:solidFill>
          <a:ln cap="flat" cmpd="sng" w="12700">
            <a:solidFill>
              <a:srgbClr val="B94A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f9c857b24b_0_274"/>
          <p:cNvSpPr txBox="1"/>
          <p:nvPr/>
        </p:nvSpPr>
        <p:spPr>
          <a:xfrm>
            <a:off x="6656832" y="5815584"/>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decision &amp; feedback</a:t>
            </a:r>
            <a:endParaRPr b="0" i="0" sz="760" u="none" cap="none" strike="noStrike">
              <a:solidFill>
                <a:srgbClr val="000000"/>
              </a:solidFill>
              <a:latin typeface="Calibri"/>
              <a:ea typeface="Calibri"/>
              <a:cs typeface="Calibri"/>
              <a:sym typeface="Calibri"/>
            </a:endParaRPr>
          </a:p>
        </p:txBody>
      </p:sp>
      <p:sp>
        <p:nvSpPr>
          <p:cNvPr id="145" name="Google Shape;145;g3f9c857b24b_0_274"/>
          <p:cNvSpPr/>
          <p:nvPr/>
        </p:nvSpPr>
        <p:spPr>
          <a:xfrm>
            <a:off x="8165592" y="5843016"/>
            <a:ext cx="137100" cy="137100"/>
          </a:xfrm>
          <a:prstGeom prst="roundRect">
            <a:avLst>
              <a:gd fmla="val 26667" name="adj"/>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f9c857b24b_0_274"/>
          <p:cNvSpPr txBox="1"/>
          <p:nvPr/>
        </p:nvSpPr>
        <p:spPr>
          <a:xfrm>
            <a:off x="8348472" y="5815584"/>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human in the loop</a:t>
            </a:r>
            <a:endParaRPr b="0" i="0" sz="760" u="none" cap="none" strike="noStrike">
              <a:solidFill>
                <a:srgbClr val="000000"/>
              </a:solidFill>
              <a:latin typeface="Calibri"/>
              <a:ea typeface="Calibri"/>
              <a:cs typeface="Calibri"/>
              <a:sym typeface="Calibri"/>
            </a:endParaRPr>
          </a:p>
        </p:txBody>
      </p:sp>
      <p:sp>
        <p:nvSpPr>
          <p:cNvPr id="147" name="Google Shape;147;g3f9c857b24b_0_274"/>
          <p:cNvSpPr/>
          <p:nvPr/>
        </p:nvSpPr>
        <p:spPr>
          <a:xfrm>
            <a:off x="9857232" y="5843016"/>
            <a:ext cx="137100" cy="137100"/>
          </a:xfrm>
          <a:prstGeom prst="roundRect">
            <a:avLst>
              <a:gd fmla="val 26667" name="adj"/>
            </a:avLst>
          </a:prstGeom>
          <a:solidFill>
            <a:srgbClr val="15282D"/>
          </a:solidFill>
          <a:ln cap="flat" cmpd="sng" w="12700">
            <a:solidFill>
              <a:srgbClr val="1528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f9c857b24b_0_274"/>
          <p:cNvSpPr txBox="1"/>
          <p:nvPr/>
        </p:nvSpPr>
        <p:spPr>
          <a:xfrm>
            <a:off x="10040112" y="5815584"/>
            <a:ext cx="1481400" cy="1920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6B7F85"/>
              </a:buClr>
              <a:buSzPts val="760"/>
              <a:buFont typeface="Calibri"/>
              <a:buNone/>
            </a:pPr>
            <a:r>
              <a:rPr b="0" i="0" lang="en-US" sz="760" u="none" cap="none" strike="noStrike">
                <a:solidFill>
                  <a:srgbClr val="6B7F85"/>
                </a:solidFill>
                <a:latin typeface="Calibri"/>
                <a:ea typeface="Calibri"/>
                <a:cs typeface="Calibri"/>
                <a:sym typeface="Calibri"/>
              </a:rPr>
              <a:t>converged output</a:t>
            </a:r>
            <a:endParaRPr b="0" i="0" sz="760" u="none" cap="none" strike="noStrike">
              <a:solidFill>
                <a:srgbClr val="000000"/>
              </a:solidFill>
              <a:latin typeface="Calibri"/>
              <a:ea typeface="Calibri"/>
              <a:cs typeface="Calibri"/>
              <a:sym typeface="Calibri"/>
            </a:endParaRPr>
          </a:p>
        </p:txBody>
      </p:sp>
      <p:sp>
        <p:nvSpPr>
          <p:cNvPr id="149" name="Google Shape;149;g3f9c857b24b_0_274"/>
          <p:cNvSpPr txBox="1"/>
          <p:nvPr/>
        </p:nvSpPr>
        <p:spPr>
          <a:xfrm>
            <a:off x="2337225" y="2701625"/>
            <a:ext cx="1239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highlight>
                  <a:srgbClr val="FFFF00"/>
                </a:highlight>
              </a:rPr>
              <a:t>Bo Shishi</a:t>
            </a:r>
            <a:endParaRPr>
              <a:highlight>
                <a:srgbClr val="FFFF00"/>
              </a:highlight>
            </a:endParaRPr>
          </a:p>
        </p:txBody>
      </p:sp>
      <p:sp>
        <p:nvSpPr>
          <p:cNvPr id="150" name="Google Shape;150;g3f9c857b24b_0_274"/>
          <p:cNvSpPr txBox="1"/>
          <p:nvPr/>
        </p:nvSpPr>
        <p:spPr>
          <a:xfrm>
            <a:off x="6458488" y="2131725"/>
            <a:ext cx="1239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highlight>
                  <a:srgbClr val="FFFF00"/>
                </a:highlight>
              </a:rPr>
              <a:t>Li Yuajia</a:t>
            </a:r>
            <a:endParaRPr>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f9c857b24b_0_0"/>
          <p:cNvSpPr txBox="1"/>
          <p:nvPr/>
        </p:nvSpPr>
        <p:spPr>
          <a:xfrm>
            <a:off x="640080" y="1920240"/>
            <a:ext cx="10241400" cy="17373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5282D"/>
              </a:buClr>
              <a:buSzPts val="4600"/>
              <a:buFont typeface="Cambria"/>
              <a:buNone/>
            </a:pPr>
            <a:r>
              <a:rPr b="1" lang="en-US" sz="4600">
                <a:solidFill>
                  <a:srgbClr val="15282D"/>
                </a:solidFill>
                <a:latin typeface="Cambria"/>
                <a:ea typeface="Cambria"/>
                <a:cs typeface="Cambria"/>
                <a:sym typeface="Cambria"/>
              </a:rPr>
              <a:t>AI-Based Workflow</a:t>
            </a:r>
            <a:endParaRPr b="0" i="0" sz="4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g3f9c857b24b_0_5"/>
          <p:cNvSpPr txBox="1"/>
          <p:nvPr/>
        </p:nvSpPr>
        <p:spPr>
          <a:xfrm>
            <a:off x="457200" y="457200"/>
            <a:ext cx="7315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396"/>
              </a:buClr>
              <a:buSzPts val="1050"/>
              <a:buFont typeface="Calibri"/>
              <a:buNone/>
            </a:pPr>
            <a:r>
              <a:rPr b="1" i="0" lang="en-US" sz="1050" u="none" cap="none" strike="noStrike">
                <a:solidFill>
                  <a:srgbClr val="6B7396"/>
                </a:solidFill>
                <a:latin typeface="Calibri"/>
                <a:ea typeface="Calibri"/>
                <a:cs typeface="Calibri"/>
                <a:sym typeface="Calibri"/>
              </a:rPr>
              <a:t>PROGRESS SUMMARY  ·  31 AUGUST</a:t>
            </a:r>
            <a:endParaRPr b="0" i="0" sz="1050" u="none" cap="none" strike="noStrike">
              <a:solidFill>
                <a:schemeClr val="dk1"/>
              </a:solidFill>
              <a:latin typeface="Calibri"/>
              <a:ea typeface="Calibri"/>
              <a:cs typeface="Calibri"/>
              <a:sym typeface="Calibri"/>
            </a:endParaRPr>
          </a:p>
        </p:txBody>
      </p:sp>
      <p:sp>
        <p:nvSpPr>
          <p:cNvPr id="163" name="Google Shape;163;g3f9c857b24b_0_5"/>
          <p:cNvSpPr txBox="1"/>
          <p:nvPr/>
        </p:nvSpPr>
        <p:spPr>
          <a:xfrm>
            <a:off x="457200" y="713232"/>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3800"/>
              <a:buFont typeface="Cambria"/>
              <a:buNone/>
            </a:pPr>
            <a:r>
              <a:rPr b="1" i="0" lang="en-US" sz="3800" u="none" cap="none" strike="noStrike">
                <a:solidFill>
                  <a:srgbClr val="141A3C"/>
                </a:solidFill>
                <a:latin typeface="Cambria"/>
                <a:ea typeface="Cambria"/>
                <a:cs typeface="Cambria"/>
                <a:sym typeface="Cambria"/>
              </a:rPr>
              <a:t>Measuring the Ear Does Not Design the Earbud</a:t>
            </a:r>
            <a:endParaRPr b="0" i="0" sz="3800" u="none" cap="none" strike="noStrike">
              <a:solidFill>
                <a:schemeClr val="dk1"/>
              </a:solidFill>
              <a:latin typeface="Calibri"/>
              <a:ea typeface="Calibri"/>
              <a:cs typeface="Calibri"/>
              <a:sym typeface="Calibri"/>
            </a:endParaRPr>
          </a:p>
        </p:txBody>
      </p:sp>
      <p:sp>
        <p:nvSpPr>
          <p:cNvPr id="164" name="Google Shape;164;g3f9c857b24b_0_5"/>
          <p:cNvSpPr txBox="1"/>
          <p:nvPr/>
        </p:nvSpPr>
        <p:spPr>
          <a:xfrm>
            <a:off x="457200" y="1371600"/>
            <a:ext cx="11274600" cy="567000"/>
          </a:xfrm>
          <a:prstGeom prst="rect">
            <a:avLst/>
          </a:prstGeom>
          <a:noFill/>
          <a:ln>
            <a:noFill/>
          </a:ln>
        </p:spPr>
        <p:txBody>
          <a:bodyPr anchorCtr="0" anchor="ctr" bIns="0" lIns="0" spcFirstLastPara="1" rIns="0" wrap="square" tIns="0">
            <a:noAutofit/>
          </a:bodyPr>
          <a:lstStyle/>
          <a:p>
            <a:pPr indent="0" lvl="0" marL="0" marR="0" rtl="0" algn="l">
              <a:lnSpc>
                <a:spcPct val="137931"/>
              </a:lnSpc>
              <a:spcBef>
                <a:spcPts val="0"/>
              </a:spcBef>
              <a:spcAft>
                <a:spcPts val="0"/>
              </a:spcAft>
              <a:buClr>
                <a:srgbClr val="3A4468"/>
              </a:buClr>
              <a:buSzPts val="1450"/>
              <a:buFont typeface="Calibri"/>
              <a:buNone/>
            </a:pPr>
            <a:r>
              <a:rPr b="0" i="0" lang="en-US" sz="1450" u="none" cap="none" strike="noStrike">
                <a:solidFill>
                  <a:srgbClr val="3A4468"/>
                </a:solidFill>
                <a:latin typeface="Calibri"/>
                <a:ea typeface="Calibri"/>
                <a:cs typeface="Calibri"/>
                <a:sym typeface="Calibri"/>
              </a:rPr>
              <a:t>Knowing someone's exact foot size does not tell you what shoe to make. Our ear scans have the same problem: they measure everything and design nothing.</a:t>
            </a:r>
            <a:endParaRPr b="0" i="0" sz="1450" u="none" cap="none" strike="noStrike">
              <a:solidFill>
                <a:schemeClr val="dk1"/>
              </a:solidFill>
              <a:latin typeface="Calibri"/>
              <a:ea typeface="Calibri"/>
              <a:cs typeface="Calibri"/>
              <a:sym typeface="Calibri"/>
            </a:endParaRPr>
          </a:p>
        </p:txBody>
      </p:sp>
      <p:sp>
        <p:nvSpPr>
          <p:cNvPr id="165" name="Google Shape;165;g3f9c857b24b_0_5"/>
          <p:cNvSpPr/>
          <p:nvPr/>
        </p:nvSpPr>
        <p:spPr>
          <a:xfrm>
            <a:off x="457200" y="1993392"/>
            <a:ext cx="3291900" cy="841200"/>
          </a:xfrm>
          <a:prstGeom prst="roundRect">
            <a:avLst>
              <a:gd fmla="val 10870"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9c857b24b_0_5"/>
          <p:cNvSpPr txBox="1"/>
          <p:nvPr/>
        </p:nvSpPr>
        <p:spPr>
          <a:xfrm>
            <a:off x="594360" y="2066544"/>
            <a:ext cx="3017400" cy="694800"/>
          </a:xfrm>
          <a:prstGeom prst="rect">
            <a:avLst/>
          </a:prstGeom>
          <a:noFill/>
          <a:ln>
            <a:noFill/>
          </a:ln>
        </p:spPr>
        <p:txBody>
          <a:bodyPr anchorCtr="0" anchor="ctr" bIns="0" lIns="0" spcFirstLastPara="1" rIns="0" wrap="square" tIns="0">
            <a:noAutofit/>
          </a:bodyPr>
          <a:lstStyle/>
          <a:p>
            <a:pPr indent="0" lvl="0" marL="0" marR="0" rtl="0" algn="ctr">
              <a:lnSpc>
                <a:spcPct val="115384"/>
              </a:lnSpc>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We scanned ears</a:t>
            </a:r>
            <a:endParaRPr b="0" i="0" sz="13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sizes, curves, empty space, how ears differ</a:t>
            </a:r>
            <a:endParaRPr b="0" i="0" sz="1300" u="none" cap="none" strike="noStrike">
              <a:solidFill>
                <a:schemeClr val="dk1"/>
              </a:solidFill>
              <a:latin typeface="Calibri"/>
              <a:ea typeface="Calibri"/>
              <a:cs typeface="Calibri"/>
              <a:sym typeface="Calibri"/>
            </a:endParaRPr>
          </a:p>
        </p:txBody>
      </p:sp>
      <p:sp>
        <p:nvSpPr>
          <p:cNvPr id="167" name="Google Shape;167;g3f9c857b24b_0_5"/>
          <p:cNvSpPr/>
          <p:nvPr/>
        </p:nvSpPr>
        <p:spPr>
          <a:xfrm>
            <a:off x="4448556" y="1993392"/>
            <a:ext cx="3291900" cy="841200"/>
          </a:xfrm>
          <a:prstGeom prst="roundRect">
            <a:avLst>
              <a:gd fmla="val 10870"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f9c857b24b_0_5"/>
          <p:cNvSpPr txBox="1"/>
          <p:nvPr/>
        </p:nvSpPr>
        <p:spPr>
          <a:xfrm>
            <a:off x="4585716" y="2066544"/>
            <a:ext cx="3017400" cy="694800"/>
          </a:xfrm>
          <a:prstGeom prst="rect">
            <a:avLst/>
          </a:prstGeom>
          <a:noFill/>
          <a:ln>
            <a:noFill/>
          </a:ln>
        </p:spPr>
        <p:txBody>
          <a:bodyPr anchorCtr="0" anchor="ctr" bIns="0" lIns="0" spcFirstLastPara="1" rIns="0" wrap="square" tIns="0">
            <a:noAutofit/>
          </a:bodyPr>
          <a:lstStyle/>
          <a:p>
            <a:pPr indent="0" lvl="0" marL="0" marR="0" rtl="0" algn="ctr">
              <a:lnSpc>
                <a:spcPct val="115384"/>
              </a:lnSpc>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We turned it into rules</a:t>
            </a:r>
            <a:endParaRPr b="0" i="0" sz="13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space around it, how far it sticks out, room inside</a:t>
            </a:r>
            <a:endParaRPr b="0" i="0" sz="1300" u="none" cap="none" strike="noStrike">
              <a:solidFill>
                <a:schemeClr val="dk1"/>
              </a:solidFill>
              <a:latin typeface="Calibri"/>
              <a:ea typeface="Calibri"/>
              <a:cs typeface="Calibri"/>
              <a:sym typeface="Calibri"/>
            </a:endParaRPr>
          </a:p>
        </p:txBody>
      </p:sp>
      <p:sp>
        <p:nvSpPr>
          <p:cNvPr id="169" name="Google Shape;169;g3f9c857b24b_0_5"/>
          <p:cNvSpPr/>
          <p:nvPr/>
        </p:nvSpPr>
        <p:spPr>
          <a:xfrm>
            <a:off x="8439912" y="1993392"/>
            <a:ext cx="3291900" cy="841200"/>
          </a:xfrm>
          <a:prstGeom prst="roundRect">
            <a:avLst>
              <a:gd fmla="val 10870" name="adj"/>
            </a:avLst>
          </a:prstGeom>
          <a:solidFill>
            <a:srgbClr val="FCF1DF"/>
          </a:solidFill>
          <a:ln cap="flat" cmpd="sng" w="12700">
            <a:solidFill>
              <a:srgbClr val="E8A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9c857b24b_0_5"/>
          <p:cNvSpPr txBox="1"/>
          <p:nvPr/>
        </p:nvSpPr>
        <p:spPr>
          <a:xfrm>
            <a:off x="8577072" y="2066544"/>
            <a:ext cx="3017400" cy="694800"/>
          </a:xfrm>
          <a:prstGeom prst="rect">
            <a:avLst/>
          </a:prstGeom>
          <a:noFill/>
          <a:ln>
            <a:noFill/>
          </a:ln>
        </p:spPr>
        <p:txBody>
          <a:bodyPr anchorCtr="0" anchor="ctr" bIns="0" lIns="0" spcFirstLastPara="1" rIns="0" wrap="square" tIns="0">
            <a:noAutofit/>
          </a:bodyPr>
          <a:lstStyle/>
          <a:p>
            <a:pPr indent="0" lvl="0" marL="0" marR="0" rtl="0" algn="ctr">
              <a:lnSpc>
                <a:spcPct val="115384"/>
              </a:lnSpc>
              <a:spcBef>
                <a:spcPts val="0"/>
              </a:spcBef>
              <a:spcAft>
                <a:spcPts val="0"/>
              </a:spcAft>
              <a:buClr>
                <a:srgbClr val="9A6410"/>
              </a:buClr>
              <a:buSzPts val="1300"/>
              <a:buFont typeface="Calibri"/>
              <a:buNone/>
            </a:pPr>
            <a:r>
              <a:rPr b="1" i="0" lang="en-US" sz="1300" u="none" cap="none" strike="noStrike">
                <a:solidFill>
                  <a:srgbClr val="9A6410"/>
                </a:solidFill>
                <a:latin typeface="Calibri"/>
                <a:ea typeface="Calibri"/>
                <a:cs typeface="Calibri"/>
                <a:sym typeface="Calibri"/>
              </a:rPr>
              <a:t>We got a shape, not a product</a:t>
            </a:r>
            <a:endParaRPr b="0" i="0" sz="13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passed every rule, looked nothing like an earbud</a:t>
            </a:r>
            <a:endParaRPr b="0" i="0" sz="1300" u="none" cap="none" strike="noStrike">
              <a:solidFill>
                <a:schemeClr val="dk1"/>
              </a:solidFill>
              <a:latin typeface="Calibri"/>
              <a:ea typeface="Calibri"/>
              <a:cs typeface="Calibri"/>
              <a:sym typeface="Calibri"/>
            </a:endParaRPr>
          </a:p>
        </p:txBody>
      </p:sp>
      <p:sp>
        <p:nvSpPr>
          <p:cNvPr id="171" name="Google Shape;171;g3f9c857b24b_0_5"/>
          <p:cNvSpPr txBox="1"/>
          <p:nvPr/>
        </p:nvSpPr>
        <p:spPr>
          <a:xfrm>
            <a:off x="3749040" y="1993392"/>
            <a:ext cx="699600" cy="8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6410"/>
              </a:buClr>
              <a:buSzPts val="2200"/>
              <a:buFont typeface="Calibri"/>
              <a:buNone/>
            </a:pPr>
            <a:r>
              <a:rPr b="1" i="0" lang="en-US" sz="2200" u="none" cap="none" strike="noStrike">
                <a:solidFill>
                  <a:srgbClr val="9A641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72" name="Google Shape;172;g3f9c857b24b_0_5"/>
          <p:cNvSpPr txBox="1"/>
          <p:nvPr/>
        </p:nvSpPr>
        <p:spPr>
          <a:xfrm>
            <a:off x="7740396" y="1993392"/>
            <a:ext cx="699600" cy="8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6410"/>
              </a:buClr>
              <a:buSzPts val="2200"/>
              <a:buFont typeface="Calibri"/>
              <a:buNone/>
            </a:pPr>
            <a:r>
              <a:rPr b="1" i="0" lang="en-US" sz="2200" u="none" cap="none" strike="noStrike">
                <a:solidFill>
                  <a:srgbClr val="9A641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73" name="Google Shape;173;g3f9c857b24b_0_5"/>
          <p:cNvSpPr txBox="1"/>
          <p:nvPr/>
        </p:nvSpPr>
        <p:spPr>
          <a:xfrm>
            <a:off x="457200" y="3017520"/>
            <a:ext cx="112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6410"/>
              </a:buClr>
              <a:buSzPts val="1400"/>
              <a:buFont typeface="Calibri"/>
              <a:buNone/>
            </a:pPr>
            <a:r>
              <a:rPr b="1" i="0" lang="en-US" sz="1400" u="none" cap="none" strike="noStrike">
                <a:solidFill>
                  <a:srgbClr val="9A6410"/>
                </a:solidFill>
                <a:latin typeface="Calibri"/>
                <a:ea typeface="Calibri"/>
                <a:cs typeface="Calibri"/>
                <a:sym typeface="Calibri"/>
              </a:rPr>
              <a:t>Four questions the numbers can never answer — and a designer asks all four before drawing anything</a:t>
            </a:r>
            <a:endParaRPr b="0" i="0" sz="1400" u="none" cap="none" strike="noStrike">
              <a:solidFill>
                <a:schemeClr val="dk1"/>
              </a:solidFill>
              <a:latin typeface="Calibri"/>
              <a:ea typeface="Calibri"/>
              <a:cs typeface="Calibri"/>
              <a:sym typeface="Calibri"/>
            </a:endParaRPr>
          </a:p>
        </p:txBody>
      </p:sp>
      <p:sp>
        <p:nvSpPr>
          <p:cNvPr id="174" name="Google Shape;174;g3f9c857b24b_0_5"/>
          <p:cNvSpPr/>
          <p:nvPr/>
        </p:nvSpPr>
        <p:spPr>
          <a:xfrm>
            <a:off x="457200" y="3346704"/>
            <a:ext cx="2613000" cy="1755600"/>
          </a:xfrm>
          <a:prstGeom prst="roundRect">
            <a:avLst>
              <a:gd fmla="val 3125"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9c857b24b_0_5"/>
          <p:cNvSpPr/>
          <p:nvPr/>
        </p:nvSpPr>
        <p:spPr>
          <a:xfrm>
            <a:off x="658368" y="352958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f9c857b24b_0_5"/>
          <p:cNvSpPr txBox="1"/>
          <p:nvPr/>
        </p:nvSpPr>
        <p:spPr>
          <a:xfrm>
            <a:off x="658368" y="352958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77" name="Google Shape;177;g3f9c857b24b_0_5"/>
          <p:cNvSpPr txBox="1"/>
          <p:nvPr/>
        </p:nvSpPr>
        <p:spPr>
          <a:xfrm>
            <a:off x="658368" y="3950208"/>
            <a:ext cx="2210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Who is it for?</a:t>
            </a:r>
            <a:endParaRPr b="0" i="0" sz="1500" u="none" cap="none" strike="noStrike">
              <a:solidFill>
                <a:schemeClr val="dk1"/>
              </a:solidFill>
              <a:latin typeface="Calibri"/>
              <a:ea typeface="Calibri"/>
              <a:cs typeface="Calibri"/>
              <a:sym typeface="Calibri"/>
            </a:endParaRPr>
          </a:p>
        </p:txBody>
      </p:sp>
      <p:sp>
        <p:nvSpPr>
          <p:cNvPr id="178" name="Google Shape;178;g3f9c857b24b_0_5"/>
          <p:cNvSpPr txBox="1"/>
          <p:nvPr/>
        </p:nvSpPr>
        <p:spPr>
          <a:xfrm>
            <a:off x="658368" y="4242816"/>
            <a:ext cx="2210700" cy="7314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3A4468"/>
              </a:buClr>
              <a:buSzPts val="1100"/>
              <a:buFont typeface="Calibri"/>
              <a:buNone/>
            </a:pPr>
            <a:r>
              <a:rPr b="0" i="0" lang="en-US" sz="1100" u="none" cap="none" strike="noStrike">
                <a:solidFill>
                  <a:srgbClr val="3A4468"/>
                </a:solidFill>
                <a:latin typeface="Calibri"/>
                <a:ea typeface="Calibri"/>
                <a:cs typeface="Calibri"/>
                <a:sym typeface="Calibri"/>
              </a:rPr>
              <a:t>What is this thing, who wears it, and when? A bedtime earbud is not a gym earbud.</a:t>
            </a:r>
            <a:endParaRPr b="0" i="0" sz="1100" u="none" cap="none" strike="noStrike">
              <a:solidFill>
                <a:schemeClr val="dk1"/>
              </a:solidFill>
              <a:latin typeface="Calibri"/>
              <a:ea typeface="Calibri"/>
              <a:cs typeface="Calibri"/>
              <a:sym typeface="Calibri"/>
            </a:endParaRPr>
          </a:p>
        </p:txBody>
      </p:sp>
      <p:sp>
        <p:nvSpPr>
          <p:cNvPr id="179" name="Google Shape;179;g3f9c857b24b_0_5"/>
          <p:cNvSpPr/>
          <p:nvPr/>
        </p:nvSpPr>
        <p:spPr>
          <a:xfrm>
            <a:off x="3344418" y="3346704"/>
            <a:ext cx="2613000" cy="1755600"/>
          </a:xfrm>
          <a:prstGeom prst="roundRect">
            <a:avLst>
              <a:gd fmla="val 3125"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f9c857b24b_0_5"/>
          <p:cNvSpPr/>
          <p:nvPr/>
        </p:nvSpPr>
        <p:spPr>
          <a:xfrm>
            <a:off x="3545586" y="352958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f9c857b24b_0_5"/>
          <p:cNvSpPr txBox="1"/>
          <p:nvPr/>
        </p:nvSpPr>
        <p:spPr>
          <a:xfrm>
            <a:off x="3545586" y="352958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82" name="Google Shape;182;g3f9c857b24b_0_5"/>
          <p:cNvSpPr txBox="1"/>
          <p:nvPr/>
        </p:nvSpPr>
        <p:spPr>
          <a:xfrm>
            <a:off x="3545586" y="3950208"/>
            <a:ext cx="2210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How should it feel?</a:t>
            </a:r>
            <a:endParaRPr b="0" i="0" sz="1500" u="none" cap="none" strike="noStrike">
              <a:solidFill>
                <a:schemeClr val="dk1"/>
              </a:solidFill>
              <a:latin typeface="Calibri"/>
              <a:ea typeface="Calibri"/>
              <a:cs typeface="Calibri"/>
              <a:sym typeface="Calibri"/>
            </a:endParaRPr>
          </a:p>
        </p:txBody>
      </p:sp>
      <p:sp>
        <p:nvSpPr>
          <p:cNvPr id="183" name="Google Shape;183;g3f9c857b24b_0_5"/>
          <p:cNvSpPr txBox="1"/>
          <p:nvPr/>
        </p:nvSpPr>
        <p:spPr>
          <a:xfrm>
            <a:off x="3545586" y="4242816"/>
            <a:ext cx="2210700" cy="7314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3A4468"/>
              </a:buClr>
              <a:buSzPts val="1100"/>
              <a:buFont typeface="Calibri"/>
              <a:buNone/>
            </a:pPr>
            <a:r>
              <a:rPr b="0" i="0" lang="en-US" sz="1100" u="none" cap="none" strike="noStrike">
                <a:solidFill>
                  <a:srgbClr val="3A4468"/>
                </a:solidFill>
                <a:latin typeface="Calibri"/>
                <a:ea typeface="Calibri"/>
                <a:cs typeface="Calibri"/>
                <a:sym typeface="Calibri"/>
              </a:rPr>
              <a:t>Light, soft and almost invisible? Or something people notice and recognise?</a:t>
            </a:r>
            <a:endParaRPr b="0" i="0" sz="1100" u="none" cap="none" strike="noStrike">
              <a:solidFill>
                <a:schemeClr val="dk1"/>
              </a:solidFill>
              <a:latin typeface="Calibri"/>
              <a:ea typeface="Calibri"/>
              <a:cs typeface="Calibri"/>
              <a:sym typeface="Calibri"/>
            </a:endParaRPr>
          </a:p>
        </p:txBody>
      </p:sp>
      <p:sp>
        <p:nvSpPr>
          <p:cNvPr id="184" name="Google Shape;184;g3f9c857b24b_0_5"/>
          <p:cNvSpPr/>
          <p:nvPr/>
        </p:nvSpPr>
        <p:spPr>
          <a:xfrm>
            <a:off x="6231636" y="3346704"/>
            <a:ext cx="2613000" cy="1755600"/>
          </a:xfrm>
          <a:prstGeom prst="roundRect">
            <a:avLst>
              <a:gd fmla="val 3125"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f9c857b24b_0_5"/>
          <p:cNvSpPr/>
          <p:nvPr/>
        </p:nvSpPr>
        <p:spPr>
          <a:xfrm>
            <a:off x="6432804" y="352958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9c857b24b_0_5"/>
          <p:cNvSpPr txBox="1"/>
          <p:nvPr/>
        </p:nvSpPr>
        <p:spPr>
          <a:xfrm>
            <a:off x="6432804" y="352958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87" name="Google Shape;187;g3f9c857b24b_0_5"/>
          <p:cNvSpPr txBox="1"/>
          <p:nvPr/>
        </p:nvSpPr>
        <p:spPr>
          <a:xfrm>
            <a:off x="6432804" y="3950208"/>
            <a:ext cx="2210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Why this shape?</a:t>
            </a:r>
            <a:endParaRPr b="0" i="0" sz="1500" u="none" cap="none" strike="noStrike">
              <a:solidFill>
                <a:schemeClr val="dk1"/>
              </a:solidFill>
              <a:latin typeface="Calibri"/>
              <a:ea typeface="Calibri"/>
              <a:cs typeface="Calibri"/>
              <a:sym typeface="Calibri"/>
            </a:endParaRPr>
          </a:p>
        </p:txBody>
      </p:sp>
      <p:sp>
        <p:nvSpPr>
          <p:cNvPr id="188" name="Google Shape;188;g3f9c857b24b_0_5"/>
          <p:cNvSpPr txBox="1"/>
          <p:nvPr/>
        </p:nvSpPr>
        <p:spPr>
          <a:xfrm>
            <a:off x="6432804" y="4242816"/>
            <a:ext cx="2210700" cy="7314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3A4468"/>
              </a:buClr>
              <a:buSzPts val="1100"/>
              <a:buFont typeface="Calibri"/>
              <a:buNone/>
            </a:pPr>
            <a:r>
              <a:rPr b="0" i="0" lang="en-US" sz="1100" u="none" cap="none" strike="noStrike">
                <a:solidFill>
                  <a:srgbClr val="3A4468"/>
                </a:solidFill>
                <a:latin typeface="Calibri"/>
                <a:ea typeface="Calibri"/>
                <a:cs typeface="Calibri"/>
                <a:sym typeface="Calibri"/>
              </a:rPr>
              <a:t>Every curve should have a reason. “The maths allowed it” is not a reason.</a:t>
            </a:r>
            <a:endParaRPr b="0" i="0" sz="1100" u="none" cap="none" strike="noStrike">
              <a:solidFill>
                <a:schemeClr val="dk1"/>
              </a:solidFill>
              <a:latin typeface="Calibri"/>
              <a:ea typeface="Calibri"/>
              <a:cs typeface="Calibri"/>
              <a:sym typeface="Calibri"/>
            </a:endParaRPr>
          </a:p>
        </p:txBody>
      </p:sp>
      <p:sp>
        <p:nvSpPr>
          <p:cNvPr id="189" name="Google Shape;189;g3f9c857b24b_0_5"/>
          <p:cNvSpPr/>
          <p:nvPr/>
        </p:nvSpPr>
        <p:spPr>
          <a:xfrm>
            <a:off x="9118854" y="3346704"/>
            <a:ext cx="2613000" cy="1755600"/>
          </a:xfrm>
          <a:prstGeom prst="roundRect">
            <a:avLst>
              <a:gd fmla="val 3125"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f9c857b24b_0_5"/>
          <p:cNvSpPr/>
          <p:nvPr/>
        </p:nvSpPr>
        <p:spPr>
          <a:xfrm>
            <a:off x="9320022" y="352958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f9c857b24b_0_5"/>
          <p:cNvSpPr txBox="1"/>
          <p:nvPr/>
        </p:nvSpPr>
        <p:spPr>
          <a:xfrm>
            <a:off x="9320022" y="352958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92" name="Google Shape;192;g3f9c857b24b_0_5"/>
          <p:cNvSpPr txBox="1"/>
          <p:nvPr/>
        </p:nvSpPr>
        <p:spPr>
          <a:xfrm>
            <a:off x="9320022" y="3950208"/>
            <a:ext cx="2210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Does it look real?</a:t>
            </a:r>
            <a:endParaRPr b="0" i="0" sz="1500" u="none" cap="none" strike="noStrike">
              <a:solidFill>
                <a:schemeClr val="dk1"/>
              </a:solidFill>
              <a:latin typeface="Calibri"/>
              <a:ea typeface="Calibri"/>
              <a:cs typeface="Calibri"/>
              <a:sym typeface="Calibri"/>
            </a:endParaRPr>
          </a:p>
        </p:txBody>
      </p:sp>
      <p:sp>
        <p:nvSpPr>
          <p:cNvPr id="193" name="Google Shape;193;g3f9c857b24b_0_5"/>
          <p:cNvSpPr txBox="1"/>
          <p:nvPr/>
        </p:nvSpPr>
        <p:spPr>
          <a:xfrm>
            <a:off x="9320022" y="4242816"/>
            <a:ext cx="2210700" cy="7314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3A4468"/>
              </a:buClr>
              <a:buSzPts val="1100"/>
              <a:buFont typeface="Calibri"/>
              <a:buNone/>
            </a:pPr>
            <a:r>
              <a:rPr b="0" i="0" lang="en-US" sz="1100" u="none" cap="none" strike="noStrike">
                <a:solidFill>
                  <a:srgbClr val="3A4468"/>
                </a:solidFill>
                <a:latin typeface="Calibri"/>
                <a:ea typeface="Calibri"/>
                <a:cs typeface="Calibri"/>
                <a:sym typeface="Calibri"/>
              </a:rPr>
              <a:t>Would a shopper see it and think “modern earbud”? Or just “lump”?</a:t>
            </a:r>
            <a:endParaRPr b="0" i="0" sz="1100" u="none" cap="none" strike="noStrike">
              <a:solidFill>
                <a:schemeClr val="dk1"/>
              </a:solidFill>
              <a:latin typeface="Calibri"/>
              <a:ea typeface="Calibri"/>
              <a:cs typeface="Calibri"/>
              <a:sym typeface="Calibri"/>
            </a:endParaRPr>
          </a:p>
        </p:txBody>
      </p:sp>
      <p:sp>
        <p:nvSpPr>
          <p:cNvPr id="194" name="Google Shape;194;g3f9c857b24b_0_5"/>
          <p:cNvSpPr/>
          <p:nvPr/>
        </p:nvSpPr>
        <p:spPr>
          <a:xfrm>
            <a:off x="457200" y="5285232"/>
            <a:ext cx="11274600" cy="1024200"/>
          </a:xfrm>
          <a:prstGeom prst="roundRect">
            <a:avLst>
              <a:gd fmla="val 5357" name="adj"/>
            </a:avLst>
          </a:prstGeom>
          <a:solidFill>
            <a:srgbClr val="FCF1DF"/>
          </a:solidFill>
          <a:ln cap="flat" cmpd="sng" w="12700">
            <a:solidFill>
              <a:srgbClr val="E8A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f9c857b24b_0_5"/>
          <p:cNvSpPr/>
          <p:nvPr/>
        </p:nvSpPr>
        <p:spPr>
          <a:xfrm>
            <a:off x="713232" y="5641848"/>
            <a:ext cx="310800" cy="3108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f9c857b24b_0_5"/>
          <p:cNvSpPr txBox="1"/>
          <p:nvPr/>
        </p:nvSpPr>
        <p:spPr>
          <a:xfrm>
            <a:off x="713232" y="5641848"/>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500"/>
              <a:buFont typeface="Calibri"/>
              <a:buNone/>
            </a:pPr>
            <a:r>
              <a:rPr b="1" i="0" lang="en-US" sz="1500" u="none" cap="none" strike="noStrike">
                <a:solidFill>
                  <a:srgbClr val="141A3C"/>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97" name="Google Shape;197;g3f9c857b24b_0_5"/>
          <p:cNvSpPr txBox="1"/>
          <p:nvPr/>
        </p:nvSpPr>
        <p:spPr>
          <a:xfrm>
            <a:off x="1188720" y="5413248"/>
            <a:ext cx="10268700" cy="768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9A6410"/>
              </a:buClr>
              <a:buSzPts val="1250"/>
              <a:buFont typeface="Calibri"/>
              <a:buNone/>
            </a:pPr>
            <a:r>
              <a:rPr b="1" i="0" lang="en-US" sz="1250" u="none" cap="none" strike="noStrike">
                <a:solidFill>
                  <a:srgbClr val="9A6410"/>
                </a:solidFill>
                <a:latin typeface="Calibri"/>
                <a:ea typeface="Calibri"/>
                <a:cs typeface="Calibri"/>
                <a:sym typeface="Calibri"/>
              </a:rPr>
              <a:t>So what?  </a:t>
            </a:r>
            <a:r>
              <a:rPr b="0" i="0" lang="en-US" sz="1250" u="none" cap="none" strike="noStrike">
                <a:solidFill>
                  <a:srgbClr val="3A4468"/>
                </a:solidFill>
                <a:latin typeface="Calibri"/>
                <a:ea typeface="Calibri"/>
                <a:cs typeface="Calibri"/>
                <a:sym typeface="Calibri"/>
              </a:rPr>
              <a:t>Pouring in more numbers — battery size, speaker size, wall thickness — only gets us a more complicated lump. Numbers cannot teach taste. </a:t>
            </a:r>
            <a:r>
              <a:rPr b="1" i="0" lang="en-US" sz="1250" u="none" cap="none" strike="noStrike">
                <a:solidFill>
                  <a:srgbClr val="141A3C"/>
                </a:solidFill>
                <a:latin typeface="Calibri"/>
                <a:ea typeface="Calibri"/>
                <a:cs typeface="Calibri"/>
                <a:sym typeface="Calibri"/>
              </a:rPr>
              <a:t>Treat the ear scan as a fence, not as the design: it says where the earbud has to fit, never what it should look like.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g3f9c857b24b_0_45"/>
          <p:cNvSpPr txBox="1"/>
          <p:nvPr/>
        </p:nvSpPr>
        <p:spPr>
          <a:xfrm>
            <a:off x="457200" y="457200"/>
            <a:ext cx="7315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396"/>
              </a:buClr>
              <a:buSzPts val="1050"/>
              <a:buFont typeface="Calibri"/>
              <a:buNone/>
            </a:pPr>
            <a:r>
              <a:rPr b="1" i="0" lang="en-US" sz="1050" u="none" cap="none" strike="noStrike">
                <a:solidFill>
                  <a:srgbClr val="6B7396"/>
                </a:solidFill>
                <a:latin typeface="Calibri"/>
                <a:ea typeface="Calibri"/>
                <a:cs typeface="Calibri"/>
                <a:sym typeface="Calibri"/>
              </a:rPr>
              <a:t>PROPOSED DIRECTION</a:t>
            </a:r>
            <a:endParaRPr b="0" i="0" sz="1050" u="none" cap="none" strike="noStrike">
              <a:solidFill>
                <a:schemeClr val="dk1"/>
              </a:solidFill>
              <a:latin typeface="Calibri"/>
              <a:ea typeface="Calibri"/>
              <a:cs typeface="Calibri"/>
              <a:sym typeface="Calibri"/>
            </a:endParaRPr>
          </a:p>
        </p:txBody>
      </p:sp>
      <p:sp>
        <p:nvSpPr>
          <p:cNvPr id="204" name="Google Shape;204;g3f9c857b24b_0_45"/>
          <p:cNvSpPr txBox="1"/>
          <p:nvPr/>
        </p:nvSpPr>
        <p:spPr>
          <a:xfrm>
            <a:off x="457200" y="713232"/>
            <a:ext cx="11274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3800"/>
              <a:buFont typeface="Cambria"/>
              <a:buNone/>
            </a:pPr>
            <a:r>
              <a:rPr b="1" i="0" lang="en-US" sz="3800" u="none" cap="none" strike="noStrike">
                <a:solidFill>
                  <a:srgbClr val="141A3C"/>
                </a:solidFill>
                <a:latin typeface="Cambria"/>
                <a:ea typeface="Cambria"/>
                <a:cs typeface="Cambria"/>
                <a:sym typeface="Cambria"/>
              </a:rPr>
              <a:t>First, Show It a Lot of Real Earbuds</a:t>
            </a:r>
            <a:endParaRPr b="0" i="0" sz="3800" u="none" cap="none" strike="noStrike">
              <a:solidFill>
                <a:schemeClr val="dk1"/>
              </a:solidFill>
              <a:latin typeface="Calibri"/>
              <a:ea typeface="Calibri"/>
              <a:cs typeface="Calibri"/>
              <a:sym typeface="Calibri"/>
            </a:endParaRPr>
          </a:p>
        </p:txBody>
      </p:sp>
      <p:sp>
        <p:nvSpPr>
          <p:cNvPr id="205" name="Google Shape;205;g3f9c857b24b_0_45"/>
          <p:cNvSpPr txBox="1"/>
          <p:nvPr/>
        </p:nvSpPr>
        <p:spPr>
          <a:xfrm>
            <a:off x="457200" y="1335024"/>
            <a:ext cx="11274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4468"/>
              </a:buClr>
              <a:buSzPts val="1450"/>
              <a:buFont typeface="Calibri"/>
              <a:buNone/>
            </a:pPr>
            <a:r>
              <a:rPr b="0" i="0" lang="en-US" sz="1450" u="none" cap="none" strike="noStrike">
                <a:solidFill>
                  <a:srgbClr val="3A4468"/>
                </a:solidFill>
                <a:latin typeface="Calibri"/>
                <a:ea typeface="Calibri"/>
                <a:cs typeface="Calibri"/>
                <a:sym typeface="Calibri"/>
              </a:rPr>
              <a:t>Before a student designs a chair, they look at a hundred chairs. Our system has never looked at a single earbud.</a:t>
            </a:r>
            <a:endParaRPr b="0" i="0" sz="1450" u="none" cap="none" strike="noStrike">
              <a:solidFill>
                <a:schemeClr val="dk1"/>
              </a:solidFill>
              <a:latin typeface="Calibri"/>
              <a:ea typeface="Calibri"/>
              <a:cs typeface="Calibri"/>
              <a:sym typeface="Calibri"/>
            </a:endParaRPr>
          </a:p>
        </p:txBody>
      </p:sp>
      <p:sp>
        <p:nvSpPr>
          <p:cNvPr id="206" name="Google Shape;206;g3f9c857b24b_0_45"/>
          <p:cNvSpPr/>
          <p:nvPr/>
        </p:nvSpPr>
        <p:spPr>
          <a:xfrm>
            <a:off x="457200" y="1737360"/>
            <a:ext cx="6492300" cy="2267700"/>
          </a:xfrm>
          <a:prstGeom prst="roundRect">
            <a:avLst>
              <a:gd fmla="val 2419"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f9c857b24b_0_45"/>
          <p:cNvSpPr txBox="1"/>
          <p:nvPr/>
        </p:nvSpPr>
        <p:spPr>
          <a:xfrm>
            <a:off x="713232" y="1920240"/>
            <a:ext cx="5980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700"/>
              <a:buFont typeface="Cambria"/>
              <a:buNone/>
            </a:pPr>
            <a:r>
              <a:rPr b="1" i="0" lang="en-US" sz="1700" u="none" cap="none" strike="noStrike">
                <a:solidFill>
                  <a:srgbClr val="141A3C"/>
                </a:solidFill>
                <a:latin typeface="Cambria"/>
                <a:ea typeface="Cambria"/>
                <a:cs typeface="Cambria"/>
                <a:sym typeface="Cambria"/>
              </a:rPr>
              <a:t>What we write down about each earbud</a:t>
            </a:r>
            <a:endParaRPr b="0" i="0" sz="1700" u="none" cap="none" strike="noStrike">
              <a:solidFill>
                <a:schemeClr val="dk1"/>
              </a:solidFill>
              <a:latin typeface="Calibri"/>
              <a:ea typeface="Calibri"/>
              <a:cs typeface="Calibri"/>
              <a:sym typeface="Calibri"/>
            </a:endParaRPr>
          </a:p>
        </p:txBody>
      </p:sp>
      <p:sp>
        <p:nvSpPr>
          <p:cNvPr id="208" name="Google Shape;208;g3f9c857b24b_0_45"/>
          <p:cNvSpPr txBox="1"/>
          <p:nvPr/>
        </p:nvSpPr>
        <p:spPr>
          <a:xfrm>
            <a:off x="713232" y="2286000"/>
            <a:ext cx="5980200" cy="1600200"/>
          </a:xfrm>
          <a:prstGeom prst="rect">
            <a:avLst/>
          </a:prstGeom>
          <a:noFill/>
          <a:ln>
            <a:noFill/>
          </a:ln>
        </p:spPr>
        <p:txBody>
          <a:bodyPr anchorCtr="0" anchor="ctr" bIns="0" lIns="0" spcFirstLastPara="1" rIns="0" wrap="square" tIns="0">
            <a:noAutofit/>
          </a:bodyPr>
          <a:lstStyle/>
          <a:p>
            <a:pPr indent="-342900" lvl="0" marL="342900" marR="0" rtl="0" algn="l">
              <a:lnSpc>
                <a:spcPct val="130434"/>
              </a:lnSpc>
              <a:spcBef>
                <a:spcPts val="0"/>
              </a:spcBef>
              <a:spcAft>
                <a:spcPts val="0"/>
              </a:spcAft>
              <a:buClr>
                <a:srgbClr val="3A4468"/>
              </a:buClr>
              <a:buSzPts val="1150"/>
              <a:buFont typeface="Calibri"/>
              <a:buChar char="•"/>
            </a:pPr>
            <a:r>
              <a:rPr b="0" i="0" lang="en-US" sz="1150" u="none" cap="none" strike="noStrike">
                <a:solidFill>
                  <a:srgbClr val="3A4468"/>
                </a:solidFill>
                <a:latin typeface="Calibri"/>
                <a:ea typeface="Calibri"/>
                <a:cs typeface="Calibri"/>
                <a:sym typeface="Calibri"/>
              </a:rPr>
              <a:t>What it is, who buys it, and when they wear it</a:t>
            </a:r>
            <a:endParaRPr b="0" i="0" sz="1150" u="none" cap="none" strike="noStrike">
              <a:solidFill>
                <a:schemeClr val="dk1"/>
              </a:solidFill>
              <a:latin typeface="Calibri"/>
              <a:ea typeface="Calibri"/>
              <a:cs typeface="Calibri"/>
              <a:sym typeface="Calibri"/>
            </a:endParaRPr>
          </a:p>
          <a:p>
            <a:pPr indent="-342900" lvl="0" marL="342900" marR="0" rtl="0" algn="l">
              <a:lnSpc>
                <a:spcPct val="130434"/>
              </a:lnSpc>
              <a:spcBef>
                <a:spcPts val="600"/>
              </a:spcBef>
              <a:spcAft>
                <a:spcPts val="0"/>
              </a:spcAft>
              <a:buClr>
                <a:srgbClr val="3A4468"/>
              </a:buClr>
              <a:buSzPts val="1150"/>
              <a:buFont typeface="Calibri"/>
              <a:buChar char="•"/>
            </a:pPr>
            <a:r>
              <a:rPr b="0" i="0" lang="en-US" sz="1150" u="none" cap="none" strike="noStrike">
                <a:solidFill>
                  <a:srgbClr val="3A4468"/>
                </a:solidFill>
                <a:latin typeface="Calibri"/>
                <a:ea typeface="Calibri"/>
                <a:cs typeface="Calibri"/>
                <a:sym typeface="Calibri"/>
              </a:rPr>
              <a:t>What it looks like: outline, proportions, how it sits in the ear, what photos show</a:t>
            </a:r>
            <a:endParaRPr b="0" i="0" sz="1150" u="none" cap="none" strike="noStrike">
              <a:solidFill>
                <a:schemeClr val="dk1"/>
              </a:solidFill>
              <a:latin typeface="Calibri"/>
              <a:ea typeface="Calibri"/>
              <a:cs typeface="Calibri"/>
              <a:sym typeface="Calibri"/>
            </a:endParaRPr>
          </a:p>
          <a:p>
            <a:pPr indent="-342900" lvl="0" marL="342900" marR="0" rtl="0" algn="l">
              <a:lnSpc>
                <a:spcPct val="130434"/>
              </a:lnSpc>
              <a:spcBef>
                <a:spcPts val="600"/>
              </a:spcBef>
              <a:spcAft>
                <a:spcPts val="0"/>
              </a:spcAft>
              <a:buClr>
                <a:srgbClr val="3A4468"/>
              </a:buClr>
              <a:buSzPts val="1150"/>
              <a:buFont typeface="Calibri"/>
              <a:buChar char="•"/>
            </a:pPr>
            <a:r>
              <a:rPr b="0" i="0" lang="en-US" sz="1150" u="none" cap="none" strike="noStrike">
                <a:solidFill>
                  <a:srgbClr val="3A4468"/>
                </a:solidFill>
                <a:latin typeface="Calibri"/>
                <a:ea typeface="Calibri"/>
                <a:cs typeface="Calibri"/>
                <a:sym typeface="Calibri"/>
              </a:rPr>
              <a:t>What the maker says it was going for — the story and the clever bit</a:t>
            </a:r>
            <a:endParaRPr b="0" i="0" sz="1150" u="none" cap="none" strike="noStrike">
              <a:solidFill>
                <a:schemeClr val="dk1"/>
              </a:solidFill>
              <a:latin typeface="Calibri"/>
              <a:ea typeface="Calibri"/>
              <a:cs typeface="Calibri"/>
              <a:sym typeface="Calibri"/>
            </a:endParaRPr>
          </a:p>
          <a:p>
            <a:pPr indent="-342900" lvl="0" marL="342900" marR="0" rtl="0" algn="l">
              <a:lnSpc>
                <a:spcPct val="130434"/>
              </a:lnSpc>
              <a:spcBef>
                <a:spcPts val="600"/>
              </a:spcBef>
              <a:spcAft>
                <a:spcPts val="0"/>
              </a:spcAft>
              <a:buClr>
                <a:srgbClr val="3A4468"/>
              </a:buClr>
              <a:buSzPts val="1150"/>
              <a:buFont typeface="Calibri"/>
              <a:buChar char="•"/>
            </a:pPr>
            <a:r>
              <a:rPr b="0" i="0" lang="en-US" sz="1150" u="none" cap="none" strike="noStrike">
                <a:solidFill>
                  <a:srgbClr val="3A4468"/>
                </a:solidFill>
                <a:latin typeface="Calibri"/>
                <a:ea typeface="Calibri"/>
                <a:cs typeface="Calibri"/>
                <a:sym typeface="Calibri"/>
              </a:rPr>
              <a:t>What owners say: looks, fit, side-sleeping, staying in, forgetting it is there</a:t>
            </a:r>
            <a:endParaRPr b="0" i="0" sz="1150" u="none" cap="none" strike="noStrike">
              <a:solidFill>
                <a:schemeClr val="dk1"/>
              </a:solidFill>
              <a:latin typeface="Calibri"/>
              <a:ea typeface="Calibri"/>
              <a:cs typeface="Calibri"/>
              <a:sym typeface="Calibri"/>
            </a:endParaRPr>
          </a:p>
          <a:p>
            <a:pPr indent="-342900" lvl="0" marL="342900" marR="0" rtl="0" algn="l">
              <a:lnSpc>
                <a:spcPct val="130434"/>
              </a:lnSpc>
              <a:spcBef>
                <a:spcPts val="600"/>
              </a:spcBef>
              <a:spcAft>
                <a:spcPts val="0"/>
              </a:spcAft>
              <a:buClr>
                <a:srgbClr val="3A4468"/>
              </a:buClr>
              <a:buSzPts val="1150"/>
              <a:buFont typeface="Calibri"/>
              <a:buChar char="•"/>
            </a:pPr>
            <a:r>
              <a:rPr b="0" i="0" lang="en-US" sz="1150" u="none" cap="none" strike="noStrike">
                <a:solidFill>
                  <a:srgbClr val="3A4468"/>
                </a:solidFill>
                <a:latin typeface="Calibri"/>
                <a:ea typeface="Calibri"/>
                <a:cs typeface="Calibri"/>
                <a:sym typeface="Calibri"/>
              </a:rPr>
              <a:t>How sure we are of each line: maker's claim / spec sheet / visible in photos / owner's opinion / our guess / nobody knows</a:t>
            </a:r>
            <a:endParaRPr b="0" i="0" sz="1150" u="none" cap="none" strike="noStrike">
              <a:solidFill>
                <a:schemeClr val="dk1"/>
              </a:solidFill>
              <a:latin typeface="Calibri"/>
              <a:ea typeface="Calibri"/>
              <a:cs typeface="Calibri"/>
              <a:sym typeface="Calibri"/>
            </a:endParaRPr>
          </a:p>
        </p:txBody>
      </p:sp>
      <p:sp>
        <p:nvSpPr>
          <p:cNvPr id="209" name="Google Shape;209;g3f9c857b24b_0_45"/>
          <p:cNvSpPr/>
          <p:nvPr/>
        </p:nvSpPr>
        <p:spPr>
          <a:xfrm>
            <a:off x="7223760" y="1737360"/>
            <a:ext cx="4508100" cy="2267700"/>
          </a:xfrm>
          <a:prstGeom prst="roundRect">
            <a:avLst>
              <a:gd fmla="val 2419" name="adj"/>
            </a:avLst>
          </a:prstGeom>
          <a:solidFill>
            <a:srgbClr val="FCF1DF"/>
          </a:solidFill>
          <a:ln cap="flat" cmpd="sng" w="12700">
            <a:solidFill>
              <a:srgbClr val="EDD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f9c857b24b_0_45"/>
          <p:cNvSpPr txBox="1"/>
          <p:nvPr/>
        </p:nvSpPr>
        <p:spPr>
          <a:xfrm>
            <a:off x="7479792" y="1920240"/>
            <a:ext cx="399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700"/>
              <a:buFont typeface="Cambria"/>
              <a:buNone/>
            </a:pPr>
            <a:r>
              <a:rPr b="1" i="0" lang="en-US" sz="1700" u="none" cap="none" strike="noStrike">
                <a:solidFill>
                  <a:srgbClr val="141A3C"/>
                </a:solidFill>
                <a:latin typeface="Cambria"/>
                <a:ea typeface="Cambria"/>
                <a:cs typeface="Cambria"/>
                <a:sym typeface="Cambria"/>
              </a:rPr>
              <a:t>Where we get it all</a:t>
            </a:r>
            <a:endParaRPr b="0" i="0" sz="1700" u="none" cap="none" strike="noStrike">
              <a:solidFill>
                <a:schemeClr val="dk1"/>
              </a:solidFill>
              <a:latin typeface="Calibri"/>
              <a:ea typeface="Calibri"/>
              <a:cs typeface="Calibri"/>
              <a:sym typeface="Calibri"/>
            </a:endParaRPr>
          </a:p>
        </p:txBody>
      </p:sp>
      <p:sp>
        <p:nvSpPr>
          <p:cNvPr id="211" name="Google Shape;211;g3f9c857b24b_0_45"/>
          <p:cNvSpPr txBox="1"/>
          <p:nvPr/>
        </p:nvSpPr>
        <p:spPr>
          <a:xfrm>
            <a:off x="7479792" y="2286000"/>
            <a:ext cx="3996000" cy="1600200"/>
          </a:xfrm>
          <a:prstGeom prst="rect">
            <a:avLst/>
          </a:prstGeom>
          <a:noFill/>
          <a:ln>
            <a:noFill/>
          </a:ln>
        </p:spPr>
        <p:txBody>
          <a:bodyPr anchorCtr="0" anchor="ctr" bIns="0" lIns="0" spcFirstLastPara="1" rIns="0" wrap="square" tIns="0">
            <a:noAutofit/>
          </a:bodyPr>
          <a:lstStyle/>
          <a:p>
            <a:pPr indent="0" lvl="0" marL="0" marR="0" rtl="0" algn="l">
              <a:lnSpc>
                <a:spcPct val="131818"/>
              </a:lnSpc>
              <a:spcBef>
                <a:spcPts val="0"/>
              </a:spcBef>
              <a:spcAft>
                <a:spcPts val="0"/>
              </a:spcAft>
              <a:buClr>
                <a:srgbClr val="9A6410"/>
              </a:buClr>
              <a:buSzPts val="1100"/>
              <a:buFont typeface="Calibri"/>
              <a:buNone/>
            </a:pPr>
            <a:r>
              <a:rPr b="1" i="0" lang="en-US" sz="1100" u="none" cap="none" strike="noStrike">
                <a:solidFill>
                  <a:srgbClr val="9A6410"/>
                </a:solidFill>
                <a:latin typeface="Calibri"/>
                <a:ea typeface="Calibri"/>
                <a:cs typeface="Calibri"/>
                <a:sym typeface="Calibri"/>
              </a:rPr>
              <a:t>Maker websites — </a:t>
            </a:r>
            <a:r>
              <a:rPr b="0" i="0" lang="en-US" sz="1100" u="none" cap="none" strike="noStrike">
                <a:solidFill>
                  <a:srgbClr val="3A4468"/>
                </a:solidFill>
                <a:latin typeface="Calibri"/>
                <a:ea typeface="Calibri"/>
                <a:cs typeface="Calibri"/>
                <a:sym typeface="Calibri"/>
              </a:rPr>
              <a:t>product pages, press releases, interviews, design-award write-ups</a:t>
            </a:r>
            <a:endParaRPr b="0" i="0" sz="1100" u="none" cap="none" strike="noStrike">
              <a:solidFill>
                <a:schemeClr val="dk1"/>
              </a:solidFill>
              <a:latin typeface="Calibri"/>
              <a:ea typeface="Calibri"/>
              <a:cs typeface="Calibri"/>
              <a:sym typeface="Calibri"/>
            </a:endParaRPr>
          </a:p>
          <a:p>
            <a:pPr indent="0" lvl="0" marL="0" marR="0" rtl="0" algn="l">
              <a:lnSpc>
                <a:spcPct val="131818"/>
              </a:lnSpc>
              <a:spcBef>
                <a:spcPts val="600"/>
              </a:spcBef>
              <a:spcAft>
                <a:spcPts val="0"/>
              </a:spcAft>
              <a:buClr>
                <a:srgbClr val="9A6410"/>
              </a:buClr>
              <a:buSzPts val="1100"/>
              <a:buFont typeface="Calibri"/>
              <a:buNone/>
            </a:pPr>
            <a:r>
              <a:rPr b="1" i="0" lang="en-US" sz="1100" u="none" cap="none" strike="noStrike">
                <a:solidFill>
                  <a:srgbClr val="9A6410"/>
                </a:solidFill>
                <a:latin typeface="Calibri"/>
                <a:ea typeface="Calibri"/>
                <a:cs typeface="Calibri"/>
                <a:sym typeface="Calibri"/>
              </a:rPr>
              <a:t>Shops — </a:t>
            </a:r>
            <a:r>
              <a:rPr b="0" i="0" lang="en-US" sz="1100" u="none" cap="none" strike="noStrike">
                <a:solidFill>
                  <a:srgbClr val="3A4468"/>
                </a:solidFill>
                <a:latin typeface="Calibri"/>
                <a:ea typeface="Calibri"/>
                <a:cs typeface="Calibri"/>
                <a:sym typeface="Calibri"/>
              </a:rPr>
              <a:t>Taobao, JD and Amazon listings, plus the reviews under them</a:t>
            </a:r>
            <a:endParaRPr b="0" i="0" sz="1100" u="none" cap="none" strike="noStrike">
              <a:solidFill>
                <a:schemeClr val="dk1"/>
              </a:solidFill>
              <a:latin typeface="Calibri"/>
              <a:ea typeface="Calibri"/>
              <a:cs typeface="Calibri"/>
              <a:sym typeface="Calibri"/>
            </a:endParaRPr>
          </a:p>
          <a:p>
            <a:pPr indent="0" lvl="0" marL="0" marR="0" rtl="0" algn="l">
              <a:lnSpc>
                <a:spcPct val="131818"/>
              </a:lnSpc>
              <a:spcBef>
                <a:spcPts val="600"/>
              </a:spcBef>
              <a:spcAft>
                <a:spcPts val="0"/>
              </a:spcAft>
              <a:buClr>
                <a:srgbClr val="9A6410"/>
              </a:buClr>
              <a:buSzPts val="1100"/>
              <a:buFont typeface="Calibri"/>
              <a:buNone/>
            </a:pPr>
            <a:r>
              <a:rPr b="1" i="0" lang="en-US" sz="1100" u="none" cap="none" strike="noStrike">
                <a:solidFill>
                  <a:srgbClr val="9A6410"/>
                </a:solidFill>
                <a:latin typeface="Calibri"/>
                <a:ea typeface="Calibri"/>
                <a:cs typeface="Calibri"/>
                <a:sym typeface="Calibri"/>
              </a:rPr>
              <a:t>Design press and 3D — </a:t>
            </a:r>
            <a:r>
              <a:rPr b="0" i="0" lang="en-US" sz="1100" u="none" cap="none" strike="noStrike">
                <a:solidFill>
                  <a:srgbClr val="3A4468"/>
                </a:solidFill>
                <a:latin typeface="Calibri"/>
                <a:ea typeface="Calibri"/>
                <a:cs typeface="Calibri"/>
                <a:sym typeface="Calibri"/>
              </a:rPr>
              <a:t>magazines, cutaway diagrams, licensed CAD files</a:t>
            </a:r>
            <a:endParaRPr b="0" i="0" sz="1100" u="none" cap="none" strike="noStrike">
              <a:solidFill>
                <a:schemeClr val="dk1"/>
              </a:solidFill>
              <a:latin typeface="Calibri"/>
              <a:ea typeface="Calibri"/>
              <a:cs typeface="Calibri"/>
              <a:sym typeface="Calibri"/>
            </a:endParaRPr>
          </a:p>
          <a:p>
            <a:pPr indent="0" lvl="0" marL="0" marR="0" rtl="0" algn="l">
              <a:lnSpc>
                <a:spcPct val="131818"/>
              </a:lnSpc>
              <a:spcBef>
                <a:spcPts val="600"/>
              </a:spcBef>
              <a:spcAft>
                <a:spcPts val="0"/>
              </a:spcAft>
              <a:buClr>
                <a:srgbClr val="6B7396"/>
              </a:buClr>
              <a:buSzPts val="1100"/>
              <a:buFont typeface="Calibri"/>
              <a:buNone/>
            </a:pPr>
            <a:r>
              <a:rPr b="0" i="1" lang="en-US" sz="1100" u="none" cap="none" strike="noStrike">
                <a:solidFill>
                  <a:srgbClr val="6B7396"/>
                </a:solidFill>
                <a:latin typeface="Calibri"/>
                <a:ea typeface="Calibri"/>
                <a:cs typeface="Calibri"/>
                <a:sym typeface="Calibri"/>
              </a:rPr>
              <a:t>Public, cheap, and full of what a scan cannot tell us.</a:t>
            </a:r>
            <a:endParaRPr b="0" i="0" sz="1100" u="none" cap="none" strike="noStrike">
              <a:solidFill>
                <a:schemeClr val="dk1"/>
              </a:solidFill>
              <a:latin typeface="Calibri"/>
              <a:ea typeface="Calibri"/>
              <a:cs typeface="Calibri"/>
              <a:sym typeface="Calibri"/>
            </a:endParaRPr>
          </a:p>
        </p:txBody>
      </p:sp>
      <p:sp>
        <p:nvSpPr>
          <p:cNvPr id="212" name="Google Shape;212;g3f9c857b24b_0_45"/>
          <p:cNvSpPr/>
          <p:nvPr/>
        </p:nvSpPr>
        <p:spPr>
          <a:xfrm>
            <a:off x="457200" y="4169664"/>
            <a:ext cx="3575400" cy="1682400"/>
          </a:xfrm>
          <a:prstGeom prst="roundRect">
            <a:avLst>
              <a:gd fmla="val 3261"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f9c857b24b_0_45"/>
          <p:cNvSpPr/>
          <p:nvPr/>
        </p:nvSpPr>
        <p:spPr>
          <a:xfrm>
            <a:off x="676656" y="435254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f9c857b24b_0_45"/>
          <p:cNvSpPr txBox="1"/>
          <p:nvPr/>
        </p:nvSpPr>
        <p:spPr>
          <a:xfrm>
            <a:off x="676656" y="435254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15" name="Google Shape;215;g3f9c857b24b_0_45"/>
          <p:cNvSpPr txBox="1"/>
          <p:nvPr/>
        </p:nvSpPr>
        <p:spPr>
          <a:xfrm>
            <a:off x="1097280" y="4361688"/>
            <a:ext cx="2715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Say what we want</a:t>
            </a:r>
            <a:endParaRPr b="0" i="0" sz="1500" u="none" cap="none" strike="noStrike">
              <a:solidFill>
                <a:schemeClr val="dk1"/>
              </a:solidFill>
              <a:latin typeface="Calibri"/>
              <a:ea typeface="Calibri"/>
              <a:cs typeface="Calibri"/>
              <a:sym typeface="Calibri"/>
            </a:endParaRPr>
          </a:p>
        </p:txBody>
      </p:sp>
      <p:sp>
        <p:nvSpPr>
          <p:cNvPr id="216" name="Google Shape;216;g3f9c857b24b_0_45"/>
          <p:cNvSpPr txBox="1"/>
          <p:nvPr/>
        </p:nvSpPr>
        <p:spPr>
          <a:xfrm>
            <a:off x="676656" y="4773168"/>
            <a:ext cx="3136500" cy="9693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Write the wish down in plain words first: what is this thing, who wears it, how should it feel, where is it used, what must it avoid, and what we still do not know.</a:t>
            </a:r>
            <a:endParaRPr b="0" i="0" sz="1050" u="none" cap="none" strike="noStrike">
              <a:solidFill>
                <a:schemeClr val="dk1"/>
              </a:solidFill>
              <a:latin typeface="Calibri"/>
              <a:ea typeface="Calibri"/>
              <a:cs typeface="Calibri"/>
              <a:sym typeface="Calibri"/>
            </a:endParaRPr>
          </a:p>
        </p:txBody>
      </p:sp>
      <p:sp>
        <p:nvSpPr>
          <p:cNvPr id="217" name="Google Shape;217;g3f9c857b24b_0_45"/>
          <p:cNvSpPr/>
          <p:nvPr/>
        </p:nvSpPr>
        <p:spPr>
          <a:xfrm>
            <a:off x="4306824" y="4169664"/>
            <a:ext cx="3575400" cy="1682400"/>
          </a:xfrm>
          <a:prstGeom prst="roundRect">
            <a:avLst>
              <a:gd fmla="val 3261"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f9c857b24b_0_45"/>
          <p:cNvSpPr/>
          <p:nvPr/>
        </p:nvSpPr>
        <p:spPr>
          <a:xfrm>
            <a:off x="4526280" y="435254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f9c857b24b_0_45"/>
          <p:cNvSpPr txBox="1"/>
          <p:nvPr/>
        </p:nvSpPr>
        <p:spPr>
          <a:xfrm>
            <a:off x="4526280" y="435254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20" name="Google Shape;220;g3f9c857b24b_0_45"/>
          <p:cNvSpPr txBox="1"/>
          <p:nvPr/>
        </p:nvSpPr>
        <p:spPr>
          <a:xfrm>
            <a:off x="4946904" y="4361688"/>
            <a:ext cx="2715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Sketch a few answers</a:t>
            </a:r>
            <a:endParaRPr b="0" i="0" sz="1500" u="none" cap="none" strike="noStrike">
              <a:solidFill>
                <a:schemeClr val="dk1"/>
              </a:solidFill>
              <a:latin typeface="Calibri"/>
              <a:ea typeface="Calibri"/>
              <a:cs typeface="Calibri"/>
              <a:sym typeface="Calibri"/>
            </a:endParaRPr>
          </a:p>
        </p:txBody>
      </p:sp>
      <p:sp>
        <p:nvSpPr>
          <p:cNvPr id="221" name="Google Shape;221;g3f9c857b24b_0_45"/>
          <p:cNvSpPr txBox="1"/>
          <p:nvPr/>
        </p:nvSpPr>
        <p:spPr>
          <a:xfrm>
            <a:off x="4526280" y="4773168"/>
            <a:ext cx="3136500" cy="9693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Pull two or three genuinely different looks out of the collection and put them in front of a person. Pick a direction before anyone models anything. (Fine-tuning, SFT, is on the table here.)</a:t>
            </a:r>
            <a:endParaRPr b="0" i="0" sz="1050" u="none" cap="none" strike="noStrike">
              <a:solidFill>
                <a:schemeClr val="dk1"/>
              </a:solidFill>
              <a:latin typeface="Calibri"/>
              <a:ea typeface="Calibri"/>
              <a:cs typeface="Calibri"/>
              <a:sym typeface="Calibri"/>
            </a:endParaRPr>
          </a:p>
        </p:txBody>
      </p:sp>
      <p:sp>
        <p:nvSpPr>
          <p:cNvPr id="222" name="Google Shape;222;g3f9c857b24b_0_45"/>
          <p:cNvSpPr/>
          <p:nvPr/>
        </p:nvSpPr>
        <p:spPr>
          <a:xfrm>
            <a:off x="8156448" y="4169664"/>
            <a:ext cx="3575400" cy="1682400"/>
          </a:xfrm>
          <a:prstGeom prst="roundRect">
            <a:avLst>
              <a:gd fmla="val 3261" name="adj"/>
            </a:avLst>
          </a:prstGeom>
          <a:solidFill>
            <a:srgbClr val="EEF1F9"/>
          </a:solidFill>
          <a:ln cap="flat" cmpd="sng" w="12700">
            <a:solidFill>
              <a:srgbClr val="D8D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f9c857b24b_0_45"/>
          <p:cNvSpPr/>
          <p:nvPr/>
        </p:nvSpPr>
        <p:spPr>
          <a:xfrm>
            <a:off x="8375904" y="4352544"/>
            <a:ext cx="329100" cy="329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f9c857b24b_0_45"/>
          <p:cNvSpPr txBox="1"/>
          <p:nvPr/>
        </p:nvSpPr>
        <p:spPr>
          <a:xfrm>
            <a:off x="8375904" y="4352544"/>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A3C"/>
              </a:buClr>
              <a:buSzPts val="1300"/>
              <a:buFont typeface="Calibri"/>
              <a:buNone/>
            </a:pPr>
            <a:r>
              <a:rPr b="1" i="0" lang="en-US" sz="1300" u="none" cap="none" strike="noStrike">
                <a:solidFill>
                  <a:srgbClr val="141A3C"/>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25" name="Google Shape;225;g3f9c857b24b_0_45"/>
          <p:cNvSpPr txBox="1"/>
          <p:nvPr/>
        </p:nvSpPr>
        <p:spPr>
          <a:xfrm>
            <a:off x="8796528" y="4361688"/>
            <a:ext cx="2715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500"/>
              <a:buFont typeface="Cambria"/>
              <a:buNone/>
            </a:pPr>
            <a:r>
              <a:rPr b="1" i="0" lang="en-US" sz="1500" u="none" cap="none" strike="noStrike">
                <a:solidFill>
                  <a:srgbClr val="141A3C"/>
                </a:solidFill>
                <a:latin typeface="Cambria"/>
                <a:ea typeface="Cambria"/>
                <a:cs typeface="Cambria"/>
                <a:sym typeface="Cambria"/>
              </a:rPr>
              <a:t>Only then, the shape</a:t>
            </a:r>
            <a:endParaRPr b="0" i="0" sz="1500" u="none" cap="none" strike="noStrike">
              <a:solidFill>
                <a:schemeClr val="dk1"/>
              </a:solidFill>
              <a:latin typeface="Calibri"/>
              <a:ea typeface="Calibri"/>
              <a:cs typeface="Calibri"/>
              <a:sym typeface="Calibri"/>
            </a:endParaRPr>
          </a:p>
        </p:txBody>
      </p:sp>
      <p:sp>
        <p:nvSpPr>
          <p:cNvPr id="226" name="Google Shape;226;g3f9c857b24b_0_45"/>
          <p:cNvSpPr txBox="1"/>
          <p:nvPr/>
        </p:nvSpPr>
        <p:spPr>
          <a:xfrm>
            <a:off x="8375904" y="4773168"/>
            <a:ext cx="3136500" cy="9693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3A4468"/>
              </a:buClr>
              <a:buSzPts val="1050"/>
              <a:buFont typeface="Calibri"/>
              <a:buNone/>
            </a:pPr>
            <a:r>
              <a:rPr b="0" i="0" lang="en-US" sz="1050" u="none" cap="none" strike="noStrike">
                <a:solidFill>
                  <a:srgbClr val="3A4468"/>
                </a:solidFill>
                <a:latin typeface="Calibri"/>
                <a:ea typeface="Calibri"/>
                <a:cs typeface="Calibri"/>
                <a:sym typeface="Calibri"/>
              </a:rPr>
              <a:t>The first CAD is just the outside: one smooth shell, a marker where the eartip and sound hole go, how it sits in the ear, and keep it flat. Battery, speaker and factory questions come later.</a:t>
            </a:r>
            <a:endParaRPr b="0" i="0" sz="1050" u="none" cap="none" strike="noStrike">
              <a:solidFill>
                <a:schemeClr val="dk1"/>
              </a:solidFill>
              <a:latin typeface="Calibri"/>
              <a:ea typeface="Calibri"/>
              <a:cs typeface="Calibri"/>
              <a:sym typeface="Calibri"/>
            </a:endParaRPr>
          </a:p>
        </p:txBody>
      </p:sp>
      <p:sp>
        <p:nvSpPr>
          <p:cNvPr id="227" name="Google Shape;227;g3f9c857b24b_0_45"/>
          <p:cNvSpPr txBox="1"/>
          <p:nvPr/>
        </p:nvSpPr>
        <p:spPr>
          <a:xfrm>
            <a:off x="457200" y="5961888"/>
            <a:ext cx="1127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A3C"/>
              </a:buClr>
              <a:buSzPts val="1150"/>
              <a:buFont typeface="Calibri"/>
              <a:buNone/>
            </a:pPr>
            <a:r>
              <a:rPr b="1" i="1" lang="en-US" sz="1150" u="none" cap="none" strike="noStrike">
                <a:solidFill>
                  <a:srgbClr val="141A3C"/>
                </a:solidFill>
                <a:latin typeface="Calibri"/>
                <a:ea typeface="Calibri"/>
                <a:cs typeface="Calibri"/>
                <a:sym typeface="Calibri"/>
              </a:rPr>
              <a:t>The rule we keep:  </a:t>
            </a:r>
            <a:r>
              <a:rPr b="0" i="1" lang="en-US" sz="1150" u="none" cap="none" strike="noStrike">
                <a:solidFill>
                  <a:srgbClr val="6B7396"/>
                </a:solidFill>
                <a:latin typeface="Calibri"/>
                <a:ea typeface="Calibri"/>
                <a:cs typeface="Calibri"/>
                <a:sym typeface="Calibri"/>
              </a:rPr>
              <a:t>every photo, sales pitch and review gets a label saying where it came from and how much to trust it. We are borrowing ideas, not copying products — and a marketing page is never a fact about physics or ears.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cxnSp>
        <p:nvCxnSpPr>
          <p:cNvPr id="232" name="Google Shape;232;g3f9c857b24b_18_3"/>
          <p:cNvCxnSpPr/>
          <p:nvPr/>
        </p:nvCxnSpPr>
        <p:spPr>
          <a:xfrm>
            <a:off x="0" y="9525"/>
            <a:ext cx="12192000" cy="600"/>
          </a:xfrm>
          <a:prstGeom prst="straightConnector1">
            <a:avLst/>
          </a:prstGeom>
          <a:noFill/>
          <a:ln cap="flat" cmpd="sng" w="7450">
            <a:solidFill>
              <a:srgbClr val="CAD8DC"/>
            </a:solidFill>
            <a:prstDash val="solid"/>
            <a:miter lim="8000"/>
            <a:headEnd len="sm" w="sm" type="none"/>
            <a:tailEnd len="sm" w="sm" type="none"/>
          </a:ln>
        </p:spPr>
      </p:cxnSp>
      <p:cxnSp>
        <p:nvCxnSpPr>
          <p:cNvPr id="233" name="Google Shape;233;g3f9c857b24b_18_3"/>
          <p:cNvCxnSpPr/>
          <p:nvPr/>
        </p:nvCxnSpPr>
        <p:spPr>
          <a:xfrm>
            <a:off x="10160" y="0"/>
            <a:ext cx="600" cy="6858000"/>
          </a:xfrm>
          <a:prstGeom prst="straightConnector1">
            <a:avLst/>
          </a:prstGeom>
          <a:noFill/>
          <a:ln cap="flat" cmpd="sng" w="7450">
            <a:solidFill>
              <a:srgbClr val="CAD8DC"/>
            </a:solidFill>
            <a:prstDash val="solid"/>
            <a:miter lim="8000"/>
            <a:headEnd len="sm" w="sm" type="none"/>
            <a:tailEnd len="sm" w="sm" type="none"/>
          </a:ln>
        </p:spPr>
      </p:cxnSp>
      <p:cxnSp>
        <p:nvCxnSpPr>
          <p:cNvPr id="234" name="Google Shape;234;g3f9c857b24b_18_3"/>
          <p:cNvCxnSpPr/>
          <p:nvPr/>
        </p:nvCxnSpPr>
        <p:spPr>
          <a:xfrm>
            <a:off x="12181840" y="0"/>
            <a:ext cx="600" cy="6858000"/>
          </a:xfrm>
          <a:prstGeom prst="straightConnector1">
            <a:avLst/>
          </a:prstGeom>
          <a:noFill/>
          <a:ln cap="flat" cmpd="sng" w="7450">
            <a:solidFill>
              <a:srgbClr val="CAD8DC"/>
            </a:solidFill>
            <a:prstDash val="solid"/>
            <a:miter lim="8000"/>
            <a:headEnd len="sm" w="sm" type="none"/>
            <a:tailEnd len="sm" w="sm" type="none"/>
          </a:ln>
        </p:spPr>
      </p:cxnSp>
      <p:sp>
        <p:nvSpPr>
          <p:cNvPr id="235" name="Google Shape;235;g3f9c857b24b_18_3"/>
          <p:cNvSpPr txBox="1"/>
          <p:nvPr/>
        </p:nvSpPr>
        <p:spPr>
          <a:xfrm>
            <a:off x="772160" y="457200"/>
            <a:ext cx="1727400" cy="1746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900" u="none" cap="none" strike="noStrike">
                <a:solidFill>
                  <a:srgbClr val="007982"/>
                </a:solidFill>
                <a:latin typeface="Arial"/>
                <a:ea typeface="Arial"/>
                <a:cs typeface="Arial"/>
                <a:sym typeface="Arial"/>
              </a:rPr>
              <a:t>PROGRESS</a:t>
            </a:r>
            <a:endParaRPr b="1" i="0" sz="900" u="none" cap="none" strike="noStrike">
              <a:solidFill>
                <a:srgbClr val="007982"/>
              </a:solidFill>
              <a:latin typeface="Arial"/>
              <a:ea typeface="Arial"/>
              <a:cs typeface="Arial"/>
              <a:sym typeface="Arial"/>
            </a:endParaRPr>
          </a:p>
        </p:txBody>
      </p:sp>
      <p:sp>
        <p:nvSpPr>
          <p:cNvPr id="236" name="Google Shape;236;g3f9c857b24b_18_3"/>
          <p:cNvSpPr txBox="1"/>
          <p:nvPr/>
        </p:nvSpPr>
        <p:spPr>
          <a:xfrm>
            <a:off x="772160" y="742950"/>
            <a:ext cx="10647600" cy="3903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2300" u="none" cap="none" strike="noStrike">
                <a:solidFill>
                  <a:srgbClr val="1C3035"/>
                </a:solidFill>
                <a:latin typeface="Georgia"/>
                <a:ea typeface="Georgia"/>
                <a:cs typeface="Georgia"/>
                <a:sym typeface="Georgia"/>
              </a:rPr>
              <a:t>Point Clouds Can Fit an Ear, but Cannot Design an Earbud.</a:t>
            </a:r>
            <a:endParaRPr b="1" i="0" sz="2300" u="none" cap="none" strike="noStrike">
              <a:solidFill>
                <a:srgbClr val="1C3035"/>
              </a:solidFill>
              <a:latin typeface="Georgia"/>
              <a:ea typeface="Georgia"/>
              <a:cs typeface="Georgia"/>
              <a:sym typeface="Georgia"/>
            </a:endParaRPr>
          </a:p>
        </p:txBody>
      </p:sp>
      <p:sp>
        <p:nvSpPr>
          <p:cNvPr id="237" name="Google Shape;237;g3f9c857b24b_18_3"/>
          <p:cNvSpPr txBox="1"/>
          <p:nvPr/>
        </p:nvSpPr>
        <p:spPr>
          <a:xfrm>
            <a:off x="772160" y="1314450"/>
            <a:ext cx="10647600" cy="2208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0" i="0" lang="en-US" sz="1200" u="none" cap="none" strike="noStrike">
                <a:solidFill>
                  <a:srgbClr val="526F7E"/>
                </a:solidFill>
                <a:latin typeface="Arial"/>
                <a:ea typeface="Arial"/>
                <a:cs typeface="Arial"/>
                <a:sym typeface="Arial"/>
              </a:rPr>
              <a:t>Geometry optimizes dimensions. Product cases add the design knowledge needed for a credible sleep-earbud concept.</a:t>
            </a:r>
            <a:endParaRPr b="0" i="0" sz="1200" u="none" cap="none" strike="noStrike">
              <a:solidFill>
                <a:srgbClr val="526F7E"/>
              </a:solidFill>
              <a:latin typeface="Arial"/>
              <a:ea typeface="Arial"/>
              <a:cs typeface="Arial"/>
              <a:sym typeface="Arial"/>
            </a:endParaRPr>
          </a:p>
        </p:txBody>
      </p:sp>
      <p:cxnSp>
        <p:nvCxnSpPr>
          <p:cNvPr id="238" name="Google Shape;238;g3f9c857b24b_18_3"/>
          <p:cNvCxnSpPr/>
          <p:nvPr/>
        </p:nvCxnSpPr>
        <p:spPr>
          <a:xfrm>
            <a:off x="772160" y="1771650"/>
            <a:ext cx="10647600" cy="600"/>
          </a:xfrm>
          <a:prstGeom prst="straightConnector1">
            <a:avLst/>
          </a:prstGeom>
          <a:noFill/>
          <a:ln cap="flat" cmpd="sng" w="8950">
            <a:solidFill>
              <a:srgbClr val="CAD8DC"/>
            </a:solidFill>
            <a:prstDash val="solid"/>
            <a:miter lim="8000"/>
            <a:headEnd len="sm" w="sm" type="none"/>
            <a:tailEnd len="sm" w="sm" type="none"/>
          </a:ln>
        </p:spPr>
      </p:cxnSp>
      <p:sp>
        <p:nvSpPr>
          <p:cNvPr id="239" name="Google Shape;239;g3f9c857b24b_18_3"/>
          <p:cNvSpPr txBox="1"/>
          <p:nvPr/>
        </p:nvSpPr>
        <p:spPr>
          <a:xfrm>
            <a:off x="772160" y="1958550"/>
            <a:ext cx="4267200" cy="2364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1300" u="none" cap="none" strike="noStrike">
                <a:solidFill>
                  <a:srgbClr val="007982"/>
                </a:solidFill>
                <a:latin typeface="Arial"/>
                <a:ea typeface="Arial"/>
                <a:cs typeface="Arial"/>
                <a:sym typeface="Arial"/>
              </a:rPr>
              <a:t>1.  GEOMETRY-ONLY GENERATION</a:t>
            </a:r>
            <a:endParaRPr b="1" i="0" sz="1300" u="none" cap="none" strike="noStrike">
              <a:solidFill>
                <a:srgbClr val="007982"/>
              </a:solidFill>
              <a:latin typeface="Arial"/>
              <a:ea typeface="Arial"/>
              <a:cs typeface="Arial"/>
              <a:sym typeface="Arial"/>
            </a:endParaRPr>
          </a:p>
        </p:txBody>
      </p:sp>
      <p:sp>
        <p:nvSpPr>
          <p:cNvPr id="240" name="Google Shape;240;g3f9c857b24b_18_3"/>
          <p:cNvSpPr/>
          <p:nvPr/>
        </p:nvSpPr>
        <p:spPr>
          <a:xfrm>
            <a:off x="772160" y="2362200"/>
            <a:ext cx="2458800" cy="2305200"/>
          </a:xfrm>
          <a:prstGeom prst="rect">
            <a:avLst/>
          </a:prstGeom>
          <a:solidFill>
            <a:srgbClr val="1C3035"/>
          </a:solidFill>
          <a:ln cap="flat" cmpd="sng" w="7450">
            <a:solidFill>
              <a:srgbClr val="1C3035"/>
            </a:solidFill>
            <a:prstDash val="solid"/>
            <a:miter lim="8000"/>
            <a:headEnd len="sm" w="sm" type="none"/>
            <a:tailEnd len="sm" w="sm" type="none"/>
          </a:ln>
        </p:spPr>
        <p:txBody>
          <a:bodyPr anchorCtr="0" anchor="ctr" bIns="35800" lIns="71625" spcFirstLastPara="1" rIns="71625" wrap="square" tIns="3580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old-hollow-frustum" id="241" name="Google Shape;241;g3f9c857b24b_18_3"/>
          <p:cNvPicPr preferRelativeResize="0"/>
          <p:nvPr/>
        </p:nvPicPr>
        <p:blipFill rotWithShape="1">
          <a:blip r:embed="rId3">
            <a:alphaModFix/>
          </a:blip>
          <a:srcRect b="0" l="0" r="0" t="0"/>
          <a:stretch/>
        </p:blipFill>
        <p:spPr>
          <a:xfrm>
            <a:off x="792480" y="2381250"/>
            <a:ext cx="2418080" cy="2266950"/>
          </a:xfrm>
          <a:prstGeom prst="rect">
            <a:avLst/>
          </a:prstGeom>
          <a:noFill/>
          <a:ln>
            <a:noFill/>
          </a:ln>
        </p:spPr>
      </p:pic>
      <p:sp>
        <p:nvSpPr>
          <p:cNvPr id="242" name="Google Shape;242;g3f9c857b24b_18_3"/>
          <p:cNvSpPr txBox="1"/>
          <p:nvPr/>
        </p:nvSpPr>
        <p:spPr>
          <a:xfrm>
            <a:off x="3495040" y="2381250"/>
            <a:ext cx="3352800" cy="2364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1300" u="none" cap="none" strike="noStrike">
                <a:solidFill>
                  <a:srgbClr val="1C3035"/>
                </a:solidFill>
                <a:latin typeface="Arial"/>
                <a:ea typeface="Arial"/>
                <a:cs typeface="Arial"/>
                <a:sym typeface="Arial"/>
              </a:rPr>
              <a:t>Ear geometry defined a feasible volume.</a:t>
            </a:r>
            <a:endParaRPr b="1" i="0" sz="1300" u="none" cap="none" strike="noStrike">
              <a:solidFill>
                <a:srgbClr val="1C3035"/>
              </a:solidFill>
              <a:latin typeface="Arial"/>
              <a:ea typeface="Arial"/>
              <a:cs typeface="Arial"/>
              <a:sym typeface="Arial"/>
            </a:endParaRPr>
          </a:p>
        </p:txBody>
      </p:sp>
      <p:sp>
        <p:nvSpPr>
          <p:cNvPr id="243" name="Google Shape;243;g3f9c857b24b_18_3"/>
          <p:cNvSpPr txBox="1"/>
          <p:nvPr/>
        </p:nvSpPr>
        <p:spPr>
          <a:xfrm>
            <a:off x="3495050" y="2695575"/>
            <a:ext cx="3393300" cy="2145000"/>
          </a:xfrm>
          <a:prstGeom prst="rect">
            <a:avLst/>
          </a:prstGeom>
          <a:noFill/>
          <a:ln>
            <a:noFill/>
          </a:ln>
        </p:spPr>
        <p:txBody>
          <a:bodyPr anchorCtr="0" anchor="t" bIns="35800" lIns="0" spcFirstLastPara="1" rIns="0" wrap="square" tIns="0">
            <a:spAutoFit/>
          </a:bodyPr>
          <a:lstStyle/>
          <a:p>
            <a:pPr indent="-311150" lvl="0" marL="457200" rtl="0" algn="l">
              <a:lnSpc>
                <a:spcPct val="115000"/>
              </a:lnSpc>
              <a:spcBef>
                <a:spcPts val="1200"/>
              </a:spcBef>
              <a:spcAft>
                <a:spcPts val="0"/>
              </a:spcAft>
              <a:buClr>
                <a:schemeClr val="dk1"/>
              </a:buClr>
              <a:buSzPts val="1300"/>
              <a:buAutoNum type="arabicPeriod"/>
            </a:pPr>
            <a:r>
              <a:rPr lang="en-US" sz="1200">
                <a:solidFill>
                  <a:srgbClr val="1C3035"/>
                </a:solidFill>
              </a:rPr>
              <a:t>Extract concha dimensions and place a low-protrusion body.</a:t>
            </a:r>
            <a:endParaRPr sz="1200">
              <a:solidFill>
                <a:srgbClr val="1C3035"/>
              </a:solidFill>
            </a:endParaRPr>
          </a:p>
          <a:p>
            <a:pPr indent="-311150" lvl="0" marL="457200" rtl="0" algn="l">
              <a:lnSpc>
                <a:spcPct val="115000"/>
              </a:lnSpc>
              <a:spcBef>
                <a:spcPts val="0"/>
              </a:spcBef>
              <a:spcAft>
                <a:spcPts val="0"/>
              </a:spcAft>
              <a:buClr>
                <a:schemeClr val="dk1"/>
              </a:buClr>
              <a:buSzPts val="1300"/>
              <a:buAutoNum type="arabicPeriod"/>
            </a:pPr>
            <a:r>
              <a:rPr lang="en-US" sz="1200">
                <a:solidFill>
                  <a:srgbClr val="1C3035"/>
                </a:solidFill>
              </a:rPr>
              <a:t>Use component size, wall thickness and cavity volume to set dimensions.</a:t>
            </a:r>
            <a:endParaRPr sz="1200">
              <a:solidFill>
                <a:srgbClr val="1C3035"/>
              </a:solidFill>
            </a:endParaRPr>
          </a:p>
          <a:p>
            <a:pPr indent="-311150" lvl="0" marL="457200" rtl="0" algn="l">
              <a:lnSpc>
                <a:spcPct val="115000"/>
              </a:lnSpc>
              <a:spcBef>
                <a:spcPts val="0"/>
              </a:spcBef>
              <a:spcAft>
                <a:spcPts val="0"/>
              </a:spcAft>
              <a:buClr>
                <a:schemeClr val="dk1"/>
              </a:buClr>
              <a:buSzPts val="1300"/>
              <a:buAutoNum type="arabicPeriod"/>
            </a:pPr>
            <a:r>
              <a:rPr lang="en-US" sz="1200">
                <a:solidFill>
                  <a:srgbClr val="1C3035"/>
                </a:solidFill>
              </a:rPr>
              <a:t>Sweep fit, protrusion and coverage to reduce side-sleep pressure.</a:t>
            </a:r>
            <a:endParaRPr sz="1200">
              <a:solidFill>
                <a:srgbClr val="1C3035"/>
              </a:solidFill>
            </a:endParaRPr>
          </a:p>
          <a:p>
            <a:pPr indent="-311150" lvl="0" marL="457200" rtl="0" algn="l">
              <a:lnSpc>
                <a:spcPct val="115000"/>
              </a:lnSpc>
              <a:spcBef>
                <a:spcPts val="0"/>
              </a:spcBef>
              <a:spcAft>
                <a:spcPts val="0"/>
              </a:spcAft>
              <a:buClr>
                <a:schemeClr val="dk1"/>
              </a:buClr>
              <a:buSzPts val="1300"/>
              <a:buAutoNum type="arabicPeriod"/>
            </a:pPr>
            <a:r>
              <a:rPr lang="en-US" sz="1200">
                <a:solidFill>
                  <a:srgbClr val="1C3035"/>
                </a:solidFill>
              </a:rPr>
              <a:t>Use a hollow frustum for calculable volume, walls and fit range.</a:t>
            </a:r>
            <a:endParaRPr sz="1200">
              <a:solidFill>
                <a:srgbClr val="1C3035"/>
              </a:solidFill>
            </a:endParaRPr>
          </a:p>
          <a:p>
            <a:pPr indent="0" lvl="0" marL="0" marR="0" rtl="0" algn="l">
              <a:spcBef>
                <a:spcPts val="1200"/>
              </a:spcBef>
              <a:spcAft>
                <a:spcPts val="0"/>
              </a:spcAft>
              <a:buNone/>
            </a:pPr>
            <a:r>
              <a:t/>
            </a:r>
            <a:endParaRPr sz="1200">
              <a:solidFill>
                <a:srgbClr val="1C3035"/>
              </a:solidFill>
            </a:endParaRPr>
          </a:p>
        </p:txBody>
      </p:sp>
      <p:grpSp>
        <p:nvGrpSpPr>
          <p:cNvPr id="244" name="Google Shape;244;g3f9c857b24b_18_3"/>
          <p:cNvGrpSpPr/>
          <p:nvPr/>
        </p:nvGrpSpPr>
        <p:grpSpPr>
          <a:xfrm>
            <a:off x="3494956" y="4588738"/>
            <a:ext cx="3165610" cy="733500"/>
            <a:chOff x="3495040" y="3771900"/>
            <a:chExt cx="3393300" cy="733500"/>
          </a:xfrm>
        </p:grpSpPr>
        <p:sp>
          <p:nvSpPr>
            <p:cNvPr id="245" name="Google Shape;245;g3f9c857b24b_18_3"/>
            <p:cNvSpPr/>
            <p:nvPr/>
          </p:nvSpPr>
          <p:spPr>
            <a:xfrm>
              <a:off x="3495040" y="3771900"/>
              <a:ext cx="3393300" cy="733500"/>
            </a:xfrm>
            <a:prstGeom prst="rect">
              <a:avLst/>
            </a:prstGeom>
            <a:solidFill>
              <a:srgbClr val="E7F2F3"/>
            </a:solidFill>
            <a:ln cap="flat" cmpd="sng" w="7450">
              <a:solidFill>
                <a:srgbClr val="CAD8DC"/>
              </a:solidFill>
              <a:prstDash val="solid"/>
              <a:miter lim="8000"/>
              <a:headEnd len="sm" w="sm" type="none"/>
              <a:tailEnd len="sm" w="sm" type="none"/>
            </a:ln>
          </p:spPr>
          <p:txBody>
            <a:bodyPr anchorCtr="0" anchor="ctr" bIns="35800" lIns="71625" spcFirstLastPara="1" rIns="71625" wrap="square" tIns="3580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g3f9c857b24b_18_3"/>
            <p:cNvSpPr txBox="1"/>
            <p:nvPr/>
          </p:nvSpPr>
          <p:spPr>
            <a:xfrm>
              <a:off x="3657600" y="3905250"/>
              <a:ext cx="1828800" cy="1746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lang="en-US" sz="900">
                  <a:solidFill>
                    <a:srgbClr val="007982"/>
                  </a:solidFill>
                </a:rPr>
                <a:t>RESULT</a:t>
              </a:r>
              <a:endParaRPr b="1" i="0" sz="900" u="none" cap="none" strike="noStrike">
                <a:solidFill>
                  <a:srgbClr val="007982"/>
                </a:solidFill>
                <a:latin typeface="Arial"/>
                <a:ea typeface="Arial"/>
                <a:cs typeface="Arial"/>
                <a:sym typeface="Arial"/>
              </a:endParaRPr>
            </a:p>
          </p:txBody>
        </p:sp>
        <p:sp>
          <p:nvSpPr>
            <p:cNvPr id="247" name="Google Shape;247;g3f9c857b24b_18_3"/>
            <p:cNvSpPr txBox="1"/>
            <p:nvPr/>
          </p:nvSpPr>
          <p:spPr>
            <a:xfrm>
              <a:off x="3657600" y="4105275"/>
              <a:ext cx="3190200" cy="367200"/>
            </a:xfrm>
            <a:prstGeom prst="rect">
              <a:avLst/>
            </a:prstGeom>
            <a:noFill/>
            <a:ln>
              <a:noFill/>
            </a:ln>
          </p:spPr>
          <p:txBody>
            <a:bodyPr anchorCtr="0" anchor="t" bIns="35800" lIns="0" spcFirstLastPara="1" rIns="0" wrap="square" tIns="0">
              <a:spAutoFit/>
            </a:bodyPr>
            <a:lstStyle/>
            <a:p>
              <a:pPr indent="0" lvl="0" marL="0" rtl="0" algn="l">
                <a:lnSpc>
                  <a:spcPct val="115000"/>
                </a:lnSpc>
                <a:spcBef>
                  <a:spcPts val="1200"/>
                </a:spcBef>
                <a:spcAft>
                  <a:spcPts val="1200"/>
                </a:spcAft>
                <a:buSzPts val="1100"/>
                <a:buNone/>
              </a:pPr>
              <a:r>
                <a:rPr b="1" lang="en-US" sz="1000">
                  <a:solidFill>
                    <a:srgbClr val="1C3035"/>
                  </a:solidFill>
                </a:rPr>
                <a:t>A feasible spatial envelope, not yet a product design.</a:t>
              </a:r>
              <a:endParaRPr b="1" sz="1000">
                <a:solidFill>
                  <a:srgbClr val="1C3035"/>
                </a:solidFill>
              </a:endParaRPr>
            </a:p>
          </p:txBody>
        </p:sp>
      </p:grpSp>
      <p:sp>
        <p:nvSpPr>
          <p:cNvPr id="248" name="Google Shape;248;g3f9c857b24b_18_3"/>
          <p:cNvSpPr txBox="1"/>
          <p:nvPr/>
        </p:nvSpPr>
        <p:spPr>
          <a:xfrm>
            <a:off x="772160" y="5381066"/>
            <a:ext cx="2235000" cy="2670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1500" u="none" cap="none" strike="noStrike">
                <a:solidFill>
                  <a:srgbClr val="FF0000"/>
                </a:solidFill>
                <a:highlight>
                  <a:schemeClr val="lt1"/>
                </a:highlight>
                <a:latin typeface="Arial"/>
                <a:ea typeface="Arial"/>
                <a:cs typeface="Arial"/>
                <a:sym typeface="Arial"/>
              </a:rPr>
              <a:t>What was missing?</a:t>
            </a:r>
            <a:endParaRPr b="1" i="0" sz="1500" u="none" cap="none" strike="noStrike">
              <a:solidFill>
                <a:srgbClr val="FF0000"/>
              </a:solidFill>
              <a:highlight>
                <a:schemeClr val="lt1"/>
              </a:highlight>
              <a:latin typeface="Arial"/>
              <a:ea typeface="Arial"/>
              <a:cs typeface="Arial"/>
              <a:sym typeface="Arial"/>
            </a:endParaRPr>
          </a:p>
        </p:txBody>
      </p:sp>
      <p:sp>
        <p:nvSpPr>
          <p:cNvPr id="249" name="Google Shape;249;g3f9c857b24b_18_3"/>
          <p:cNvSpPr txBox="1"/>
          <p:nvPr/>
        </p:nvSpPr>
        <p:spPr>
          <a:xfrm>
            <a:off x="772160" y="5795854"/>
            <a:ext cx="5953800" cy="4980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1500" u="none" cap="none" strike="noStrike">
                <a:solidFill>
                  <a:srgbClr val="1C3035"/>
                </a:solidFill>
              </a:rPr>
              <a:t>A</a:t>
            </a:r>
            <a:r>
              <a:rPr b="1" lang="en-US" sz="1500">
                <a:solidFill>
                  <a:srgbClr val="1C3035"/>
                </a:solidFill>
              </a:rPr>
              <a:t>n ear</a:t>
            </a:r>
            <a:r>
              <a:rPr b="1" i="0" lang="en-US" sz="1500" u="none" cap="none" strike="noStrike">
                <a:solidFill>
                  <a:srgbClr val="1C3035"/>
                </a:solidFill>
              </a:rPr>
              <a:t> point cloud describes the ear, not product identity, visual language or design intent.</a:t>
            </a:r>
            <a:endParaRPr b="1" i="0" sz="1500" u="none" cap="none" strike="noStrike">
              <a:solidFill>
                <a:srgbClr val="1C3035"/>
              </a:solidFill>
            </a:endParaRPr>
          </a:p>
        </p:txBody>
      </p:sp>
      <p:sp>
        <p:nvSpPr>
          <p:cNvPr id="250" name="Google Shape;250;g3f9c857b24b_18_3"/>
          <p:cNvSpPr txBox="1"/>
          <p:nvPr/>
        </p:nvSpPr>
        <p:spPr>
          <a:xfrm>
            <a:off x="7152523" y="2008650"/>
            <a:ext cx="4267200" cy="2364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1" i="0" lang="en-US" sz="1300" u="none" cap="none" strike="noStrike">
                <a:solidFill>
                  <a:srgbClr val="007982"/>
                </a:solidFill>
                <a:latin typeface="Arial"/>
                <a:ea typeface="Arial"/>
                <a:cs typeface="Arial"/>
                <a:sym typeface="Arial"/>
              </a:rPr>
              <a:t>2.  THE NEW DESIGN KNOWLEDGE</a:t>
            </a:r>
            <a:endParaRPr b="1" i="0" sz="1300" u="none" cap="none" strike="noStrike">
              <a:solidFill>
                <a:srgbClr val="007982"/>
              </a:solidFill>
              <a:latin typeface="Arial"/>
              <a:ea typeface="Arial"/>
              <a:cs typeface="Arial"/>
              <a:sym typeface="Arial"/>
            </a:endParaRPr>
          </a:p>
        </p:txBody>
      </p:sp>
      <p:sp>
        <p:nvSpPr>
          <p:cNvPr id="251" name="Google Shape;251;g3f9c857b24b_18_3"/>
          <p:cNvSpPr txBox="1"/>
          <p:nvPr/>
        </p:nvSpPr>
        <p:spPr>
          <a:xfrm>
            <a:off x="7152453" y="2339450"/>
            <a:ext cx="4497300" cy="590400"/>
          </a:xfrm>
          <a:prstGeom prst="rect">
            <a:avLst/>
          </a:prstGeom>
          <a:noFill/>
          <a:ln>
            <a:noFill/>
          </a:ln>
        </p:spPr>
        <p:txBody>
          <a:bodyPr anchorCtr="0" anchor="t" bIns="35800" lIns="0" spcFirstLastPara="1" rIns="0" wrap="square" tIns="0">
            <a:spAutoFit/>
          </a:bodyPr>
          <a:lstStyle/>
          <a:p>
            <a:pPr indent="0" lvl="0" marL="0" marR="0" rtl="0" algn="l">
              <a:spcBef>
                <a:spcPts val="0"/>
              </a:spcBef>
              <a:spcAft>
                <a:spcPts val="0"/>
              </a:spcAft>
              <a:buNone/>
            </a:pPr>
            <a:r>
              <a:rPr b="0" i="0" lang="en-US" sz="1200" u="none" cap="none" strike="noStrike">
                <a:solidFill>
                  <a:srgbClr val="1C3035"/>
                </a:solidFill>
                <a:latin typeface="Arial"/>
                <a:ea typeface="Arial"/>
                <a:cs typeface="Arial"/>
                <a:sym typeface="Arial"/>
              </a:rPr>
              <a:t>Build a design-case corpus from real product introductions, innovation and design narratives, public images and available public models; use it before CAD.</a:t>
            </a:r>
            <a:endParaRPr b="0" i="0" sz="1200" u="none" cap="none" strike="noStrike">
              <a:solidFill>
                <a:srgbClr val="1C3035"/>
              </a:solidFill>
              <a:latin typeface="Arial"/>
              <a:ea typeface="Arial"/>
              <a:cs typeface="Arial"/>
              <a:sym typeface="Arial"/>
            </a:endParaRPr>
          </a:p>
        </p:txBody>
      </p:sp>
      <p:grpSp>
        <p:nvGrpSpPr>
          <p:cNvPr id="252" name="Google Shape;252;g3f9c857b24b_18_3"/>
          <p:cNvGrpSpPr/>
          <p:nvPr/>
        </p:nvGrpSpPr>
        <p:grpSpPr>
          <a:xfrm>
            <a:off x="7152442" y="2920188"/>
            <a:ext cx="3724229" cy="1695775"/>
            <a:chOff x="7762724" y="2038350"/>
            <a:chExt cx="3657300" cy="1665300"/>
          </a:xfrm>
        </p:grpSpPr>
        <p:sp>
          <p:nvSpPr>
            <p:cNvPr id="253" name="Google Shape;253;g3f9c857b24b_18_3"/>
            <p:cNvSpPr/>
            <p:nvPr/>
          </p:nvSpPr>
          <p:spPr>
            <a:xfrm>
              <a:off x="7762724" y="2038350"/>
              <a:ext cx="3657300" cy="1665300"/>
            </a:xfrm>
            <a:prstGeom prst="rect">
              <a:avLst/>
            </a:prstGeom>
            <a:solidFill>
              <a:srgbClr val="F6F9F9"/>
            </a:solidFill>
            <a:ln cap="flat" cmpd="sng" w="7600">
              <a:solidFill>
                <a:srgbClr val="CAD8DC"/>
              </a:solidFill>
              <a:prstDash val="solid"/>
              <a:miter lim="8000"/>
              <a:headEnd len="sm" w="sm" type="none"/>
              <a:tailEnd len="sm" w="sm" type="none"/>
            </a:ln>
          </p:spPr>
          <p:txBody>
            <a:bodyPr anchorCtr="0" anchor="ctr" bIns="36450" lIns="72925" spcFirstLastPara="1" rIns="72925" wrap="square" tIns="36450">
              <a:noAutofit/>
            </a:bodyPr>
            <a:lstStyle/>
            <a:p>
              <a:pPr indent="0" lvl="0" marL="0" marR="0" rtl="0" algn="ctr">
                <a:spcBef>
                  <a:spcPts val="0"/>
                </a:spcBef>
                <a:spcAft>
                  <a:spcPts val="0"/>
                </a:spcAft>
                <a:buNone/>
              </a:pPr>
              <a:r>
                <a:t/>
              </a:r>
              <a:endParaRPr b="0" i="0" sz="1426" u="none" cap="none" strike="noStrike">
                <a:solidFill>
                  <a:schemeClr val="lt1"/>
                </a:solidFill>
                <a:latin typeface="Arial"/>
                <a:ea typeface="Arial"/>
                <a:cs typeface="Arial"/>
                <a:sym typeface="Arial"/>
              </a:endParaRPr>
            </a:p>
          </p:txBody>
        </p:sp>
        <p:pic>
          <p:nvPicPr>
            <p:cNvPr descr="v1_inset_planar_only" id="254" name="Google Shape;254;g3f9c857b24b_18_3"/>
            <p:cNvPicPr preferRelativeResize="0"/>
            <p:nvPr/>
          </p:nvPicPr>
          <p:blipFill rotWithShape="1">
            <a:blip r:embed="rId4">
              <a:alphaModFix/>
            </a:blip>
            <a:srcRect b="0" l="0" r="0" t="0"/>
            <a:stretch/>
          </p:blipFill>
          <p:spPr>
            <a:xfrm>
              <a:off x="7837351" y="2076450"/>
              <a:ext cx="3541849" cy="1627200"/>
            </a:xfrm>
            <a:prstGeom prst="rect">
              <a:avLst/>
            </a:prstGeom>
            <a:noFill/>
            <a:ln>
              <a:noFill/>
            </a:ln>
          </p:spPr>
        </p:pic>
      </p:grpSp>
      <p:grpSp>
        <p:nvGrpSpPr>
          <p:cNvPr id="255" name="Google Shape;255;g3f9c857b24b_18_3"/>
          <p:cNvGrpSpPr/>
          <p:nvPr/>
        </p:nvGrpSpPr>
        <p:grpSpPr>
          <a:xfrm>
            <a:off x="7487339" y="4615984"/>
            <a:ext cx="3098255" cy="1695715"/>
            <a:chOff x="7706450" y="4311375"/>
            <a:chExt cx="3713599" cy="2032500"/>
          </a:xfrm>
        </p:grpSpPr>
        <p:sp>
          <p:nvSpPr>
            <p:cNvPr id="256" name="Google Shape;256;g3f9c857b24b_18_3"/>
            <p:cNvSpPr/>
            <p:nvPr/>
          </p:nvSpPr>
          <p:spPr>
            <a:xfrm>
              <a:off x="7762749" y="4311375"/>
              <a:ext cx="3657300" cy="2032500"/>
            </a:xfrm>
            <a:prstGeom prst="rect">
              <a:avLst/>
            </a:prstGeom>
            <a:solidFill>
              <a:srgbClr val="F6F9F9"/>
            </a:solidFill>
            <a:ln cap="flat" cmpd="sng" w="6225">
              <a:solidFill>
                <a:srgbClr val="CAD8DC"/>
              </a:solidFill>
              <a:prstDash val="solid"/>
              <a:miter lim="8000"/>
              <a:headEnd len="sm" w="sm" type="none"/>
              <a:tailEnd len="sm" w="sm" type="none"/>
            </a:ln>
          </p:spPr>
          <p:txBody>
            <a:bodyPr anchorCtr="0" anchor="ctr" bIns="29875" lIns="59750" spcFirstLastPara="1" rIns="59750" wrap="square" tIns="29875">
              <a:noAutofit/>
            </a:bodyPr>
            <a:lstStyle/>
            <a:p>
              <a:pPr indent="0" lvl="0" marL="0" marR="0" rtl="0" algn="ctr">
                <a:spcBef>
                  <a:spcPts val="0"/>
                </a:spcBef>
                <a:spcAft>
                  <a:spcPts val="0"/>
                </a:spcAft>
                <a:buNone/>
              </a:pPr>
              <a:r>
                <a:t/>
              </a:r>
              <a:endParaRPr b="0" i="0" sz="1168" u="none" cap="none" strike="noStrike">
                <a:solidFill>
                  <a:schemeClr val="lt1"/>
                </a:solidFill>
                <a:latin typeface="Arial"/>
                <a:ea typeface="Arial"/>
                <a:cs typeface="Arial"/>
                <a:sym typeface="Arial"/>
              </a:endParaRPr>
            </a:p>
          </p:txBody>
        </p:sp>
        <p:pic>
          <p:nvPicPr>
            <p:cNvPr descr="v1_outer" id="257" name="Google Shape;257;g3f9c857b24b_18_3"/>
            <p:cNvPicPr preferRelativeResize="0"/>
            <p:nvPr/>
          </p:nvPicPr>
          <p:blipFill rotWithShape="1">
            <a:blip r:embed="rId5">
              <a:alphaModFix/>
            </a:blip>
            <a:srcRect b="0" l="0" r="0" t="0"/>
            <a:stretch/>
          </p:blipFill>
          <p:spPr>
            <a:xfrm>
              <a:off x="7706450" y="4425276"/>
              <a:ext cx="3657300" cy="1825237"/>
            </a:xfrm>
            <a:prstGeom prst="rect">
              <a:avLst/>
            </a:prstGeom>
            <a:noFill/>
            <a:ln>
              <a:noFill/>
            </a:ln>
          </p:spPr>
        </p:pic>
      </p:grpSp>
      <p:pic>
        <p:nvPicPr>
          <p:cNvPr id="258" name="Google Shape;258;g3f9c857b24b_18_3"/>
          <p:cNvPicPr preferRelativeResize="0"/>
          <p:nvPr/>
        </p:nvPicPr>
        <p:blipFill>
          <a:blip r:embed="rId6">
            <a:alphaModFix/>
          </a:blip>
          <a:stretch>
            <a:fillRect/>
          </a:stretch>
        </p:blipFill>
        <p:spPr>
          <a:xfrm flipH="1">
            <a:off x="10928123" y="2929847"/>
            <a:ext cx="1160900" cy="32720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1"/>
          <p:cNvSpPr txBox="1"/>
          <p:nvPr/>
        </p:nvSpPr>
        <p:spPr>
          <a:xfrm>
            <a:off x="640080" y="1417320"/>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300"/>
              <a:buFont typeface="Calibri"/>
              <a:buNone/>
            </a:pPr>
            <a:r>
              <a:rPr b="1" i="0" lang="en-US" sz="1300" u="none" cap="none" strike="noStrike">
                <a:solidFill>
                  <a:srgbClr val="10707A"/>
                </a:solidFill>
                <a:latin typeface="Calibri"/>
                <a:ea typeface="Calibri"/>
                <a:cs typeface="Calibri"/>
                <a:sym typeface="Calibri"/>
              </a:rPr>
              <a:t>Sensors  ·  2026  ·  26(11): 3493</a:t>
            </a:r>
            <a:endParaRPr b="0" i="0" sz="1300" u="none" cap="none" strike="noStrike">
              <a:solidFill>
                <a:schemeClr val="dk1"/>
              </a:solidFill>
              <a:latin typeface="Calibri"/>
              <a:ea typeface="Calibri"/>
              <a:cs typeface="Calibri"/>
              <a:sym typeface="Calibri"/>
            </a:endParaRPr>
          </a:p>
        </p:txBody>
      </p:sp>
      <p:sp>
        <p:nvSpPr>
          <p:cNvPr id="265" name="Google Shape;265;p1"/>
          <p:cNvSpPr txBox="1"/>
          <p:nvPr/>
        </p:nvSpPr>
        <p:spPr>
          <a:xfrm>
            <a:off x="640080" y="1920240"/>
            <a:ext cx="10241280" cy="173736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5282D"/>
              </a:buClr>
              <a:buSzPts val="4600"/>
              <a:buFont typeface="Cambria"/>
              <a:buNone/>
            </a:pPr>
            <a:r>
              <a:rPr b="1" i="0" lang="en-US" sz="4600" u="none" cap="none" strike="noStrike">
                <a:solidFill>
                  <a:srgbClr val="15282D"/>
                </a:solidFill>
                <a:latin typeface="Cambria"/>
                <a:ea typeface="Cambria"/>
                <a:cs typeface="Cambria"/>
                <a:sym typeface="Cambria"/>
              </a:rPr>
              <a:t>An Annotation-Free</a:t>
            </a:r>
            <a:endParaRPr b="0" i="0" sz="4600" u="none" cap="none" strike="noStrike">
              <a:solidFill>
                <a:schemeClr val="dk1"/>
              </a:solidFill>
              <a:latin typeface="Calibri"/>
              <a:ea typeface="Calibri"/>
              <a:cs typeface="Calibri"/>
              <a:sym typeface="Calibri"/>
            </a:endParaRPr>
          </a:p>
          <a:p>
            <a:pPr indent="0" lvl="0" marL="0" marR="0" rtl="0" algn="l">
              <a:lnSpc>
                <a:spcPct val="117391"/>
              </a:lnSpc>
              <a:spcBef>
                <a:spcPts val="0"/>
              </a:spcBef>
              <a:spcAft>
                <a:spcPts val="0"/>
              </a:spcAft>
              <a:buClr>
                <a:srgbClr val="15282D"/>
              </a:buClr>
              <a:buSzPts val="4600"/>
              <a:buFont typeface="Cambria"/>
              <a:buNone/>
            </a:pPr>
            <a:r>
              <a:rPr b="1" i="0" lang="en-US" sz="4600" u="none" cap="none" strike="noStrike">
                <a:solidFill>
                  <a:srgbClr val="15282D"/>
                </a:solidFill>
                <a:latin typeface="Cambria"/>
                <a:ea typeface="Cambria"/>
                <a:cs typeface="Cambria"/>
                <a:sym typeface="Cambria"/>
              </a:rPr>
              <a:t>Auricular Bowl Atlas Pipeline</a:t>
            </a:r>
            <a:endParaRPr b="0" i="0" sz="4600" u="none" cap="none" strike="noStrike">
              <a:solidFill>
                <a:schemeClr val="dk1"/>
              </a:solidFill>
              <a:latin typeface="Calibri"/>
              <a:ea typeface="Calibri"/>
              <a:cs typeface="Calibri"/>
              <a:sym typeface="Calibri"/>
            </a:endParaRPr>
          </a:p>
        </p:txBody>
      </p:sp>
      <p:sp>
        <p:nvSpPr>
          <p:cNvPr id="266" name="Google Shape;266;p1"/>
          <p:cNvSpPr txBox="1"/>
          <p:nvPr/>
        </p:nvSpPr>
        <p:spPr>
          <a:xfrm>
            <a:off x="640080" y="3858768"/>
            <a:ext cx="96926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F85"/>
              </a:buClr>
              <a:buSzPts val="1800"/>
              <a:buFont typeface="Calibri"/>
              <a:buNone/>
            </a:pPr>
            <a:r>
              <a:rPr b="0" i="0" lang="en-US" sz="1800" u="none" cap="none" strike="noStrike">
                <a:solidFill>
                  <a:srgbClr val="6B7F85"/>
                </a:solidFill>
                <a:latin typeface="Calibri"/>
                <a:ea typeface="Calibri"/>
                <a:cs typeface="Calibri"/>
                <a:sym typeface="Calibri"/>
              </a:rPr>
              <a:t>How a computer lines up 50 different ears without anyone pointing at them first</a:t>
            </a:r>
            <a:endParaRPr b="0" i="0" sz="1800" u="none" cap="none" strike="noStrike">
              <a:solidFill>
                <a:schemeClr val="dk1"/>
              </a:solidFill>
              <a:latin typeface="Calibri"/>
              <a:ea typeface="Calibri"/>
              <a:cs typeface="Calibri"/>
              <a:sym typeface="Calibri"/>
            </a:endParaRPr>
          </a:p>
        </p:txBody>
      </p:sp>
      <p:sp>
        <p:nvSpPr>
          <p:cNvPr id="267" name="Google Shape;267;p1"/>
          <p:cNvSpPr txBox="1"/>
          <p:nvPr/>
        </p:nvSpPr>
        <p:spPr>
          <a:xfrm>
            <a:off x="640080" y="4315968"/>
            <a:ext cx="96926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F85"/>
              </a:buClr>
              <a:buSzPts val="1350"/>
              <a:buFont typeface="Calibri"/>
              <a:buNone/>
            </a:pPr>
            <a:r>
              <a:rPr b="0" i="0" lang="en-US" sz="1350" u="none" cap="none" strike="noStrike">
                <a:solidFill>
                  <a:srgbClr val="6B7F85"/>
                </a:solidFill>
                <a:latin typeface="Calibri"/>
                <a:ea typeface="Calibri"/>
                <a:cs typeface="Calibri"/>
                <a:sym typeface="Calibri"/>
              </a:rPr>
              <a:t>It uses ICP to slide each ear into place, then a bidirectional thin-plate spline to bend it onto a shared average shape.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2"/>
          <p:cNvSpPr txBox="1"/>
          <p:nvPr/>
        </p:nvSpPr>
        <p:spPr>
          <a:xfrm>
            <a:off x="640080" y="384048"/>
            <a:ext cx="5120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SOURCE</a:t>
            </a:r>
            <a:endParaRPr b="0" i="0" sz="1100" u="none" cap="none" strike="noStrike">
              <a:solidFill>
                <a:schemeClr val="dk1"/>
              </a:solidFill>
              <a:latin typeface="Calibri"/>
              <a:ea typeface="Calibri"/>
              <a:cs typeface="Calibri"/>
              <a:sym typeface="Calibri"/>
            </a:endParaRPr>
          </a:p>
        </p:txBody>
      </p:sp>
      <p:sp>
        <p:nvSpPr>
          <p:cNvPr id="274" name="Google Shape;274;p2"/>
          <p:cNvSpPr txBox="1"/>
          <p:nvPr/>
        </p:nvSpPr>
        <p:spPr>
          <a:xfrm>
            <a:off x="640080" y="658368"/>
            <a:ext cx="51206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Where This Comes From</a:t>
            </a:r>
            <a:endParaRPr b="0" i="0" sz="3400" u="none" cap="none" strike="noStrike">
              <a:solidFill>
                <a:schemeClr val="dk1"/>
              </a:solidFill>
              <a:latin typeface="Calibri"/>
              <a:ea typeface="Calibri"/>
              <a:cs typeface="Calibri"/>
              <a:sym typeface="Calibri"/>
            </a:endParaRPr>
          </a:p>
        </p:txBody>
      </p:sp>
      <p:sp>
        <p:nvSpPr>
          <p:cNvPr id="275" name="Google Shape;275;p2"/>
          <p:cNvSpPr txBox="1"/>
          <p:nvPr/>
        </p:nvSpPr>
        <p:spPr>
          <a:xfrm>
            <a:off x="640080" y="1417320"/>
            <a:ext cx="5120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F85"/>
              </a:buClr>
              <a:buSzPts val="1250"/>
              <a:buFont typeface="Calibri"/>
              <a:buNone/>
            </a:pPr>
            <a:r>
              <a:rPr b="0" i="0" lang="en-US" sz="1250" u="none" cap="none" strike="noStrike">
                <a:solidFill>
                  <a:srgbClr val="6B7F85"/>
                </a:solidFill>
                <a:latin typeface="Calibri"/>
                <a:ea typeface="Calibri"/>
                <a:cs typeface="Calibri"/>
                <a:sym typeface="Calibri"/>
              </a:rPr>
              <a:t>Zhang, T., Lee, T.K.W., Huang, J., Leung, K.L., Fu, S.N.</a:t>
            </a:r>
            <a:endParaRPr b="0" i="0" sz="1250" u="none" cap="none" strike="noStrike">
              <a:solidFill>
                <a:schemeClr val="dk1"/>
              </a:solidFill>
              <a:latin typeface="Calibri"/>
              <a:ea typeface="Calibri"/>
              <a:cs typeface="Calibri"/>
              <a:sym typeface="Calibri"/>
            </a:endParaRPr>
          </a:p>
        </p:txBody>
      </p:sp>
      <p:sp>
        <p:nvSpPr>
          <p:cNvPr id="276" name="Google Shape;276;p2"/>
          <p:cNvSpPr txBox="1"/>
          <p:nvPr/>
        </p:nvSpPr>
        <p:spPr>
          <a:xfrm>
            <a:off x="640080" y="1737360"/>
            <a:ext cx="5120640" cy="914400"/>
          </a:xfrm>
          <a:prstGeom prst="rect">
            <a:avLst/>
          </a:prstGeom>
          <a:noFill/>
          <a:ln>
            <a:noFill/>
          </a:ln>
        </p:spPr>
        <p:txBody>
          <a:bodyPr anchorCtr="0" anchor="ctr" bIns="0" lIns="0" spcFirstLastPara="1" rIns="0" wrap="square" tIns="0">
            <a:noAutofit/>
          </a:bodyPr>
          <a:lstStyle/>
          <a:p>
            <a:pPr indent="0" lvl="0" marL="0" marR="0" rtl="0" algn="l">
              <a:lnSpc>
                <a:spcPct val="139393"/>
              </a:lnSpc>
              <a:spcBef>
                <a:spcPts val="0"/>
              </a:spcBef>
              <a:spcAft>
                <a:spcPts val="0"/>
              </a:spcAft>
              <a:buClr>
                <a:srgbClr val="15282D"/>
              </a:buClr>
              <a:buSzPts val="1650"/>
              <a:buFont typeface="Cambria"/>
              <a:buNone/>
            </a:pPr>
            <a:r>
              <a:rPr b="1" i="0" lang="en-US" sz="1650" u="none" cap="none" strike="noStrike">
                <a:solidFill>
                  <a:srgbClr val="15282D"/>
                </a:solidFill>
                <a:latin typeface="Cambria"/>
                <a:ea typeface="Cambria"/>
                <a:cs typeface="Cambria"/>
                <a:sym typeface="Cambria"/>
              </a:rPr>
              <a:t>An Annotation-Free Pipeline for 3D Auricular Bowl Atlas Construction and Statistical Shape Modelling from Surface Scans</a:t>
            </a:r>
            <a:endParaRPr b="0" i="0" sz="1650" u="none" cap="none" strike="noStrike">
              <a:solidFill>
                <a:schemeClr val="dk1"/>
              </a:solidFill>
              <a:latin typeface="Calibri"/>
              <a:ea typeface="Calibri"/>
              <a:cs typeface="Calibri"/>
              <a:sym typeface="Calibri"/>
            </a:endParaRPr>
          </a:p>
        </p:txBody>
      </p:sp>
      <p:sp>
        <p:nvSpPr>
          <p:cNvPr id="277" name="Google Shape;277;p2"/>
          <p:cNvSpPr txBox="1"/>
          <p:nvPr/>
        </p:nvSpPr>
        <p:spPr>
          <a:xfrm>
            <a:off x="640080" y="2697480"/>
            <a:ext cx="5120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300"/>
              <a:buFont typeface="Calibri"/>
              <a:buNone/>
            </a:pPr>
            <a:r>
              <a:rPr b="0" i="1" lang="en-US" sz="1300" u="none" cap="none" strike="noStrike">
                <a:solidFill>
                  <a:srgbClr val="10707A"/>
                </a:solidFill>
                <a:latin typeface="Calibri"/>
                <a:ea typeface="Calibri"/>
                <a:cs typeface="Calibri"/>
                <a:sym typeface="Calibri"/>
              </a:rPr>
              <a:t>Sensors, 2026, 26(11): 3493</a:t>
            </a:r>
            <a:endParaRPr b="0" i="0" sz="1300" u="none" cap="none" strike="noStrike">
              <a:solidFill>
                <a:schemeClr val="dk1"/>
              </a:solidFill>
              <a:latin typeface="Calibri"/>
              <a:ea typeface="Calibri"/>
              <a:cs typeface="Calibri"/>
              <a:sym typeface="Calibri"/>
            </a:endParaRPr>
          </a:p>
        </p:txBody>
      </p:sp>
      <p:graphicFrame>
        <p:nvGraphicFramePr>
          <p:cNvPr id="278" name="Google Shape;278;p2"/>
          <p:cNvGraphicFramePr/>
          <p:nvPr/>
        </p:nvGraphicFramePr>
        <p:xfrm>
          <a:off x="640080" y="3200400"/>
          <a:ext cx="3000000" cy="3000000"/>
        </p:xfrm>
        <a:graphic>
          <a:graphicData uri="http://schemas.openxmlformats.org/drawingml/2006/table">
            <a:tbl>
              <a:tblPr>
                <a:noFill/>
                <a:tableStyleId>{9AC296E5-4685-40E7-A592-16E1309CADE4}</a:tableStyleId>
              </a:tblPr>
              <a:tblGrid>
                <a:gridCol w="1463050"/>
                <a:gridCol w="3657600"/>
              </a:tblGrid>
              <a:tr h="13970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Field</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Value</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DOI</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10.3390/s26113493</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PMID</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42281011</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PMCID</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PMC13259287</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License</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Open Access, CC BY</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First published</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2026-06-01</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Institution</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The Hong Kong Polytechnic University</a:t>
                      </a:r>
                      <a:endParaRPr sz="11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(ethics HSEARS20230705002)</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bl>
          </a:graphicData>
        </a:graphic>
      </p:graphicFrame>
      <p:sp>
        <p:nvSpPr>
          <p:cNvPr id="279" name="Google Shape;279;p2"/>
          <p:cNvSpPr/>
          <p:nvPr/>
        </p:nvSpPr>
        <p:spPr>
          <a:xfrm>
            <a:off x="640080" y="5230368"/>
            <a:ext cx="5120640" cy="566928"/>
          </a:xfrm>
          <a:prstGeom prst="roundRect">
            <a:avLst>
              <a:gd fmla="val 9677" name="adj"/>
            </a:avLst>
          </a:prstGeom>
          <a:solidFill>
            <a:srgbClr val="E3F0F1"/>
          </a:solidFill>
          <a:ln cap="flat" cmpd="sng" w="12700">
            <a:solidFill>
              <a:srgbClr val="E3F0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txBox="1"/>
          <p:nvPr/>
        </p:nvSpPr>
        <p:spPr>
          <a:xfrm>
            <a:off x="841248" y="5321808"/>
            <a:ext cx="4718304" cy="384048"/>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Free to read. It is open access, so you can pull up the whole paper yourself — no paywall, no login.</a:t>
            </a:r>
            <a:endParaRPr b="0" i="0" sz="1150" u="none" cap="none" strike="noStrike">
              <a:solidFill>
                <a:schemeClr val="dk1"/>
              </a:solidFill>
              <a:latin typeface="Calibri"/>
              <a:ea typeface="Calibri"/>
              <a:cs typeface="Calibri"/>
              <a:sym typeface="Calibri"/>
            </a:endParaRPr>
          </a:p>
        </p:txBody>
      </p:sp>
      <p:pic>
        <p:nvPicPr>
          <p:cNvPr id="281" name="Google Shape;281;p2"/>
          <p:cNvPicPr preferRelativeResize="0"/>
          <p:nvPr/>
        </p:nvPicPr>
        <p:blipFill rotWithShape="1">
          <a:blip r:embed="rId3">
            <a:alphaModFix/>
          </a:blip>
          <a:srcRect b="0" l="0" r="0" t="0"/>
          <a:stretch/>
        </p:blipFill>
        <p:spPr>
          <a:xfrm>
            <a:off x="6369075" y="1737347"/>
            <a:ext cx="5472049" cy="3643076"/>
          </a:xfrm>
          <a:prstGeom prst="rect">
            <a:avLst/>
          </a:prstGeom>
          <a:noFill/>
          <a:ln>
            <a:noFill/>
          </a:ln>
        </p:spPr>
      </p:pic>
      <p:sp>
        <p:nvSpPr>
          <p:cNvPr id="282" name="Google Shape;282;p2"/>
          <p:cNvSpPr txBox="1"/>
          <p:nvPr/>
        </p:nvSpPr>
        <p:spPr>
          <a:xfrm>
            <a:off x="8378900" y="5518425"/>
            <a:ext cx="33444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000000"/>
                </a:solidFill>
                <a:latin typeface="Arial"/>
                <a:ea typeface="Arial"/>
                <a:cs typeface="Arial"/>
                <a:sym typeface="Arial"/>
              </a:rPr>
              <a:t>https://www.mdpi.com/1424-8220/26/11/3493</a:t>
            </a:r>
            <a:endParaRPr b="0" i="1"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3"/>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OBJECTIVE</a:t>
            </a:r>
            <a:endParaRPr b="0" i="0" sz="1100" u="none" cap="none" strike="noStrike">
              <a:solidFill>
                <a:schemeClr val="dk1"/>
              </a:solidFill>
              <a:latin typeface="Calibri"/>
              <a:ea typeface="Calibri"/>
              <a:cs typeface="Calibri"/>
              <a:sym typeface="Calibri"/>
            </a:endParaRPr>
          </a:p>
        </p:txBody>
      </p:sp>
      <p:sp>
        <p:nvSpPr>
          <p:cNvPr id="289" name="Google Shape;289;p3"/>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What It Is Trying to Do</a:t>
            </a:r>
            <a:endParaRPr b="0" i="0" sz="3400" u="none" cap="none" strike="noStrike">
              <a:solidFill>
                <a:schemeClr val="dk1"/>
              </a:solidFill>
              <a:latin typeface="Calibri"/>
              <a:ea typeface="Calibri"/>
              <a:cs typeface="Calibri"/>
              <a:sym typeface="Calibri"/>
            </a:endParaRPr>
          </a:p>
        </p:txBody>
      </p:sp>
      <p:sp>
        <p:nvSpPr>
          <p:cNvPr id="290" name="Google Shape;290;p3"/>
          <p:cNvSpPr/>
          <p:nvPr/>
        </p:nvSpPr>
        <p:spPr>
          <a:xfrm>
            <a:off x="640080" y="1371600"/>
            <a:ext cx="10911535" cy="868680"/>
          </a:xfrm>
          <a:prstGeom prst="roundRect">
            <a:avLst>
              <a:gd fmla="val 6316" name="adj"/>
            </a:avLst>
          </a:prstGeom>
          <a:solidFill>
            <a:srgbClr val="E3F0F1"/>
          </a:solidFill>
          <a:ln cap="flat" cmpd="sng" w="12700">
            <a:solidFill>
              <a:srgbClr val="E3F0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
          <p:cNvSpPr txBox="1"/>
          <p:nvPr/>
        </p:nvSpPr>
        <p:spPr>
          <a:xfrm>
            <a:off x="841248" y="1463040"/>
            <a:ext cx="10509199" cy="685800"/>
          </a:xfrm>
          <a:prstGeom prst="rect">
            <a:avLst/>
          </a:prstGeom>
          <a:noFill/>
          <a:ln>
            <a:noFill/>
          </a:ln>
        </p:spPr>
        <p:txBody>
          <a:bodyPr anchorCtr="0" anchor="ctr" bIns="0" lIns="0" spcFirstLastPara="1" rIns="0" wrap="square" tIns="0">
            <a:noAutofit/>
          </a:bodyPr>
          <a:lstStyle/>
          <a:p>
            <a:pPr indent="0" lvl="0" marL="0" marR="0" rtl="0" algn="l">
              <a:lnSpc>
                <a:spcPct val="144827"/>
              </a:lnSpc>
              <a:spcBef>
                <a:spcPts val="0"/>
              </a:spcBef>
              <a:spcAft>
                <a:spcPts val="0"/>
              </a:spcAft>
              <a:buClr>
                <a:srgbClr val="15282D"/>
              </a:buClr>
              <a:buSzPts val="1450"/>
              <a:buFont typeface="Calibri"/>
              <a:buNone/>
            </a:pPr>
            <a:r>
              <a:rPr b="0" i="0" lang="en-US" sz="1450" u="none" cap="none" strike="noStrike">
                <a:solidFill>
                  <a:srgbClr val="15282D"/>
                </a:solidFill>
                <a:latin typeface="Calibri"/>
                <a:ea typeface="Calibri"/>
                <a:cs typeface="Calibri"/>
                <a:sym typeface="Calibri"/>
              </a:rPr>
              <a:t>The computer takes 50 ears, works out which patch of one ear matches which patch of another, and boils that whole family of shapes down to a handful of dials you can turn.</a:t>
            </a:r>
            <a:endParaRPr b="0" i="0" sz="1450" u="none" cap="none" strike="noStrike">
              <a:solidFill>
                <a:schemeClr val="dk1"/>
              </a:solidFill>
              <a:latin typeface="Calibri"/>
              <a:ea typeface="Calibri"/>
              <a:cs typeface="Calibri"/>
              <a:sym typeface="Calibri"/>
            </a:endParaRPr>
          </a:p>
        </p:txBody>
      </p:sp>
      <p:sp>
        <p:nvSpPr>
          <p:cNvPr id="292" name="Google Shape;292;p3"/>
          <p:cNvSpPr/>
          <p:nvPr/>
        </p:nvSpPr>
        <p:spPr>
          <a:xfrm>
            <a:off x="640080" y="2624328"/>
            <a:ext cx="310896" cy="310896"/>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
          <p:cNvSpPr txBox="1"/>
          <p:nvPr/>
        </p:nvSpPr>
        <p:spPr>
          <a:xfrm>
            <a:off x="640080" y="26243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94" name="Google Shape;294;p3"/>
          <p:cNvSpPr txBox="1"/>
          <p:nvPr/>
        </p:nvSpPr>
        <p:spPr>
          <a:xfrm>
            <a:off x="1097280" y="2587752"/>
            <a:ext cx="4663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350"/>
              <a:buFont typeface="Calibri"/>
              <a:buNone/>
            </a:pPr>
            <a:r>
              <a:rPr b="1" i="0" lang="en-US" sz="1350" u="none" cap="none" strike="noStrike">
                <a:solidFill>
                  <a:srgbClr val="15282D"/>
                </a:solidFill>
                <a:latin typeface="Calibri"/>
                <a:ea typeface="Calibri"/>
                <a:cs typeface="Calibri"/>
                <a:sym typeface="Calibri"/>
              </a:rPr>
              <a:t>It works with no hand-marking</a:t>
            </a:r>
            <a:endParaRPr b="0" i="0" sz="1350" u="none" cap="none" strike="noStrike">
              <a:solidFill>
                <a:schemeClr val="dk1"/>
              </a:solidFill>
              <a:latin typeface="Calibri"/>
              <a:ea typeface="Calibri"/>
              <a:cs typeface="Calibri"/>
              <a:sym typeface="Calibri"/>
            </a:endParaRPr>
          </a:p>
        </p:txBody>
      </p:sp>
      <p:sp>
        <p:nvSpPr>
          <p:cNvPr id="295" name="Google Shape;295;p3"/>
          <p:cNvSpPr txBox="1"/>
          <p:nvPr/>
        </p:nvSpPr>
        <p:spPr>
          <a:xfrm>
            <a:off x="1097280" y="2852928"/>
            <a:ext cx="466344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No human clicks anything. The computer picks its own reference dots, using farthest point sampling.</a:t>
            </a:r>
            <a:endParaRPr b="0" i="0" sz="1150" u="none" cap="none" strike="noStrike">
              <a:solidFill>
                <a:schemeClr val="dk1"/>
              </a:solidFill>
              <a:latin typeface="Calibri"/>
              <a:ea typeface="Calibri"/>
              <a:cs typeface="Calibri"/>
              <a:sym typeface="Calibri"/>
            </a:endParaRPr>
          </a:p>
        </p:txBody>
      </p:sp>
      <p:sp>
        <p:nvSpPr>
          <p:cNvPr id="296" name="Google Shape;296;p3"/>
          <p:cNvSpPr/>
          <p:nvPr/>
        </p:nvSpPr>
        <p:spPr>
          <a:xfrm>
            <a:off x="640080" y="3557016"/>
            <a:ext cx="310896" cy="310896"/>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
          <p:cNvSpPr txBox="1"/>
          <p:nvPr/>
        </p:nvSpPr>
        <p:spPr>
          <a:xfrm>
            <a:off x="640080" y="355701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98" name="Google Shape;298;p3"/>
          <p:cNvSpPr txBox="1"/>
          <p:nvPr/>
        </p:nvSpPr>
        <p:spPr>
          <a:xfrm>
            <a:off x="1097280" y="3520440"/>
            <a:ext cx="4663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350"/>
              <a:buFont typeface="Calibri"/>
              <a:buNone/>
            </a:pPr>
            <a:r>
              <a:rPr b="1" i="0" lang="en-US" sz="1350" u="none" cap="none" strike="noStrike">
                <a:solidFill>
                  <a:srgbClr val="15282D"/>
                </a:solidFill>
                <a:latin typeface="Calibri"/>
                <a:ea typeface="Calibri"/>
                <a:cs typeface="Calibri"/>
                <a:sym typeface="Calibri"/>
              </a:rPr>
              <a:t>The line-up is tight enough</a:t>
            </a:r>
            <a:endParaRPr b="0" i="0" sz="1350" u="none" cap="none" strike="noStrike">
              <a:solidFill>
                <a:schemeClr val="dk1"/>
              </a:solidFill>
              <a:latin typeface="Calibri"/>
              <a:ea typeface="Calibri"/>
              <a:cs typeface="Calibri"/>
              <a:sym typeface="Calibri"/>
            </a:endParaRPr>
          </a:p>
        </p:txBody>
      </p:sp>
      <p:sp>
        <p:nvSpPr>
          <p:cNvPr id="299" name="Google Shape;299;p3"/>
          <p:cNvSpPr txBox="1"/>
          <p:nvPr/>
        </p:nvSpPr>
        <p:spPr>
          <a:xfrm>
            <a:off x="1097280" y="3785616"/>
            <a:ext cx="466344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After five rounds, paired-up points sit 0.30 mm apart on average, and 98% of the surface gets matched.</a:t>
            </a:r>
            <a:endParaRPr b="0" i="0" sz="1150" u="none" cap="none" strike="noStrike">
              <a:solidFill>
                <a:schemeClr val="dk1"/>
              </a:solidFill>
              <a:latin typeface="Calibri"/>
              <a:ea typeface="Calibri"/>
              <a:cs typeface="Calibri"/>
              <a:sym typeface="Calibri"/>
            </a:endParaRPr>
          </a:p>
        </p:txBody>
      </p:sp>
      <p:sp>
        <p:nvSpPr>
          <p:cNvPr id="300" name="Google Shape;300;p3"/>
          <p:cNvSpPr/>
          <p:nvPr/>
        </p:nvSpPr>
        <p:spPr>
          <a:xfrm>
            <a:off x="640080" y="4489704"/>
            <a:ext cx="310896" cy="310896"/>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
          <p:cNvSpPr txBox="1"/>
          <p:nvPr/>
        </p:nvSpPr>
        <p:spPr>
          <a:xfrm>
            <a:off x="640080" y="448970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02" name="Google Shape;302;p3"/>
          <p:cNvSpPr txBox="1"/>
          <p:nvPr/>
        </p:nvSpPr>
        <p:spPr>
          <a:xfrm>
            <a:off x="1097280" y="4453128"/>
            <a:ext cx="4663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350"/>
              <a:buFont typeface="Calibri"/>
              <a:buNone/>
            </a:pPr>
            <a:r>
              <a:rPr b="1" i="0" lang="en-US" sz="1350" u="none" cap="none" strike="noStrike">
                <a:solidFill>
                  <a:srgbClr val="15282D"/>
                </a:solidFill>
                <a:latin typeface="Calibri"/>
                <a:ea typeface="Calibri"/>
                <a:cs typeface="Calibri"/>
                <a:sym typeface="Calibri"/>
              </a:rPr>
              <a:t>The sizes it gives are real</a:t>
            </a:r>
            <a:endParaRPr b="0" i="0" sz="1350" u="none" cap="none" strike="noStrike">
              <a:solidFill>
                <a:schemeClr val="dk1"/>
              </a:solidFill>
              <a:latin typeface="Calibri"/>
              <a:ea typeface="Calibri"/>
              <a:cs typeface="Calibri"/>
              <a:sym typeface="Calibri"/>
            </a:endParaRPr>
          </a:p>
        </p:txBody>
      </p:sp>
      <p:sp>
        <p:nvSpPr>
          <p:cNvPr id="303" name="Google Shape;303;p3"/>
          <p:cNvSpPr txBox="1"/>
          <p:nvPr/>
        </p:nvSpPr>
        <p:spPr>
          <a:xfrm>
            <a:off x="1097280" y="4718304"/>
            <a:ext cx="466344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Measure the bowl by hand, then ask the model. They agree almost exactly (Pearson r ≥ 0.98, ICC ≥ 0.98).</a:t>
            </a:r>
            <a:endParaRPr b="0" i="0" sz="1150" u="none" cap="none" strike="noStrike">
              <a:solidFill>
                <a:schemeClr val="dk1"/>
              </a:solidFill>
              <a:latin typeface="Calibri"/>
              <a:ea typeface="Calibri"/>
              <a:cs typeface="Calibri"/>
              <a:sym typeface="Calibri"/>
            </a:endParaRPr>
          </a:p>
        </p:txBody>
      </p:sp>
      <p:sp>
        <p:nvSpPr>
          <p:cNvPr id="304" name="Google Shape;304;p3"/>
          <p:cNvSpPr txBox="1"/>
          <p:nvPr/>
        </p:nvSpPr>
        <p:spPr>
          <a:xfrm>
            <a:off x="6400800" y="2560320"/>
            <a:ext cx="51480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350"/>
              <a:buFont typeface="Calibri"/>
              <a:buNone/>
            </a:pPr>
            <a:r>
              <a:rPr b="1" i="0" lang="en-US" sz="1350" u="none" cap="none" strike="noStrike">
                <a:solidFill>
                  <a:srgbClr val="10707A"/>
                </a:solidFill>
                <a:latin typeface="Calibri"/>
                <a:ea typeface="Calibri"/>
                <a:cs typeface="Calibri"/>
                <a:sym typeface="Calibri"/>
              </a:rPr>
              <a:t>Why anyone cares</a:t>
            </a:r>
            <a:endParaRPr b="0" i="0" sz="1350" u="none" cap="none" strike="noStrike">
              <a:solidFill>
                <a:schemeClr val="dk1"/>
              </a:solidFill>
              <a:latin typeface="Calibri"/>
              <a:ea typeface="Calibri"/>
              <a:cs typeface="Calibri"/>
              <a:sym typeface="Calibri"/>
            </a:endParaRPr>
          </a:p>
        </p:txBody>
      </p:sp>
      <p:sp>
        <p:nvSpPr>
          <p:cNvPr id="305" name="Google Shape;305;p3"/>
          <p:cNvSpPr txBox="1"/>
          <p:nvPr/>
        </p:nvSpPr>
        <p:spPr>
          <a:xfrm>
            <a:off x="6400800" y="2852928"/>
            <a:ext cx="5148072" cy="73152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5282D"/>
              </a:buClr>
              <a:buSzPts val="1200"/>
              <a:buFont typeface="Calibri"/>
              <a:buNone/>
            </a:pPr>
            <a:r>
              <a:rPr b="0" i="0" lang="en-US" sz="1200" u="none" cap="none" strike="noStrike">
                <a:solidFill>
                  <a:srgbClr val="15282D"/>
                </a:solidFill>
                <a:latin typeface="Calibri"/>
                <a:ea typeface="Calibri"/>
                <a:cs typeface="Calibri"/>
                <a:sym typeface="Calibri"/>
              </a:rPr>
              <a:t>Ear shape decides whether an earbud stays put, whether a hearing aid rubs, and where a taVNS electrode should sit. So people build computer models of ears — but nearly all of them need a human to click on landmarks first.</a:t>
            </a:r>
            <a:endParaRPr b="0" i="0" sz="1200" u="none" cap="none" strike="noStrike">
              <a:solidFill>
                <a:schemeClr val="dk1"/>
              </a:solidFill>
              <a:latin typeface="Calibri"/>
              <a:ea typeface="Calibri"/>
              <a:cs typeface="Calibri"/>
              <a:sym typeface="Calibri"/>
            </a:endParaRPr>
          </a:p>
        </p:txBody>
      </p:sp>
      <p:sp>
        <p:nvSpPr>
          <p:cNvPr id="306" name="Google Shape;306;p3"/>
          <p:cNvSpPr txBox="1"/>
          <p:nvPr/>
        </p:nvSpPr>
        <p:spPr>
          <a:xfrm>
            <a:off x="6400800" y="3657600"/>
            <a:ext cx="51480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350"/>
              <a:buFont typeface="Calibri"/>
              <a:buNone/>
            </a:pPr>
            <a:r>
              <a:rPr b="1" i="0" lang="en-US" sz="1350" u="none" cap="none" strike="noStrike">
                <a:solidFill>
                  <a:srgbClr val="10707A"/>
                </a:solidFill>
                <a:latin typeface="Calibri"/>
                <a:ea typeface="Calibri"/>
                <a:cs typeface="Calibri"/>
                <a:sym typeface="Calibri"/>
              </a:rPr>
              <a:t>Why clicking by hand is a problem</a:t>
            </a:r>
            <a:endParaRPr b="0" i="0" sz="1350" u="none" cap="none" strike="noStrike">
              <a:solidFill>
                <a:schemeClr val="dk1"/>
              </a:solidFill>
              <a:latin typeface="Calibri"/>
              <a:ea typeface="Calibri"/>
              <a:cs typeface="Calibri"/>
              <a:sym typeface="Calibri"/>
            </a:endParaRPr>
          </a:p>
        </p:txBody>
      </p:sp>
      <p:sp>
        <p:nvSpPr>
          <p:cNvPr id="307" name="Google Shape;307;p3"/>
          <p:cNvSpPr txBox="1"/>
          <p:nvPr/>
        </p:nvSpPr>
        <p:spPr>
          <a:xfrm>
            <a:off x="6400800" y="3950208"/>
            <a:ext cx="5148072" cy="1188720"/>
          </a:xfrm>
          <a:prstGeom prst="rect">
            <a:avLst/>
          </a:prstGeom>
          <a:noFill/>
          <a:ln>
            <a:noFill/>
          </a:ln>
        </p:spPr>
        <p:txBody>
          <a:bodyPr anchorCtr="0" anchor="ctr" bIns="0" lIns="0" spcFirstLastPara="1" rIns="0" wrap="square" tIns="0">
            <a:noAutofit/>
          </a:bodyPr>
          <a:lstStyle/>
          <a:p>
            <a:pPr indent="-342900" lvl="0" marL="342900" marR="0" rtl="0" algn="l">
              <a:lnSpc>
                <a:spcPct val="133333"/>
              </a:lnSpc>
              <a:spcBef>
                <a:spcPts val="0"/>
              </a:spcBef>
              <a:spcAft>
                <a:spcPts val="0"/>
              </a:spcAft>
              <a:buClr>
                <a:srgbClr val="15282D"/>
              </a:buClr>
              <a:buSzPts val="1200"/>
              <a:buFont typeface="Calibri"/>
              <a:buChar char="•"/>
            </a:pPr>
            <a:r>
              <a:rPr b="0" i="0" lang="en-US" sz="1200" u="none" cap="none" strike="noStrike">
                <a:solidFill>
                  <a:srgbClr val="15282D"/>
                </a:solidFill>
                <a:latin typeface="Calibri"/>
                <a:ea typeface="Calibri"/>
                <a:cs typeface="Calibri"/>
                <a:sym typeface="Calibri"/>
              </a:rPr>
              <a:t>It is slow — someone has to sit and click every single ear</a:t>
            </a:r>
            <a:endParaRPr b="0" i="0" sz="120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15282D"/>
              </a:buClr>
              <a:buSzPts val="1200"/>
              <a:buFont typeface="Calibri"/>
              <a:buChar char="•"/>
            </a:pPr>
            <a:r>
              <a:rPr b="0" i="0" lang="en-US" sz="1200" u="none" cap="none" strike="noStrike">
                <a:solidFill>
                  <a:srgbClr val="15282D"/>
                </a:solidFill>
                <a:latin typeface="Calibri"/>
                <a:ea typeface="Calibri"/>
                <a:cs typeface="Calibri"/>
                <a:sym typeface="Calibri"/>
              </a:rPr>
              <a:t>People disagree — ask two of them to mark the tragus apex and you get two different spots</a:t>
            </a:r>
            <a:endParaRPr b="0" i="0" sz="120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15282D"/>
              </a:buClr>
              <a:buSzPts val="1200"/>
              <a:buFont typeface="Calibri"/>
              <a:buChar char="•"/>
            </a:pPr>
            <a:r>
              <a:rPr b="0" i="0" lang="en-US" sz="1200" u="none" cap="none" strike="noStrike">
                <a:solidFill>
                  <a:srgbClr val="15282D"/>
                </a:solidFill>
                <a:latin typeface="Calibri"/>
                <a:ea typeface="Calibri"/>
                <a:cs typeface="Calibri"/>
                <a:sym typeface="Calibri"/>
              </a:rPr>
              <a:t>It cannot grow — fine for 20 ears, hopeless for 2,000</a:t>
            </a:r>
            <a:endParaRPr b="0" i="0" sz="1200" u="none" cap="none" strike="noStrike">
              <a:solidFill>
                <a:schemeClr val="dk1"/>
              </a:solidFill>
              <a:latin typeface="Calibri"/>
              <a:ea typeface="Calibri"/>
              <a:cs typeface="Calibri"/>
              <a:sym typeface="Calibri"/>
            </a:endParaRPr>
          </a:p>
        </p:txBody>
      </p:sp>
      <p:sp>
        <p:nvSpPr>
          <p:cNvPr id="308" name="Google Shape;308;p3"/>
          <p:cNvSpPr/>
          <p:nvPr/>
        </p:nvSpPr>
        <p:spPr>
          <a:xfrm>
            <a:off x="640080" y="5440680"/>
            <a:ext cx="10911535" cy="566928"/>
          </a:xfrm>
          <a:prstGeom prst="roundRect">
            <a:avLst>
              <a:gd fmla="val 9677" name="adj"/>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
          <p:cNvSpPr txBox="1"/>
          <p:nvPr/>
        </p:nvSpPr>
        <p:spPr>
          <a:xfrm>
            <a:off x="841248" y="5532120"/>
            <a:ext cx="10509199" cy="384048"/>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fix:  bin the clicking. Instead, squash each ear onto a shared average shape, over and over, until it fits.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4"/>
          <p:cNvSpPr txBox="1"/>
          <p:nvPr/>
        </p:nvSpPr>
        <p:spPr>
          <a:xfrm>
            <a:off x="640080" y="384048"/>
            <a:ext cx="5120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SCOPE</a:t>
            </a:r>
            <a:endParaRPr b="0" i="0" sz="1100" u="none" cap="none" strike="noStrike">
              <a:solidFill>
                <a:schemeClr val="dk1"/>
              </a:solidFill>
              <a:latin typeface="Calibri"/>
              <a:ea typeface="Calibri"/>
              <a:cs typeface="Calibri"/>
              <a:sym typeface="Calibri"/>
            </a:endParaRPr>
          </a:p>
        </p:txBody>
      </p:sp>
      <p:sp>
        <p:nvSpPr>
          <p:cNvPr id="316" name="Google Shape;316;p4"/>
          <p:cNvSpPr txBox="1"/>
          <p:nvPr/>
        </p:nvSpPr>
        <p:spPr>
          <a:xfrm>
            <a:off x="640080" y="658368"/>
            <a:ext cx="51206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Which Bit of the Ear</a:t>
            </a:r>
            <a:endParaRPr b="0" i="0" sz="3400" u="none" cap="none" strike="noStrike">
              <a:solidFill>
                <a:schemeClr val="dk1"/>
              </a:solidFill>
              <a:latin typeface="Calibri"/>
              <a:ea typeface="Calibri"/>
              <a:cs typeface="Calibri"/>
              <a:sym typeface="Calibri"/>
            </a:endParaRPr>
          </a:p>
        </p:txBody>
      </p:sp>
      <p:sp>
        <p:nvSpPr>
          <p:cNvPr id="317" name="Google Shape;317;p4"/>
          <p:cNvSpPr txBox="1"/>
          <p:nvPr/>
        </p:nvSpPr>
        <p:spPr>
          <a:xfrm>
            <a:off x="640080" y="1298448"/>
            <a:ext cx="5120640" cy="54864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15282D"/>
              </a:buClr>
              <a:buSzPts val="1400"/>
              <a:buFont typeface="Calibri"/>
              <a:buNone/>
            </a:pPr>
            <a:r>
              <a:rPr b="0" i="0" lang="en-US" sz="1400" u="none" cap="none" strike="noStrike">
                <a:solidFill>
                  <a:srgbClr val="15282D"/>
                </a:solidFill>
                <a:latin typeface="Calibri"/>
                <a:ea typeface="Calibri"/>
                <a:cs typeface="Calibri"/>
                <a:sym typeface="Calibri"/>
              </a:rPr>
              <a:t>The dished-out part in the middle of your ear — the </a:t>
            </a:r>
            <a:r>
              <a:rPr b="1" i="0" lang="en-US" sz="1400" u="none" cap="none" strike="noStrike">
                <a:solidFill>
                  <a:srgbClr val="10707A"/>
                </a:solidFill>
                <a:latin typeface="Calibri"/>
                <a:ea typeface="Calibri"/>
                <a:cs typeface="Calibri"/>
                <a:sym typeface="Calibri"/>
              </a:rPr>
              <a:t>auricular bowl</a:t>
            </a:r>
            <a:r>
              <a:rPr b="0" i="0" lang="en-US" sz="1400" u="none" cap="none" strike="noStrike">
                <a:solidFill>
                  <a:srgbClr val="15282D"/>
                </a:solidFill>
                <a:latin typeface="Calibri"/>
                <a:ea typeface="Calibri"/>
                <a:cs typeface="Calibri"/>
                <a:sym typeface="Calibri"/>
              </a:rPr>
              <a:t>. Earlobe not included.</a:t>
            </a:r>
            <a:endParaRPr b="0" i="0" sz="1400" u="none" cap="none" strike="noStrike">
              <a:solidFill>
                <a:schemeClr val="dk1"/>
              </a:solidFill>
              <a:latin typeface="Calibri"/>
              <a:ea typeface="Calibri"/>
              <a:cs typeface="Calibri"/>
              <a:sym typeface="Calibri"/>
            </a:endParaRPr>
          </a:p>
        </p:txBody>
      </p:sp>
      <p:graphicFrame>
        <p:nvGraphicFramePr>
          <p:cNvPr id="318" name="Google Shape;318;p4"/>
          <p:cNvGraphicFramePr/>
          <p:nvPr/>
        </p:nvGraphicFramePr>
        <p:xfrm>
          <a:off x="640080" y="1920240"/>
          <a:ext cx="3000000" cy="3000000"/>
        </p:xfrm>
        <a:graphic>
          <a:graphicData uri="http://schemas.openxmlformats.org/drawingml/2006/table">
            <a:tbl>
              <a:tblPr>
                <a:noFill/>
                <a:tableStyleId>{9AC296E5-4685-40E7-A592-16E1309CADE4}</a:tableStyleId>
              </a:tblPr>
              <a:tblGrid>
                <a:gridCol w="914400"/>
                <a:gridCol w="4206250"/>
              </a:tblGrid>
              <a:tr h="146050">
                <a:tc>
                  <a:txBody>
                    <a:bodyPr/>
                    <a:lstStyle/>
                    <a:p>
                      <a:pPr indent="0" lvl="0" marL="0" marR="0" rtl="0" algn="l">
                        <a:lnSpc>
                          <a:spcPct val="100000"/>
                        </a:lnSpc>
                        <a:spcBef>
                          <a:spcPts val="0"/>
                        </a:spcBef>
                        <a:spcAft>
                          <a:spcPts val="0"/>
                        </a:spcAft>
                        <a:buClr>
                          <a:schemeClr val="dk1"/>
                        </a:buClr>
                        <a:buSzPts val="1150"/>
                        <a:buFont typeface="Calibri"/>
                        <a:buNone/>
                      </a:pPr>
                      <a:r>
                        <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What is in and what is out</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r>
              <a:tr h="146050">
                <a:tc>
                  <a:txBody>
                    <a:bodyPr/>
                    <a:lstStyle/>
                    <a:p>
                      <a:pPr indent="0" lvl="0" marL="0" marR="0" rtl="0" algn="l">
                        <a:lnSpc>
                          <a:spcPct val="100000"/>
                        </a:lnSpc>
                        <a:spcBef>
                          <a:spcPts val="0"/>
                        </a:spcBef>
                        <a:spcAft>
                          <a:spcPts val="0"/>
                        </a:spcAft>
                        <a:buClr>
                          <a:srgbClr val="1E6E3C"/>
                        </a:buClr>
                        <a:buSzPts val="1150"/>
                        <a:buFont typeface="Calibri"/>
                        <a:buNone/>
                      </a:pPr>
                      <a:r>
                        <a:rPr b="1" lang="en-US" sz="1150" u="none" cap="none" strike="noStrike">
                          <a:solidFill>
                            <a:srgbClr val="1E6E3C"/>
                          </a:solidFill>
                          <a:latin typeface="Calibri"/>
                          <a:ea typeface="Calibri"/>
                          <a:cs typeface="Calibri"/>
                          <a:sym typeface="Calibri"/>
                        </a:rPr>
                        <a:t>In</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Cavum conchae, cymba conchae,</a:t>
                      </a:r>
                      <a:endParaRPr sz="115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triangular fossa, antihelix</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46050">
                <a:tc>
                  <a:txBody>
                    <a:bodyPr/>
                    <a:lstStyle/>
                    <a:p>
                      <a:pPr indent="0" lvl="0" marL="0" marR="0" rtl="0" algn="l">
                        <a:lnSpc>
                          <a:spcPct val="100000"/>
                        </a:lnSpc>
                        <a:spcBef>
                          <a:spcPts val="0"/>
                        </a:spcBef>
                        <a:spcAft>
                          <a:spcPts val="0"/>
                        </a:spcAft>
                        <a:buClr>
                          <a:srgbClr val="C1543C"/>
                        </a:buClr>
                        <a:buSzPts val="1150"/>
                        <a:buFont typeface="Calibri"/>
                        <a:buNone/>
                      </a:pPr>
                      <a:r>
                        <a:rPr b="1" lang="en-US" sz="1150" u="none" cap="none" strike="noStrike">
                          <a:solidFill>
                            <a:srgbClr val="C1543C"/>
                          </a:solidFill>
                          <a:latin typeface="Calibri"/>
                          <a:ea typeface="Calibri"/>
                          <a:cs typeface="Calibri"/>
                          <a:sym typeface="Calibri"/>
                        </a:rPr>
                        <a:t>Out</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Lobule (the earlobe), ear canal opening</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bl>
          </a:graphicData>
        </a:graphic>
      </p:graphicFrame>
      <p:sp>
        <p:nvSpPr>
          <p:cNvPr id="319" name="Google Shape;319;p4"/>
          <p:cNvSpPr txBox="1"/>
          <p:nvPr/>
        </p:nvSpPr>
        <p:spPr>
          <a:xfrm>
            <a:off x="640080" y="3246120"/>
            <a:ext cx="5120640" cy="5486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F85"/>
              </a:buClr>
              <a:buSzPts val="1150"/>
              <a:buFont typeface="Calibri"/>
              <a:buNone/>
            </a:pPr>
            <a:r>
              <a:rPr b="0" i="1" lang="en-US" sz="1150" u="none" cap="none" strike="noStrike">
                <a:solidFill>
                  <a:srgbClr val="6B7F85"/>
                </a:solidFill>
                <a:latin typeface="Calibri"/>
                <a:ea typeface="Calibri"/>
                <a:cs typeface="Calibri"/>
                <a:sym typeface="Calibri"/>
              </a:rPr>
              <a:t>In plain words: the deep cup, the little scoop above it, the small triangular dip, and the Y-shaped ridge wrapped around them.</a:t>
            </a:r>
            <a:endParaRPr b="0" i="0" sz="1150" u="none" cap="none" strike="noStrike">
              <a:solidFill>
                <a:schemeClr val="dk1"/>
              </a:solidFill>
              <a:latin typeface="Calibri"/>
              <a:ea typeface="Calibri"/>
              <a:cs typeface="Calibri"/>
              <a:sym typeface="Calibri"/>
            </a:endParaRPr>
          </a:p>
        </p:txBody>
      </p:sp>
      <p:sp>
        <p:nvSpPr>
          <p:cNvPr id="320" name="Google Shape;320;p4"/>
          <p:cNvSpPr/>
          <p:nvPr/>
        </p:nvSpPr>
        <p:spPr>
          <a:xfrm>
            <a:off x="640080" y="3913632"/>
            <a:ext cx="5120640" cy="1060704"/>
          </a:xfrm>
          <a:prstGeom prst="roundRect">
            <a:avLst>
              <a:gd fmla="val 5172" name="adj"/>
            </a:avLst>
          </a:prstGeom>
          <a:solidFill>
            <a:srgbClr val="E3F0F1"/>
          </a:solidFill>
          <a:ln cap="flat" cmpd="sng" w="12700">
            <a:solidFill>
              <a:srgbClr val="E3F0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4"/>
          <p:cNvSpPr txBox="1"/>
          <p:nvPr/>
        </p:nvSpPr>
        <p:spPr>
          <a:xfrm>
            <a:off x="841248" y="4005072"/>
            <a:ext cx="4718304" cy="877824"/>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"Annotation-free" means no dots, not no people. Someone still </a:t>
            </a:r>
            <a:r>
              <a:rPr b="1" i="0" lang="en-US" sz="1150" u="none" cap="none" strike="noStrike">
                <a:solidFill>
                  <a:srgbClr val="15282D"/>
                </a:solidFill>
                <a:latin typeface="Calibri"/>
                <a:ea typeface="Calibri"/>
                <a:cs typeface="Calibri"/>
                <a:sym typeface="Calibri"/>
              </a:rPr>
              <a:t>traces the outline of the region by hand </a:t>
            </a:r>
            <a:r>
              <a:rPr b="0" i="0" lang="en-US" sz="1150" u="none" cap="none" strike="noStrike">
                <a:solidFill>
                  <a:srgbClr val="15282D"/>
                </a:solidFill>
                <a:latin typeface="Calibri"/>
                <a:ea typeface="Calibri"/>
                <a:cs typeface="Calibri"/>
                <a:sym typeface="Calibri"/>
              </a:rPr>
              <a:t>in Geomagic Design X. But </a:t>
            </a:r>
            <a:r>
              <a:rPr b="1" i="0" lang="en-US" sz="1150" u="none" cap="none" strike="noStrike">
                <a:solidFill>
                  <a:srgbClr val="15282D"/>
                </a:solidFill>
                <a:latin typeface="Calibri"/>
                <a:ea typeface="Calibri"/>
                <a:cs typeface="Calibri"/>
                <a:sym typeface="Calibri"/>
              </a:rPr>
              <a:t>roughly lassoing an area</a:t>
            </a:r>
            <a:r>
              <a:rPr b="0" i="0" lang="en-US" sz="1150" u="none" cap="none" strike="noStrike">
                <a:solidFill>
                  <a:srgbClr val="15282D"/>
                </a:solidFill>
                <a:latin typeface="Calibri"/>
                <a:ea typeface="Calibri"/>
                <a:cs typeface="Calibri"/>
                <a:sym typeface="Calibri"/>
              </a:rPr>
              <a:t> is far easier to repeat than pinpointing an exact anatomical spot — which is why it does not spoil the method.</a:t>
            </a:r>
            <a:endParaRPr b="0" i="0" sz="1150" u="none" cap="none" strike="noStrike">
              <a:solidFill>
                <a:schemeClr val="dk1"/>
              </a:solidFill>
              <a:latin typeface="Calibri"/>
              <a:ea typeface="Calibri"/>
              <a:cs typeface="Calibri"/>
              <a:sym typeface="Calibri"/>
            </a:endParaRPr>
          </a:p>
        </p:txBody>
      </p:sp>
      <p:sp>
        <p:nvSpPr>
          <p:cNvPr id="322" name="Google Shape;322;p4"/>
          <p:cNvSpPr/>
          <p:nvPr/>
        </p:nvSpPr>
        <p:spPr>
          <a:xfrm>
            <a:off x="640080" y="5084064"/>
            <a:ext cx="5120640" cy="1060704"/>
          </a:xfrm>
          <a:prstGeom prst="roundRect">
            <a:avLst>
              <a:gd fmla="val 5172" name="adj"/>
            </a:avLst>
          </a:prstGeom>
          <a:solidFill>
            <a:srgbClr val="FBE9E4"/>
          </a:solidFill>
          <a:ln cap="flat" cmpd="sng" w="12700">
            <a:solidFill>
              <a:srgbClr val="FBE9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
          <p:cNvSpPr txBox="1"/>
          <p:nvPr/>
        </p:nvSpPr>
        <p:spPr>
          <a:xfrm>
            <a:off x="841248" y="5175504"/>
            <a:ext cx="4718304" cy="877824"/>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The region is bigger than "bowl" sounds. The triangular fossa and the antihelix ridge come along too, so the wall around the cup is counted, not just the cup. Check what is included before borrowing any number from this paper.</a:t>
            </a:r>
            <a:endParaRPr b="0" i="0" sz="1150" u="none" cap="none" strike="noStrike">
              <a:solidFill>
                <a:schemeClr val="dk1"/>
              </a:solidFill>
              <a:latin typeface="Calibri"/>
              <a:ea typeface="Calibri"/>
              <a:cs typeface="Calibri"/>
              <a:sym typeface="Calibri"/>
            </a:endParaRPr>
          </a:p>
        </p:txBody>
      </p:sp>
      <p:pic>
        <p:nvPicPr>
          <p:cNvPr id="324" name="Google Shape;324;p4"/>
          <p:cNvPicPr preferRelativeResize="0"/>
          <p:nvPr/>
        </p:nvPicPr>
        <p:blipFill rotWithShape="1">
          <a:blip r:embed="rId3">
            <a:alphaModFix/>
          </a:blip>
          <a:srcRect b="0" l="0" r="0" t="0"/>
          <a:stretch/>
        </p:blipFill>
        <p:spPr>
          <a:xfrm>
            <a:off x="6126072" y="1847100"/>
            <a:ext cx="3049625" cy="3550300"/>
          </a:xfrm>
          <a:prstGeom prst="rect">
            <a:avLst/>
          </a:prstGeom>
          <a:noFill/>
          <a:ln>
            <a:noFill/>
          </a:ln>
        </p:spPr>
      </p:pic>
      <p:pic>
        <p:nvPicPr>
          <p:cNvPr id="325" name="Google Shape;325;p4"/>
          <p:cNvPicPr preferRelativeResize="0"/>
          <p:nvPr/>
        </p:nvPicPr>
        <p:blipFill rotWithShape="1">
          <a:blip r:embed="rId4">
            <a:alphaModFix/>
          </a:blip>
          <a:srcRect b="0" l="0" r="0" t="0"/>
          <a:stretch/>
        </p:blipFill>
        <p:spPr>
          <a:xfrm>
            <a:off x="9308050" y="3523849"/>
            <a:ext cx="2582650" cy="2582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5"/>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DATA</a:t>
            </a:r>
            <a:endParaRPr b="0" i="0" sz="1100" u="none" cap="none" strike="noStrike">
              <a:solidFill>
                <a:schemeClr val="dk1"/>
              </a:solidFill>
              <a:latin typeface="Calibri"/>
              <a:ea typeface="Calibri"/>
              <a:cs typeface="Calibri"/>
              <a:sym typeface="Calibri"/>
            </a:endParaRPr>
          </a:p>
        </p:txBody>
      </p:sp>
      <p:sp>
        <p:nvSpPr>
          <p:cNvPr id="332" name="Google Shape;332;p5"/>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Whose Ears, and How They Were Captured</a:t>
            </a:r>
            <a:endParaRPr b="0" i="0" sz="3400" u="none" cap="none" strike="noStrike">
              <a:solidFill>
                <a:schemeClr val="dk1"/>
              </a:solidFill>
              <a:latin typeface="Calibri"/>
              <a:ea typeface="Calibri"/>
              <a:cs typeface="Calibri"/>
              <a:sym typeface="Calibri"/>
            </a:endParaRPr>
          </a:p>
        </p:txBody>
      </p:sp>
      <p:sp>
        <p:nvSpPr>
          <p:cNvPr id="333" name="Google Shape;333;p5"/>
          <p:cNvSpPr/>
          <p:nvPr/>
        </p:nvSpPr>
        <p:spPr>
          <a:xfrm>
            <a:off x="640080" y="1371600"/>
            <a:ext cx="2578608" cy="1024128"/>
          </a:xfrm>
          <a:prstGeom prst="roundRect">
            <a:avLst>
              <a:gd fmla="val 6250" name="adj"/>
            </a:avLst>
          </a:prstGeom>
          <a:solidFill>
            <a:srgbClr val="F2F7F7"/>
          </a:solidFill>
          <a:ln cap="flat" cmpd="sng" w="12700">
            <a:solidFill>
              <a:srgbClr val="DCE8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5"/>
          <p:cNvSpPr txBox="1"/>
          <p:nvPr/>
        </p:nvSpPr>
        <p:spPr>
          <a:xfrm>
            <a:off x="640080" y="1463040"/>
            <a:ext cx="2578608"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707A"/>
              </a:buClr>
              <a:buSzPts val="3000"/>
              <a:buFont typeface="Cambria"/>
              <a:buNone/>
            </a:pPr>
            <a:r>
              <a:rPr b="1" i="0" lang="en-US" sz="3000" u="none" cap="none" strike="noStrike">
                <a:solidFill>
                  <a:srgbClr val="10707A"/>
                </a:solidFill>
                <a:latin typeface="Cambria"/>
                <a:ea typeface="Cambria"/>
                <a:cs typeface="Cambria"/>
                <a:sym typeface="Cambria"/>
              </a:rPr>
              <a:t>50</a:t>
            </a:r>
            <a:endParaRPr b="0" i="0" sz="3000" u="none" cap="none" strike="noStrike">
              <a:solidFill>
                <a:schemeClr val="dk1"/>
              </a:solidFill>
              <a:latin typeface="Calibri"/>
              <a:ea typeface="Calibri"/>
              <a:cs typeface="Calibri"/>
              <a:sym typeface="Calibri"/>
            </a:endParaRPr>
          </a:p>
        </p:txBody>
      </p:sp>
      <p:sp>
        <p:nvSpPr>
          <p:cNvPr id="335" name="Google Shape;335;p5"/>
          <p:cNvSpPr txBox="1"/>
          <p:nvPr/>
        </p:nvSpPr>
        <p:spPr>
          <a:xfrm>
            <a:off x="640080" y="1975104"/>
            <a:ext cx="2578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ears, one each</a:t>
            </a:r>
            <a:endParaRPr b="0" i="0" sz="1150" u="none" cap="none" strike="noStrike">
              <a:solidFill>
                <a:schemeClr val="dk1"/>
              </a:solidFill>
              <a:latin typeface="Calibri"/>
              <a:ea typeface="Calibri"/>
              <a:cs typeface="Calibri"/>
              <a:sym typeface="Calibri"/>
            </a:endParaRPr>
          </a:p>
        </p:txBody>
      </p:sp>
      <p:sp>
        <p:nvSpPr>
          <p:cNvPr id="336" name="Google Shape;336;p5"/>
          <p:cNvSpPr/>
          <p:nvPr/>
        </p:nvSpPr>
        <p:spPr>
          <a:xfrm>
            <a:off x="3401568" y="1371600"/>
            <a:ext cx="2578608" cy="1024128"/>
          </a:xfrm>
          <a:prstGeom prst="roundRect">
            <a:avLst>
              <a:gd fmla="val 6250" name="adj"/>
            </a:avLst>
          </a:prstGeom>
          <a:solidFill>
            <a:srgbClr val="F2F7F7"/>
          </a:solidFill>
          <a:ln cap="flat" cmpd="sng" w="12700">
            <a:solidFill>
              <a:srgbClr val="DCE8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5"/>
          <p:cNvSpPr txBox="1"/>
          <p:nvPr/>
        </p:nvSpPr>
        <p:spPr>
          <a:xfrm>
            <a:off x="3401568" y="1463040"/>
            <a:ext cx="2578608"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707A"/>
              </a:buClr>
              <a:buSzPts val="3000"/>
              <a:buFont typeface="Cambria"/>
              <a:buNone/>
            </a:pPr>
            <a:r>
              <a:rPr b="1" i="0" lang="en-US" sz="3000" u="none" cap="none" strike="noStrike">
                <a:solidFill>
                  <a:srgbClr val="10707A"/>
                </a:solidFill>
                <a:latin typeface="Cambria"/>
                <a:ea typeface="Cambria"/>
                <a:cs typeface="Cambria"/>
                <a:sym typeface="Cambria"/>
              </a:rPr>
              <a:t>Right</a:t>
            </a:r>
            <a:endParaRPr b="0" i="0" sz="3000" u="none" cap="none" strike="noStrike">
              <a:solidFill>
                <a:schemeClr val="dk1"/>
              </a:solidFill>
              <a:latin typeface="Calibri"/>
              <a:ea typeface="Calibri"/>
              <a:cs typeface="Calibri"/>
              <a:sym typeface="Calibri"/>
            </a:endParaRPr>
          </a:p>
        </p:txBody>
      </p:sp>
      <p:sp>
        <p:nvSpPr>
          <p:cNvPr id="338" name="Google Shape;338;p5"/>
          <p:cNvSpPr txBox="1"/>
          <p:nvPr/>
        </p:nvSpPr>
        <p:spPr>
          <a:xfrm>
            <a:off x="3401568" y="1975104"/>
            <a:ext cx="2578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ears only</a:t>
            </a:r>
            <a:endParaRPr b="0" i="0" sz="1150" u="none" cap="none" strike="noStrike">
              <a:solidFill>
                <a:schemeClr val="dk1"/>
              </a:solidFill>
              <a:latin typeface="Calibri"/>
              <a:ea typeface="Calibri"/>
              <a:cs typeface="Calibri"/>
              <a:sym typeface="Calibri"/>
            </a:endParaRPr>
          </a:p>
        </p:txBody>
      </p:sp>
      <p:sp>
        <p:nvSpPr>
          <p:cNvPr id="339" name="Google Shape;339;p5"/>
          <p:cNvSpPr/>
          <p:nvPr/>
        </p:nvSpPr>
        <p:spPr>
          <a:xfrm>
            <a:off x="6163056" y="1371600"/>
            <a:ext cx="2578608" cy="1024128"/>
          </a:xfrm>
          <a:prstGeom prst="roundRect">
            <a:avLst>
              <a:gd fmla="val 6250" name="adj"/>
            </a:avLst>
          </a:prstGeom>
          <a:solidFill>
            <a:srgbClr val="F2F7F7"/>
          </a:solidFill>
          <a:ln cap="flat" cmpd="sng" w="12700">
            <a:solidFill>
              <a:srgbClr val="DCE8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
          <p:cNvSpPr txBox="1"/>
          <p:nvPr/>
        </p:nvSpPr>
        <p:spPr>
          <a:xfrm>
            <a:off x="6163056" y="1463040"/>
            <a:ext cx="2578608"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707A"/>
              </a:buClr>
              <a:buSzPts val="3000"/>
              <a:buFont typeface="Cambria"/>
              <a:buNone/>
            </a:pPr>
            <a:r>
              <a:rPr b="1" i="0" lang="en-US" sz="3000" u="none" cap="none" strike="noStrike">
                <a:solidFill>
                  <a:srgbClr val="10707A"/>
                </a:solidFill>
                <a:latin typeface="Cambria"/>
                <a:ea typeface="Cambria"/>
                <a:cs typeface="Cambria"/>
                <a:sym typeface="Cambria"/>
              </a:rPr>
              <a:t>13–45</a:t>
            </a:r>
            <a:endParaRPr b="0" i="0" sz="3000" u="none" cap="none" strike="noStrike">
              <a:solidFill>
                <a:schemeClr val="dk1"/>
              </a:solidFill>
              <a:latin typeface="Calibri"/>
              <a:ea typeface="Calibri"/>
              <a:cs typeface="Calibri"/>
              <a:sym typeface="Calibri"/>
            </a:endParaRPr>
          </a:p>
        </p:txBody>
      </p:sp>
      <p:sp>
        <p:nvSpPr>
          <p:cNvPr id="341" name="Google Shape;341;p5"/>
          <p:cNvSpPr txBox="1"/>
          <p:nvPr/>
        </p:nvSpPr>
        <p:spPr>
          <a:xfrm>
            <a:off x="6163056" y="1975104"/>
            <a:ext cx="2578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years old</a:t>
            </a:r>
            <a:endParaRPr b="0" i="0" sz="1150" u="none" cap="none" strike="noStrike">
              <a:solidFill>
                <a:schemeClr val="dk1"/>
              </a:solidFill>
              <a:latin typeface="Calibri"/>
              <a:ea typeface="Calibri"/>
              <a:cs typeface="Calibri"/>
              <a:sym typeface="Calibri"/>
            </a:endParaRPr>
          </a:p>
        </p:txBody>
      </p:sp>
      <p:sp>
        <p:nvSpPr>
          <p:cNvPr id="342" name="Google Shape;342;p5"/>
          <p:cNvSpPr/>
          <p:nvPr/>
        </p:nvSpPr>
        <p:spPr>
          <a:xfrm>
            <a:off x="8924544" y="1371600"/>
            <a:ext cx="2578608" cy="1024128"/>
          </a:xfrm>
          <a:prstGeom prst="roundRect">
            <a:avLst>
              <a:gd fmla="val 6250" name="adj"/>
            </a:avLst>
          </a:prstGeom>
          <a:solidFill>
            <a:srgbClr val="F2F7F7"/>
          </a:solidFill>
          <a:ln cap="flat" cmpd="sng" w="12700">
            <a:solidFill>
              <a:srgbClr val="DCE8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
          <p:cNvSpPr txBox="1"/>
          <p:nvPr/>
        </p:nvSpPr>
        <p:spPr>
          <a:xfrm>
            <a:off x="8924544" y="1463040"/>
            <a:ext cx="2578608"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707A"/>
              </a:buClr>
              <a:buSzPts val="3000"/>
              <a:buFont typeface="Cambria"/>
              <a:buNone/>
            </a:pPr>
            <a:r>
              <a:rPr b="1" i="0" lang="en-US" sz="3000" u="none" cap="none" strike="noStrike">
                <a:solidFill>
                  <a:srgbClr val="10707A"/>
                </a:solidFill>
                <a:latin typeface="Cambria"/>
                <a:ea typeface="Cambria"/>
                <a:cs typeface="Cambria"/>
                <a:sym typeface="Cambria"/>
              </a:rPr>
              <a:t>~0.2 mm</a:t>
            </a:r>
            <a:endParaRPr b="0" i="0" sz="3000" u="none" cap="none" strike="noStrike">
              <a:solidFill>
                <a:schemeClr val="dk1"/>
              </a:solidFill>
              <a:latin typeface="Calibri"/>
              <a:ea typeface="Calibri"/>
              <a:cs typeface="Calibri"/>
              <a:sym typeface="Calibri"/>
            </a:endParaRPr>
          </a:p>
        </p:txBody>
      </p:sp>
      <p:sp>
        <p:nvSpPr>
          <p:cNvPr id="344" name="Google Shape;344;p5"/>
          <p:cNvSpPr txBox="1"/>
          <p:nvPr/>
        </p:nvSpPr>
        <p:spPr>
          <a:xfrm>
            <a:off x="8924544" y="1975104"/>
            <a:ext cx="2578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detail the scanner sees</a:t>
            </a:r>
            <a:endParaRPr b="0" i="0" sz="1150" u="none" cap="none" strike="noStrike">
              <a:solidFill>
                <a:schemeClr val="dk1"/>
              </a:solidFill>
              <a:latin typeface="Calibri"/>
              <a:ea typeface="Calibri"/>
              <a:cs typeface="Calibri"/>
              <a:sym typeface="Calibri"/>
            </a:endParaRPr>
          </a:p>
        </p:txBody>
      </p:sp>
      <p:graphicFrame>
        <p:nvGraphicFramePr>
          <p:cNvPr id="345" name="Google Shape;345;p5"/>
          <p:cNvGraphicFramePr/>
          <p:nvPr/>
        </p:nvGraphicFramePr>
        <p:xfrm>
          <a:off x="640080" y="2670048"/>
          <a:ext cx="3000000" cy="3000000"/>
        </p:xfrm>
        <a:graphic>
          <a:graphicData uri="http://schemas.openxmlformats.org/drawingml/2006/table">
            <a:tbl>
              <a:tblPr>
                <a:noFill/>
                <a:tableStyleId>{9AC296E5-4685-40E7-A592-16E1309CADE4}</a:tableStyleId>
              </a:tblPr>
              <a:tblGrid>
                <a:gridCol w="2148850"/>
                <a:gridCol w="8759950"/>
              </a:tblGrid>
              <a:tr h="146050">
                <a:tc>
                  <a:txBody>
                    <a:bodyPr/>
                    <a:lstStyle/>
                    <a:p>
                      <a:pPr indent="0" lvl="0" marL="0" marR="0" rtl="0" algn="l">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Item</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Detail</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r>
              <a:tr h="146050">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Who</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25 men, 25 women</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46050">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How the ear was captured</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EinScan Pro HD structured-light scanner (Shining 3D) — it paints stripes of light on the ear and reads the shape from how they bend</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r h="146050">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Getting it ready</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Trace the region by hand in Geomagic Design X → re-tile it into 40,000–60,000 evenly sized triangles → scatter 20,000 dots over it, spread by area so big flat patches get their fair share</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46050">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Where the ears came from</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50"/>
                        <a:buFont typeface="Calibri"/>
                        <a:buNone/>
                      </a:pPr>
                      <a:r>
                        <a:rPr lang="en-US" sz="1150" u="none" cap="none" strike="noStrike">
                          <a:solidFill>
                            <a:srgbClr val="15282D"/>
                          </a:solidFill>
                          <a:latin typeface="Calibri"/>
                          <a:ea typeface="Calibri"/>
                          <a:cs typeface="Calibri"/>
                          <a:sym typeface="Calibri"/>
                        </a:rPr>
                        <a:t>The team scanned them; no public dataset was used</a:t>
                      </a:r>
                      <a:endParaRPr sz="11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bl>
          </a:graphicData>
        </a:graphic>
      </p:graphicFrame>
      <p:sp>
        <p:nvSpPr>
          <p:cNvPr id="346" name="Google Shape;346;p5"/>
          <p:cNvSpPr txBox="1"/>
          <p:nvPr/>
        </p:nvSpPr>
        <p:spPr>
          <a:xfrm>
            <a:off x="640080" y="4709160"/>
            <a:ext cx="1091153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350"/>
              <a:buFont typeface="Calibri"/>
              <a:buNone/>
            </a:pPr>
            <a:r>
              <a:rPr b="1" i="0" lang="en-US" sz="1350" u="none" cap="none" strike="noStrike">
                <a:solidFill>
                  <a:srgbClr val="10707A"/>
                </a:solidFill>
                <a:latin typeface="Calibri"/>
                <a:ea typeface="Calibri"/>
                <a:cs typeface="Calibri"/>
                <a:sym typeface="Calibri"/>
              </a:rPr>
              <a:t>Two things it does not cover</a:t>
            </a:r>
            <a:endParaRPr b="0" i="0" sz="1350" u="none" cap="none" strike="noStrike">
              <a:solidFill>
                <a:schemeClr val="dk1"/>
              </a:solidFill>
              <a:latin typeface="Calibri"/>
              <a:ea typeface="Calibri"/>
              <a:cs typeface="Calibri"/>
              <a:sym typeface="Calibri"/>
            </a:endParaRPr>
          </a:p>
        </p:txBody>
      </p:sp>
      <p:sp>
        <p:nvSpPr>
          <p:cNvPr id="347" name="Google Shape;347;p5"/>
          <p:cNvSpPr txBox="1"/>
          <p:nvPr/>
        </p:nvSpPr>
        <p:spPr>
          <a:xfrm>
            <a:off x="640080" y="5010912"/>
            <a:ext cx="10911535" cy="1280160"/>
          </a:xfrm>
          <a:prstGeom prst="rect">
            <a:avLst/>
          </a:prstGeom>
          <a:noFill/>
          <a:ln>
            <a:noFill/>
          </a:ln>
        </p:spPr>
        <p:txBody>
          <a:bodyPr anchorCtr="0" anchor="ctr" bIns="0" lIns="0" spcFirstLastPara="1" rIns="0" wrap="square" tIns="0">
            <a:noAutofit/>
          </a:bodyPr>
          <a:lstStyle/>
          <a:p>
            <a:pPr indent="-342900" lvl="0" marL="342900" marR="0" rtl="0" algn="l">
              <a:lnSpc>
                <a:spcPct val="136000"/>
              </a:lnSpc>
              <a:spcBef>
                <a:spcPts val="0"/>
              </a:spcBef>
              <a:spcAft>
                <a:spcPts val="0"/>
              </a:spcAft>
              <a:buClr>
                <a:srgbClr val="15282D"/>
              </a:buClr>
              <a:buSzPts val="1250"/>
              <a:buFont typeface="Calibri"/>
              <a:buChar char="•"/>
            </a:pPr>
            <a:r>
              <a:rPr b="1" i="0" lang="en-US" sz="1250" u="none" cap="none" strike="noStrike">
                <a:solidFill>
                  <a:srgbClr val="15282D"/>
                </a:solidFill>
                <a:latin typeface="Calibri"/>
                <a:ea typeface="Calibri"/>
                <a:cs typeface="Calibri"/>
                <a:sym typeface="Calibri"/>
              </a:rPr>
              <a:t>Right ears only.</a:t>
            </a:r>
            <a:r>
              <a:rPr b="0" i="0" lang="en-US" sz="1250" u="none" cap="none" strike="noStrike">
                <a:solidFill>
                  <a:srgbClr val="15282D"/>
                </a:solidFill>
                <a:latin typeface="Calibri"/>
                <a:ea typeface="Calibri"/>
                <a:cs typeface="Calibri"/>
                <a:sym typeface="Calibri"/>
              </a:rPr>
              <a:t> Nobody checked whether left ears behave the same. You would have to mirror the model, and the paper never tests whether mirroring is fair.</a:t>
            </a:r>
            <a:endParaRPr b="0" i="0" sz="1250" u="none" cap="none" strike="noStrike">
              <a:solidFill>
                <a:schemeClr val="dk1"/>
              </a:solidFill>
              <a:latin typeface="Calibri"/>
              <a:ea typeface="Calibri"/>
              <a:cs typeface="Calibri"/>
              <a:sym typeface="Calibri"/>
            </a:endParaRPr>
          </a:p>
          <a:p>
            <a:pPr indent="-342900" lvl="0" marL="342900" marR="0" rtl="0" algn="l">
              <a:lnSpc>
                <a:spcPct val="136000"/>
              </a:lnSpc>
              <a:spcBef>
                <a:spcPts val="700"/>
              </a:spcBef>
              <a:spcAft>
                <a:spcPts val="0"/>
              </a:spcAft>
              <a:buClr>
                <a:srgbClr val="15282D"/>
              </a:buClr>
              <a:buSzPts val="1250"/>
              <a:buFont typeface="Calibri"/>
              <a:buChar char="•"/>
            </a:pPr>
            <a:r>
              <a:rPr b="1" i="0" lang="en-US" sz="1250" u="none" cap="none" strike="noStrike">
                <a:solidFill>
                  <a:srgbClr val="15282D"/>
                </a:solidFill>
                <a:latin typeface="Calibri"/>
                <a:ea typeface="Calibri"/>
                <a:cs typeface="Calibri"/>
                <a:sym typeface="Calibri"/>
              </a:rPr>
              <a:t>Nobody over 45.</a:t>
            </a:r>
            <a:r>
              <a:rPr b="0" i="0" lang="en-US" sz="1250" u="none" cap="none" strike="noStrike">
                <a:solidFill>
                  <a:srgbClr val="15282D"/>
                </a:solidFill>
                <a:latin typeface="Calibri"/>
                <a:ea typeface="Calibri"/>
                <a:cs typeface="Calibri"/>
                <a:sym typeface="Calibri"/>
              </a:rPr>
              <a:t> Ears keep changing as people get older, and the youngest here is 13. If your users are older, this does not speak for them.</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6"/>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PIPELINE</a:t>
            </a:r>
            <a:endParaRPr b="0" i="0" sz="1100" u="none" cap="none" strike="noStrike">
              <a:solidFill>
                <a:schemeClr val="dk1"/>
              </a:solidFill>
              <a:latin typeface="Calibri"/>
              <a:ea typeface="Calibri"/>
              <a:cs typeface="Calibri"/>
              <a:sym typeface="Calibri"/>
            </a:endParaRPr>
          </a:p>
        </p:txBody>
      </p:sp>
      <p:sp>
        <p:nvSpPr>
          <p:cNvPr id="354" name="Google Shape;354;p6"/>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The Whole Loop, Start to Finish</a:t>
            </a:r>
            <a:endParaRPr b="0" i="0" sz="3400" u="none" cap="none" strike="noStrike">
              <a:solidFill>
                <a:schemeClr val="dk1"/>
              </a:solidFill>
              <a:latin typeface="Calibri"/>
              <a:ea typeface="Calibri"/>
              <a:cs typeface="Calibri"/>
              <a:sym typeface="Calibri"/>
            </a:endParaRPr>
          </a:p>
        </p:txBody>
      </p:sp>
      <p:sp>
        <p:nvSpPr>
          <p:cNvPr id="355" name="Google Shape;355;p6"/>
          <p:cNvSpPr/>
          <p:nvPr/>
        </p:nvSpPr>
        <p:spPr>
          <a:xfrm>
            <a:off x="640080" y="1298448"/>
            <a:ext cx="1920240" cy="457200"/>
          </a:xfrm>
          <a:prstGeom prst="roundRect">
            <a:avLst>
              <a:gd fmla="val 12000"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6"/>
          <p:cNvSpPr txBox="1"/>
          <p:nvPr/>
        </p:nvSpPr>
        <p:spPr>
          <a:xfrm>
            <a:off x="713232" y="1316736"/>
            <a:ext cx="1773936" cy="420624"/>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Start: one ear,</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borrowed as a stand-in</a:t>
            </a:r>
            <a:endParaRPr b="0" i="0" sz="950" u="none" cap="none" strike="noStrike">
              <a:solidFill>
                <a:schemeClr val="dk1"/>
              </a:solidFill>
              <a:latin typeface="Calibri"/>
              <a:ea typeface="Calibri"/>
              <a:cs typeface="Calibri"/>
              <a:sym typeface="Calibri"/>
            </a:endParaRPr>
          </a:p>
        </p:txBody>
      </p:sp>
      <p:sp>
        <p:nvSpPr>
          <p:cNvPr id="357" name="Google Shape;357;p6"/>
          <p:cNvSpPr/>
          <p:nvPr/>
        </p:nvSpPr>
        <p:spPr>
          <a:xfrm>
            <a:off x="1590142" y="1755648"/>
            <a:ext cx="20117" cy="118872"/>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
          <p:cNvSpPr/>
          <p:nvPr/>
        </p:nvSpPr>
        <p:spPr>
          <a:xfrm>
            <a:off x="1522476" y="1760220"/>
            <a:ext cx="155448" cy="192024"/>
          </a:xfrm>
          <a:prstGeom prst="down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6"/>
          <p:cNvSpPr txBox="1"/>
          <p:nvPr/>
        </p:nvSpPr>
        <p:spPr>
          <a:xfrm>
            <a:off x="2880360" y="1389888"/>
            <a:ext cx="78638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F85"/>
              </a:buClr>
              <a:buSzPts val="1250"/>
              <a:buFont typeface="Calibri"/>
              <a:buNone/>
            </a:pPr>
            <a:r>
              <a:rPr b="0" i="0" lang="en-US" sz="1250" u="none" cap="none" strike="noStrike">
                <a:solidFill>
                  <a:srgbClr val="6B7F85"/>
                </a:solidFill>
                <a:latin typeface="Calibri"/>
                <a:ea typeface="Calibri"/>
                <a:cs typeface="Calibri"/>
                <a:sym typeface="Calibri"/>
              </a:rPr>
              <a:t>Run the five steps. Then ask whether you have done it five times. If not, go round again. If yes, you are finished.</a:t>
            </a:r>
            <a:endParaRPr b="0" i="0" sz="1250" u="none" cap="none" strike="noStrike">
              <a:solidFill>
                <a:schemeClr val="dk1"/>
              </a:solidFill>
              <a:latin typeface="Calibri"/>
              <a:ea typeface="Calibri"/>
              <a:cs typeface="Calibri"/>
              <a:sym typeface="Calibri"/>
            </a:endParaRPr>
          </a:p>
        </p:txBody>
      </p:sp>
      <p:sp>
        <p:nvSpPr>
          <p:cNvPr id="360" name="Google Shape;360;p6"/>
          <p:cNvSpPr/>
          <p:nvPr/>
        </p:nvSpPr>
        <p:spPr>
          <a:xfrm>
            <a:off x="640080" y="1874520"/>
            <a:ext cx="1920240" cy="1481328"/>
          </a:xfrm>
          <a:prstGeom prst="roundRect">
            <a:avLst>
              <a:gd fmla="val 3704"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6"/>
          <p:cNvSpPr/>
          <p:nvPr/>
        </p:nvSpPr>
        <p:spPr>
          <a:xfrm>
            <a:off x="1389888" y="1984248"/>
            <a:ext cx="420624" cy="420624"/>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6"/>
          <p:cNvSpPr txBox="1"/>
          <p:nvPr/>
        </p:nvSpPr>
        <p:spPr>
          <a:xfrm>
            <a:off x="1389888" y="198424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63" name="Google Shape;363;p6"/>
          <p:cNvSpPr txBox="1"/>
          <p:nvPr/>
        </p:nvSpPr>
        <p:spPr>
          <a:xfrm>
            <a:off x="731520" y="2478024"/>
            <a:ext cx="173736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82D"/>
              </a:buClr>
              <a:buSzPts val="1150"/>
              <a:buFont typeface="Calibri"/>
              <a:buNone/>
            </a:pPr>
            <a:r>
              <a:rPr b="1" i="0" lang="en-US" sz="1150" u="none" cap="none" strike="noStrike">
                <a:solidFill>
                  <a:srgbClr val="15282D"/>
                </a:solidFill>
                <a:latin typeface="Calibri"/>
                <a:ea typeface="Calibri"/>
                <a:cs typeface="Calibri"/>
                <a:sym typeface="Calibri"/>
              </a:rPr>
              <a:t>Rigid ICP alignment</a:t>
            </a:r>
            <a:endParaRPr b="0" i="0" sz="1150" u="none" cap="none" strike="noStrike">
              <a:solidFill>
                <a:schemeClr val="dk1"/>
              </a:solidFill>
              <a:latin typeface="Calibri"/>
              <a:ea typeface="Calibri"/>
              <a:cs typeface="Calibri"/>
              <a:sym typeface="Calibri"/>
            </a:endParaRPr>
          </a:p>
        </p:txBody>
      </p:sp>
      <p:sp>
        <p:nvSpPr>
          <p:cNvPr id="364" name="Google Shape;364;p6"/>
          <p:cNvSpPr txBox="1"/>
          <p:nvPr/>
        </p:nvSpPr>
        <p:spPr>
          <a:xfrm>
            <a:off x="731520" y="2916936"/>
            <a:ext cx="1737360" cy="402336"/>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Slide and spin it into</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place. Size stays locked</a:t>
            </a:r>
            <a:endParaRPr b="0" i="0" sz="950" u="none" cap="none" strike="noStrike">
              <a:solidFill>
                <a:schemeClr val="dk1"/>
              </a:solidFill>
              <a:latin typeface="Calibri"/>
              <a:ea typeface="Calibri"/>
              <a:cs typeface="Calibri"/>
              <a:sym typeface="Calibri"/>
            </a:endParaRPr>
          </a:p>
        </p:txBody>
      </p:sp>
      <p:sp>
        <p:nvSpPr>
          <p:cNvPr id="365" name="Google Shape;365;p6"/>
          <p:cNvSpPr/>
          <p:nvPr/>
        </p:nvSpPr>
        <p:spPr>
          <a:xfrm>
            <a:off x="2560320" y="2605126"/>
            <a:ext cx="242316"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6"/>
          <p:cNvSpPr/>
          <p:nvPr/>
        </p:nvSpPr>
        <p:spPr>
          <a:xfrm>
            <a:off x="2734056" y="2537460"/>
            <a:ext cx="192024" cy="155448"/>
          </a:xfrm>
          <a:prstGeom prst="right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6"/>
          <p:cNvSpPr/>
          <p:nvPr/>
        </p:nvSpPr>
        <p:spPr>
          <a:xfrm>
            <a:off x="2884932" y="1874520"/>
            <a:ext cx="1920240" cy="1481328"/>
          </a:xfrm>
          <a:prstGeom prst="roundRect">
            <a:avLst>
              <a:gd fmla="val 3704"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6"/>
          <p:cNvSpPr/>
          <p:nvPr/>
        </p:nvSpPr>
        <p:spPr>
          <a:xfrm>
            <a:off x="3634740" y="1984248"/>
            <a:ext cx="420624" cy="420624"/>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6"/>
          <p:cNvSpPr txBox="1"/>
          <p:nvPr/>
        </p:nvSpPr>
        <p:spPr>
          <a:xfrm>
            <a:off x="3634740" y="198424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70" name="Google Shape;370;p6"/>
          <p:cNvSpPr txBox="1"/>
          <p:nvPr/>
        </p:nvSpPr>
        <p:spPr>
          <a:xfrm>
            <a:off x="2976372" y="2478024"/>
            <a:ext cx="173736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82D"/>
              </a:buClr>
              <a:buSzPts val="1150"/>
              <a:buFont typeface="Calibri"/>
              <a:buNone/>
            </a:pPr>
            <a:r>
              <a:rPr b="1" i="0" lang="en-US" sz="1150" u="none" cap="none" strike="noStrike">
                <a:solidFill>
                  <a:srgbClr val="15282D"/>
                </a:solidFill>
                <a:latin typeface="Calibri"/>
                <a:ea typeface="Calibri"/>
                <a:cs typeface="Calibri"/>
                <a:sym typeface="Calibri"/>
              </a:rPr>
              <a:t>Farthest point sampling</a:t>
            </a:r>
            <a:endParaRPr b="0" i="0" sz="1150" u="none" cap="none" strike="noStrike">
              <a:solidFill>
                <a:schemeClr val="dk1"/>
              </a:solidFill>
              <a:latin typeface="Calibri"/>
              <a:ea typeface="Calibri"/>
              <a:cs typeface="Calibri"/>
              <a:sym typeface="Calibri"/>
            </a:endParaRPr>
          </a:p>
        </p:txBody>
      </p:sp>
      <p:sp>
        <p:nvSpPr>
          <p:cNvPr id="371" name="Google Shape;371;p6"/>
          <p:cNvSpPr txBox="1"/>
          <p:nvPr/>
        </p:nvSpPr>
        <p:spPr>
          <a:xfrm>
            <a:off x="2976372" y="2916936"/>
            <a:ext cx="1737360" cy="402336"/>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Pick its own handles,</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spread far apart</a:t>
            </a:r>
            <a:endParaRPr b="0" i="0" sz="950" u="none" cap="none" strike="noStrike">
              <a:solidFill>
                <a:schemeClr val="dk1"/>
              </a:solidFill>
              <a:latin typeface="Calibri"/>
              <a:ea typeface="Calibri"/>
              <a:cs typeface="Calibri"/>
              <a:sym typeface="Calibri"/>
            </a:endParaRPr>
          </a:p>
        </p:txBody>
      </p:sp>
      <p:sp>
        <p:nvSpPr>
          <p:cNvPr id="372" name="Google Shape;372;p6"/>
          <p:cNvSpPr/>
          <p:nvPr/>
        </p:nvSpPr>
        <p:spPr>
          <a:xfrm>
            <a:off x="4805172" y="2605126"/>
            <a:ext cx="242316"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6"/>
          <p:cNvSpPr/>
          <p:nvPr/>
        </p:nvSpPr>
        <p:spPr>
          <a:xfrm>
            <a:off x="4978908" y="2537460"/>
            <a:ext cx="192024" cy="155448"/>
          </a:xfrm>
          <a:prstGeom prst="right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6"/>
          <p:cNvSpPr/>
          <p:nvPr/>
        </p:nvSpPr>
        <p:spPr>
          <a:xfrm>
            <a:off x="5129784" y="1874520"/>
            <a:ext cx="1920240" cy="1481328"/>
          </a:xfrm>
          <a:prstGeom prst="roundRect">
            <a:avLst>
              <a:gd fmla="val 3704"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
          <p:cNvSpPr/>
          <p:nvPr/>
        </p:nvSpPr>
        <p:spPr>
          <a:xfrm>
            <a:off x="5879592" y="1984248"/>
            <a:ext cx="420624" cy="420624"/>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6"/>
          <p:cNvSpPr txBox="1"/>
          <p:nvPr/>
        </p:nvSpPr>
        <p:spPr>
          <a:xfrm>
            <a:off x="5879592" y="198424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77" name="Google Shape;377;p6"/>
          <p:cNvSpPr txBox="1"/>
          <p:nvPr/>
        </p:nvSpPr>
        <p:spPr>
          <a:xfrm>
            <a:off x="5221224" y="2478024"/>
            <a:ext cx="173736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82D"/>
              </a:buClr>
              <a:buSzPts val="1150"/>
              <a:buFont typeface="Calibri"/>
              <a:buNone/>
            </a:pPr>
            <a:r>
              <a:rPr b="1" i="0" lang="en-US" sz="1150" u="none" cap="none" strike="noStrike">
                <a:solidFill>
                  <a:srgbClr val="15282D"/>
                </a:solidFill>
                <a:latin typeface="Calibri"/>
                <a:ea typeface="Calibri"/>
                <a:cs typeface="Calibri"/>
                <a:sym typeface="Calibri"/>
              </a:rPr>
              <a:t>Bidirectional TPS</a:t>
            </a:r>
            <a:endParaRPr b="0" i="0" sz="1150" u="none" cap="none" strike="noStrike">
              <a:solidFill>
                <a:schemeClr val="dk1"/>
              </a:solidFill>
              <a:latin typeface="Calibri"/>
              <a:ea typeface="Calibri"/>
              <a:cs typeface="Calibri"/>
              <a:sym typeface="Calibri"/>
            </a:endParaRPr>
          </a:p>
        </p:txBody>
      </p:sp>
      <p:sp>
        <p:nvSpPr>
          <p:cNvPr id="378" name="Google Shape;378;p6"/>
          <p:cNvSpPr txBox="1"/>
          <p:nvPr/>
        </p:nvSpPr>
        <p:spPr>
          <a:xfrm>
            <a:off x="5221224" y="2916936"/>
            <a:ext cx="1737360" cy="402336"/>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Bend it until it fits</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the average shape</a:t>
            </a:r>
            <a:endParaRPr b="0" i="0" sz="950" u="none" cap="none" strike="noStrike">
              <a:solidFill>
                <a:schemeClr val="dk1"/>
              </a:solidFill>
              <a:latin typeface="Calibri"/>
              <a:ea typeface="Calibri"/>
              <a:cs typeface="Calibri"/>
              <a:sym typeface="Calibri"/>
            </a:endParaRPr>
          </a:p>
        </p:txBody>
      </p:sp>
      <p:sp>
        <p:nvSpPr>
          <p:cNvPr id="379" name="Google Shape;379;p6"/>
          <p:cNvSpPr/>
          <p:nvPr/>
        </p:nvSpPr>
        <p:spPr>
          <a:xfrm>
            <a:off x="7050024" y="2605126"/>
            <a:ext cx="242316"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6"/>
          <p:cNvSpPr/>
          <p:nvPr/>
        </p:nvSpPr>
        <p:spPr>
          <a:xfrm>
            <a:off x="7223760" y="2537460"/>
            <a:ext cx="192024" cy="155448"/>
          </a:xfrm>
          <a:prstGeom prst="right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6"/>
          <p:cNvSpPr/>
          <p:nvPr/>
        </p:nvSpPr>
        <p:spPr>
          <a:xfrm>
            <a:off x="7374636" y="1874520"/>
            <a:ext cx="1920240" cy="1481328"/>
          </a:xfrm>
          <a:prstGeom prst="roundRect">
            <a:avLst>
              <a:gd fmla="val 3704"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
          <p:cNvSpPr/>
          <p:nvPr/>
        </p:nvSpPr>
        <p:spPr>
          <a:xfrm>
            <a:off x="8124444" y="1984248"/>
            <a:ext cx="420624" cy="420624"/>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6"/>
          <p:cNvSpPr txBox="1"/>
          <p:nvPr/>
        </p:nvSpPr>
        <p:spPr>
          <a:xfrm>
            <a:off x="8124444" y="198424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84" name="Google Shape;384;p6"/>
          <p:cNvSpPr txBox="1"/>
          <p:nvPr/>
        </p:nvSpPr>
        <p:spPr>
          <a:xfrm>
            <a:off x="7466076" y="2478024"/>
            <a:ext cx="173736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82D"/>
              </a:buClr>
              <a:buSzPts val="1150"/>
              <a:buFont typeface="Calibri"/>
              <a:buNone/>
            </a:pPr>
            <a:r>
              <a:rPr b="1" i="0" lang="en-US" sz="1150" u="none" cap="none" strike="noStrike">
                <a:solidFill>
                  <a:srgbClr val="15282D"/>
                </a:solidFill>
                <a:latin typeface="Calibri"/>
                <a:ea typeface="Calibri"/>
                <a:cs typeface="Calibri"/>
                <a:sym typeface="Calibri"/>
              </a:rPr>
              <a:t>Nearest-neighbour map</a:t>
            </a:r>
            <a:endParaRPr b="0" i="0" sz="1150" u="none" cap="none" strike="noStrike">
              <a:solidFill>
                <a:schemeClr val="dk1"/>
              </a:solidFill>
              <a:latin typeface="Calibri"/>
              <a:ea typeface="Calibri"/>
              <a:cs typeface="Calibri"/>
              <a:sym typeface="Calibri"/>
            </a:endParaRPr>
          </a:p>
        </p:txBody>
      </p:sp>
      <p:sp>
        <p:nvSpPr>
          <p:cNvPr id="385" name="Google Shape;385;p6"/>
          <p:cNvSpPr txBox="1"/>
          <p:nvPr/>
        </p:nvSpPr>
        <p:spPr>
          <a:xfrm>
            <a:off x="7466076" y="2916936"/>
            <a:ext cx="1737360" cy="402336"/>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Write down which dot</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pairs with which</a:t>
            </a:r>
            <a:endParaRPr b="0" i="0" sz="950" u="none" cap="none" strike="noStrike">
              <a:solidFill>
                <a:schemeClr val="dk1"/>
              </a:solidFill>
              <a:latin typeface="Calibri"/>
              <a:ea typeface="Calibri"/>
              <a:cs typeface="Calibri"/>
              <a:sym typeface="Calibri"/>
            </a:endParaRPr>
          </a:p>
        </p:txBody>
      </p:sp>
      <p:sp>
        <p:nvSpPr>
          <p:cNvPr id="386" name="Google Shape;386;p6"/>
          <p:cNvSpPr/>
          <p:nvPr/>
        </p:nvSpPr>
        <p:spPr>
          <a:xfrm>
            <a:off x="9294876" y="2605126"/>
            <a:ext cx="242316"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
          <p:cNvSpPr/>
          <p:nvPr/>
        </p:nvSpPr>
        <p:spPr>
          <a:xfrm>
            <a:off x="9468612" y="2537460"/>
            <a:ext cx="192024" cy="155448"/>
          </a:xfrm>
          <a:prstGeom prst="right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
          <p:cNvSpPr/>
          <p:nvPr/>
        </p:nvSpPr>
        <p:spPr>
          <a:xfrm>
            <a:off x="9619488" y="1874520"/>
            <a:ext cx="1920240" cy="1481328"/>
          </a:xfrm>
          <a:prstGeom prst="roundRect">
            <a:avLst>
              <a:gd fmla="val 3704" name="adj"/>
            </a:avLst>
          </a:prstGeom>
          <a:solidFill>
            <a:srgbClr val="F2F7F7"/>
          </a:solidFill>
          <a:ln cap="flat" cmpd="sng" w="12700">
            <a:solidFill>
              <a:srgbClr val="C3D6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6"/>
          <p:cNvSpPr/>
          <p:nvPr/>
        </p:nvSpPr>
        <p:spPr>
          <a:xfrm>
            <a:off x="10369296" y="1984248"/>
            <a:ext cx="420624" cy="420624"/>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
          <p:cNvSpPr txBox="1"/>
          <p:nvPr/>
        </p:nvSpPr>
        <p:spPr>
          <a:xfrm>
            <a:off x="10369296" y="198424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391" name="Google Shape;391;p6"/>
          <p:cNvSpPr txBox="1"/>
          <p:nvPr/>
        </p:nvSpPr>
        <p:spPr>
          <a:xfrm>
            <a:off x="9710928" y="2478024"/>
            <a:ext cx="173736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82D"/>
              </a:buClr>
              <a:buSzPts val="1150"/>
              <a:buFont typeface="Calibri"/>
              <a:buNone/>
            </a:pPr>
            <a:r>
              <a:rPr b="1" i="0" lang="en-US" sz="1150" u="none" cap="none" strike="noStrike">
                <a:solidFill>
                  <a:srgbClr val="15282D"/>
                </a:solidFill>
                <a:latin typeface="Calibri"/>
                <a:ea typeface="Calibri"/>
                <a:cs typeface="Calibri"/>
                <a:sym typeface="Calibri"/>
              </a:rPr>
              <a:t>Average all subjects</a:t>
            </a:r>
            <a:endParaRPr b="0" i="0" sz="1150" u="none" cap="none" strike="noStrike">
              <a:solidFill>
                <a:schemeClr val="dk1"/>
              </a:solidFill>
              <a:latin typeface="Calibri"/>
              <a:ea typeface="Calibri"/>
              <a:cs typeface="Calibri"/>
              <a:sym typeface="Calibri"/>
            </a:endParaRPr>
          </a:p>
        </p:txBody>
      </p:sp>
      <p:sp>
        <p:nvSpPr>
          <p:cNvPr id="392" name="Google Shape;392;p6"/>
          <p:cNvSpPr txBox="1"/>
          <p:nvPr/>
        </p:nvSpPr>
        <p:spPr>
          <a:xfrm>
            <a:off x="9710928" y="2916936"/>
            <a:ext cx="1737360" cy="402336"/>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Blend all 50 into a</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B7F85"/>
              </a:buClr>
              <a:buSzPts val="950"/>
              <a:buFont typeface="Calibri"/>
              <a:buNone/>
            </a:pPr>
            <a:r>
              <a:rPr b="0" i="0" lang="en-US" sz="950" u="none" cap="none" strike="noStrike">
                <a:solidFill>
                  <a:srgbClr val="6B7F85"/>
                </a:solidFill>
                <a:latin typeface="Calibri"/>
                <a:ea typeface="Calibri"/>
                <a:cs typeface="Calibri"/>
                <a:sym typeface="Calibri"/>
              </a:rPr>
              <a:t>new average shape</a:t>
            </a:r>
            <a:endParaRPr b="0" i="0" sz="950" u="none" cap="none" strike="noStrike">
              <a:solidFill>
                <a:schemeClr val="dk1"/>
              </a:solidFill>
              <a:latin typeface="Calibri"/>
              <a:ea typeface="Calibri"/>
              <a:cs typeface="Calibri"/>
              <a:sym typeface="Calibri"/>
            </a:endParaRPr>
          </a:p>
        </p:txBody>
      </p:sp>
      <p:sp>
        <p:nvSpPr>
          <p:cNvPr id="393" name="Google Shape;393;p6"/>
          <p:cNvSpPr/>
          <p:nvPr/>
        </p:nvSpPr>
        <p:spPr>
          <a:xfrm>
            <a:off x="10569550" y="3355848"/>
            <a:ext cx="20117" cy="850392"/>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
          <p:cNvSpPr/>
          <p:nvPr/>
        </p:nvSpPr>
        <p:spPr>
          <a:xfrm>
            <a:off x="7275424" y="4196182"/>
            <a:ext cx="3304184"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6"/>
          <p:cNvSpPr/>
          <p:nvPr/>
        </p:nvSpPr>
        <p:spPr>
          <a:xfrm>
            <a:off x="7151980" y="4128516"/>
            <a:ext cx="192024" cy="155448"/>
          </a:xfrm>
          <a:prstGeom prst="left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6"/>
          <p:cNvSpPr/>
          <p:nvPr/>
        </p:nvSpPr>
        <p:spPr>
          <a:xfrm>
            <a:off x="4998568" y="3785616"/>
            <a:ext cx="2194560" cy="841248"/>
          </a:xfrm>
          <a:prstGeom prst="diamond">
            <a:avLst/>
          </a:prstGeom>
          <a:solidFill>
            <a:srgbClr val="E3F0F1"/>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6"/>
          <p:cNvSpPr txBox="1"/>
          <p:nvPr/>
        </p:nvSpPr>
        <p:spPr>
          <a:xfrm>
            <a:off x="5410048" y="3913632"/>
            <a:ext cx="1371600" cy="585216"/>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Done it</a:t>
            </a:r>
            <a:endParaRPr b="0" i="0" sz="1100" u="none" cap="none" strike="noStrike">
              <a:solidFill>
                <a:schemeClr val="dk1"/>
              </a:solidFill>
              <a:latin typeface="Calibri"/>
              <a:ea typeface="Calibri"/>
              <a:cs typeface="Calibri"/>
              <a:sym typeface="Calibri"/>
            </a:endParaRPr>
          </a:p>
          <a:p>
            <a:pPr indent="0" lvl="0" marL="0" marR="0" rtl="0" algn="ctr">
              <a:lnSpc>
                <a:spcPct val="118181"/>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five times?</a:t>
            </a:r>
            <a:endParaRPr b="0" i="0" sz="1100" u="none" cap="none" strike="noStrike">
              <a:solidFill>
                <a:schemeClr val="dk1"/>
              </a:solidFill>
              <a:latin typeface="Calibri"/>
              <a:ea typeface="Calibri"/>
              <a:cs typeface="Calibri"/>
              <a:sym typeface="Calibri"/>
            </a:endParaRPr>
          </a:p>
        </p:txBody>
      </p:sp>
      <p:sp>
        <p:nvSpPr>
          <p:cNvPr id="398" name="Google Shape;398;p6"/>
          <p:cNvSpPr/>
          <p:nvPr/>
        </p:nvSpPr>
        <p:spPr>
          <a:xfrm>
            <a:off x="1600200" y="4196182"/>
            <a:ext cx="3398368" cy="20117"/>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6"/>
          <p:cNvSpPr/>
          <p:nvPr/>
        </p:nvSpPr>
        <p:spPr>
          <a:xfrm>
            <a:off x="1590142" y="3438144"/>
            <a:ext cx="20117" cy="768096"/>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
          <p:cNvSpPr/>
          <p:nvPr/>
        </p:nvSpPr>
        <p:spPr>
          <a:xfrm>
            <a:off x="1522476" y="3314700"/>
            <a:ext cx="155448" cy="192024"/>
          </a:xfrm>
          <a:prstGeom prst="up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
          <p:cNvSpPr txBox="1"/>
          <p:nvPr/>
        </p:nvSpPr>
        <p:spPr>
          <a:xfrm>
            <a:off x="1920240" y="3895344"/>
            <a:ext cx="21945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43C"/>
              </a:buClr>
              <a:buSzPts val="1050"/>
              <a:buFont typeface="Calibri"/>
              <a:buNone/>
            </a:pPr>
            <a:r>
              <a:rPr b="1" i="0" lang="en-US" sz="1050" u="none" cap="none" strike="noStrike">
                <a:solidFill>
                  <a:srgbClr val="C1543C"/>
                </a:solidFill>
                <a:latin typeface="Calibri"/>
                <a:ea typeface="Calibri"/>
                <a:cs typeface="Calibri"/>
                <a:sym typeface="Calibri"/>
              </a:rPr>
              <a:t>No — go round again</a:t>
            </a:r>
            <a:endParaRPr b="0" i="0" sz="1050" u="none" cap="none" strike="noStrike">
              <a:solidFill>
                <a:schemeClr val="dk1"/>
              </a:solidFill>
              <a:latin typeface="Calibri"/>
              <a:ea typeface="Calibri"/>
              <a:cs typeface="Calibri"/>
              <a:sym typeface="Calibri"/>
            </a:endParaRPr>
          </a:p>
        </p:txBody>
      </p:sp>
      <p:sp>
        <p:nvSpPr>
          <p:cNvPr id="402" name="Google Shape;402;p6"/>
          <p:cNvSpPr/>
          <p:nvPr/>
        </p:nvSpPr>
        <p:spPr>
          <a:xfrm>
            <a:off x="6085789" y="4626864"/>
            <a:ext cx="20117" cy="448056"/>
          </a:xfrm>
          <a:prstGeom prst="rect">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
          <p:cNvSpPr/>
          <p:nvPr/>
        </p:nvSpPr>
        <p:spPr>
          <a:xfrm>
            <a:off x="6018124" y="4871123"/>
            <a:ext cx="155400" cy="192000"/>
          </a:xfrm>
          <a:prstGeom prst="downArrow">
            <a:avLst>
              <a:gd fmla="val 50000" name="adj1"/>
              <a:gd fmla="val 50000" name="adj2"/>
            </a:avLst>
          </a:prstGeom>
          <a:solidFill>
            <a:srgbClr val="4A8F97"/>
          </a:solidFill>
          <a:ln cap="flat" cmpd="sng" w="12700">
            <a:solidFill>
              <a:srgbClr val="4A8F9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6"/>
          <p:cNvSpPr txBox="1"/>
          <p:nvPr/>
        </p:nvSpPr>
        <p:spPr>
          <a:xfrm>
            <a:off x="6205576" y="4681728"/>
            <a:ext cx="5486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050"/>
              <a:buFont typeface="Calibri"/>
              <a:buNone/>
            </a:pPr>
            <a:r>
              <a:rPr b="1" i="0" lang="en-US" sz="1050" u="none" cap="none" strike="noStrike">
                <a:solidFill>
                  <a:srgbClr val="10707A"/>
                </a:solidFill>
                <a:latin typeface="Calibri"/>
                <a:ea typeface="Calibri"/>
                <a:cs typeface="Calibri"/>
                <a:sym typeface="Calibri"/>
              </a:rPr>
              <a:t>Yes</a:t>
            </a:r>
            <a:endParaRPr b="0" i="0" sz="1050" u="none" cap="none" strike="noStrike">
              <a:solidFill>
                <a:schemeClr val="dk1"/>
              </a:solidFill>
              <a:latin typeface="Calibri"/>
              <a:ea typeface="Calibri"/>
              <a:cs typeface="Calibri"/>
              <a:sym typeface="Calibri"/>
            </a:endParaRPr>
          </a:p>
        </p:txBody>
      </p:sp>
      <p:sp>
        <p:nvSpPr>
          <p:cNvPr id="405" name="Google Shape;405;p6"/>
          <p:cNvSpPr/>
          <p:nvPr/>
        </p:nvSpPr>
        <p:spPr>
          <a:xfrm>
            <a:off x="3992728" y="5074920"/>
            <a:ext cx="4206240" cy="475488"/>
          </a:xfrm>
          <a:prstGeom prst="roundRect">
            <a:avLst>
              <a:gd fmla="val 13462" name="adj"/>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
          <p:cNvSpPr txBox="1"/>
          <p:nvPr/>
        </p:nvSpPr>
        <p:spPr>
          <a:xfrm>
            <a:off x="3992728" y="5074920"/>
            <a:ext cx="4206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Final atlas  +  PCA statistical shape model</a:t>
            </a:r>
            <a:endParaRPr b="0" i="0" sz="1200" u="none" cap="none" strike="noStrike">
              <a:solidFill>
                <a:schemeClr val="dk1"/>
              </a:solidFill>
              <a:latin typeface="Calibri"/>
              <a:ea typeface="Calibri"/>
              <a:cs typeface="Calibri"/>
              <a:sym typeface="Calibri"/>
            </a:endParaRPr>
          </a:p>
        </p:txBody>
      </p:sp>
      <p:sp>
        <p:nvSpPr>
          <p:cNvPr id="407" name="Google Shape;407;p6"/>
          <p:cNvSpPr txBox="1"/>
          <p:nvPr/>
        </p:nvSpPr>
        <p:spPr>
          <a:xfrm>
            <a:off x="640080" y="5760720"/>
            <a:ext cx="531860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200"/>
              <a:buFont typeface="Calibri"/>
              <a:buNone/>
            </a:pPr>
            <a:r>
              <a:rPr b="1" i="0" lang="en-US" sz="1200" u="none" cap="none" strike="noStrike">
                <a:solidFill>
                  <a:srgbClr val="10707A"/>
                </a:solidFill>
                <a:latin typeface="Calibri"/>
                <a:ea typeface="Calibri"/>
                <a:cs typeface="Calibri"/>
                <a:sym typeface="Calibri"/>
              </a:rPr>
              <a:t>Inner loop  —  ICP repeating itself</a:t>
            </a:r>
            <a:endParaRPr b="0" i="0" sz="1200" u="none" cap="none" strike="noStrike">
              <a:solidFill>
                <a:schemeClr val="dk1"/>
              </a:solidFill>
              <a:latin typeface="Calibri"/>
              <a:ea typeface="Calibri"/>
              <a:cs typeface="Calibri"/>
              <a:sym typeface="Calibri"/>
            </a:endParaRPr>
          </a:p>
        </p:txBody>
      </p:sp>
      <p:sp>
        <p:nvSpPr>
          <p:cNvPr id="408" name="Google Shape;408;p6"/>
          <p:cNvSpPr txBox="1"/>
          <p:nvPr/>
        </p:nvSpPr>
        <p:spPr>
          <a:xfrm>
            <a:off x="640080" y="6016752"/>
            <a:ext cx="5318608" cy="42062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Stops on its own, once a round barely shrinks the average gap any further</a:t>
            </a:r>
            <a:endParaRPr b="0" i="0" sz="1150" u="none" cap="none" strike="noStrike">
              <a:solidFill>
                <a:schemeClr val="dk1"/>
              </a:solidFill>
              <a:latin typeface="Calibri"/>
              <a:ea typeface="Calibri"/>
              <a:cs typeface="Calibri"/>
              <a:sym typeface="Calibri"/>
            </a:endParaRPr>
          </a:p>
        </p:txBody>
      </p:sp>
      <p:sp>
        <p:nvSpPr>
          <p:cNvPr id="409" name="Google Shape;409;p6"/>
          <p:cNvSpPr txBox="1"/>
          <p:nvPr/>
        </p:nvSpPr>
        <p:spPr>
          <a:xfrm>
            <a:off x="6233008" y="5760720"/>
            <a:ext cx="531860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43C"/>
              </a:buClr>
              <a:buSzPts val="1200"/>
              <a:buFont typeface="Calibri"/>
              <a:buNone/>
            </a:pPr>
            <a:r>
              <a:rPr b="1" i="0" lang="en-US" sz="1200" u="none" cap="none" strike="noStrike">
                <a:solidFill>
                  <a:srgbClr val="C1543C"/>
                </a:solidFill>
                <a:latin typeface="Calibri"/>
                <a:ea typeface="Calibri"/>
                <a:cs typeface="Calibri"/>
                <a:sym typeface="Calibri"/>
              </a:rPr>
              <a:t>Outer loop  —  the five steps above</a:t>
            </a:r>
            <a:endParaRPr b="0" i="0" sz="1200" u="none" cap="none" strike="noStrike">
              <a:solidFill>
                <a:schemeClr val="dk1"/>
              </a:solidFill>
              <a:latin typeface="Calibri"/>
              <a:ea typeface="Calibri"/>
              <a:cs typeface="Calibri"/>
              <a:sym typeface="Calibri"/>
            </a:endParaRPr>
          </a:p>
        </p:txBody>
      </p:sp>
      <p:sp>
        <p:nvSpPr>
          <p:cNvPr id="410" name="Google Shape;410;p6"/>
          <p:cNvSpPr txBox="1"/>
          <p:nvPr/>
        </p:nvSpPr>
        <p:spPr>
          <a:xfrm>
            <a:off x="6233008" y="6016752"/>
            <a:ext cx="5318608" cy="42062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Always runs exactly 5 times — that is what the diamond decides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7"/>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STEP 1</a:t>
            </a:r>
            <a:endParaRPr b="0" i="0" sz="1100" u="none" cap="none" strike="noStrike">
              <a:solidFill>
                <a:schemeClr val="dk1"/>
              </a:solidFill>
              <a:latin typeface="Calibri"/>
              <a:ea typeface="Calibri"/>
              <a:cs typeface="Calibri"/>
              <a:sym typeface="Calibri"/>
            </a:endParaRPr>
          </a:p>
        </p:txBody>
      </p:sp>
      <p:sp>
        <p:nvSpPr>
          <p:cNvPr id="417" name="Google Shape;417;p7"/>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Rigid ICP Alignment — Sliding It Into Place</a:t>
            </a:r>
            <a:endParaRPr b="0" i="0" sz="3400" u="none" cap="none" strike="noStrike">
              <a:solidFill>
                <a:schemeClr val="dk1"/>
              </a:solidFill>
              <a:latin typeface="Calibri"/>
              <a:ea typeface="Calibri"/>
              <a:cs typeface="Calibri"/>
              <a:sym typeface="Calibri"/>
            </a:endParaRPr>
          </a:p>
        </p:txBody>
      </p:sp>
      <p:sp>
        <p:nvSpPr>
          <p:cNvPr id="418" name="Google Shape;418;p7"/>
          <p:cNvSpPr txBox="1"/>
          <p:nvPr/>
        </p:nvSpPr>
        <p:spPr>
          <a:xfrm>
            <a:off x="640075" y="1487825"/>
            <a:ext cx="6030000" cy="17415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10707A"/>
              </a:buClr>
              <a:buSzPts val="1300"/>
              <a:buFont typeface="Calibri"/>
              <a:buNone/>
            </a:pPr>
            <a:r>
              <a:rPr b="1" i="0" lang="en-US" sz="1300" u="none" cap="none" strike="noStrike">
                <a:solidFill>
                  <a:srgbClr val="10707A"/>
                </a:solidFill>
                <a:latin typeface="Calibri"/>
                <a:ea typeface="Calibri"/>
                <a:cs typeface="Calibri"/>
                <a:sym typeface="Calibri"/>
              </a:rPr>
              <a:t>ICP = iterative closest point.  </a:t>
            </a:r>
            <a:r>
              <a:rPr b="0" i="0" lang="en-US" sz="1300" u="none" cap="none" strike="noStrike">
                <a:solidFill>
                  <a:srgbClr val="15282D"/>
                </a:solidFill>
                <a:latin typeface="Calibri"/>
                <a:ea typeface="Calibri"/>
                <a:cs typeface="Calibri"/>
                <a:sym typeface="Calibri"/>
              </a:rPr>
              <a:t>Picture two paper cut-outs of an ear lying crooked on a table. You cannot tell which corner belongs to which. So you guess: whatever is nearest is probably the match. You shove one cut-out so those guessed pairs line up better. Now they sit closer, which makes your next guess a better guess. Repeat until shoving stops helping. The wrong guesses quietly fix themselves as the two shapes drift together.</a:t>
            </a:r>
            <a:endParaRPr b="0" i="0" sz="1300" u="none" cap="none" strike="noStrike">
              <a:solidFill>
                <a:schemeClr val="dk1"/>
              </a:solidFill>
              <a:latin typeface="Calibri"/>
              <a:ea typeface="Calibri"/>
              <a:cs typeface="Calibri"/>
              <a:sym typeface="Calibri"/>
            </a:endParaRPr>
          </a:p>
        </p:txBody>
      </p:sp>
      <p:sp>
        <p:nvSpPr>
          <p:cNvPr id="419" name="Google Shape;419;p7"/>
          <p:cNvSpPr txBox="1"/>
          <p:nvPr/>
        </p:nvSpPr>
        <p:spPr>
          <a:xfrm>
            <a:off x="640077" y="3229323"/>
            <a:ext cx="6663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300"/>
              <a:buFont typeface="Calibri"/>
              <a:buNone/>
            </a:pPr>
            <a:r>
              <a:rPr b="1" i="0" lang="en-US" sz="1300" u="none" cap="none" strike="noStrike">
                <a:solidFill>
                  <a:srgbClr val="15282D"/>
                </a:solidFill>
                <a:latin typeface="Calibri"/>
                <a:ea typeface="Calibri"/>
                <a:cs typeface="Calibri"/>
                <a:sym typeface="Calibri"/>
              </a:rPr>
              <a:t>The point of it:  </a:t>
            </a:r>
            <a:r>
              <a:rPr b="0" i="0" lang="en-US" sz="1300" u="none" cap="none" strike="noStrike">
                <a:solidFill>
                  <a:srgbClr val="15282D"/>
                </a:solidFill>
                <a:latin typeface="Calibri"/>
                <a:ea typeface="Calibri"/>
                <a:cs typeface="Calibri"/>
                <a:sym typeface="Calibri"/>
              </a:rPr>
              <a:t>get every ear sitting in the same spot, facing the same way. This step </a:t>
            </a:r>
            <a:r>
              <a:rPr b="1" i="0" lang="en-US" sz="1300" u="none" cap="none" strike="noStrike">
                <a:solidFill>
                  <a:srgbClr val="C1543C"/>
                </a:solidFill>
                <a:latin typeface="Calibri"/>
                <a:ea typeface="Calibri"/>
                <a:cs typeface="Calibri"/>
                <a:sym typeface="Calibri"/>
              </a:rPr>
              <a:t>only slides and spins — it never changes the shape</a:t>
            </a:r>
            <a:r>
              <a:rPr b="0" i="0" lang="en-US" sz="1300" u="none" cap="none" strike="noStrike">
                <a:solidFill>
                  <a:srgbClr val="15282D"/>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graphicFrame>
        <p:nvGraphicFramePr>
          <p:cNvPr id="420" name="Google Shape;420;p7"/>
          <p:cNvGraphicFramePr/>
          <p:nvPr/>
        </p:nvGraphicFramePr>
        <p:xfrm>
          <a:off x="640080" y="3940520"/>
          <a:ext cx="3000000" cy="3000000"/>
        </p:xfrm>
        <a:graphic>
          <a:graphicData uri="http://schemas.openxmlformats.org/drawingml/2006/table">
            <a:tbl>
              <a:tblPr>
                <a:noFill/>
                <a:tableStyleId>{9AC296E5-4685-40E7-A592-16E1309CADE4}</a:tableStyleId>
              </a:tblPr>
              <a:tblGrid>
                <a:gridCol w="1186600"/>
                <a:gridCol w="1186600"/>
                <a:gridCol w="4532250"/>
              </a:tblGrid>
              <a:tr h="13970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Setting</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Value</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What that means</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How each shove is solved</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Umeyama transform</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Hand it a list of which dot pairs with which, and it works out the best slide-and-spin in one go, with no trial and error</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b="1" lang="en-US" sz="1100" u="none" cap="none" strike="noStrike">
                          <a:solidFill>
                            <a:srgbClr val="15282D"/>
                          </a:solidFill>
                          <a:latin typeface="Calibri"/>
                          <a:ea typeface="Calibri"/>
                          <a:cs typeface="Calibri"/>
                          <a:sym typeface="Calibri"/>
                        </a:rPr>
                        <a:t>Resizing</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C1543C"/>
                        </a:buClr>
                        <a:buSzPts val="1100"/>
                        <a:buFont typeface="Calibri"/>
                        <a:buNone/>
                      </a:pPr>
                      <a:r>
                        <a:rPr b="1" lang="en-US" sz="1100" u="none" cap="none" strike="noStrike">
                          <a:solidFill>
                            <a:srgbClr val="C1543C"/>
                          </a:solidFill>
                          <a:latin typeface="Calibri"/>
                          <a:ea typeface="Calibri"/>
                          <a:cs typeface="Calibri"/>
                          <a:sym typeface="Calibri"/>
                        </a:rPr>
                        <a:t>Locked at s = 1</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No shrinking or stretching. A big ear stays big, so the model remembers real sizes instead of throwing them away</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How many dots</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20,000 per mesh</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Scattered by area, so a finely tiled patch does not hog more than its fair share</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9700">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When it stops</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When shoving stops helping</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100"/>
                        <a:buFont typeface="Calibri"/>
                        <a:buNone/>
                      </a:pPr>
                      <a:r>
                        <a:rPr lang="en-US" sz="1100" u="none" cap="none" strike="noStrike">
                          <a:solidFill>
                            <a:srgbClr val="15282D"/>
                          </a:solidFill>
                          <a:latin typeface="Calibri"/>
                          <a:ea typeface="Calibri"/>
                          <a:cs typeface="Calibri"/>
                          <a:sym typeface="Calibri"/>
                        </a:rPr>
                        <a:t>Once a round barely shrinks the average gap, it quits</a:t>
                      </a:r>
                      <a:endParaRPr sz="110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bl>
          </a:graphicData>
        </a:graphic>
      </p:graphicFrame>
      <p:pic>
        <p:nvPicPr>
          <p:cNvPr descr="同一張圖，文字改用全英文" id="421" name="Google Shape;421;p7"/>
          <p:cNvPicPr preferRelativeResize="0"/>
          <p:nvPr/>
        </p:nvPicPr>
        <p:blipFill rotWithShape="1">
          <a:blip r:embed="rId3">
            <a:alphaModFix/>
          </a:blip>
          <a:srcRect b="0" l="0" r="0" t="0"/>
          <a:stretch/>
        </p:blipFill>
        <p:spPr>
          <a:xfrm>
            <a:off x="7645105" y="1694646"/>
            <a:ext cx="4341670" cy="43416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8"/>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STEPS 2 &amp; 3</a:t>
            </a:r>
            <a:endParaRPr b="0" i="0" sz="1100" u="none" cap="none" strike="noStrike">
              <a:solidFill>
                <a:schemeClr val="dk1"/>
              </a:solidFill>
              <a:latin typeface="Calibri"/>
              <a:ea typeface="Calibri"/>
              <a:cs typeface="Calibri"/>
              <a:sym typeface="Calibri"/>
            </a:endParaRPr>
          </a:p>
        </p:txBody>
      </p:sp>
      <p:sp>
        <p:nvSpPr>
          <p:cNvPr id="428" name="Google Shape;428;p8"/>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Picking Its Own Handles, Then Bending to Fit</a:t>
            </a:r>
            <a:endParaRPr b="0" i="0" sz="3400" u="none" cap="none" strike="noStrike">
              <a:solidFill>
                <a:schemeClr val="dk1"/>
              </a:solidFill>
              <a:latin typeface="Calibri"/>
              <a:ea typeface="Calibri"/>
              <a:cs typeface="Calibri"/>
              <a:sym typeface="Calibri"/>
            </a:endParaRPr>
          </a:p>
        </p:txBody>
      </p:sp>
      <p:sp>
        <p:nvSpPr>
          <p:cNvPr id="429" name="Google Shape;429;p8"/>
          <p:cNvSpPr/>
          <p:nvPr/>
        </p:nvSpPr>
        <p:spPr>
          <a:xfrm>
            <a:off x="640080" y="1389888"/>
            <a:ext cx="402336" cy="402336"/>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8"/>
          <p:cNvSpPr txBox="1"/>
          <p:nvPr/>
        </p:nvSpPr>
        <p:spPr>
          <a:xfrm>
            <a:off x="640080" y="1389888"/>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31" name="Google Shape;431;p8"/>
          <p:cNvSpPr txBox="1"/>
          <p:nvPr/>
        </p:nvSpPr>
        <p:spPr>
          <a:xfrm>
            <a:off x="1207008" y="1371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600"/>
              <a:buFont typeface="Calibri"/>
              <a:buNone/>
            </a:pPr>
            <a:r>
              <a:rPr b="1" i="0" lang="en-US" sz="1600" u="none" cap="none" strike="noStrike">
                <a:solidFill>
                  <a:srgbClr val="15282D"/>
                </a:solidFill>
                <a:latin typeface="Calibri"/>
                <a:ea typeface="Calibri"/>
                <a:cs typeface="Calibri"/>
                <a:sym typeface="Calibri"/>
              </a:rPr>
              <a:t>Farthest point sampling (FPS)</a:t>
            </a:r>
            <a:endParaRPr b="0" i="0" sz="1600" u="none" cap="none" strike="noStrike">
              <a:solidFill>
                <a:schemeClr val="dk1"/>
              </a:solidFill>
              <a:latin typeface="Calibri"/>
              <a:ea typeface="Calibri"/>
              <a:cs typeface="Calibri"/>
              <a:sym typeface="Calibri"/>
            </a:endParaRPr>
          </a:p>
        </p:txBody>
      </p:sp>
      <p:sp>
        <p:nvSpPr>
          <p:cNvPr id="432" name="Google Shape;432;p8"/>
          <p:cNvSpPr txBox="1"/>
          <p:nvPr/>
        </p:nvSpPr>
        <p:spPr>
          <a:xfrm>
            <a:off x="1207000" y="1737354"/>
            <a:ext cx="4385400" cy="14076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5282D"/>
              </a:buClr>
              <a:buSzPts val="1250"/>
              <a:buFont typeface="Calibri"/>
              <a:buNone/>
            </a:pPr>
            <a:r>
              <a:rPr b="0" i="0" lang="en-US" sz="1250" u="none" cap="none" strike="noStrike">
                <a:solidFill>
                  <a:srgbClr val="15282D"/>
                </a:solidFill>
                <a:latin typeface="Calibri"/>
                <a:ea typeface="Calibri"/>
                <a:cs typeface="Calibri"/>
                <a:sym typeface="Calibri"/>
              </a:rPr>
              <a:t>The computer picks its own handles. The rule is simple: keep grabbing whichever spot sits furthest away from everything grabbed so far. You end up with handles spread evenly, never bunched together.</a:t>
            </a:r>
            <a:endParaRPr b="0" i="0" sz="1250" u="none" cap="none" strike="noStrike">
              <a:solidFill>
                <a:schemeClr val="dk1"/>
              </a:solidFill>
              <a:latin typeface="Calibri"/>
              <a:ea typeface="Calibri"/>
              <a:cs typeface="Calibri"/>
              <a:sym typeface="Calibri"/>
            </a:endParaRPr>
          </a:p>
        </p:txBody>
      </p:sp>
      <p:sp>
        <p:nvSpPr>
          <p:cNvPr id="433" name="Google Shape;433;p8"/>
          <p:cNvSpPr/>
          <p:nvPr/>
        </p:nvSpPr>
        <p:spPr>
          <a:xfrm>
            <a:off x="640080" y="3794760"/>
            <a:ext cx="402336" cy="402336"/>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8"/>
          <p:cNvSpPr txBox="1"/>
          <p:nvPr/>
        </p:nvSpPr>
        <p:spPr>
          <a:xfrm>
            <a:off x="640080" y="3794760"/>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35" name="Google Shape;435;p8"/>
          <p:cNvSpPr txBox="1"/>
          <p:nvPr/>
        </p:nvSpPr>
        <p:spPr>
          <a:xfrm>
            <a:off x="1207008" y="3776472"/>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600"/>
              <a:buFont typeface="Calibri"/>
              <a:buNone/>
            </a:pPr>
            <a:r>
              <a:rPr b="1" i="0" lang="en-US" sz="1600" u="none" cap="none" strike="noStrike">
                <a:solidFill>
                  <a:srgbClr val="15282D"/>
                </a:solidFill>
                <a:latin typeface="Calibri"/>
                <a:ea typeface="Calibri"/>
                <a:cs typeface="Calibri"/>
                <a:sym typeface="Calibri"/>
              </a:rPr>
              <a:t>Bidirectional thin-plate spline (BiTPS)</a:t>
            </a:r>
            <a:endParaRPr b="0" i="0" sz="1600" u="none" cap="none" strike="noStrike">
              <a:solidFill>
                <a:schemeClr val="dk1"/>
              </a:solidFill>
              <a:latin typeface="Calibri"/>
              <a:ea typeface="Calibri"/>
              <a:cs typeface="Calibri"/>
              <a:sym typeface="Calibri"/>
            </a:endParaRPr>
          </a:p>
        </p:txBody>
      </p:sp>
      <p:sp>
        <p:nvSpPr>
          <p:cNvPr id="436" name="Google Shape;436;p8"/>
          <p:cNvSpPr txBox="1"/>
          <p:nvPr/>
        </p:nvSpPr>
        <p:spPr>
          <a:xfrm>
            <a:off x="1207005" y="4133125"/>
            <a:ext cx="4100100" cy="1674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5282D"/>
              </a:buClr>
              <a:buSzPts val="1250"/>
              <a:buFont typeface="Calibri"/>
              <a:buNone/>
            </a:pPr>
            <a:r>
              <a:rPr b="0" i="0" lang="en-US" sz="1250" u="none" cap="none" strike="noStrike">
                <a:solidFill>
                  <a:srgbClr val="15282D"/>
                </a:solidFill>
                <a:latin typeface="Calibri"/>
                <a:ea typeface="Calibri"/>
                <a:cs typeface="Calibri"/>
                <a:sym typeface="Calibri"/>
              </a:rPr>
              <a:t>Think of a thin sheet of metal. Push a few spots on it and the whole sheet bends smoothly to follow — it will not crease, because bending costs energy and the sheet takes the laziest path it can. That is a thin-plate spline. Move the handles, and the surface between them follows along on its own.</a:t>
            </a:r>
            <a:endParaRPr b="0" i="0" sz="1250" u="none" cap="none" strike="noStrike">
              <a:solidFill>
                <a:schemeClr val="dk1"/>
              </a:solidFill>
              <a:latin typeface="Calibri"/>
              <a:ea typeface="Calibri"/>
              <a:cs typeface="Calibri"/>
              <a:sym typeface="Calibri"/>
            </a:endParaRPr>
          </a:p>
        </p:txBody>
      </p:sp>
      <p:pic>
        <p:nvPicPr>
          <p:cNvPr descr="3. 左下角「FPS optimization」那條公式是壞的&#10;d(p) = Σ_{s∈S}^{min(|p1,p2|)} ‖p − s‖&#10;&#10;求和符號的上標寫 min(|p1, p2|)，這在數學上沒有意義。而且 FPS 用的是 min，不是 sum — 對所有已選點求和會得到完全不同的東西（比較接近 k-medoids 的目標函數，不是 FPS）。&#10;&#10;正確的就是上面已經寫對的那條：d(p,S) = min_{s∈S} ‖p − s‖。這格根本不需要第二條公式。" id="437" name="Google Shape;437;p8"/>
          <p:cNvPicPr preferRelativeResize="0"/>
          <p:nvPr/>
        </p:nvPicPr>
        <p:blipFill rotWithShape="1">
          <a:blip r:embed="rId3">
            <a:alphaModFix/>
          </a:blip>
          <a:srcRect b="0" l="0" r="0" t="0"/>
          <a:stretch/>
        </p:blipFill>
        <p:spPr>
          <a:xfrm>
            <a:off x="5983050" y="1261875"/>
            <a:ext cx="5411675" cy="5411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9"/>
          <p:cNvSpPr txBox="1"/>
          <p:nvPr/>
        </p:nvSpPr>
        <p:spPr>
          <a:xfrm>
            <a:off x="640080" y="38404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STEPS 4 &amp; 5</a:t>
            </a:r>
            <a:endParaRPr b="0" i="0" sz="1100" u="none" cap="none" strike="noStrike">
              <a:solidFill>
                <a:schemeClr val="dk1"/>
              </a:solidFill>
              <a:latin typeface="Calibri"/>
              <a:ea typeface="Calibri"/>
              <a:cs typeface="Calibri"/>
              <a:sym typeface="Calibri"/>
            </a:endParaRPr>
          </a:p>
        </p:txBody>
      </p:sp>
      <p:sp>
        <p:nvSpPr>
          <p:cNvPr id="444" name="Google Shape;444;p9"/>
          <p:cNvSpPr txBox="1"/>
          <p:nvPr/>
        </p:nvSpPr>
        <p:spPr>
          <a:xfrm>
            <a:off x="640080" y="658368"/>
            <a:ext cx="1091153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Writing Down the Pairs, Then Re-Averaging</a:t>
            </a:r>
            <a:endParaRPr b="0" i="0" sz="3400" u="none" cap="none" strike="noStrike">
              <a:solidFill>
                <a:schemeClr val="dk1"/>
              </a:solidFill>
              <a:latin typeface="Calibri"/>
              <a:ea typeface="Calibri"/>
              <a:cs typeface="Calibri"/>
              <a:sym typeface="Calibri"/>
            </a:endParaRPr>
          </a:p>
        </p:txBody>
      </p:sp>
      <p:pic>
        <p:nvPicPr>
          <p:cNvPr id="445" name="Google Shape;445;p9"/>
          <p:cNvPicPr preferRelativeResize="0"/>
          <p:nvPr/>
        </p:nvPicPr>
        <p:blipFill rotWithShape="1">
          <a:blip r:embed="rId3">
            <a:alphaModFix/>
          </a:blip>
          <a:srcRect b="0" l="0" r="0" t="0"/>
          <a:stretch/>
        </p:blipFill>
        <p:spPr>
          <a:xfrm>
            <a:off x="1634475" y="1377696"/>
            <a:ext cx="3714664" cy="5327906"/>
          </a:xfrm>
          <a:prstGeom prst="rect">
            <a:avLst/>
          </a:prstGeom>
          <a:noFill/>
          <a:ln>
            <a:noFill/>
          </a:ln>
        </p:spPr>
      </p:pic>
      <p:pic>
        <p:nvPicPr>
          <p:cNvPr id="446" name="Google Shape;446;p9"/>
          <p:cNvPicPr preferRelativeResize="0"/>
          <p:nvPr/>
        </p:nvPicPr>
        <p:blipFill rotWithShape="1">
          <a:blip r:embed="rId4">
            <a:alphaModFix/>
          </a:blip>
          <a:srcRect b="0" l="0" r="0" t="0"/>
          <a:stretch/>
        </p:blipFill>
        <p:spPr>
          <a:xfrm>
            <a:off x="5869339" y="1377696"/>
            <a:ext cx="3696233" cy="53279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10"/>
          <p:cNvSpPr txBox="1"/>
          <p:nvPr/>
        </p:nvSpPr>
        <p:spPr>
          <a:xfrm>
            <a:off x="640080" y="384048"/>
            <a:ext cx="5120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707A"/>
              </a:buClr>
              <a:buSzPts val="1100"/>
              <a:buFont typeface="Calibri"/>
              <a:buNone/>
            </a:pPr>
            <a:r>
              <a:rPr b="1" i="0" lang="en-US" sz="1100" u="none" cap="none" strike="noStrike">
                <a:solidFill>
                  <a:srgbClr val="10707A"/>
                </a:solidFill>
                <a:latin typeface="Calibri"/>
                <a:ea typeface="Calibri"/>
                <a:cs typeface="Calibri"/>
                <a:sym typeface="Calibri"/>
              </a:rPr>
              <a:t>RESULTS</a:t>
            </a:r>
            <a:endParaRPr b="0" i="0" sz="1100" u="none" cap="none" strike="noStrike">
              <a:solidFill>
                <a:schemeClr val="dk1"/>
              </a:solidFill>
              <a:latin typeface="Calibri"/>
              <a:ea typeface="Calibri"/>
              <a:cs typeface="Calibri"/>
              <a:sym typeface="Calibri"/>
            </a:endParaRPr>
          </a:p>
        </p:txBody>
      </p:sp>
      <p:sp>
        <p:nvSpPr>
          <p:cNvPr id="453" name="Google Shape;453;p10"/>
          <p:cNvSpPr txBox="1"/>
          <p:nvPr/>
        </p:nvSpPr>
        <p:spPr>
          <a:xfrm>
            <a:off x="640080" y="658368"/>
            <a:ext cx="51206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3400"/>
              <a:buFont typeface="Cambria"/>
              <a:buNone/>
            </a:pPr>
            <a:r>
              <a:rPr b="1" i="0" lang="en-US" sz="3400" u="none" cap="none" strike="noStrike">
                <a:solidFill>
                  <a:srgbClr val="15282D"/>
                </a:solidFill>
                <a:latin typeface="Cambria"/>
                <a:ea typeface="Cambria"/>
                <a:cs typeface="Cambria"/>
                <a:sym typeface="Cambria"/>
              </a:rPr>
              <a:t>Did It Actually Line Up?</a:t>
            </a:r>
            <a:endParaRPr b="0" i="0" sz="3400" u="none" cap="none" strike="noStrike">
              <a:solidFill>
                <a:schemeClr val="dk1"/>
              </a:solidFill>
              <a:latin typeface="Calibri"/>
              <a:ea typeface="Calibri"/>
              <a:cs typeface="Calibri"/>
              <a:sym typeface="Calibri"/>
            </a:endParaRPr>
          </a:p>
        </p:txBody>
      </p:sp>
      <p:sp>
        <p:nvSpPr>
          <p:cNvPr id="454" name="Google Shape;454;p10"/>
          <p:cNvSpPr txBox="1"/>
          <p:nvPr/>
        </p:nvSpPr>
        <p:spPr>
          <a:xfrm>
            <a:off x="640080" y="1325880"/>
            <a:ext cx="5120640" cy="43891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F85"/>
              </a:buClr>
              <a:buSzPts val="1150"/>
              <a:buFont typeface="Calibri"/>
              <a:buNone/>
            </a:pPr>
            <a:r>
              <a:rPr b="0" i="0" lang="en-US" sz="1150" u="none" cap="none" strike="noStrike">
                <a:solidFill>
                  <a:srgbClr val="6B7F85"/>
                </a:solidFill>
                <a:latin typeface="Calibri"/>
                <a:ea typeface="Calibri"/>
                <a:cs typeface="Calibri"/>
                <a:sym typeface="Calibri"/>
              </a:rPr>
              <a:t>Four ways of measuring the leftover gap, round 1 → round 5. Smaller is better, except the bottom row where bigger is better.</a:t>
            </a:r>
            <a:endParaRPr b="0" i="0" sz="1150" u="none" cap="none" strike="noStrike">
              <a:solidFill>
                <a:schemeClr val="dk1"/>
              </a:solidFill>
              <a:latin typeface="Calibri"/>
              <a:ea typeface="Calibri"/>
              <a:cs typeface="Calibri"/>
              <a:sym typeface="Calibri"/>
            </a:endParaRPr>
          </a:p>
        </p:txBody>
      </p:sp>
      <p:graphicFrame>
        <p:nvGraphicFramePr>
          <p:cNvPr id="455" name="Google Shape;455;p10"/>
          <p:cNvGraphicFramePr/>
          <p:nvPr/>
        </p:nvGraphicFramePr>
        <p:xfrm>
          <a:off x="640080" y="1874520"/>
          <a:ext cx="3000000" cy="3000000"/>
        </p:xfrm>
        <a:graphic>
          <a:graphicData uri="http://schemas.openxmlformats.org/drawingml/2006/table">
            <a:tbl>
              <a:tblPr>
                <a:noFill/>
                <a:tableStyleId>{9AC296E5-4685-40E7-A592-16E1309CADE4}</a:tableStyleId>
              </a:tblPr>
              <a:tblGrid>
                <a:gridCol w="2194550"/>
                <a:gridCol w="1463050"/>
                <a:gridCol w="1463050"/>
              </a:tblGrid>
              <a:tr h="133350">
                <a:tc>
                  <a:txBody>
                    <a:bodyPr/>
                    <a:lstStyle/>
                    <a:p>
                      <a:pPr indent="0" lvl="0" marL="0" marR="0" rtl="0" algn="l">
                        <a:lnSpc>
                          <a:spcPct val="100000"/>
                        </a:lnSpc>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What is measured</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ICP alone</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c>
                  <a:txBody>
                    <a:bodyPr/>
                    <a:lstStyle/>
                    <a:p>
                      <a:pPr indent="0" lvl="0" marL="0" marR="0" rtl="0" algn="l">
                        <a:lnSpc>
                          <a:spcPct val="100000"/>
                        </a:lnSpc>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 BiTPS</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10707A"/>
                    </a:solidFill>
                  </a:tcPr>
                </a:tc>
              </a:tr>
              <a:tr h="133350">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Average gap (mm)</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2.10 → 0.93</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0707A"/>
                        </a:buClr>
                        <a:buSzPts val="1050"/>
                        <a:buFont typeface="Calibri"/>
                        <a:buNone/>
                      </a:pPr>
                      <a:r>
                        <a:rPr b="1" lang="en-US" sz="1050" u="none" cap="none" strike="noStrike">
                          <a:solidFill>
                            <a:srgbClr val="10707A"/>
                          </a:solidFill>
                          <a:latin typeface="Calibri"/>
                          <a:ea typeface="Calibri"/>
                          <a:cs typeface="Calibri"/>
                          <a:sym typeface="Calibri"/>
                        </a:rPr>
                        <a:t>0.71 → 0.30</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3350">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Worst single gap (mm)</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8.92 → 2.97</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0707A"/>
                        </a:buClr>
                        <a:buSzPts val="1050"/>
                        <a:buFont typeface="Calibri"/>
                        <a:buNone/>
                      </a:pPr>
                      <a:r>
                        <a:rPr b="1" lang="en-US" sz="1050" u="none" cap="none" strike="noStrike">
                          <a:solidFill>
                            <a:srgbClr val="10707A"/>
                          </a:solidFill>
                          <a:latin typeface="Calibri"/>
                          <a:ea typeface="Calibri"/>
                          <a:cs typeface="Calibri"/>
                          <a:sym typeface="Calibri"/>
                        </a:rPr>
                        <a:t>3.73 → 1.32</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r h="133350">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Overall mismatch (Chamfer-L2)</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13.46 → 5.47</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0707A"/>
                        </a:buClr>
                        <a:buSzPts val="1050"/>
                        <a:buFont typeface="Calibri"/>
                        <a:buNone/>
                      </a:pPr>
                      <a:r>
                        <a:rPr b="1" lang="en-US" sz="1050" u="none" cap="none" strike="noStrike">
                          <a:solidFill>
                            <a:srgbClr val="10707A"/>
                          </a:solidFill>
                          <a:latin typeface="Calibri"/>
                          <a:ea typeface="Calibri"/>
                          <a:cs typeface="Calibri"/>
                          <a:sym typeface="Calibri"/>
                        </a:rPr>
                        <a:t>1.47 → 0.71</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FFFFF"/>
                    </a:solidFill>
                  </a:tcPr>
                </a:tc>
              </a:tr>
              <a:tr h="133350">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Surface actually matched</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5282D"/>
                        </a:buClr>
                        <a:buSzPts val="1050"/>
                        <a:buFont typeface="Calibri"/>
                        <a:buNone/>
                      </a:pPr>
                      <a:r>
                        <a:rPr lang="en-US" sz="1050" u="none" cap="none" strike="noStrike">
                          <a:solidFill>
                            <a:srgbClr val="15282D"/>
                          </a:solidFill>
                          <a:latin typeface="Calibri"/>
                          <a:ea typeface="Calibri"/>
                          <a:cs typeface="Calibri"/>
                          <a:sym typeface="Calibri"/>
                        </a:rPr>
                        <a:t>0.61 → 0.89</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c>
                  <a:txBody>
                    <a:bodyPr/>
                    <a:lstStyle/>
                    <a:p>
                      <a:pPr indent="0" lvl="0" marL="0" marR="0" rtl="0" algn="l">
                        <a:lnSpc>
                          <a:spcPct val="100000"/>
                        </a:lnSpc>
                        <a:spcBef>
                          <a:spcPts val="0"/>
                        </a:spcBef>
                        <a:spcAft>
                          <a:spcPts val="0"/>
                        </a:spcAft>
                        <a:buClr>
                          <a:srgbClr val="10707A"/>
                        </a:buClr>
                        <a:buSzPts val="1050"/>
                        <a:buFont typeface="Calibri"/>
                        <a:buNone/>
                      </a:pPr>
                      <a:r>
                        <a:rPr b="1" lang="en-US" sz="1050" u="none" cap="none" strike="noStrike">
                          <a:solidFill>
                            <a:srgbClr val="10707A"/>
                          </a:solidFill>
                          <a:latin typeface="Calibri"/>
                          <a:ea typeface="Calibri"/>
                          <a:cs typeface="Calibri"/>
                          <a:sym typeface="Calibri"/>
                        </a:rPr>
                        <a:t>0.92 → 0.98</a:t>
                      </a:r>
                      <a:endParaRPr sz="1050" u="none" cap="none" strike="noStrike">
                        <a:latin typeface="Calibri"/>
                        <a:ea typeface="Calibri"/>
                        <a:cs typeface="Calibri"/>
                        <a:sym typeface="Calibri"/>
                      </a:endParaRPr>
                    </a:p>
                  </a:txBody>
                  <a:tcPr marT="76200" marB="76200" marR="101600" marL="101600" anchor="ctr">
                    <a:lnL cap="flat" cmpd="sng" w="9525">
                      <a:solidFill>
                        <a:srgbClr val="D6E2E3"/>
                      </a:solidFill>
                      <a:prstDash val="solid"/>
                      <a:round/>
                      <a:headEnd len="sm" w="sm" type="none"/>
                      <a:tailEnd len="sm" w="sm" type="none"/>
                    </a:lnL>
                    <a:lnR cap="flat" cmpd="sng" w="9525">
                      <a:solidFill>
                        <a:srgbClr val="D6E2E3"/>
                      </a:solidFill>
                      <a:prstDash val="solid"/>
                      <a:round/>
                      <a:headEnd len="sm" w="sm" type="none"/>
                      <a:tailEnd len="sm" w="sm" type="none"/>
                    </a:lnR>
                    <a:lnT cap="flat" cmpd="sng" w="9525">
                      <a:solidFill>
                        <a:srgbClr val="D6E2E3"/>
                      </a:solidFill>
                      <a:prstDash val="solid"/>
                      <a:round/>
                      <a:headEnd len="sm" w="sm" type="none"/>
                      <a:tailEnd len="sm" w="sm" type="none"/>
                    </a:lnT>
                    <a:lnB cap="flat" cmpd="sng" w="9525">
                      <a:solidFill>
                        <a:srgbClr val="D6E2E3"/>
                      </a:solidFill>
                      <a:prstDash val="solid"/>
                      <a:round/>
                      <a:headEnd len="sm" w="sm" type="none"/>
                      <a:tailEnd len="sm" w="sm" type="none"/>
                    </a:lnB>
                    <a:solidFill>
                      <a:srgbClr val="F2F7F7"/>
                    </a:solidFill>
                  </a:tcPr>
                </a:tc>
              </a:tr>
            </a:tbl>
          </a:graphicData>
        </a:graphic>
      </p:graphicFrame>
      <p:sp>
        <p:nvSpPr>
          <p:cNvPr id="456" name="Google Shape;456;p10"/>
          <p:cNvSpPr/>
          <p:nvPr/>
        </p:nvSpPr>
        <p:spPr>
          <a:xfrm>
            <a:off x="640080" y="3401568"/>
            <a:ext cx="5120640" cy="777240"/>
          </a:xfrm>
          <a:prstGeom prst="roundRect">
            <a:avLst>
              <a:gd fmla="val 7059" name="adj"/>
            </a:avLst>
          </a:prstGeom>
          <a:solidFill>
            <a:srgbClr val="E3F0F1"/>
          </a:solidFill>
          <a:ln cap="flat" cmpd="sng" w="12700">
            <a:solidFill>
              <a:srgbClr val="E3F0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0"/>
          <p:cNvSpPr txBox="1"/>
          <p:nvPr/>
        </p:nvSpPr>
        <p:spPr>
          <a:xfrm>
            <a:off x="841248" y="3493008"/>
            <a:ext cx="4718304" cy="5943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15282D"/>
              </a:buClr>
              <a:buSzPts val="1150"/>
              <a:buFont typeface="Calibri"/>
              <a:buNone/>
            </a:pPr>
            <a:r>
              <a:rPr b="0" i="0" lang="en-US" sz="1150" u="none" cap="none" strike="noStrike">
                <a:solidFill>
                  <a:srgbClr val="15282D"/>
                </a:solidFill>
                <a:latin typeface="Calibri"/>
                <a:ea typeface="Calibri"/>
                <a:cs typeface="Calibri"/>
                <a:sym typeface="Calibri"/>
              </a:rPr>
              <a:t>These are not two rival methods. ICP slides the ear into place; BiTPS then bends it. One happens after the other. They sit side by side only to show how much the bending step adds.</a:t>
            </a:r>
            <a:endParaRPr b="0" i="0" sz="1150" u="none" cap="none" strike="noStrike">
              <a:solidFill>
                <a:schemeClr val="dk1"/>
              </a:solidFill>
              <a:latin typeface="Calibri"/>
              <a:ea typeface="Calibri"/>
              <a:cs typeface="Calibri"/>
              <a:sym typeface="Calibri"/>
            </a:endParaRPr>
          </a:p>
        </p:txBody>
      </p:sp>
      <p:sp>
        <p:nvSpPr>
          <p:cNvPr id="458" name="Google Shape;458;p10"/>
          <p:cNvSpPr/>
          <p:nvPr/>
        </p:nvSpPr>
        <p:spPr>
          <a:xfrm>
            <a:off x="640080" y="4352544"/>
            <a:ext cx="274320" cy="274320"/>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0"/>
          <p:cNvSpPr txBox="1"/>
          <p:nvPr/>
        </p:nvSpPr>
        <p:spPr>
          <a:xfrm>
            <a:off x="640080" y="435254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60" name="Google Shape;460;p10"/>
          <p:cNvSpPr txBox="1"/>
          <p:nvPr/>
        </p:nvSpPr>
        <p:spPr>
          <a:xfrm>
            <a:off x="1042416" y="4315968"/>
            <a:ext cx="471830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250"/>
              <a:buFont typeface="Calibri"/>
              <a:buNone/>
            </a:pPr>
            <a:r>
              <a:rPr b="1" i="0" lang="en-US" sz="1250" u="none" cap="none" strike="noStrike">
                <a:solidFill>
                  <a:srgbClr val="15282D"/>
                </a:solidFill>
                <a:latin typeface="Calibri"/>
                <a:ea typeface="Calibri"/>
                <a:cs typeface="Calibri"/>
                <a:sym typeface="Calibri"/>
              </a:rPr>
              <a:t>Going round again helps</a:t>
            </a:r>
            <a:endParaRPr b="0" i="0" sz="1250" u="none" cap="none" strike="noStrike">
              <a:solidFill>
                <a:schemeClr val="dk1"/>
              </a:solidFill>
              <a:latin typeface="Calibri"/>
              <a:ea typeface="Calibri"/>
              <a:cs typeface="Calibri"/>
              <a:sym typeface="Calibri"/>
            </a:endParaRPr>
          </a:p>
        </p:txBody>
      </p:sp>
      <p:sp>
        <p:nvSpPr>
          <p:cNvPr id="461" name="Google Shape;461;p10"/>
          <p:cNvSpPr txBox="1"/>
          <p:nvPr/>
        </p:nvSpPr>
        <p:spPr>
          <a:xfrm>
            <a:off x="1042416" y="4562856"/>
            <a:ext cx="4718304" cy="47548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F85"/>
              </a:buClr>
              <a:buSzPts val="1100"/>
              <a:buFont typeface="Calibri"/>
              <a:buNone/>
            </a:pPr>
            <a:r>
              <a:rPr b="0" i="0" lang="en-US" sz="1100" u="none" cap="none" strike="noStrike">
                <a:solidFill>
                  <a:srgbClr val="6B7F85"/>
                </a:solidFill>
                <a:latin typeface="Calibri"/>
                <a:ea typeface="Calibri"/>
                <a:cs typeface="Calibri"/>
                <a:sym typeface="Calibri"/>
              </a:rPr>
              <a:t>Every number improves from round 1 to round 5. No exceptions.</a:t>
            </a:r>
            <a:endParaRPr b="0" i="0" sz="1100" u="none" cap="none" strike="noStrike">
              <a:solidFill>
                <a:schemeClr val="dk1"/>
              </a:solidFill>
              <a:latin typeface="Calibri"/>
              <a:ea typeface="Calibri"/>
              <a:cs typeface="Calibri"/>
              <a:sym typeface="Calibri"/>
            </a:endParaRPr>
          </a:p>
        </p:txBody>
      </p:sp>
      <p:sp>
        <p:nvSpPr>
          <p:cNvPr id="462" name="Google Shape;462;p10"/>
          <p:cNvSpPr/>
          <p:nvPr/>
        </p:nvSpPr>
        <p:spPr>
          <a:xfrm>
            <a:off x="640080" y="5065776"/>
            <a:ext cx="274320" cy="274320"/>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0"/>
          <p:cNvSpPr txBox="1"/>
          <p:nvPr/>
        </p:nvSpPr>
        <p:spPr>
          <a:xfrm>
            <a:off x="640080" y="50657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64" name="Google Shape;464;p10"/>
          <p:cNvSpPr txBox="1"/>
          <p:nvPr/>
        </p:nvSpPr>
        <p:spPr>
          <a:xfrm>
            <a:off x="1042416" y="5029200"/>
            <a:ext cx="471830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250"/>
              <a:buFont typeface="Calibri"/>
              <a:buNone/>
            </a:pPr>
            <a:r>
              <a:rPr b="1" i="0" lang="en-US" sz="1250" u="none" cap="none" strike="noStrike">
                <a:solidFill>
                  <a:srgbClr val="15282D"/>
                </a:solidFill>
                <a:latin typeface="Calibri"/>
                <a:ea typeface="Calibri"/>
                <a:cs typeface="Calibri"/>
                <a:sym typeface="Calibri"/>
              </a:rPr>
              <a:t>The bending does the heavy lifting</a:t>
            </a:r>
            <a:endParaRPr b="0" i="0" sz="1250" u="none" cap="none" strike="noStrike">
              <a:solidFill>
                <a:schemeClr val="dk1"/>
              </a:solidFill>
              <a:latin typeface="Calibri"/>
              <a:ea typeface="Calibri"/>
              <a:cs typeface="Calibri"/>
              <a:sym typeface="Calibri"/>
            </a:endParaRPr>
          </a:p>
        </p:txBody>
      </p:sp>
      <p:sp>
        <p:nvSpPr>
          <p:cNvPr id="465" name="Google Shape;465;p10"/>
          <p:cNvSpPr txBox="1"/>
          <p:nvPr/>
        </p:nvSpPr>
        <p:spPr>
          <a:xfrm>
            <a:off x="1042416" y="5276088"/>
            <a:ext cx="4718304" cy="47548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F85"/>
              </a:buClr>
              <a:buSzPts val="1100"/>
              <a:buFont typeface="Calibri"/>
              <a:buNone/>
            </a:pPr>
            <a:r>
              <a:rPr b="0" i="0" lang="en-US" sz="1100" u="none" cap="none" strike="noStrike">
                <a:solidFill>
                  <a:srgbClr val="6B7F85"/>
                </a:solidFill>
                <a:latin typeface="Calibri"/>
                <a:ea typeface="Calibri"/>
                <a:cs typeface="Calibri"/>
                <a:sym typeface="Calibri"/>
              </a:rPr>
              <a:t>One round of BiTPS (0.71 mm) already beats five rounds of ICP on its own (0.93 mm).</a:t>
            </a:r>
            <a:endParaRPr b="0" i="0" sz="1100" u="none" cap="none" strike="noStrike">
              <a:solidFill>
                <a:schemeClr val="dk1"/>
              </a:solidFill>
              <a:latin typeface="Calibri"/>
              <a:ea typeface="Calibri"/>
              <a:cs typeface="Calibri"/>
              <a:sym typeface="Calibri"/>
            </a:endParaRPr>
          </a:p>
        </p:txBody>
      </p:sp>
      <p:sp>
        <p:nvSpPr>
          <p:cNvPr id="466" name="Google Shape;466;p10"/>
          <p:cNvSpPr/>
          <p:nvPr/>
        </p:nvSpPr>
        <p:spPr>
          <a:xfrm>
            <a:off x="640080" y="5779008"/>
            <a:ext cx="274320" cy="274320"/>
          </a:xfrm>
          <a:prstGeom prst="ellipse">
            <a:avLst/>
          </a:prstGeom>
          <a:solidFill>
            <a:srgbClr val="10707A"/>
          </a:solidFill>
          <a:ln cap="flat" cmpd="sng" w="12700">
            <a:solidFill>
              <a:srgbClr val="107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0"/>
          <p:cNvSpPr txBox="1"/>
          <p:nvPr/>
        </p:nvSpPr>
        <p:spPr>
          <a:xfrm>
            <a:off x="640080" y="57790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68" name="Google Shape;468;p10"/>
          <p:cNvSpPr txBox="1"/>
          <p:nvPr/>
        </p:nvSpPr>
        <p:spPr>
          <a:xfrm>
            <a:off x="1042416" y="5742432"/>
            <a:ext cx="471830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82D"/>
              </a:buClr>
              <a:buSzPts val="1250"/>
              <a:buFont typeface="Calibri"/>
              <a:buNone/>
            </a:pPr>
            <a:r>
              <a:rPr b="1" i="0" lang="en-US" sz="1250" u="none" cap="none" strike="noStrike">
                <a:solidFill>
                  <a:srgbClr val="15282D"/>
                </a:solidFill>
                <a:latin typeface="Calibri"/>
                <a:ea typeface="Calibri"/>
                <a:cs typeface="Calibri"/>
                <a:sym typeface="Calibri"/>
              </a:rPr>
              <a:t>Is 0.30 mm good?</a:t>
            </a:r>
            <a:endParaRPr b="0" i="0" sz="1250" u="none" cap="none" strike="noStrike">
              <a:solidFill>
                <a:schemeClr val="dk1"/>
              </a:solidFill>
              <a:latin typeface="Calibri"/>
              <a:ea typeface="Calibri"/>
              <a:cs typeface="Calibri"/>
              <a:sym typeface="Calibri"/>
            </a:endParaRPr>
          </a:p>
        </p:txBody>
      </p:sp>
      <p:sp>
        <p:nvSpPr>
          <p:cNvPr id="469" name="Google Shape;469;p10"/>
          <p:cNvSpPr txBox="1"/>
          <p:nvPr/>
        </p:nvSpPr>
        <p:spPr>
          <a:xfrm>
            <a:off x="1042416" y="5989320"/>
            <a:ext cx="4718304" cy="47548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F85"/>
              </a:buClr>
              <a:buSzPts val="1100"/>
              <a:buFont typeface="Calibri"/>
              <a:buNone/>
            </a:pPr>
            <a:r>
              <a:rPr b="0" i="0" lang="en-US" sz="1100" u="none" cap="none" strike="noStrike">
                <a:solidFill>
                  <a:srgbClr val="6B7F85"/>
                </a:solidFill>
                <a:latin typeface="Calibri"/>
                <a:ea typeface="Calibri"/>
                <a:cs typeface="Calibri"/>
                <a:sym typeface="Calibri"/>
              </a:rPr>
              <a:t>The scanner itself only sees down to about 0.2 mm, so the leftover error is nearly as small as the measurement can tell.</a:t>
            </a:r>
            <a:endParaRPr b="0" i="0" sz="1100" u="none" cap="none" strike="noStrike">
              <a:solidFill>
                <a:schemeClr val="dk1"/>
              </a:solidFill>
              <a:latin typeface="Calibri"/>
              <a:ea typeface="Calibri"/>
              <a:cs typeface="Calibri"/>
              <a:sym typeface="Calibri"/>
            </a:endParaRPr>
          </a:p>
        </p:txBody>
      </p:sp>
      <p:pic>
        <p:nvPicPr>
          <p:cNvPr id="470" name="Google Shape;470;p10"/>
          <p:cNvPicPr preferRelativeResize="0"/>
          <p:nvPr/>
        </p:nvPicPr>
        <p:blipFill>
          <a:blip r:embed="rId3">
            <a:alphaModFix/>
          </a:blip>
          <a:stretch>
            <a:fillRect/>
          </a:stretch>
        </p:blipFill>
        <p:spPr>
          <a:xfrm>
            <a:off x="6462874" y="3401575"/>
            <a:ext cx="3678204" cy="3340598"/>
          </a:xfrm>
          <a:prstGeom prst="rect">
            <a:avLst/>
          </a:prstGeom>
          <a:noFill/>
          <a:ln>
            <a:noFill/>
          </a:ln>
        </p:spPr>
      </p:pic>
      <p:pic>
        <p:nvPicPr>
          <p:cNvPr id="471" name="Google Shape;471;p10"/>
          <p:cNvPicPr preferRelativeResize="0"/>
          <p:nvPr/>
        </p:nvPicPr>
        <p:blipFill>
          <a:blip r:embed="rId4">
            <a:alphaModFix/>
          </a:blip>
          <a:stretch>
            <a:fillRect/>
          </a:stretch>
        </p:blipFill>
        <p:spPr>
          <a:xfrm>
            <a:off x="6508570" y="304800"/>
            <a:ext cx="3586812" cy="2988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2026-08-31T08:34:55Z</dcterms:created>
  <dc:creator>Literature walkthrough</dc:creator>
</cp:coreProperties>
</file>