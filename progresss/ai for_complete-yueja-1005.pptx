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以产品设计为案例，研究AI怎样参与设计任务，以及每次修改留下了什么可复用的方法。案例覆盖最早试作到当前候选，按五个阶段整理。知识检索提供参考，生成工具帮助比较方案，执行工具完成操作，人和检查工具共同复核结果。方案审核与经验回写贯穿这些步骤，汇报重点放在参与方式、流程变化和验证范围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研究围绕四个问题展开：设计依据能否追溯，AI能否操作真实工具，能否定位并修正错误，已有经验能否供下一轮读取。我们以反馈、修改和复核为观察单位，对照知识检索、概念前置和工具连接所留下的历史图、操作记录、规则及代码。结果核查包括保存后重开、形态检查和用户复核，经验复用则需要更新工作流和运行入口，再做回归测试。目前有单案例的过程记录，对照组、效率量化和佩戴实测仍待开展，效果提升需要后续对照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个阶段整理了设计协作中逐步增加的方法。阶段一直接把需求转成几何，模型外形偏离设计意图，暴露出跳过分析的问题。阶段二加入创意发想和二维比较，由人先确认方向。阶段三复核参考图，拆解轮廓、体量和部件关系，阶段四执行CAD建模与材质设置，并检查多视角和保存后的文件。阶段五处理定位反馈、位置迁移、经验回写与回归。每个阶段都明确输入、产物和复核责任，这些方法经过多轮修订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设计任务从用户描述、已确认约束和既有项目状态开始。AI整理特征、冲突与未知项，形成需求表，再检索带有来源和适用限制的参考资料，生成多个可以比较的概念方向。人确认方案、侧别和视图后，AI分析部件、比例与附着关系，执行建模、保存和独立重开。几何与视觉复核形成问题清单和回执，由人验收相应范围的结果。未通过的项目定位到具体步骤，修改后重新检查，验收通过才发布。每轮先核对当前工具连接，任务收束时更新通用经验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AG是知识检索增强，它把检索到的资料带入当前任务，帮助AI提出有出处的设计建议。这里分别使用产品设计、耳部和工具三个知识库。产品案例、图片观察和使用反馈提供结构取舍、支撑方式与材质表达的参考，耳部资料提供位置、尺寸含义和接触约束，FreeCAD文档帮助选择建模及检查操作。案例中，小体量产品支持功能和结构取舍，软胶支撑案例帮助区分硬壳与接触部件，使用反馈补充充电、操作和长期使用问题。参考包括QuietOn、Kokoon、Ozlo和Nothing Ear，每条建议都保留来源类型、适用限制与待确认项。检索相关性和来源可信度分别判断，真实舒适性仍需试戴。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特征提取根据用户描述开展，输入可以换成其他需求或产品任务。入耳、运动稳定、睡眠不掉和年轻配色是一个演示输入，其中入耳描述形态，睡眠描述场景。AI按形态、场景、功能和外观偏好拆分需求，标记硬约束、软偏好、冲突与待澄清信息，尺寸和优先级缺失时请求确认。检索按维度查询，组合互补参考、去重产品并记录未覆盖项，词法和语义检索都保留来源。独立试验通过去重选择两个不同产品，覆盖更多需求，维度拆分与覆盖选择尚未自动集成到主项目。佩戴性能待实测，约束强度和优先级仍由用户确认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审核分别记录来源、图片观察和AI推断。厂商说明、独立评测和用户反馈保留作者与来源类别，图片可以支持轮廓、材料分区及配件关系的观察，尺寸和使用效果需要相应证据。资料进入设计前先核对原文及图片出处，记录适用条件，再按用途区分外形参考与补充资料，尺寸必须明确对应部件。推断与原文分开存档，缺少依据的结论标为待确认，暂不用于建模。独立试验逐张审核了一百六十六张图，其中一百一十九张归为外形参考，四十七张归为补充资料。舒适、运动稳定性及检索质量提升仍需单独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CP负责连接工具，RAG提供设计依据，人审核执行范围和结果。AI结合已确认的项目状态组织任务、选择工具并检查回执。工具路径包括无界面的文档、脚本和导出操作，以及已有的CAD界面桥，GUI原型只支持其已验证的操作，当前任务还需确认实际窗口与文档。脚本执行前检查内容，执行时隔离进程，完成后核对结果，连接失败先恢复连接。文件保存后独立重开，检查几何和视觉，制作对照回执供人复核。检查失败返回执行，重要设计取舍返回方案审核，最终结果由人验收，不同接口按各自已验证的能力分工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相同需求可以生成多种概念策略，供人比较轮廓、支撑方式和软硬分工。六个左耳概念分别是采用浅鞍软胶支撑的籽荚、圆润低凸起的卵石、带短宽软鳍的鳍翼、使用浅卷曲面的海螺、软胶环抱的花苞，以及重叠双壳的双瓣。它们用于本轮生成流程演示，目前尚未选型。体积、舒适与稳定性还没有实测，后续选择需要继续核对这些要求。其他输入特征可以产生其他方案方向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侧别、版式和共同组件关系已经写入概念图生成规范，由模板、当前参考清单、RAG指令和测试读取。当前案例统一左耳并保留原始方向，采用六画面版式：左侧佩戴，中部四个视图，右侧主图。四个视图分别是侧面、正面、背面和斜俯视顶部，展示范围只保留这些画面。各视图共享比例、连接和材质分工，复核时逐项检查是否一致。新任务沿用一致性检查方法，造型、配色和材料根据任务确定，用户另选侧别时按新选择执行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早期AI可把需求词转成几何粗模，直接建模暴露了形态依据不足的问题。概念图先行把发想、二维表达与人工选型放到建模之前，先锁定设计意图。第二节点的缺口是可操作的3D模型，因此下一阶段需要把选定概念落实为可修改的CAD几何。模型形成后，概念与保存态模型可以逐项核对，圈选反馈的遮挡层歧义仍需后续空间诊断。早期二维轮廓取自真实档案，后段联审图为较新方法示例，候选仍待复核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剖面帮助核查部件层次与距离，两幅图节选635段独立截线并各自等比例展示。耳区中英名称、图谱与实际源面绑定后，反馈可以落实到模型位置。整体姿态存在问题时，联动整机与部件，避免持续局部变形补偿布局错误。图中保存态A/B保持同一相机，整机方向获得的局部确认仅覆盖这项判断，接合、承托与真实佩戴仍待验证。复核后的有效方法、失败原因和适用边界回写工作流及执行入口，跨任务效果继续核查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次任务收束后，流程把有用经验写成下一轮能读取的规则。侧别和视图反复变化，促使模板与生成指令固定展示规则，并核验身份。修改结果难以客观复核，促使执行规范要求保存重开和同条件对照，并将要求写入回执及RAG输出。临时诊断脚本难复用，则把截线、来源和参数分别保存，配套诊断规范、显示工具和负例。全时期审计覆盖二十八类经验，补齐已知入口缺口，工具实现、测试及迁移进度分别记录，过时规则留作历史。项目Memory保存本地规则供后续任务读取，本次回写限定本地文件，模型训练和账户级记忆未纳入流程。回归测试目前检查已知错误，跨项目迁移、设计质量和用户验收继续分别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项目已经使用RAG检索、概念前置、工具执行、保存重开、审核回执和经验回写，流程记录可以核查。形态场景拆分、需求覆盖选择和图文用途与尺寸归属审核已有独立试验结果，尚未全部进入主项目的自动执行路径。效率、设计质量的因果提升，以及真实舒适、稳定、材料和制造性能仍待验证。下一轮可以更换需求和产品任务，检查特征提取与规则复用，记录错误、返工和资料缺口，追踪规则读取或失效情况，统一标准开展对照，再分别做试戴及工程测试。目前产品姿态精修暂缓，接合候选待复核，后续多视图和造型回归待开展，原欠项保留。方法应用、内容验收、产品性能和跨任务验证各自记录结果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-workflow-repor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1.png"/><Relationship Id="rId39" Type="http://schemas.openxmlformats.org/officeDocument/2006/relationships/notesSlide" Target="../notesSlides/notesSlide9.xml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31.xml"/><Relationship Id="rId36" Type="http://schemas.openxmlformats.org/officeDocument/2006/relationships/tags" Target="../tags/tag30.xml"/><Relationship Id="rId35" Type="http://schemas.openxmlformats.org/officeDocument/2006/relationships/tags" Target="../tags/tag29.xml"/><Relationship Id="rId34" Type="http://schemas.openxmlformats.org/officeDocument/2006/relationships/image" Target="../media/image6.png"/><Relationship Id="rId33" Type="http://schemas.openxmlformats.org/officeDocument/2006/relationships/tags" Target="../tags/tag28.xml"/><Relationship Id="rId32" Type="http://schemas.openxmlformats.org/officeDocument/2006/relationships/tags" Target="../tags/tag27.xml"/><Relationship Id="rId31" Type="http://schemas.openxmlformats.org/officeDocument/2006/relationships/tags" Target="../tags/tag26.xml"/><Relationship Id="rId30" Type="http://schemas.openxmlformats.org/officeDocument/2006/relationships/tags" Target="../tags/tag25.xml"/><Relationship Id="rId3" Type="http://schemas.openxmlformats.org/officeDocument/2006/relationships/tags" Target="../tags/tag3.xml"/><Relationship Id="rId29" Type="http://schemas.openxmlformats.org/officeDocument/2006/relationships/tags" Target="../tags/tag24.xml"/><Relationship Id="rId28" Type="http://schemas.openxmlformats.org/officeDocument/2006/relationships/image" Target="../media/image5.png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image" Target="../media/image4.png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3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research-title"/>
          <p:cNvGrpSpPr/>
          <p:nvPr/>
        </p:nvGrpSpPr>
        <p:grpSpPr>
          <a:xfrm>
            <a:off x="590550" y="742950"/>
            <a:ext cx="5557876" cy="4234307"/>
            <a:chOff x="590550" y="742950"/>
            <a:chExt cx="5557876" cy="4234307"/>
          </a:xfrm>
        </p:grpSpPr>
        <p:sp>
          <p:nvSpPr>
            <p:cNvPr id="2" name="Rectangle 2"/>
            <p:cNvSpPr/>
            <p:nvPr/>
          </p:nvSpPr>
          <p:spPr>
            <a:xfrm>
              <a:off x="609600" y="742950"/>
              <a:ext cx="5334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218" y="9969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研究型阶段汇报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692275"/>
              <a:ext cx="5491475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AI赋能设计工作流</a:t>
              </a:r>
              <a:endParaRPr lang="zh-CN" sz="5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7408" y="2638425"/>
              <a:ext cx="39867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400" dirty="0">
                  <a:solidFill>
                    <a:srgbClr val="DCE3EF"/>
                  </a:solidFill>
                  <a:latin typeface="+mn-lt"/>
                  <a:ea typeface="+mn-ea"/>
                  <a:cs typeface="+mn-cs"/>
                </a:rPr>
                <a:t>知识与工具进入设计任务</a:t>
              </a:r>
              <a:br>
                <a:rPr lang="zh-CN" sz="2400" dirty="0">
                  <a:solidFill>
                    <a:srgbClr val="DCE3E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rgbClr val="DCE3EF"/>
                  </a:solidFill>
                  <a:latin typeface="+mn-lt"/>
                  <a:ea typeface="+mn-ea"/>
                  <a:cs typeface="+mn-cs"/>
                </a:rPr>
                <a:t>方案审核和经验回写贯穿迭代</a:t>
              </a:r>
              <a:endParaRPr lang="zh-CN" sz="2400" dirty="0">
                <a:solidFill>
                  <a:srgbClr val="DCE3E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4168775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案例研究：五个阶段的协作方法</a:t>
              </a:r>
              <a:endParaRPr lang="zh-CN" sz="19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218" y="4654550"/>
              <a:ext cx="5547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以产品设计为案例，追踪AI参与任务的方式与验证结果。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capability-loop"/>
          <p:cNvGrpSpPr/>
          <p:nvPr/>
        </p:nvGrpSpPr>
        <p:grpSpPr>
          <a:xfrm>
            <a:off x="7915275" y="1323975"/>
            <a:ext cx="3581400" cy="3962400"/>
            <a:chOff x="7915275" y="1323975"/>
            <a:chExt cx="3581400" cy="3962400"/>
          </a:xfrm>
        </p:grpSpPr>
        <p:sp>
          <p:nvSpPr>
            <p:cNvPr id="9" name="Line 9"/>
            <p:cNvSpPr/>
            <p:nvPr/>
          </p:nvSpPr>
          <p:spPr>
            <a:xfrm>
              <a:off x="9525000" y="2295525"/>
              <a:ext cx="1276350" cy="809625"/>
            </a:xfrm>
            <a:prstGeom prst="line">
              <a:avLst/>
            </a:prstGeom>
            <a:noFill/>
            <a:ln w="19050">
              <a:solidFill>
                <a:srgbClr val="9CAEC9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 flipH="1">
              <a:off x="9525000" y="3505200"/>
              <a:ext cx="1276350" cy="809625"/>
            </a:xfrm>
            <a:prstGeom prst="line">
              <a:avLst/>
            </a:prstGeom>
            <a:noFill/>
            <a:ln w="19050">
              <a:solidFill>
                <a:srgbClr val="9CAEC9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H="1" flipV="1">
              <a:off x="8258175" y="3505200"/>
              <a:ext cx="866775" cy="809625"/>
            </a:xfrm>
            <a:prstGeom prst="line">
              <a:avLst/>
            </a:prstGeom>
            <a:noFill/>
            <a:ln w="19050">
              <a:solidFill>
                <a:srgbClr val="9CAEC9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 flipV="1">
              <a:off x="8258175" y="2295525"/>
              <a:ext cx="866775" cy="809625"/>
            </a:xfrm>
            <a:prstGeom prst="line">
              <a:avLst/>
            </a:prstGeom>
            <a:noFill/>
            <a:ln w="19050">
              <a:solidFill>
                <a:srgbClr val="9CAEC9"/>
              </a:solidFill>
              <a:tailEnd type="triangle" w="lg" len="lg"/>
            </a:ln>
          </p:spPr>
        </p:sp>
        <p:sp>
          <p:nvSpPr>
            <p:cNvPr id="13" name="Ellipse 13"/>
            <p:cNvSpPr/>
            <p:nvPr/>
          </p:nvSpPr>
          <p:spPr>
            <a:xfrm>
              <a:off x="8743950" y="1323975"/>
              <a:ext cx="1162050" cy="1162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52560" y="1616075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54643" y="19780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检索依据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10334625" y="2724150"/>
              <a:ext cx="1162050" cy="11620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43235" y="30162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45318" y="3378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探索方案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8743950" y="4124325"/>
              <a:ext cx="1162050" cy="1162050"/>
            </a:xfrm>
            <a:prstGeom prst="ellipse">
              <a:avLst/>
            </a:prstGeom>
            <a:solidFill>
              <a:srgbClr val="069B8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52560" y="4416425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54643" y="47783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操作工具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Ellipse 22"/>
            <p:cNvSpPr/>
            <p:nvPr/>
          </p:nvSpPr>
          <p:spPr>
            <a:xfrm>
              <a:off x="7915275" y="2724150"/>
              <a:ext cx="1162050" cy="1162050"/>
            </a:xfrm>
            <a:prstGeom prst="ellipse">
              <a:avLst/>
            </a:prstGeom>
            <a:solidFill>
              <a:srgbClr val="D98D2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23885" y="301625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5968" y="3378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回写经验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Line 26"/>
          <p:cNvSpPr/>
          <p:nvPr/>
        </p:nvSpPr>
        <p:spPr>
          <a:xfrm>
            <a:off x="609600" y="60483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40526B"/>
            </a:solidFill>
          </a:ln>
        </p:spPr>
      </p:sp>
      <p:sp>
        <p:nvSpPr>
          <p:cNvPr id="27" name="footer-label"/>
          <p:cNvSpPr txBox="1"/>
          <p:nvPr/>
        </p:nvSpPr>
        <p:spPr>
          <a:xfrm>
            <a:off x="602742" y="6388100"/>
            <a:ext cx="362993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rPr>
              <a:t>研究重点：AI参与方式、流程迭代与经验复用</a:t>
            </a:r>
            <a:endParaRPr lang="zh-CN" sz="1350" dirty="0">
              <a:solidFill>
                <a:srgbClr val="BAC9D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8" name="page-number"/>
          <p:cNvSpPr txBox="1"/>
          <p:nvPr/>
        </p:nvSpPr>
        <p:spPr>
          <a:xfrm>
            <a:off x="11375631" y="638810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rPr>
              <a:t>01</a:t>
            </a:r>
            <a:endParaRPr lang="zh-CN" sz="1350" dirty="0">
              <a:solidFill>
                <a:srgbClr val="BAC9DE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6444082" cy="973582"/>
            <a:chOff x="478536" y="422275"/>
            <a:chExt cx="6444082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4506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AI设计协作的研究问题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6435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以连续设计任务为案例，记录AI参与方式、修改反馈和复核结果。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question"/>
          <p:cNvGrpSpPr/>
          <p:nvPr/>
        </p:nvGrpSpPr>
        <p:grpSpPr>
          <a:xfrm>
            <a:off x="483108" y="1860550"/>
            <a:ext cx="3726942" cy="4006850"/>
            <a:chOff x="483108" y="1860550"/>
            <a:chExt cx="3726942" cy="4006850"/>
          </a:xfrm>
        </p:grpSpPr>
        <p:sp>
          <p:nvSpPr>
            <p:cNvPr id="5" name="TextBox 5"/>
            <p:cNvSpPr txBox="1"/>
            <p:nvPr/>
          </p:nvSpPr>
          <p:spPr>
            <a:xfrm>
              <a:off x="483108" y="186055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协作需要回答四个问题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5394" y="250190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有没有可追溯的依据？</a:t>
              </a:r>
              <a:endParaRPr lang="zh-CN" sz="19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5394" y="304482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能否执行真实工具操作？</a:t>
              </a:r>
              <a:endParaRPr lang="zh-CN" sz="19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5394" y="35877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能否定位错误并完成修正？</a:t>
              </a:r>
              <a:endParaRPr lang="zh-CN" sz="19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5394" y="4130675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下轮能否读取已有经验？</a:t>
              </a:r>
              <a:endParaRPr lang="zh-CN" sz="19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4981575"/>
              <a:ext cx="3714750" cy="885825"/>
            </a:xfrm>
            <a:prstGeom prst="roundRect">
              <a:avLst>
                <a:gd name="adj" fmla="val 107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5993" y="51212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观察单位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4469" y="54165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反馈、修改与复核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Line 14"/>
          <p:cNvSpPr/>
          <p:nvPr/>
        </p:nvSpPr>
        <p:spPr>
          <a:xfrm>
            <a:off x="4524375" y="1752600"/>
            <a:ext cx="9525" cy="4200525"/>
          </a:xfrm>
          <a:custGeom>
            <a:avLst/>
            <a:gdLst/>
            <a:ahLst/>
            <a:cxnLst/>
            <a:rect l="l" t="t" r="r" b="b"/>
            <a:pathLst>
              <a:path w="9525" h="4200525">
                <a:moveTo>
                  <a:pt x="0" y="0"/>
                </a:moveTo>
                <a:lnTo>
                  <a:pt x="0" y="4200525"/>
                </a:lnTo>
              </a:path>
            </a:pathLst>
          </a:custGeom>
          <a:noFill/>
          <a:ln w="9525">
            <a:solidFill>
              <a:srgbClr val="DCE3EF"/>
            </a:solidFill>
          </a:ln>
        </p:spPr>
      </p:sp>
      <p:grpSp>
        <p:nvGrpSpPr>
          <p:cNvPr id="32" name="study-design"/>
          <p:cNvGrpSpPr/>
          <p:nvPr/>
        </p:nvGrpSpPr>
        <p:grpSpPr>
          <a:xfrm>
            <a:off x="4883658" y="1755775"/>
            <a:ext cx="6017895" cy="4145407"/>
            <a:chOff x="4883658" y="1755775"/>
            <a:chExt cx="6017895" cy="4145407"/>
          </a:xfrm>
        </p:grpSpPr>
        <p:sp>
          <p:nvSpPr>
            <p:cNvPr id="15" name="TextBox 15"/>
            <p:cNvSpPr txBox="1"/>
            <p:nvPr/>
          </p:nvSpPr>
          <p:spPr>
            <a:xfrm>
              <a:off x="4883658" y="175577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方法与证据的对应关系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4914900" y="2438400"/>
              <a:ext cx="361950" cy="3619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66969" y="2473325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引入的方法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68743" y="251142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知识检索、概念前置、工具连接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5095875" y="282892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28575">
              <a:solidFill>
                <a:srgbClr val="DCE3EF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914900" y="3209925"/>
              <a:ext cx="361950" cy="3619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66969" y="32448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过程证据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68743" y="328295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历史图、操作记录、规则与代码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5095875" y="3600450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28575">
              <a:solidFill>
                <a:srgbClr val="DCE3E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914900" y="3981450"/>
              <a:ext cx="361950" cy="361950"/>
            </a:xfrm>
            <a:prstGeom prst="ellipse">
              <a:avLst/>
            </a:prstGeom>
            <a:solidFill>
              <a:srgbClr val="069B8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66969" y="401637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结果核查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68743" y="405447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保存重开、形态检查、用户复核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5095875" y="437197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28575">
              <a:solidFill>
                <a:srgbClr val="DCE3EF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914900" y="4752975"/>
              <a:ext cx="361950" cy="361950"/>
            </a:xfrm>
            <a:prstGeom prst="ellipse">
              <a:avLst/>
            </a:prstGeom>
            <a:solidFill>
              <a:srgbClr val="D98D2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66969" y="47879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经验复用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68743" y="482600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更新工作流和入口，再做回归测试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87468" y="557847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研究范围：单案例观察，对照、效率量化与佩戴实测待开展。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3" name="footer-label"/>
          <p:cNvSpPr txBox="1"/>
          <p:nvPr/>
        </p:nvSpPr>
        <p:spPr>
          <a:xfrm>
            <a:off x="488442" y="6407150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案例观察用于检查协作过程，效果提升仍需对照验证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02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4450674" cy="973582"/>
            <a:chOff x="478536" y="422275"/>
            <a:chExt cx="4450674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4506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AI设计协作的五个阶段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每个阶段明确输入、产物和复核责任。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longitudinal-method"/>
          <p:cNvGrpSpPr/>
          <p:nvPr/>
        </p:nvGrpSpPr>
        <p:grpSpPr>
          <a:xfrm>
            <a:off x="599694" y="1930400"/>
            <a:ext cx="11001375" cy="3018282"/>
            <a:chOff x="599694" y="1930400"/>
            <a:chExt cx="11001375" cy="3018282"/>
          </a:xfrm>
        </p:grpSpPr>
        <p:sp>
          <p:nvSpPr>
            <p:cNvPr id="5" name="Line 5"/>
            <p:cNvSpPr/>
            <p:nvPr/>
          </p:nvSpPr>
          <p:spPr>
            <a:xfrm>
              <a:off x="685800" y="2533650"/>
              <a:ext cx="10715625" cy="9525"/>
            </a:xfrm>
            <a:custGeom>
              <a:avLst/>
              <a:gdLst/>
              <a:ahLst/>
              <a:cxnLst/>
              <a:rect l="l" t="t" r="r" b="b"/>
              <a:pathLst>
                <a:path w="10715625" h="9525">
                  <a:moveTo>
                    <a:pt x="0" y="0"/>
                  </a:moveTo>
                  <a:lnTo>
                    <a:pt x="10715625" y="0"/>
                  </a:lnTo>
                </a:path>
              </a:pathLst>
            </a:custGeom>
            <a:noFill/>
            <a:ln w="47625">
              <a:solidFill>
                <a:srgbClr val="DCE3EF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647700" y="2362200"/>
              <a:ext cx="342900" cy="342900"/>
            </a:xfrm>
            <a:prstGeom prst="ellipse">
              <a:avLst/>
            </a:prstGeom>
            <a:solidFill>
              <a:srgbClr val="66758A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933700" y="2362200"/>
              <a:ext cx="342900" cy="342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219700" y="23622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505700" y="2362200"/>
              <a:ext cx="342900" cy="342900"/>
            </a:xfrm>
            <a:prstGeom prst="ellipse">
              <a:avLst/>
            </a:prstGeom>
            <a:solidFill>
              <a:srgbClr val="069B8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791700" y="2362200"/>
              <a:ext cx="342900" cy="342900"/>
            </a:xfrm>
            <a:prstGeom prst="ellipse">
              <a:avLst/>
            </a:prstGeom>
            <a:solidFill>
              <a:srgbClr val="D98D2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1218" y="1930400"/>
              <a:ext cx="58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阶段1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87218" y="1930400"/>
              <a:ext cx="58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阶段2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73218" y="1930400"/>
              <a:ext cx="58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阶段3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218" y="1930400"/>
              <a:ext cx="58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阶段4</a:t>
              </a:r>
              <a:endParaRPr lang="zh-CN" sz="1650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45218" y="1930400"/>
              <a:ext cx="583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98D2B"/>
                  </a:solidFill>
                  <a:latin typeface="+mn-lt"/>
                  <a:ea typeface="+mn-ea"/>
                  <a:cs typeface="+mn-cs"/>
                </a:rPr>
                <a:t>阶段5</a:t>
              </a:r>
              <a:endParaRPr lang="zh-CN" sz="1650" dirty="0">
                <a:solidFill>
                  <a:srgbClr val="D98D2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9694" y="29400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直接建模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218" y="34163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需求直接变几何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218" y="37496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模型外形与意图偏离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85694" y="29400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概念前置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87218" y="34163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发想和二维比较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87218" y="3749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先确认设计意图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71694" y="29400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参考与形态分析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3218" y="34163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参考图逐项复核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73218" y="3749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拆解形态与部件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7694" y="294005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执行与检查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218" y="3416300"/>
              <a:ext cx="1958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CAD建模与材质设置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9218" y="374967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多视角检查、保存重开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43694" y="29400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反馈与经验复用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45218" y="34163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定位反馈及迁移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45218" y="3749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规则回写与回归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218" y="46259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暴露问题：跳步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87218" y="46259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新增：选型审核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73218" y="46259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新增：参考复核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9218" y="46259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新增：结果核查</a:t>
              </a:r>
              <a:endParaRPr lang="zh-CN" sz="1650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5218" y="46259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98D2B"/>
                  </a:solidFill>
                  <a:latin typeface="+mn-lt"/>
                  <a:ea typeface="+mn-ea"/>
                  <a:cs typeface="+mn-cs"/>
                </a:rPr>
                <a:t>新增：规则复用</a:t>
              </a:r>
              <a:endParaRPr lang="zh-CN" sz="1650" dirty="0">
                <a:solidFill>
                  <a:srgbClr val="D98D2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finding"/>
          <p:cNvGrpSpPr/>
          <p:nvPr/>
        </p:nvGrpSpPr>
        <p:grpSpPr>
          <a:xfrm>
            <a:off x="495300" y="5391150"/>
            <a:ext cx="11201400" cy="742950"/>
            <a:chOff x="495300" y="5391150"/>
            <a:chExt cx="11201400" cy="742950"/>
          </a:xfrm>
        </p:grpSpPr>
        <p:sp>
          <p:nvSpPr>
            <p:cNvPr id="37" name="Rectangle 37"/>
            <p:cNvSpPr/>
            <p:nvPr/>
          </p:nvSpPr>
          <p:spPr>
            <a:xfrm>
              <a:off x="495300" y="5391150"/>
              <a:ext cx="11201400" cy="742950"/>
            </a:xfrm>
            <a:prstGeom prst="roundRect">
              <a:avLst>
                <a:gd name="adj" fmla="val 1025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3044" y="5616575"/>
              <a:ext cx="6555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AI分别参与需求分析、方案生成、工具操作与结果复核。</a:t>
              </a:r>
              <a:endParaRPr lang="zh-CN" sz="19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0" name="footer-label"/>
          <p:cNvSpPr txBox="1"/>
          <p:nvPr/>
        </p:nvSpPr>
        <p:spPr>
          <a:xfrm>
            <a:off x="488442" y="6407150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五个阶段整理了逐步增加的方法，每项方法都经过多轮修订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03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5999836" cy="973582"/>
            <a:chOff x="478536" y="422275"/>
            <a:chExt cx="5999836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设计任务的执行与审核流程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5991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AI分析需求并执行任务，人审核方案、重要变更和交付结果。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concept-chain"/>
          <p:cNvGrpSpPr/>
          <p:nvPr/>
        </p:nvGrpSpPr>
        <p:grpSpPr>
          <a:xfrm>
            <a:off x="488442" y="1749425"/>
            <a:ext cx="11208258" cy="1788033"/>
            <a:chOff x="488442" y="1749425"/>
            <a:chExt cx="11208258" cy="1788033"/>
          </a:xfrm>
        </p:grpSpPr>
        <p:sp>
          <p:nvSpPr>
            <p:cNvPr id="5" name="TextBox 5"/>
            <p:cNvSpPr txBox="1"/>
            <p:nvPr/>
          </p:nvSpPr>
          <p:spPr>
            <a:xfrm>
              <a:off x="488442" y="17494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输入：用户描述、已确认约束、既有项目状态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495300" y="2190750"/>
              <a:ext cx="2143125" cy="876300"/>
            </a:xfrm>
            <a:prstGeom prst="roundRect">
              <a:avLst>
                <a:gd name="adj" fmla="val 9783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3519" y="231140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需求结构化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5043" y="2663825"/>
              <a:ext cx="208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特征 / 冲突 / 未知项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2695575" y="2628900"/>
              <a:ext cx="45720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219450" y="2190750"/>
              <a:ext cx="2143125" cy="876300"/>
            </a:xfrm>
            <a:prstGeom prst="roundRect">
              <a:avLst>
                <a:gd name="adj" fmla="val 9783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47669" y="231140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检索设计依据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49193" y="266382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参考、来源与限制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5419725" y="2628900"/>
              <a:ext cx="45720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943600" y="2190750"/>
              <a:ext cx="2143125" cy="876300"/>
            </a:xfrm>
            <a:prstGeom prst="roundRect">
              <a:avLst>
                <a:gd name="adj" fmla="val 9783"/>
              </a:avLst>
            </a:prstGeom>
            <a:solidFill>
              <a:srgbClr val="F3EE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71819" y="231140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发想与概念生成</a:t>
              </a:r>
              <a:endParaRPr lang="zh-CN" sz="19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73343" y="266382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多个方向，可比较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8143875" y="2628900"/>
              <a:ext cx="45720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667750" y="2190750"/>
              <a:ext cx="3028950" cy="876300"/>
            </a:xfrm>
            <a:prstGeom prst="roundRect">
              <a:avLst>
                <a:gd name="adj" fmla="val 9783"/>
              </a:avLst>
            </a:prstGeom>
            <a:solidFill>
              <a:srgbClr val="FFF2D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95969" y="231140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76813"/>
                  </a:solidFill>
                  <a:latin typeface="+mn-lt"/>
                  <a:ea typeface="+mn-ea"/>
                  <a:cs typeface="+mn-cs"/>
                </a:rPr>
                <a:t>人：选型与确认</a:t>
              </a:r>
              <a:endParaRPr lang="zh-CN" sz="1950" b="1" dirty="0">
                <a:solidFill>
                  <a:srgbClr val="A7681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97493" y="2663825"/>
              <a:ext cx="23046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指定概念 / 侧别 / 视图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442" y="327342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输出：需求表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12592" y="327342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输出：可追溯参考包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36742" y="327342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输出：候选概念板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60892" y="327342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输出：唯一当前参考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execution-chain"/>
          <p:cNvGrpSpPr/>
          <p:nvPr/>
        </p:nvGrpSpPr>
        <p:grpSpPr>
          <a:xfrm>
            <a:off x="488442" y="3600450"/>
            <a:ext cx="10934700" cy="1908683"/>
            <a:chOff x="488442" y="3600450"/>
            <a:chExt cx="10934700" cy="1908683"/>
          </a:xfrm>
        </p:grpSpPr>
        <p:sp>
          <p:nvSpPr>
            <p:cNvPr id="26" name="Line 26"/>
            <p:cNvSpPr/>
            <p:nvPr/>
          </p:nvSpPr>
          <p:spPr>
            <a:xfrm>
              <a:off x="1638300" y="3762375"/>
              <a:ext cx="8648700" cy="9525"/>
            </a:xfrm>
            <a:custGeom>
              <a:avLst/>
              <a:gdLst/>
              <a:ahLst/>
              <a:cxnLst/>
              <a:rect l="l" t="t" r="r" b="b"/>
              <a:pathLst>
                <a:path w="8648700" h="9525">
                  <a:moveTo>
                    <a:pt x="86487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66758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0287000" y="3600450"/>
              <a:ext cx="9525" cy="161925"/>
            </a:xfrm>
            <a:custGeom>
              <a:avLst/>
              <a:gdLst/>
              <a:ahLst/>
              <a:cxnLst/>
              <a:rect l="l" t="t" r="r" b="b"/>
              <a:pathLst>
                <a:path w="9525" h="161925">
                  <a:moveTo>
                    <a:pt x="0" y="0"/>
                  </a:moveTo>
                  <a:lnTo>
                    <a:pt x="0" y="161925"/>
                  </a:lnTo>
                </a:path>
              </a:pathLst>
            </a:custGeom>
            <a:noFill/>
            <a:ln w="19050">
              <a:solidFill>
                <a:srgbClr val="66758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638300" y="3762375"/>
              <a:ext cx="1" cy="304800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95300" y="4152900"/>
              <a:ext cx="2143125" cy="876300"/>
            </a:xfrm>
            <a:prstGeom prst="roundRect">
              <a:avLst>
                <a:gd name="adj" fmla="val 9783"/>
              </a:avLst>
            </a:prstGeom>
            <a:solidFill>
              <a:srgbClr val="E8F6F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3519" y="42735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形态分析与建模</a:t>
              </a:r>
              <a:endParaRPr lang="zh-CN" sz="1950" b="1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5043" y="4625975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部件 / 比例 / 附着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2695575" y="4591050"/>
              <a:ext cx="45720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219450" y="4152900"/>
              <a:ext cx="2143125" cy="876300"/>
            </a:xfrm>
            <a:prstGeom prst="roundRect">
              <a:avLst>
                <a:gd name="adj" fmla="val 9783"/>
              </a:avLst>
            </a:prstGeom>
            <a:solidFill>
              <a:srgbClr val="E8F6F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47669" y="427355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真实工具执行</a:t>
              </a:r>
              <a:endParaRPr lang="zh-CN" sz="1950" b="1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49193" y="4625975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建模 / 保存 / 重开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5419725" y="4591050"/>
              <a:ext cx="45720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943600" y="4152900"/>
              <a:ext cx="2143125" cy="876300"/>
            </a:xfrm>
            <a:prstGeom prst="roundRect">
              <a:avLst>
                <a:gd name="adj" fmla="val 9783"/>
              </a:avLst>
            </a:prstGeom>
            <a:solidFill>
              <a:srgbClr val="FFF2D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71819" y="42735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76813"/>
                  </a:solidFill>
                  <a:latin typeface="+mn-lt"/>
                  <a:ea typeface="+mn-ea"/>
                  <a:cs typeface="+mn-cs"/>
                </a:rPr>
                <a:t>几何与视觉复核</a:t>
              </a:r>
              <a:endParaRPr lang="zh-CN" sz="1950" b="1" dirty="0">
                <a:solidFill>
                  <a:srgbClr val="A7681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73343" y="4625975"/>
              <a:ext cx="20825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几何 / 同角度 / 约束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8143875" y="4591050"/>
              <a:ext cx="1571625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41" name="Freeform 41"/>
            <p:cNvSpPr/>
            <p:nvPr/>
          </p:nvSpPr>
          <p:spPr>
            <a:xfrm>
              <a:off x="9848850" y="4067175"/>
              <a:ext cx="1333500" cy="952500"/>
            </a:xfrm>
            <a:prstGeom prst="diamond">
              <a:avLst/>
            </a:prstGeom>
            <a:solidFill>
              <a:srgbClr val="FFF2DD"/>
            </a:solidFill>
            <a:ln w="19050">
              <a:solidFill>
                <a:srgbClr val="D98D2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174033" y="44069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人验收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8442" y="5245100"/>
              <a:ext cx="1420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输出：可检查CAD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12592" y="52451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输出：保存态回执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36742" y="52451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输出：问题清单与证据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37267" y="52451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6813"/>
                  </a:solidFill>
                  <a:latin typeface="+mn-lt"/>
                  <a:ea typeface="+mn-ea"/>
                  <a:cs typeface="+mn-cs"/>
                </a:rPr>
                <a:t>验收通过后发布</a:t>
              </a:r>
              <a:endParaRPr lang="zh-CN" sz="1350" dirty="0">
                <a:solidFill>
                  <a:srgbClr val="A7681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feedback-loop"/>
          <p:cNvGrpSpPr/>
          <p:nvPr/>
        </p:nvGrpSpPr>
        <p:grpSpPr>
          <a:xfrm>
            <a:off x="1638300" y="5667375"/>
            <a:ext cx="8886825" cy="447675"/>
            <a:chOff x="1638300" y="5667375"/>
            <a:chExt cx="8886825" cy="447675"/>
          </a:xfrm>
        </p:grpSpPr>
        <p:sp>
          <p:nvSpPr>
            <p:cNvPr id="48" name="Line 48"/>
            <p:cNvSpPr/>
            <p:nvPr/>
          </p:nvSpPr>
          <p:spPr>
            <a:xfrm>
              <a:off x="10515600" y="5667375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rgbClr val="D98D2B"/>
              </a:solidFill>
              <a:prstDash val="dash"/>
            </a:ln>
          </p:spPr>
        </p:sp>
        <p:sp>
          <p:nvSpPr>
            <p:cNvPr id="49" name="Line 49"/>
            <p:cNvSpPr/>
            <p:nvPr/>
          </p:nvSpPr>
          <p:spPr>
            <a:xfrm>
              <a:off x="1638300" y="6105525"/>
              <a:ext cx="8877300" cy="9525"/>
            </a:xfrm>
            <a:custGeom>
              <a:avLst/>
              <a:gdLst/>
              <a:ahLst/>
              <a:cxnLst/>
              <a:rect l="l" t="t" r="r" b="b"/>
              <a:pathLst>
                <a:path w="8877300" h="9525">
                  <a:moveTo>
                    <a:pt x="8877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98D2B"/>
              </a:solidFill>
              <a:prstDash val="dash"/>
            </a:ln>
          </p:spPr>
        </p:sp>
        <p:sp>
          <p:nvSpPr>
            <p:cNvPr id="50" name="Line 50"/>
            <p:cNvSpPr/>
            <p:nvPr/>
          </p:nvSpPr>
          <p:spPr>
            <a:xfrm flipV="1">
              <a:off x="1638300" y="5667375"/>
              <a:ext cx="1" cy="438150"/>
            </a:xfrm>
            <a:prstGeom prst="line">
              <a:avLst/>
            </a:prstGeom>
            <a:noFill/>
            <a:ln w="19050">
              <a:solidFill>
                <a:srgbClr val="D98D2B"/>
              </a:solidFill>
              <a:tailEnd type="triangle" w="lg" len="lg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192018" y="571182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A76813"/>
                  </a:solidFill>
                  <a:latin typeface="+mn-lt"/>
                  <a:ea typeface="+mn-ea"/>
                  <a:cs typeface="+mn-cs"/>
                </a:rPr>
                <a:t>复核未通过时定位问题、修改并重验，任务收束后回写经验。</a:t>
              </a:r>
              <a:endParaRPr lang="zh-CN" sz="1650" dirty="0">
                <a:solidFill>
                  <a:srgbClr val="A76813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3" name="footer-label"/>
          <p:cNvSpPr txBox="1"/>
          <p:nvPr/>
        </p:nvSpPr>
        <p:spPr>
          <a:xfrm>
            <a:off x="488442" y="6407150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每轮先检查当前工具连接，连接恢复后继续执行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4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04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7742453" cy="973582"/>
            <a:chOff x="478536" y="422275"/>
            <a:chExt cx="7742453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8449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RAG知识检索与设计依据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77340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RAG（知识检索增强）读取产品案例、耳部资料和工具文档，为设计提供依据。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knowledge-routing"/>
          <p:cNvGrpSpPr/>
          <p:nvPr/>
        </p:nvGrpSpPr>
        <p:grpSpPr>
          <a:xfrm>
            <a:off x="495300" y="1724025"/>
            <a:ext cx="11201400" cy="1771650"/>
            <a:chOff x="495300" y="1724025"/>
            <a:chExt cx="11201400" cy="1771650"/>
          </a:xfrm>
        </p:grpSpPr>
        <p:sp>
          <p:nvSpPr>
            <p:cNvPr id="5" name="Rectangle 5"/>
            <p:cNvSpPr/>
            <p:nvPr/>
          </p:nvSpPr>
          <p:spPr>
            <a:xfrm>
              <a:off x="495300" y="1724025"/>
              <a:ext cx="3505200" cy="1771650"/>
            </a:xfrm>
            <a:prstGeom prst="roundRect">
              <a:avLst>
                <a:gd name="adj" fmla="val 5376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3994" y="18446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设计资料：方案与取舍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5518" y="23114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产品案例、图片观察、使用反馈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5518" y="270192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结构取舍、支撑策略、材质语言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7042" y="31400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当前案例检索的主要依据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43400" y="1724025"/>
              <a:ext cx="3505200" cy="1771650"/>
            </a:xfrm>
            <a:prstGeom prst="roundRect">
              <a:avLst>
                <a:gd name="adj" fmla="val 5376"/>
              </a:avLst>
            </a:prstGeom>
            <a:solidFill>
              <a:srgbClr val="E8F6F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62094" y="18446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耳部资料：位置与约束</a:t>
              </a:r>
              <a:endParaRPr lang="zh-CN" sz="1950" b="1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63618" y="23114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耳部区域、尺寸含义、接触边界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63618" y="270192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支持定位与适配，舒适性待实测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65142" y="31400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独立知识库，按任务选择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191500" y="1724025"/>
              <a:ext cx="3505200" cy="1771650"/>
            </a:xfrm>
            <a:prstGeom prst="roundRect">
              <a:avLst>
                <a:gd name="adj" fmla="val 5376"/>
              </a:avLst>
            </a:prstGeom>
            <a:solidFill>
              <a:srgbClr val="F3EE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10194" y="18446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工具资料：操作与检查</a:t>
              </a:r>
              <a:endParaRPr lang="zh-CN" sz="19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11718" y="2311400"/>
              <a:ext cx="3120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FreeCAD文档、建模用法、检查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11718" y="270192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帮助选择操作和检查方法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13242" y="314007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与产品设计资料分开检索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decision-example"/>
          <p:cNvGrpSpPr/>
          <p:nvPr/>
        </p:nvGrpSpPr>
        <p:grpSpPr>
          <a:xfrm>
            <a:off x="483108" y="3889375"/>
            <a:ext cx="11213592" cy="2343658"/>
            <a:chOff x="483108" y="3889375"/>
            <a:chExt cx="11213592" cy="2343658"/>
          </a:xfrm>
        </p:grpSpPr>
        <p:sp>
          <p:nvSpPr>
            <p:cNvPr id="21" name="TextBox 21"/>
            <p:cNvSpPr txBox="1"/>
            <p:nvPr/>
          </p:nvSpPr>
          <p:spPr>
            <a:xfrm>
              <a:off x="483108" y="3889375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检索资料对设计判断的支持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6918" y="447357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小体量案例：减少功能和结构复杂度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6918" y="487362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软胶支撑案例：区分硬壳与接触部件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6918" y="527367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使用反馈：补充充电、操作与长期使用取舍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5524500" y="5076825"/>
              <a:ext cx="7620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543675" y="4429125"/>
              <a:ext cx="5153025" cy="1371600"/>
            </a:xfrm>
            <a:prstGeom prst="roundRect">
              <a:avLst>
                <a:gd name="adj" fmla="val 69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1419" y="45783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记录建议、依据与待确认项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82943" y="502602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建议借鉴哪些特征，出处是什么？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82943" y="536892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哪些尺寸、佩戴性能仍缺证据？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8442" y="5969000"/>
              <a:ext cx="6954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参考案例含QuietOn、Kokoon、Ozlo、Nothing Ear，分别保留来源类型和适用限制。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footer-label"/>
          <p:cNvSpPr txBox="1"/>
          <p:nvPr/>
        </p:nvSpPr>
        <p:spPr>
          <a:xfrm>
            <a:off x="488442" y="6407150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检索相关性与来源可信度分别评估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05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6888328" cy="973582"/>
            <a:chOff x="478536" y="422275"/>
            <a:chExt cx="6888328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用户描述的特征提取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6879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AI从用户描述中提取设计特征，按需求维度检索资料并组织候选方案。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feature-pipeline"/>
          <p:cNvGrpSpPr/>
          <p:nvPr/>
        </p:nvGrpSpPr>
        <p:grpSpPr>
          <a:xfrm>
            <a:off x="485394" y="1739900"/>
            <a:ext cx="10764012" cy="1784350"/>
            <a:chOff x="485394" y="1739900"/>
            <a:chExt cx="10764012" cy="1784350"/>
          </a:xfrm>
        </p:grpSpPr>
        <p:sp>
          <p:nvSpPr>
            <p:cNvPr id="5" name="TextBox 5"/>
            <p:cNvSpPr txBox="1"/>
            <p:nvPr/>
          </p:nvSpPr>
          <p:spPr>
            <a:xfrm>
              <a:off x="485394" y="173990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自然语言描述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6918" y="22542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想解决的问题、情境与偏好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" y="2686050"/>
              <a:ext cx="3076575" cy="8382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50367" y="27781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示例输入：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0367" y="30543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入耳、运动稳定、睡眠不掉、年轻配色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3667125" y="2571750"/>
              <a:ext cx="4000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333494" y="173990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拆分需求维度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35018" y="2254250"/>
              <a:ext cx="30043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形态 / 场景 / 功能 / 外观偏好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5018" y="269240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标记约束、冲突和待确认项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6542" y="31686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睡眠归为场景，入耳归为形态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7667625" y="2571750"/>
              <a:ext cx="4000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43519" y="173990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检索与参考组合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45043" y="225425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按维度查询，再组合互补参考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5043" y="26924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去重产品，保留未覆盖项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6567" y="31686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词法和语义检索保留来源记录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constraint-separation"/>
          <p:cNvGrpSpPr/>
          <p:nvPr/>
        </p:nvGrpSpPr>
        <p:grpSpPr>
          <a:xfrm>
            <a:off x="495300" y="3895725"/>
            <a:ext cx="11201400" cy="919607"/>
            <a:chOff x="495300" y="3895725"/>
            <a:chExt cx="11201400" cy="919607"/>
          </a:xfrm>
        </p:grpSpPr>
        <p:sp>
          <p:nvSpPr>
            <p:cNvPr id="21" name="Line 21"/>
            <p:cNvSpPr/>
            <p:nvPr/>
          </p:nvSpPr>
          <p:spPr>
            <a:xfrm>
              <a:off x="495300" y="38957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CE3EF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33400" y="4181475"/>
              <a:ext cx="361950" cy="3619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6894" y="4054475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硬约束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8418" y="44926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必须遵守的边界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Ellipse 25"/>
            <p:cNvSpPr/>
            <p:nvPr/>
          </p:nvSpPr>
          <p:spPr>
            <a:xfrm>
              <a:off x="4381500" y="4181475"/>
              <a:ext cx="361950" cy="3619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04994" y="4054475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软偏好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06518" y="44926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用于排序和方案差异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Ellipse 28"/>
            <p:cNvSpPr/>
            <p:nvPr/>
          </p:nvSpPr>
          <p:spPr>
            <a:xfrm>
              <a:off x="8229600" y="4181475"/>
              <a:ext cx="361950" cy="361950"/>
            </a:xfrm>
            <a:prstGeom prst="ellipse">
              <a:avLst/>
            </a:prstGeom>
            <a:solidFill>
              <a:srgbClr val="D98D2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53094" y="4054475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待澄清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54618" y="449262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缺少尺寸或优先级时请求澄清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retrieval-iteration"/>
          <p:cNvGrpSpPr/>
          <p:nvPr/>
        </p:nvGrpSpPr>
        <p:grpSpPr>
          <a:xfrm>
            <a:off x="495300" y="5229225"/>
            <a:ext cx="11201400" cy="923925"/>
            <a:chOff x="495300" y="5229225"/>
            <a:chExt cx="11201400" cy="923925"/>
          </a:xfrm>
        </p:grpSpPr>
        <p:sp>
          <p:nvSpPr>
            <p:cNvPr id="32" name="Rectangle 32"/>
            <p:cNvSpPr/>
            <p:nvPr/>
          </p:nvSpPr>
          <p:spPr>
            <a:xfrm>
              <a:off x="495300" y="5229225"/>
              <a:ext cx="11201400" cy="923925"/>
            </a:xfrm>
            <a:prstGeom prst="roundRect">
              <a:avLst>
                <a:gd name="adj" fmla="val 92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3994" y="534987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独立试验结果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30118" y="538797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参考去重后选择两个不同产品，覆盖更多需求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7042" y="579755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维度拆分与覆盖选择已通过独立试验，尚未自动集成到主项目，佩戴性能待实测。</a:t>
              </a:r>
              <a:endPara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7" name="footer-label"/>
          <p:cNvSpPr txBox="1"/>
          <p:nvPr/>
        </p:nvSpPr>
        <p:spPr>
          <a:xfrm>
            <a:off x="488442" y="6407150"/>
            <a:ext cx="45571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示例展示特征提取方法，约束强度和优先级仍由用户确认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06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6910959" cy="973582"/>
            <a:chOff x="478536" y="422275"/>
            <a:chExt cx="6910959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检索资料的证据审核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审核资料出处、可见信息和推断，判断每条资料能支持哪些设计结论。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evidence-classes"/>
          <p:cNvGrpSpPr/>
          <p:nvPr/>
        </p:nvGrpSpPr>
        <p:grpSpPr>
          <a:xfrm>
            <a:off x="485394" y="1863725"/>
            <a:ext cx="10274808" cy="1159383"/>
            <a:chOff x="485394" y="1863725"/>
            <a:chExt cx="10274808" cy="1159383"/>
          </a:xfrm>
        </p:grpSpPr>
        <p:sp>
          <p:nvSpPr>
            <p:cNvPr id="5" name="TextBox 5"/>
            <p:cNvSpPr txBox="1"/>
            <p:nvPr/>
          </p:nvSpPr>
          <p:spPr>
            <a:xfrm>
              <a:off x="485394" y="186372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82A0FF"/>
                  </a:solidFill>
                  <a:latin typeface="+mn-lt"/>
                  <a:ea typeface="+mn-ea"/>
                  <a:cs typeface="+mn-cs"/>
                </a:rPr>
                <a:t>来源记录</a:t>
              </a:r>
              <a:endParaRPr lang="zh-CN" sz="1950" b="1" dirty="0">
                <a:solidFill>
                  <a:srgbClr val="82A0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6918" y="232092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厂商说明、独立评测、用户反馈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8442" y="27590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保留作者和来源类别</a:t>
              </a:r>
              <a:endPara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23994" y="186372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89AFF"/>
                  </a:solidFill>
                  <a:latin typeface="+mn-lt"/>
                  <a:ea typeface="+mn-ea"/>
                  <a:cs typeface="+mn-cs"/>
                </a:rPr>
                <a:t>图片观察</a:t>
              </a:r>
              <a:endParaRPr lang="zh-CN" sz="1950" b="1" dirty="0">
                <a:solidFill>
                  <a:srgbClr val="B89A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25518" y="232092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轮廓、材料分区、配件关系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27042" y="275907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尺寸和使用效果需要其他证据</a:t>
              </a:r>
              <a:endPara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62594" y="186372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BD70"/>
                  </a:solidFill>
                  <a:latin typeface="+mn-lt"/>
                  <a:ea typeface="+mn-ea"/>
                  <a:cs typeface="+mn-cs"/>
                </a:rPr>
                <a:t>推断记录</a:t>
              </a:r>
              <a:endParaRPr lang="zh-CN" sz="1950" b="1" dirty="0">
                <a:solidFill>
                  <a:srgbClr val="F1BD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64118" y="2320925"/>
              <a:ext cx="1548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AI推断单独记录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65642" y="27590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缺少依据的结论标为待确认</a:t>
              </a:r>
              <a:endPara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Line 15"/>
          <p:cNvSpPr/>
          <p:nvPr/>
        </p:nvSpPr>
        <p:spPr>
          <a:xfrm>
            <a:off x="495300" y="3362325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40526B"/>
            </a:solidFill>
          </a:ln>
        </p:spPr>
      </p:sp>
      <p:grpSp>
        <p:nvGrpSpPr>
          <p:cNvPr id="28" name="evidence-review-process"/>
          <p:cNvGrpSpPr/>
          <p:nvPr/>
        </p:nvGrpSpPr>
        <p:grpSpPr>
          <a:xfrm>
            <a:off x="483108" y="3670300"/>
            <a:ext cx="10414254" cy="1535557"/>
            <a:chOff x="483108" y="3670300"/>
            <a:chExt cx="10414254" cy="1535557"/>
          </a:xfrm>
        </p:grpSpPr>
        <p:sp>
          <p:nvSpPr>
            <p:cNvPr id="16" name="TextBox 16"/>
            <p:cNvSpPr txBox="1"/>
            <p:nvPr/>
          </p:nvSpPr>
          <p:spPr>
            <a:xfrm>
              <a:off x="483108" y="367030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资料进入设计前的审核流程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5394" y="4187825"/>
              <a:ext cx="1455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核对出处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6918" y="45783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查原文和图片来源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6918" y="48831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记录作者及适用条件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4105275" y="4552950"/>
              <a:ext cx="619125" cy="1"/>
            </a:xfrm>
            <a:prstGeom prst="line">
              <a:avLst/>
            </a:prstGeom>
            <a:noFill/>
            <a:ln w="19050">
              <a:solidFill>
                <a:srgbClr val="D98D2B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0244" y="4187825"/>
              <a:ext cx="1455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BD70"/>
                  </a:solidFill>
                  <a:latin typeface="+mn-lt"/>
                  <a:ea typeface="+mn-ea"/>
                  <a:cs typeface="+mn-cs"/>
                </a:rPr>
                <a:t>02 匹配用途</a:t>
              </a:r>
              <a:endParaRPr lang="zh-CN" sz="1950" b="1" dirty="0">
                <a:solidFill>
                  <a:srgbClr val="F1BD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01768" y="45783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外形参考与补充资料分开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01768" y="48831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尺寸须明确对应部件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7924800" y="4552950"/>
              <a:ext cx="476250" cy="1"/>
            </a:xfrm>
            <a:prstGeom prst="line">
              <a:avLst/>
            </a:prstGeom>
            <a:noFill/>
            <a:ln w="19050">
              <a:solidFill>
                <a:srgbClr val="D98D2B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57844" y="4187825"/>
              <a:ext cx="19807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保留待确认项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9368" y="457835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推断与原文分别存档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59368" y="488315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依据不足暂不用于建模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audit-result"/>
          <p:cNvGrpSpPr/>
          <p:nvPr/>
        </p:nvGrpSpPr>
        <p:grpSpPr>
          <a:xfrm>
            <a:off x="495300" y="5467350"/>
            <a:ext cx="11201400" cy="695325"/>
            <a:chOff x="495300" y="5467350"/>
            <a:chExt cx="11201400" cy="695325"/>
          </a:xfrm>
        </p:grpSpPr>
        <p:sp>
          <p:nvSpPr>
            <p:cNvPr id="29" name="Rectangle 29"/>
            <p:cNvSpPr/>
            <p:nvPr/>
          </p:nvSpPr>
          <p:spPr>
            <a:xfrm>
              <a:off x="495300" y="5467350"/>
              <a:ext cx="11201400" cy="695325"/>
            </a:xfrm>
            <a:prstGeom prst="roundRect">
              <a:avLst>
                <a:gd name="adj" fmla="val 12329"/>
              </a:avLst>
            </a:prstGeom>
            <a:solidFill>
              <a:srgbClr val="2034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5518" y="5692775"/>
              <a:ext cx="65471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独立试验审核166张图，119张归为外形参考，47张归为补充资料。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2" name="footer-label"/>
          <p:cNvSpPr txBox="1"/>
          <p:nvPr/>
        </p:nvSpPr>
        <p:spPr>
          <a:xfrm>
            <a:off x="488442" y="6407150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rPr>
              <a:t>舒适、运动稳定性和检索质量提升仍需单独验证</a:t>
            </a:r>
            <a:endParaRPr lang="zh-CN" sz="1350" dirty="0">
              <a:solidFill>
                <a:srgbClr val="BAC9D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3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rPr>
              <a:t>07</a:t>
            </a:r>
            <a:endParaRPr lang="zh-CN" sz="1350" dirty="0">
              <a:solidFill>
                <a:srgbClr val="BAC9DE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5511165" cy="973582"/>
            <a:chOff x="478536" y="422275"/>
            <a:chExt cx="5511165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9435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MCP工具调用与结果检查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55027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MCP连接工具，RAG提供依据，人审核执行范围和结果。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actors-and-context"/>
          <p:cNvGrpSpPr/>
          <p:nvPr/>
        </p:nvGrpSpPr>
        <p:grpSpPr>
          <a:xfrm>
            <a:off x="657225" y="1825625"/>
            <a:ext cx="6819900" cy="2294382"/>
            <a:chOff x="657225" y="1825625"/>
            <a:chExt cx="6819900" cy="2294382"/>
          </a:xfrm>
        </p:grpSpPr>
        <p:sp>
          <p:nvSpPr>
            <p:cNvPr id="5" name="Ellipse 5"/>
            <p:cNvSpPr/>
            <p:nvPr/>
          </p:nvSpPr>
          <p:spPr>
            <a:xfrm>
              <a:off x="657225" y="2181225"/>
              <a:ext cx="1428750" cy="1428750"/>
            </a:xfrm>
            <a:prstGeom prst="ellipse">
              <a:avLst/>
            </a:prstGeom>
            <a:solidFill>
              <a:srgbClr val="FFF2D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97864" y="256540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6769" y="3025775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76813"/>
                  </a:solidFill>
                  <a:latin typeface="+mn-lt"/>
                  <a:ea typeface="+mn-ea"/>
                  <a:cs typeface="+mn-cs"/>
                </a:rPr>
                <a:t>需求 / 审核</a:t>
              </a:r>
              <a:endParaRPr lang="zh-CN" sz="1350" dirty="0">
                <a:solidFill>
                  <a:srgbClr val="A7681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2190750" y="2895600"/>
              <a:ext cx="1857375" cy="1"/>
            </a:xfrm>
            <a:prstGeom prst="line">
              <a:avLst/>
            </a:prstGeom>
            <a:noFill/>
            <a:ln w="19050">
              <a:solidFill>
                <a:srgbClr val="069B8A"/>
              </a:solidFill>
              <a:tailEnd type="triangle" w="lg" len="lg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26767" y="24447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批准范围与保护项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4200525" y="2305050"/>
              <a:ext cx="3276600" cy="1143000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189662" y="2479675"/>
              <a:ext cx="12983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AI执行者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86644" y="293052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组织任务、选工具、检查回执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25493" y="182562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知识检索与已确认项目状态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25493" y="379730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工具连接失败时先恢复连接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tool-boundaries"/>
          <p:cNvGrpSpPr/>
          <p:nvPr/>
        </p:nvGrpSpPr>
        <p:grpSpPr>
          <a:xfrm>
            <a:off x="7858125" y="1762125"/>
            <a:ext cx="3838575" cy="2695575"/>
            <a:chOff x="7858125" y="1762125"/>
            <a:chExt cx="3838575" cy="2695575"/>
          </a:xfrm>
        </p:grpSpPr>
        <p:sp>
          <p:nvSpPr>
            <p:cNvPr id="16" name="Rectangle 16"/>
            <p:cNvSpPr/>
            <p:nvPr/>
          </p:nvSpPr>
          <p:spPr>
            <a:xfrm>
              <a:off x="7858125" y="1762125"/>
              <a:ext cx="3838575" cy="2695575"/>
            </a:xfrm>
            <a:prstGeom prst="roundRect">
              <a:avLst>
                <a:gd name="adj" fmla="val 3534"/>
              </a:avLst>
            </a:prstGeom>
            <a:solidFill>
              <a:srgbClr val="E8F6F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86344" y="189230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工具接口与执行范围</a:t>
              </a:r>
              <a:endParaRPr lang="zh-CN" sz="1950" b="1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87868" y="23495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无界面执行：文档、脚本、导出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89392" y="270192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脚本静态检查、隔离进程、结果检查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8096250" y="3105150"/>
              <a:ext cx="3362325" cy="9525"/>
            </a:xfrm>
            <a:custGeom>
              <a:avLst/>
              <a:gdLst/>
              <a:ahLst/>
              <a:cxnLst/>
              <a:rect l="l" t="t" r="r" b="b"/>
              <a:pathLst>
                <a:path w="3362325" h="9525">
                  <a:moveTo>
                    <a:pt x="0" y="0"/>
                  </a:moveTo>
                  <a:lnTo>
                    <a:pt x="3362325" y="0"/>
                  </a:lnTo>
                </a:path>
              </a:pathLst>
            </a:custGeom>
            <a:noFill/>
            <a:ln w="9525">
              <a:solidFill>
                <a:srgbClr val="B9DCD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87868" y="3273425"/>
              <a:ext cx="28806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CAD界面桥：读取 / 受限修改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89392" y="3625850"/>
              <a:ext cx="2281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GUI原型仅支持已验证的操作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89392" y="399732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当前任务还需核对真实窗口与文档</a:t>
              </a:r>
              <a:endPara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verification-feedback"/>
          <p:cNvGrpSpPr/>
          <p:nvPr/>
        </p:nvGrpSpPr>
        <p:grpSpPr>
          <a:xfrm>
            <a:off x="495300" y="2905125"/>
            <a:ext cx="11201400" cy="3133725"/>
            <a:chOff x="495300" y="2905125"/>
            <a:chExt cx="11201400" cy="3133725"/>
          </a:xfrm>
        </p:grpSpPr>
        <p:sp>
          <p:nvSpPr>
            <p:cNvPr id="25" name="Line 25"/>
            <p:cNvSpPr/>
            <p:nvPr/>
          </p:nvSpPr>
          <p:spPr>
            <a:xfrm>
              <a:off x="7515225" y="2905125"/>
              <a:ext cx="219075" cy="1"/>
            </a:xfrm>
            <a:prstGeom prst="line">
              <a:avLst/>
            </a:prstGeom>
            <a:noFill/>
            <a:ln w="19050">
              <a:solidFill>
                <a:srgbClr val="069B8A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95300" y="4791075"/>
              <a:ext cx="11201400" cy="1247775"/>
            </a:xfrm>
            <a:prstGeom prst="roundRect">
              <a:avLst>
                <a:gd name="adj" fmla="val 687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3519" y="490220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结果复核流程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68168" y="49403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保存文件</a:t>
              </a:r>
              <a:endParaRPr lang="zh-CN" sz="1650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3971925" y="5076825"/>
              <a:ext cx="514350" cy="1"/>
            </a:xfrm>
            <a:prstGeom prst="line">
              <a:avLst/>
            </a:prstGeom>
            <a:noFill/>
            <a:ln w="19050">
              <a:solidFill>
                <a:srgbClr val="069B8A"/>
              </a:solidFill>
              <a:tailEnd type="triangle" w="lg" len="lg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58868" y="49403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独立重开</a:t>
              </a:r>
              <a:endParaRPr lang="zh-CN" sz="1650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5762625" y="5076825"/>
              <a:ext cx="514350" cy="1"/>
            </a:xfrm>
            <a:prstGeom prst="line">
              <a:avLst/>
            </a:prstGeom>
            <a:noFill/>
            <a:ln w="19050">
              <a:solidFill>
                <a:srgbClr val="069B8A"/>
              </a:solidFill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49568" y="49403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几何与视觉</a:t>
              </a:r>
              <a:endParaRPr lang="zh-CN" sz="1650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7743825" y="5076825"/>
              <a:ext cx="514350" cy="1"/>
            </a:xfrm>
            <a:prstGeom prst="line">
              <a:avLst/>
            </a:prstGeom>
            <a:noFill/>
            <a:ln w="19050">
              <a:solidFill>
                <a:srgbClr val="069B8A"/>
              </a:solidFill>
              <a:tailEnd type="triangle" w="lg" len="lg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30768" y="4940300"/>
              <a:ext cx="1958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A76813"/>
                  </a:solidFill>
                  <a:latin typeface="+mn-lt"/>
                  <a:ea typeface="+mn-ea"/>
                  <a:cs typeface="+mn-cs"/>
                </a:rPr>
                <a:t>A/B回执与人工复核</a:t>
              </a:r>
              <a:endParaRPr lang="zh-CN" sz="1650" dirty="0">
                <a:solidFill>
                  <a:srgbClr val="A7681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5043" y="5445125"/>
              <a:ext cx="645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检查失败返回执行，重要取舍返回方案审核，最终结果由人验收。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5838825" y="4619625"/>
              <a:ext cx="5305425" cy="9525"/>
            </a:xfrm>
            <a:custGeom>
              <a:avLst/>
              <a:gdLst/>
              <a:ahLst/>
              <a:cxnLst/>
              <a:rect l="l" t="t" r="r" b="b"/>
              <a:pathLst>
                <a:path w="5305425" h="9525">
                  <a:moveTo>
                    <a:pt x="53054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98D2B"/>
              </a:solidFill>
              <a:prstDash val="dash"/>
            </a:ln>
          </p:spPr>
        </p:sp>
        <p:sp>
          <p:nvSpPr>
            <p:cNvPr id="37" name="Line 37"/>
            <p:cNvSpPr/>
            <p:nvPr/>
          </p:nvSpPr>
          <p:spPr>
            <a:xfrm flipV="1">
              <a:off x="5838825" y="4295775"/>
              <a:ext cx="1" cy="323850"/>
            </a:xfrm>
            <a:prstGeom prst="line">
              <a:avLst/>
            </a:prstGeom>
            <a:noFill/>
            <a:ln w="19050">
              <a:solidFill>
                <a:srgbClr val="D98D2B"/>
              </a:solidFill>
              <a:tailEnd type="triangle" w="lg" len="lg"/>
            </a:ln>
          </p:spPr>
        </p:sp>
      </p:grpSp>
      <p:sp>
        <p:nvSpPr>
          <p:cNvPr id="39" name="footer-label"/>
          <p:cNvSpPr txBox="1"/>
          <p:nvPr/>
        </p:nvSpPr>
        <p:spPr>
          <a:xfrm>
            <a:off x="488442" y="6407150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不同接口按已验证能力分工，操作后核对实际文件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08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23926" y="204470"/>
            <a:ext cx="11224895" cy="1666240"/>
            <a:chOff x="478536" y="422275"/>
            <a:chExt cx="11224895" cy="1666240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设计特征与六种概念方案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791" y="1073150"/>
              <a:ext cx="11216640" cy="10153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相同需求下比较不同轮廓、支撑方式和软硬分工，由人选择方向。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sz="1650">
                  <a:solidFill>
                    <a:srgbClr val="25372B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“</a:t>
              </a:r>
              <a:r>
                <a:rPr sz="1650" dirty="0">
                  <a:solidFill>
                    <a:srgbClr val="66758A"/>
                  </a:solidFill>
                  <a:sym typeface="+mn-ea"/>
                </a:rPr>
                <a:t>Design an in-ear earbud that is comfortable, biomimetic and moderately sized. It should stay secure during exercise and sleep, with colors that appeal to young people.”</a:t>
              </a:r>
              <a:endParaRPr sz="1650" b="0" dirty="0">
                <a:solidFill>
                  <a:srgbClr val="66758A"/>
                </a:solidFill>
              </a:endParaRPr>
            </a:p>
            <a:p>
              <a:pPr algn="l"/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concept-gallery"/>
          <p:cNvGrpSpPr/>
          <p:nvPr>
            <p:custDataLst>
              <p:tags r:id="rId1"/>
            </p:custDataLst>
          </p:nvPr>
        </p:nvGrpSpPr>
        <p:grpSpPr>
          <a:xfrm>
            <a:off x="495300" y="1647825"/>
            <a:ext cx="11201400" cy="4124325"/>
            <a:chOff x="495300" y="1647825"/>
            <a:chExt cx="11201400" cy="4124325"/>
          </a:xfrm>
        </p:grpSpPr>
        <p:sp>
          <p:nvSpPr>
            <p:cNvPr id="5" name="Rectangle 5"/>
            <p:cNvSpPr/>
            <p:nvPr>
              <p:custDataLst>
                <p:tags r:id="rId2"/>
              </p:custDataLst>
            </p:nvPr>
          </p:nvSpPr>
          <p:spPr>
            <a:xfrm>
              <a:off x="495300" y="1647825"/>
              <a:ext cx="3495675" cy="198120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68000" t="30000" b="6000"/>
            <a:stretch>
              <a:fillRect/>
            </a:stretch>
          </p:blipFill>
          <p:spPr>
            <a:xfrm>
              <a:off x="669131" y="1752600"/>
              <a:ext cx="1300162" cy="17335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>
              <p:custDataLst>
                <p:tags r:id="rId5"/>
              </p:custDataLst>
            </p:nvPr>
          </p:nvSpPr>
          <p:spPr>
            <a:xfrm>
              <a:off x="2245233" y="191770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籽荚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>
              <p:custDataLst>
                <p:tags r:id="rId6"/>
              </p:custDataLst>
            </p:nvPr>
          </p:nvSpPr>
          <p:spPr>
            <a:xfrm>
              <a:off x="2250567" y="2368550"/>
              <a:ext cx="724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SeedPod</a:t>
              </a:r>
              <a:endParaRPr lang="en-US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7"/>
              </p:custDataLst>
            </p:nvPr>
          </p:nvSpPr>
          <p:spPr>
            <a:xfrm>
              <a:off x="2249043" y="28448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浅鞍软胶支撑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>
              <p:custDataLst>
                <p:tags r:id="rId8"/>
              </p:custDataLst>
            </p:nvPr>
          </p:nvSpPr>
          <p:spPr>
            <a:xfrm>
              <a:off x="4343400" y="1647825"/>
              <a:ext cx="3495675" cy="198120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11" name="Image 1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68000" t="30000" b="6000"/>
            <a:stretch>
              <a:fillRect/>
            </a:stretch>
          </p:blipFill>
          <p:spPr>
            <a:xfrm>
              <a:off x="4517231" y="1752600"/>
              <a:ext cx="1300162" cy="173355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>
              <p:custDataLst>
                <p:tags r:id="rId11"/>
              </p:custDataLst>
            </p:nvPr>
          </p:nvSpPr>
          <p:spPr>
            <a:xfrm>
              <a:off x="6093333" y="191770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卵石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12"/>
              </p:custDataLst>
            </p:nvPr>
          </p:nvSpPr>
          <p:spPr>
            <a:xfrm>
              <a:off x="6098667" y="2368550"/>
              <a:ext cx="573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Pebble</a:t>
              </a:r>
              <a:endParaRPr lang="en-US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3"/>
              </p:custDataLst>
            </p:nvPr>
          </p:nvSpPr>
          <p:spPr>
            <a:xfrm>
              <a:off x="6097143" y="28448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圆润低凸起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>
              <p:custDataLst>
                <p:tags r:id="rId14"/>
              </p:custDataLst>
            </p:nvPr>
          </p:nvSpPr>
          <p:spPr>
            <a:xfrm>
              <a:off x="8191500" y="1647825"/>
              <a:ext cx="3505200" cy="198120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16" name="Image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rcRect l="68000" t="25500" b="10300"/>
            <a:stretch>
              <a:fillRect/>
            </a:stretch>
          </p:blipFill>
          <p:spPr>
            <a:xfrm>
              <a:off x="8367332" y="1752600"/>
              <a:ext cx="1296162" cy="173355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>
              <p:custDataLst>
                <p:tags r:id="rId17"/>
              </p:custDataLst>
            </p:nvPr>
          </p:nvSpPr>
          <p:spPr>
            <a:xfrm>
              <a:off x="9941433" y="191770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鳍翼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8"/>
              </p:custDataLst>
            </p:nvPr>
          </p:nvSpPr>
          <p:spPr>
            <a:xfrm>
              <a:off x="9946767" y="2368550"/>
              <a:ext cx="669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FinWing</a:t>
              </a:r>
              <a:endParaRPr lang="en-US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9"/>
              </p:custDataLst>
            </p:nvPr>
          </p:nvSpPr>
          <p:spPr>
            <a:xfrm>
              <a:off x="9945243" y="28448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短宽软鳍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>
              <p:custDataLst>
                <p:tags r:id="rId20"/>
              </p:custDataLst>
            </p:nvPr>
          </p:nvSpPr>
          <p:spPr>
            <a:xfrm>
              <a:off x="495300" y="3790950"/>
              <a:ext cx="3495675" cy="198120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/>
            <a:srcRect l="68000" t="30000" b="6000"/>
            <a:stretch>
              <a:fillRect/>
            </a:stretch>
          </p:blipFill>
          <p:spPr>
            <a:xfrm>
              <a:off x="669131" y="3895725"/>
              <a:ext cx="1300162" cy="173355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>
              <p:custDataLst>
                <p:tags r:id="rId23"/>
              </p:custDataLst>
            </p:nvPr>
          </p:nvSpPr>
          <p:spPr>
            <a:xfrm>
              <a:off x="2245233" y="40608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海螺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24"/>
              </p:custDataLst>
            </p:nvPr>
          </p:nvSpPr>
          <p:spPr>
            <a:xfrm>
              <a:off x="2250567" y="4511675"/>
              <a:ext cx="527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Spiral</a:t>
              </a:r>
              <a:endParaRPr lang="en-US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25"/>
              </p:custDataLst>
            </p:nvPr>
          </p:nvSpPr>
          <p:spPr>
            <a:xfrm>
              <a:off x="2249043" y="49879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浅卷曲面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>
              <p:custDataLst>
                <p:tags r:id="rId26"/>
              </p:custDataLst>
            </p:nvPr>
          </p:nvSpPr>
          <p:spPr>
            <a:xfrm>
              <a:off x="4343400" y="3790950"/>
              <a:ext cx="3495675" cy="198120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6" name="Image 26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/>
            <a:srcRect l="68000" t="27000" b="11200"/>
            <a:stretch>
              <a:fillRect/>
            </a:stretch>
          </p:blipFill>
          <p:spPr>
            <a:xfrm>
              <a:off x="4494086" y="3895725"/>
              <a:ext cx="1346454" cy="173355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>
              <p:custDataLst>
                <p:tags r:id="rId29"/>
              </p:custDataLst>
            </p:nvPr>
          </p:nvSpPr>
          <p:spPr>
            <a:xfrm>
              <a:off x="6093333" y="40608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花苞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30"/>
              </p:custDataLst>
            </p:nvPr>
          </p:nvSpPr>
          <p:spPr>
            <a:xfrm>
              <a:off x="6098667" y="4511675"/>
              <a:ext cx="509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Bloom</a:t>
              </a:r>
              <a:endParaRPr lang="en-US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31"/>
              </p:custDataLst>
            </p:nvPr>
          </p:nvSpPr>
          <p:spPr>
            <a:xfrm>
              <a:off x="6097143" y="498792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花瓣软胶环抱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>
              <p:custDataLst>
                <p:tags r:id="rId32"/>
              </p:custDataLst>
            </p:nvPr>
          </p:nvSpPr>
          <p:spPr>
            <a:xfrm>
              <a:off x="8191500" y="3790950"/>
              <a:ext cx="3505200" cy="198120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31" name="Image 3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/>
            <a:srcRect l="68500" t="26000" r="1500" b="22200"/>
            <a:stretch>
              <a:fillRect/>
            </a:stretch>
          </p:blipFill>
          <p:spPr>
            <a:xfrm>
              <a:off x="8315325" y="3942302"/>
              <a:ext cx="1400175" cy="161182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>
              <p:custDataLst>
                <p:tags r:id="rId35"/>
              </p:custDataLst>
            </p:nvPr>
          </p:nvSpPr>
          <p:spPr>
            <a:xfrm>
              <a:off x="9941433" y="40608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双瓣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>
              <p:custDataLst>
                <p:tags r:id="rId36"/>
              </p:custDataLst>
            </p:nvPr>
          </p:nvSpPr>
          <p:spPr>
            <a:xfrm>
              <a:off x="9946767" y="4511675"/>
              <a:ext cx="8694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TwinPetal</a:t>
              </a:r>
              <a:endParaRPr lang="en-US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>
              <p:custDataLst>
                <p:tags r:id="rId37"/>
              </p:custDataLst>
            </p:nvPr>
          </p:nvSpPr>
          <p:spPr>
            <a:xfrm>
              <a:off x="9945243" y="49879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重叠双壳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6" name="demo-boundary"/>
          <p:cNvSpPr txBox="1"/>
          <p:nvPr/>
        </p:nvSpPr>
        <p:spPr>
          <a:xfrm>
            <a:off x="488442" y="5997575"/>
            <a:ext cx="29146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六个左耳概念用于本轮生成流程演示。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footer-label"/>
          <p:cNvSpPr txBox="1"/>
          <p:nvPr/>
        </p:nvSpPr>
        <p:spPr>
          <a:xfrm>
            <a:off x="488442" y="6407150"/>
            <a:ext cx="32849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输入特征决定生成方向，由人比较并选型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09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7076084" cy="973582"/>
            <a:chOff x="478536" y="422275"/>
            <a:chExt cx="7076084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概念图的一致性规则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7067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侧别、版式和组件关系已写入生成规范，由模板、RAG指令和测试读取。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" name="selected-reference"/>
          <p:cNvGrpSpPr/>
          <p:nvPr/>
        </p:nvGrpSpPr>
        <p:grpSpPr>
          <a:xfrm>
            <a:off x="495300" y="1762125"/>
            <a:ext cx="6438900" cy="4295775"/>
            <a:chOff x="495300" y="1762125"/>
            <a:chExt cx="6438900" cy="4295775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5300" y="1762125"/>
              <a:ext cx="6438900" cy="4295775"/>
            </a:xfrm>
            <a:prstGeom prst="rect">
              <a:avLst/>
            </a:prstGeom>
          </p:spPr>
        </p:pic>
      </p:grpSp>
      <p:grpSp>
        <p:nvGrpSpPr>
          <p:cNvPr id="20" name="rules-to-consumer"/>
          <p:cNvGrpSpPr/>
          <p:nvPr/>
        </p:nvGrpSpPr>
        <p:grpSpPr>
          <a:xfrm>
            <a:off x="7391400" y="1876425"/>
            <a:ext cx="4305300" cy="4229100"/>
            <a:chOff x="7391400" y="1876425"/>
            <a:chExt cx="4305300" cy="4229100"/>
          </a:xfrm>
        </p:grpSpPr>
        <p:sp>
          <p:nvSpPr>
            <p:cNvPr id="7" name="Ellipse 7"/>
            <p:cNvSpPr/>
            <p:nvPr/>
          </p:nvSpPr>
          <p:spPr>
            <a:xfrm>
              <a:off x="7400925" y="1876425"/>
              <a:ext cx="342900" cy="342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95844" y="188277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统一左耳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97368" y="231140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左耳设计保留原始方向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00925" y="2933700"/>
              <a:ext cx="342900" cy="342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95844" y="29400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六画面统一版式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97368" y="3368675"/>
              <a:ext cx="27488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左佩戴 / 中四视图 / 右主图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97368" y="37020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只保留佩戴、四视图和主图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00925" y="4314825"/>
              <a:ext cx="342900" cy="342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95844" y="43211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跨视图结构一致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97368" y="474980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各视图共享比例、连接与材质分工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391400" y="5305425"/>
              <a:ext cx="4305300" cy="800100"/>
            </a:xfrm>
            <a:prstGeom prst="roundRect">
              <a:avLst>
                <a:gd name="adj" fmla="val 10714"/>
              </a:avLst>
            </a:prstGeom>
            <a:solidFill>
              <a:srgbClr val="F3EE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83043" y="54260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下轮执行入口</a:t>
              </a:r>
              <a:endParaRPr lang="zh-CN" sz="16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84567" y="5778500"/>
              <a:ext cx="30566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生成规范、参考清单、RAG指令与测试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" name="footer-label"/>
          <p:cNvSpPr txBox="1"/>
          <p:nvPr/>
        </p:nvSpPr>
        <p:spPr>
          <a:xfrm>
            <a:off x="488442" y="6407150"/>
            <a:ext cx="4375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一致性规则用于新方案，造型、配色与材料按任务确定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10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384143"/>
            <a:ext cx="11209782" cy="973646"/>
            <a:chOff x="478536" y="384143"/>
            <a:chExt cx="11209782" cy="973646"/>
          </a:xfrm>
        </p:grpSpPr>
        <p:sp>
          <p:nvSpPr>
            <p:cNvPr id="2" name="TextBox 2"/>
            <p:cNvSpPr/>
            <p:nvPr/>
          </p:nvSpPr>
          <p:spPr>
            <a:xfrm>
              <a:off x="478536" y="384143"/>
              <a:ext cx="112014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324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AI协作能力成长：阶段1至3</a:t>
              </a:r>
              <a:endParaRPr lang="zh-CN" sz="3300" b="1" dirty="0">
                <a:solidFill>
                  <a:srgbClr val="1324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/>
            <p:nvPr/>
          </p:nvSpPr>
          <p:spPr>
            <a:xfrm>
              <a:off x="486918" y="1035082"/>
              <a:ext cx="11201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概念图先行，先选设计方向，再把方案转为可操作3D模型。</a:t>
              </a:r>
              <a:endParaRPr lang="zh-CN" sz="16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6" name="footer-label"/>
          <p:cNvSpPr/>
          <p:nvPr/>
        </p:nvSpPr>
        <p:spPr>
          <a:xfrm>
            <a:off x="488442" y="6473857"/>
            <a:ext cx="564756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六阶段按能力归纳，方法交叉完善，候选仍待复核。</a:t>
            </a:r>
            <a:endParaRPr lang="zh-CN" sz="1350" dirty="0">
              <a:solidFill>
                <a:srgbClr val="66758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page-number"/>
          <p:cNvSpPr txBox="1"/>
          <p:nvPr/>
        </p:nvSpPr>
        <p:spPr>
          <a:xfrm>
            <a:off x="11489931" y="6473825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11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Line 7"/>
          <p:cNvSpPr/>
          <p:nvPr/>
        </p:nvSpPr>
        <p:spPr>
          <a:xfrm>
            <a:off x="4210050" y="1676400"/>
            <a:ext cx="9525" cy="4429125"/>
          </a:xfrm>
          <a:custGeom>
            <a:avLst/>
            <a:gdLst/>
            <a:ahLst/>
            <a:cxnLst/>
            <a:rect l="l" t="t" r="r" b="b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DCE3EF"/>
            </a:solidFill>
          </a:ln>
        </p:spPr>
      </p:sp>
      <p:sp>
        <p:nvSpPr>
          <p:cNvPr id="8" name="Line 8"/>
          <p:cNvSpPr/>
          <p:nvPr/>
        </p:nvSpPr>
        <p:spPr>
          <a:xfrm>
            <a:off x="8039100" y="1676400"/>
            <a:ext cx="9525" cy="4429125"/>
          </a:xfrm>
          <a:custGeom>
            <a:avLst/>
            <a:gdLst/>
            <a:ahLst/>
            <a:cxnLst/>
            <a:rect l="l" t="t" r="r" b="b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DCE3EF"/>
            </a:solidFill>
          </a:ln>
        </p:spPr>
      </p:sp>
      <p:grpSp>
        <p:nvGrpSpPr>
          <p:cNvPr id="21" name="stage-one"/>
          <p:cNvGrpSpPr/>
          <p:nvPr/>
        </p:nvGrpSpPr>
        <p:grpSpPr>
          <a:xfrm>
            <a:off x="495300" y="1711325"/>
            <a:ext cx="3263646" cy="4229481"/>
            <a:chOff x="495300" y="1711325"/>
            <a:chExt cx="3263646" cy="4229481"/>
          </a:xfrm>
        </p:grpSpPr>
        <p:sp>
          <p:nvSpPr>
            <p:cNvPr id="9" name="Rectangle 9"/>
            <p:cNvSpPr/>
            <p:nvPr/>
          </p:nvSpPr>
          <p:spPr>
            <a:xfrm>
              <a:off x="495300" y="1714500"/>
              <a:ext cx="57150" cy="295275"/>
            </a:xfrm>
            <a:prstGeom prst="rect">
              <a:avLst/>
            </a:prstGeom>
            <a:solidFill>
              <a:srgbClr val="8996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7319" y="1711325"/>
              <a:ext cx="12887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324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 几何粗模</a:t>
              </a:r>
              <a:endParaRPr lang="zh-CN" sz="1950" b="1" dirty="0">
                <a:solidFill>
                  <a:srgbClr val="1324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26400" y="2219325"/>
              <a:ext cx="1862051" cy="16002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621792" y="38925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实际早期试作：能出几何，依据不足。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1792" y="43211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4044" y="42449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4364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需求词转为几何粗模</a:t>
              </a:r>
              <a:endParaRPr lang="zh-CN" sz="1950" dirty="0">
                <a:solidFill>
                  <a:srgbClr val="24364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1792" y="47593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缺口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4044" y="46831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直接建模缺少形态依据</a:t>
              </a:r>
              <a:endParaRPr lang="zh-CN" sz="19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1792" y="51974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5CF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介入</a:t>
              </a:r>
              <a:endParaRPr lang="zh-CN" sz="1350" b="1" dirty="0">
                <a:solidFill>
                  <a:srgbClr val="8B5C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4044" y="51212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8B5CF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概念图前置与人工选型</a:t>
              </a:r>
              <a:endParaRPr lang="zh-CN" sz="1950" dirty="0">
                <a:solidFill>
                  <a:srgbClr val="8B5C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1792" y="56356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改进</a:t>
              </a:r>
              <a:endParaRPr lang="zh-CN" sz="1350" b="1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044" y="55594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先定设计方向，再建模</a:t>
              </a:r>
              <a:endParaRPr lang="zh-CN" sz="1950" b="1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7" name="stage-two"/>
          <p:cNvGrpSpPr/>
          <p:nvPr/>
        </p:nvGrpSpPr>
        <p:grpSpPr>
          <a:xfrm>
            <a:off x="4324350" y="1711325"/>
            <a:ext cx="3355724" cy="4229481"/>
            <a:chOff x="4324350" y="1711325"/>
            <a:chExt cx="3355724" cy="4229481"/>
          </a:xfrm>
        </p:grpSpPr>
        <p:sp>
          <p:nvSpPr>
            <p:cNvPr id="22" name="Rectangle 22"/>
            <p:cNvSpPr/>
            <p:nvPr/>
          </p:nvSpPr>
          <p:spPr>
            <a:xfrm>
              <a:off x="4324350" y="1714500"/>
              <a:ext cx="57150" cy="295275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76369" y="1711325"/>
              <a:ext cx="1939925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324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 </a:t>
              </a:r>
              <a:r>
                <a:rPr sz="1950" b="1" dirty="0">
                  <a:solidFill>
                    <a:schemeClr val="accent1"/>
                  </a:solidFill>
                  <a:sym typeface="+mn-ea"/>
                </a:rPr>
                <a:t>二维先行与转译</a:t>
              </a:r>
              <a:endParaRPr lang="zh-CN" sz="1950" b="1" dirty="0">
                <a:solidFill>
                  <a:srgbClr val="1324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50842" y="38925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早期二维轮廓节选，先定方案。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50842" y="43211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43094" y="42449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4364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先比较二维概念方案</a:t>
              </a:r>
              <a:endParaRPr lang="zh-CN" sz="1950" dirty="0">
                <a:solidFill>
                  <a:srgbClr val="24364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50842" y="47593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缺口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3094" y="4683125"/>
              <a:ext cx="173355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缺少概念图</a:t>
              </a:r>
              <a:r>
                <a:rPr lang="zh-CN" sz="19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指导</a:t>
              </a:r>
              <a:endParaRPr lang="zh-CN" sz="19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50842" y="51974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介入</a:t>
              </a:r>
              <a:endParaRPr lang="zh-CN" sz="1350" b="1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43094" y="51212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概念图先行、锁定方案</a:t>
              </a:r>
              <a:endParaRPr lang="zh-CN" sz="1950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50842" y="56356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改进</a:t>
              </a:r>
              <a:endParaRPr lang="zh-CN" sz="1350" b="1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43094" y="5559425"/>
              <a:ext cx="27369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选定概念，进入3D转译</a:t>
              </a:r>
              <a:endParaRPr lang="zh-CN" sz="1950" b="1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stage-three"/>
          <p:cNvGrpSpPr/>
          <p:nvPr/>
        </p:nvGrpSpPr>
        <p:grpSpPr>
          <a:xfrm>
            <a:off x="8153400" y="1711325"/>
            <a:ext cx="3072498" cy="4229481"/>
            <a:chOff x="8153400" y="1711325"/>
            <a:chExt cx="3072498" cy="4229481"/>
          </a:xfrm>
        </p:grpSpPr>
        <p:sp>
          <p:nvSpPr>
            <p:cNvPr id="38" name="Rectangle 38"/>
            <p:cNvSpPr/>
            <p:nvPr/>
          </p:nvSpPr>
          <p:spPr>
            <a:xfrm>
              <a:off x="8153400" y="1714500"/>
              <a:ext cx="57150" cy="295275"/>
            </a:xfrm>
            <a:prstGeom prst="rect">
              <a:avLst/>
            </a:prstGeom>
            <a:solidFill>
              <a:srgbClr val="366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05419" y="1711325"/>
              <a:ext cx="19058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324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 概念与3D联审</a:t>
              </a:r>
              <a:endParaRPr lang="zh-CN" sz="1950" b="1" dirty="0">
                <a:solidFill>
                  <a:srgbClr val="1324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7517" y="21685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概念正面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94392" y="21685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模型正面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rcRect l="49300" r="29300" b="50000"/>
            <a:stretch>
              <a:fillRect/>
            </a:stretch>
          </p:blipFill>
          <p:spPr>
            <a:xfrm>
              <a:off x="8343900" y="2476500"/>
              <a:ext cx="917258" cy="1428750"/>
            </a:xfrm>
            <a:prstGeom prst="rect">
              <a:avLst/>
            </a:prstGeom>
          </p:spPr>
        </p:pic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1250" y="2476500"/>
              <a:ext cx="1224648" cy="1428750"/>
            </a:xfrm>
            <a:prstGeom prst="rect">
              <a:avLst/>
            </a:prstGeom>
          </p:spPr>
        </p:pic>
        <p:sp>
          <p:nvSpPr>
            <p:cNvPr id="44" name="Line 44"/>
            <p:cNvSpPr/>
            <p:nvPr/>
          </p:nvSpPr>
          <p:spPr>
            <a:xfrm>
              <a:off x="9439275" y="3190875"/>
              <a:ext cx="371475" cy="1"/>
            </a:xfrm>
            <a:prstGeom prst="line">
              <a:avLst/>
            </a:prstGeom>
            <a:noFill/>
            <a:ln w="19050">
              <a:solidFill>
                <a:srgbClr val="3662EA"/>
              </a:solidFill>
              <a:tailEnd type="triangle" w="lg" len="lg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79892" y="389255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较新方法示例：同一参照逐项核对。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79892" y="43211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72144" y="4244975"/>
              <a:ext cx="22119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4364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方案已转为可改3D</a:t>
              </a:r>
              <a:endParaRPr lang="zh-CN" sz="1950" dirty="0">
                <a:solidFill>
                  <a:srgbClr val="24364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79892" y="47593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缺口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72144" y="468312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圈选可能指错作用面</a:t>
              </a:r>
              <a:endParaRPr lang="zh-CN" sz="19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79892" y="51974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介入</a:t>
              </a:r>
              <a:endParaRPr lang="zh-CN" sz="1350" b="1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72144" y="51212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对象复标、剖面核查</a:t>
              </a:r>
              <a:endParaRPr lang="zh-CN" sz="1950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79892" y="56356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改进</a:t>
              </a:r>
              <a:endParaRPr lang="zh-CN" sz="1350" b="1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72144" y="555942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662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反馈有可检查的范围</a:t>
              </a:r>
              <a:endParaRPr lang="zh-CN" sz="1950" b="1" dirty="0">
                <a:solidFill>
                  <a:srgbClr val="3662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5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115" y="2168525"/>
            <a:ext cx="2211705" cy="1643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43"/>
            <a:ext cx="11209782" cy="973646"/>
            <a:chOff x="478536" y="422243"/>
            <a:chExt cx="11209782" cy="973646"/>
          </a:xfrm>
        </p:grpSpPr>
        <p:sp>
          <p:nvSpPr>
            <p:cNvPr id="2" name="TextBox 2"/>
            <p:cNvSpPr/>
            <p:nvPr/>
          </p:nvSpPr>
          <p:spPr>
            <a:xfrm>
              <a:off x="478536" y="422243"/>
              <a:ext cx="112014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324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AI协作能力成长：阶段4至6</a:t>
              </a:r>
              <a:endParaRPr lang="zh-CN" sz="3300" b="1" dirty="0">
                <a:solidFill>
                  <a:srgbClr val="1324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extBox 3"/>
            <p:cNvSpPr/>
            <p:nvPr/>
          </p:nvSpPr>
          <p:spPr>
            <a:xfrm>
              <a:off x="486918" y="1073182"/>
              <a:ext cx="11201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真实剖面与耳区知识帮助定位，整机联动和复核回写支持后续任务。</a:t>
              </a:r>
              <a:endParaRPr lang="zh-CN" sz="16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8" name="footer-label"/>
          <p:cNvSpPr/>
          <p:nvPr/>
        </p:nvSpPr>
        <p:spPr>
          <a:xfrm>
            <a:off x="488442" y="6407182"/>
            <a:ext cx="519083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耳区与剖面支持位置核查，佩戴和跨任务效果继续验证。</a:t>
            </a:r>
            <a:endParaRPr lang="zh-CN" sz="1350" dirty="0">
              <a:solidFill>
                <a:srgbClr val="66758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page-number"/>
          <p:cNvSpPr txBox="1"/>
          <p:nvPr/>
        </p:nvSpPr>
        <p:spPr>
          <a:xfrm>
            <a:off x="11489931" y="64071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12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Line 7"/>
          <p:cNvSpPr/>
          <p:nvPr/>
        </p:nvSpPr>
        <p:spPr>
          <a:xfrm>
            <a:off x="4210050" y="1676400"/>
            <a:ext cx="9525" cy="4429125"/>
          </a:xfrm>
          <a:custGeom>
            <a:avLst/>
            <a:gdLst/>
            <a:ahLst/>
            <a:cxnLst/>
            <a:rect l="l" t="t" r="r" b="b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DCE3EF"/>
            </a:solidFill>
          </a:ln>
        </p:spPr>
      </p:sp>
      <p:sp>
        <p:nvSpPr>
          <p:cNvPr id="8" name="Line 8"/>
          <p:cNvSpPr/>
          <p:nvPr/>
        </p:nvSpPr>
        <p:spPr>
          <a:xfrm>
            <a:off x="8039100" y="1676400"/>
            <a:ext cx="9525" cy="4429125"/>
          </a:xfrm>
          <a:custGeom>
            <a:avLst/>
            <a:gdLst/>
            <a:ahLst/>
            <a:cxnLst/>
            <a:rect l="l" t="t" r="r" b="b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DCE3EF"/>
            </a:solidFill>
          </a:ln>
        </p:spPr>
      </p:sp>
      <p:grpSp>
        <p:nvGrpSpPr>
          <p:cNvPr id="37" name="stage-four"/>
          <p:cNvGrpSpPr/>
          <p:nvPr/>
        </p:nvGrpSpPr>
        <p:grpSpPr>
          <a:xfrm>
            <a:off x="495300" y="1711325"/>
            <a:ext cx="3374851" cy="4229481"/>
            <a:chOff x="495300" y="1711325"/>
            <a:chExt cx="3374851" cy="4229481"/>
          </a:xfrm>
        </p:grpSpPr>
        <p:sp>
          <p:nvSpPr>
            <p:cNvPr id="9" name="Rectangle 9"/>
            <p:cNvSpPr/>
            <p:nvPr/>
          </p:nvSpPr>
          <p:spPr>
            <a:xfrm>
              <a:off x="495300" y="1714500"/>
              <a:ext cx="57150" cy="295275"/>
            </a:xfrm>
            <a:prstGeom prst="rect">
              <a:avLst/>
            </a:prstGeom>
            <a:solidFill>
              <a:srgbClr val="366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7319" y="1711325"/>
              <a:ext cx="20763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324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 圈选与剖面诊断</a:t>
              </a:r>
              <a:endParaRPr lang="zh-CN" sz="1950" b="1" dirty="0">
                <a:solidFill>
                  <a:srgbClr val="1324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7" name="real-section-vector"/>
            <p:cNvGrpSpPr/>
            <p:nvPr/>
          </p:nvGrpSpPr>
          <p:grpSpPr>
            <a:xfrm>
              <a:off x="628650" y="2060575"/>
              <a:ext cx="3241501" cy="1905508"/>
              <a:chOff x="628650" y="2060575"/>
              <a:chExt cx="3241501" cy="190550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40080" y="20605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4364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入口</a:t>
                </a:r>
                <a:endParaRPr lang="zh-CN" sz="1500" b="1" dirty="0">
                  <a:solidFill>
                    <a:srgbClr val="24364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819255" y="2295525"/>
                <a:ext cx="447465" cy="1400175"/>
              </a:xfrm>
              <a:custGeom>
                <a:avLst/>
                <a:gdLst/>
                <a:ahLst/>
                <a:cxnLst/>
                <a:rect l="l" t="t" r="r" b="b"/>
                <a:pathLst>
                  <a:path w="447465" h="1400175">
                    <a:moveTo>
                      <a:pt x="125187" y="835181"/>
                    </a:moveTo>
                    <a:lnTo>
                      <a:pt x="109947" y="871185"/>
                    </a:lnTo>
                    <a:moveTo>
                      <a:pt x="105023" y="887778"/>
                    </a:moveTo>
                    <a:lnTo>
                      <a:pt x="109947" y="871185"/>
                    </a:lnTo>
                    <a:moveTo>
                      <a:pt x="125187" y="835181"/>
                    </a:moveTo>
                    <a:lnTo>
                      <a:pt x="137893" y="790470"/>
                    </a:lnTo>
                    <a:moveTo>
                      <a:pt x="140703" y="786022"/>
                    </a:moveTo>
                    <a:lnTo>
                      <a:pt x="137893" y="790470"/>
                    </a:lnTo>
                    <a:moveTo>
                      <a:pt x="24470" y="1255147"/>
                    </a:moveTo>
                    <a:lnTo>
                      <a:pt x="22803" y="1248080"/>
                    </a:lnTo>
                    <a:moveTo>
                      <a:pt x="24470" y="1255147"/>
                    </a:moveTo>
                    <a:lnTo>
                      <a:pt x="52245" y="1294924"/>
                    </a:lnTo>
                    <a:moveTo>
                      <a:pt x="58303" y="1307763"/>
                    </a:moveTo>
                    <a:lnTo>
                      <a:pt x="52245" y="1294924"/>
                    </a:lnTo>
                    <a:moveTo>
                      <a:pt x="105023" y="887778"/>
                    </a:moveTo>
                    <a:lnTo>
                      <a:pt x="99517" y="905075"/>
                    </a:lnTo>
                    <a:moveTo>
                      <a:pt x="28089" y="1046093"/>
                    </a:moveTo>
                    <a:lnTo>
                      <a:pt x="51464" y="1002640"/>
                    </a:lnTo>
                    <a:moveTo>
                      <a:pt x="64437" y="979922"/>
                    </a:moveTo>
                    <a:lnTo>
                      <a:pt x="84277" y="933002"/>
                    </a:lnTo>
                    <a:moveTo>
                      <a:pt x="59788" y="986190"/>
                    </a:moveTo>
                    <a:lnTo>
                      <a:pt x="64437" y="979922"/>
                    </a:lnTo>
                    <a:moveTo>
                      <a:pt x="59788" y="986190"/>
                    </a:moveTo>
                    <a:lnTo>
                      <a:pt x="51464" y="1002640"/>
                    </a:lnTo>
                    <a:moveTo>
                      <a:pt x="18555" y="1072553"/>
                    </a:moveTo>
                    <a:lnTo>
                      <a:pt x="28089" y="1046093"/>
                    </a:lnTo>
                    <a:moveTo>
                      <a:pt x="5286" y="1102519"/>
                    </a:moveTo>
                    <a:lnTo>
                      <a:pt x="3715" y="1129789"/>
                    </a:lnTo>
                    <a:moveTo>
                      <a:pt x="0" y="1167936"/>
                    </a:moveTo>
                    <a:lnTo>
                      <a:pt x="3715" y="1129789"/>
                    </a:lnTo>
                    <a:moveTo>
                      <a:pt x="18555" y="1072553"/>
                    </a:moveTo>
                    <a:lnTo>
                      <a:pt x="5286" y="1102519"/>
                    </a:lnTo>
                    <a:moveTo>
                      <a:pt x="99517" y="905075"/>
                    </a:moveTo>
                    <a:lnTo>
                      <a:pt x="84277" y="933002"/>
                    </a:lnTo>
                    <a:moveTo>
                      <a:pt x="58303" y="1307763"/>
                    </a:moveTo>
                    <a:lnTo>
                      <a:pt x="68780" y="1325918"/>
                    </a:lnTo>
                    <a:moveTo>
                      <a:pt x="68780" y="1325918"/>
                    </a:moveTo>
                    <a:lnTo>
                      <a:pt x="99231" y="1353931"/>
                    </a:lnTo>
                    <a:moveTo>
                      <a:pt x="143018" y="1387564"/>
                    </a:moveTo>
                    <a:lnTo>
                      <a:pt x="218656" y="1397660"/>
                    </a:lnTo>
                    <a:moveTo>
                      <a:pt x="143018" y="1387564"/>
                    </a:moveTo>
                    <a:lnTo>
                      <a:pt x="134245" y="1379477"/>
                    </a:lnTo>
                    <a:moveTo>
                      <a:pt x="99231" y="1353931"/>
                    </a:moveTo>
                    <a:lnTo>
                      <a:pt x="134245" y="1379477"/>
                    </a:lnTo>
                    <a:moveTo>
                      <a:pt x="218656" y="1397660"/>
                    </a:moveTo>
                    <a:lnTo>
                      <a:pt x="225095" y="1400175"/>
                    </a:lnTo>
                    <a:moveTo>
                      <a:pt x="241068" y="692048"/>
                    </a:moveTo>
                    <a:lnTo>
                      <a:pt x="260213" y="685524"/>
                    </a:lnTo>
                    <a:moveTo>
                      <a:pt x="260213" y="685524"/>
                    </a:moveTo>
                    <a:lnTo>
                      <a:pt x="268386" y="678799"/>
                    </a:lnTo>
                    <a:moveTo>
                      <a:pt x="156410" y="737864"/>
                    </a:moveTo>
                    <a:lnTo>
                      <a:pt x="157991" y="734778"/>
                    </a:lnTo>
                    <a:moveTo>
                      <a:pt x="147142" y="766001"/>
                    </a:moveTo>
                    <a:lnTo>
                      <a:pt x="156410" y="737864"/>
                    </a:lnTo>
                    <a:moveTo>
                      <a:pt x="157991" y="734778"/>
                    </a:moveTo>
                    <a:lnTo>
                      <a:pt x="173422" y="723243"/>
                    </a:lnTo>
                    <a:moveTo>
                      <a:pt x="147142" y="766001"/>
                    </a:moveTo>
                    <a:lnTo>
                      <a:pt x="140703" y="786022"/>
                    </a:lnTo>
                    <a:moveTo>
                      <a:pt x="201768" y="704450"/>
                    </a:moveTo>
                    <a:lnTo>
                      <a:pt x="173422" y="723243"/>
                    </a:lnTo>
                    <a:moveTo>
                      <a:pt x="241068" y="692048"/>
                    </a:moveTo>
                    <a:lnTo>
                      <a:pt x="201768" y="704450"/>
                    </a:lnTo>
                    <a:moveTo>
                      <a:pt x="65265" y="110176"/>
                    </a:moveTo>
                    <a:lnTo>
                      <a:pt x="70056" y="87058"/>
                    </a:lnTo>
                    <a:moveTo>
                      <a:pt x="65265" y="110176"/>
                    </a:moveTo>
                    <a:lnTo>
                      <a:pt x="60970" y="136665"/>
                    </a:lnTo>
                    <a:moveTo>
                      <a:pt x="299009" y="92774"/>
                    </a:moveTo>
                    <a:lnTo>
                      <a:pt x="303809" y="89668"/>
                    </a:lnTo>
                    <a:moveTo>
                      <a:pt x="293922" y="91745"/>
                    </a:moveTo>
                    <a:lnTo>
                      <a:pt x="299009" y="92774"/>
                    </a:lnTo>
                    <a:moveTo>
                      <a:pt x="277254" y="337252"/>
                    </a:moveTo>
                    <a:lnTo>
                      <a:pt x="296589" y="332356"/>
                    </a:lnTo>
                    <a:moveTo>
                      <a:pt x="296589" y="332356"/>
                    </a:moveTo>
                    <a:lnTo>
                      <a:pt x="333575" y="345777"/>
                    </a:lnTo>
                    <a:moveTo>
                      <a:pt x="333575" y="345777"/>
                    </a:moveTo>
                    <a:lnTo>
                      <a:pt x="344748" y="347910"/>
                    </a:lnTo>
                    <a:moveTo>
                      <a:pt x="244840" y="341843"/>
                    </a:moveTo>
                    <a:lnTo>
                      <a:pt x="260833" y="338442"/>
                    </a:lnTo>
                    <a:moveTo>
                      <a:pt x="277254" y="337252"/>
                    </a:moveTo>
                    <a:lnTo>
                      <a:pt x="260833" y="338442"/>
                    </a:lnTo>
                    <a:moveTo>
                      <a:pt x="223152" y="349910"/>
                    </a:moveTo>
                    <a:lnTo>
                      <a:pt x="244840" y="341843"/>
                    </a:lnTo>
                    <a:moveTo>
                      <a:pt x="355073" y="55597"/>
                    </a:moveTo>
                    <a:lnTo>
                      <a:pt x="356349" y="49835"/>
                    </a:lnTo>
                    <a:moveTo>
                      <a:pt x="356349" y="49835"/>
                    </a:moveTo>
                    <a:lnTo>
                      <a:pt x="368332" y="0"/>
                    </a:lnTo>
                    <a:moveTo>
                      <a:pt x="363493" y="405584"/>
                    </a:moveTo>
                    <a:lnTo>
                      <a:pt x="354235" y="379990"/>
                    </a:lnTo>
                    <a:moveTo>
                      <a:pt x="354235" y="379990"/>
                    </a:moveTo>
                    <a:lnTo>
                      <a:pt x="346443" y="355930"/>
                    </a:lnTo>
                    <a:moveTo>
                      <a:pt x="344748" y="347910"/>
                    </a:moveTo>
                    <a:lnTo>
                      <a:pt x="346443" y="355930"/>
                    </a:lnTo>
                    <a:moveTo>
                      <a:pt x="60970" y="136665"/>
                    </a:moveTo>
                    <a:lnTo>
                      <a:pt x="59446" y="172269"/>
                    </a:lnTo>
                    <a:moveTo>
                      <a:pt x="59446" y="172269"/>
                    </a:moveTo>
                    <a:lnTo>
                      <a:pt x="59474" y="185842"/>
                    </a:lnTo>
                    <a:moveTo>
                      <a:pt x="65627" y="235372"/>
                    </a:moveTo>
                    <a:lnTo>
                      <a:pt x="59474" y="185842"/>
                    </a:lnTo>
                    <a:moveTo>
                      <a:pt x="66046" y="237639"/>
                    </a:moveTo>
                    <a:lnTo>
                      <a:pt x="65627" y="235372"/>
                    </a:lnTo>
                    <a:moveTo>
                      <a:pt x="198311" y="352615"/>
                    </a:moveTo>
                    <a:lnTo>
                      <a:pt x="223152" y="349910"/>
                    </a:lnTo>
                    <a:moveTo>
                      <a:pt x="172155" y="354006"/>
                    </a:moveTo>
                    <a:lnTo>
                      <a:pt x="198311" y="352615"/>
                    </a:lnTo>
                    <a:moveTo>
                      <a:pt x="172155" y="354006"/>
                    </a:moveTo>
                    <a:lnTo>
                      <a:pt x="141551" y="341576"/>
                    </a:lnTo>
                    <a:moveTo>
                      <a:pt x="123168" y="333737"/>
                    </a:moveTo>
                    <a:lnTo>
                      <a:pt x="141551" y="341576"/>
                    </a:lnTo>
                    <a:moveTo>
                      <a:pt x="240535" y="70990"/>
                    </a:moveTo>
                    <a:lnTo>
                      <a:pt x="234410" y="64208"/>
                    </a:lnTo>
                    <a:moveTo>
                      <a:pt x="242926" y="73266"/>
                    </a:moveTo>
                    <a:lnTo>
                      <a:pt x="240535" y="70990"/>
                    </a:lnTo>
                    <a:moveTo>
                      <a:pt x="234410" y="64208"/>
                    </a:moveTo>
                    <a:lnTo>
                      <a:pt x="186176" y="28461"/>
                    </a:lnTo>
                    <a:moveTo>
                      <a:pt x="101394" y="36576"/>
                    </a:moveTo>
                    <a:lnTo>
                      <a:pt x="82658" y="64084"/>
                    </a:lnTo>
                    <a:moveTo>
                      <a:pt x="135093" y="25670"/>
                    </a:moveTo>
                    <a:lnTo>
                      <a:pt x="101394" y="36576"/>
                    </a:lnTo>
                    <a:moveTo>
                      <a:pt x="70056" y="87058"/>
                    </a:moveTo>
                    <a:lnTo>
                      <a:pt x="82658" y="64084"/>
                    </a:lnTo>
                    <a:moveTo>
                      <a:pt x="69637" y="248012"/>
                    </a:moveTo>
                    <a:lnTo>
                      <a:pt x="85306" y="292694"/>
                    </a:lnTo>
                    <a:moveTo>
                      <a:pt x="69637" y="248012"/>
                    </a:moveTo>
                    <a:lnTo>
                      <a:pt x="66046" y="237639"/>
                    </a:lnTo>
                    <a:moveTo>
                      <a:pt x="355073" y="55597"/>
                    </a:moveTo>
                    <a:lnTo>
                      <a:pt x="353158" y="57083"/>
                    </a:lnTo>
                    <a:moveTo>
                      <a:pt x="338538" y="66399"/>
                    </a:moveTo>
                    <a:lnTo>
                      <a:pt x="353158" y="57083"/>
                    </a:lnTo>
                    <a:moveTo>
                      <a:pt x="338538" y="66399"/>
                    </a:moveTo>
                    <a:lnTo>
                      <a:pt x="303809" y="89668"/>
                    </a:lnTo>
                    <a:moveTo>
                      <a:pt x="242926" y="73266"/>
                    </a:moveTo>
                    <a:lnTo>
                      <a:pt x="293922" y="91745"/>
                    </a:lnTo>
                    <a:moveTo>
                      <a:pt x="363493" y="405584"/>
                    </a:moveTo>
                    <a:lnTo>
                      <a:pt x="360931" y="431483"/>
                    </a:lnTo>
                    <a:moveTo>
                      <a:pt x="158877" y="16307"/>
                    </a:moveTo>
                    <a:lnTo>
                      <a:pt x="169383" y="18031"/>
                    </a:lnTo>
                    <a:moveTo>
                      <a:pt x="135093" y="25670"/>
                    </a:moveTo>
                    <a:lnTo>
                      <a:pt x="158877" y="16307"/>
                    </a:lnTo>
                    <a:moveTo>
                      <a:pt x="169383" y="18031"/>
                    </a:moveTo>
                    <a:lnTo>
                      <a:pt x="186176" y="28461"/>
                    </a:lnTo>
                    <a:moveTo>
                      <a:pt x="85306" y="292694"/>
                    </a:moveTo>
                    <a:lnTo>
                      <a:pt x="90268" y="298980"/>
                    </a:lnTo>
                    <a:moveTo>
                      <a:pt x="90268" y="298980"/>
                    </a:moveTo>
                    <a:lnTo>
                      <a:pt x="123168" y="333737"/>
                    </a:lnTo>
                    <a:moveTo>
                      <a:pt x="366398" y="472659"/>
                    </a:moveTo>
                    <a:lnTo>
                      <a:pt x="364617" y="507968"/>
                    </a:lnTo>
                    <a:moveTo>
                      <a:pt x="335147" y="608895"/>
                    </a:moveTo>
                    <a:lnTo>
                      <a:pt x="311820" y="648033"/>
                    </a:lnTo>
                    <a:moveTo>
                      <a:pt x="335147" y="608895"/>
                    </a:moveTo>
                    <a:lnTo>
                      <a:pt x="345615" y="597903"/>
                    </a:lnTo>
                    <a:moveTo>
                      <a:pt x="349625" y="588235"/>
                    </a:moveTo>
                    <a:lnTo>
                      <a:pt x="345615" y="597903"/>
                    </a:lnTo>
                    <a:moveTo>
                      <a:pt x="366398" y="472659"/>
                    </a:moveTo>
                    <a:lnTo>
                      <a:pt x="360931" y="431483"/>
                    </a:lnTo>
                    <a:moveTo>
                      <a:pt x="349625" y="588235"/>
                    </a:moveTo>
                    <a:lnTo>
                      <a:pt x="362722" y="536315"/>
                    </a:lnTo>
                    <a:moveTo>
                      <a:pt x="364617" y="507968"/>
                    </a:moveTo>
                    <a:lnTo>
                      <a:pt x="362722" y="536315"/>
                    </a:lnTo>
                    <a:moveTo>
                      <a:pt x="311820" y="648033"/>
                    </a:moveTo>
                    <a:lnTo>
                      <a:pt x="268386" y="678799"/>
                    </a:lnTo>
                    <a:moveTo>
                      <a:pt x="295408" y="1364990"/>
                    </a:moveTo>
                    <a:lnTo>
                      <a:pt x="235963" y="1398299"/>
                    </a:lnTo>
                    <a:moveTo>
                      <a:pt x="306629" y="1353864"/>
                    </a:moveTo>
                    <a:lnTo>
                      <a:pt x="295408" y="1364990"/>
                    </a:lnTo>
                    <a:moveTo>
                      <a:pt x="306629" y="1353864"/>
                    </a:moveTo>
                    <a:lnTo>
                      <a:pt x="337071" y="1315660"/>
                    </a:lnTo>
                    <a:moveTo>
                      <a:pt x="354035" y="1285646"/>
                    </a:moveTo>
                    <a:lnTo>
                      <a:pt x="383829" y="1223877"/>
                    </a:lnTo>
                    <a:moveTo>
                      <a:pt x="384038" y="1223334"/>
                    </a:moveTo>
                    <a:lnTo>
                      <a:pt x="383829" y="1223877"/>
                    </a:lnTo>
                    <a:moveTo>
                      <a:pt x="337071" y="1315660"/>
                    </a:moveTo>
                    <a:lnTo>
                      <a:pt x="354035" y="1285646"/>
                    </a:lnTo>
                    <a:moveTo>
                      <a:pt x="442903" y="1055818"/>
                    </a:moveTo>
                    <a:lnTo>
                      <a:pt x="432654" y="1081526"/>
                    </a:lnTo>
                    <a:moveTo>
                      <a:pt x="432654" y="1081526"/>
                    </a:moveTo>
                    <a:lnTo>
                      <a:pt x="415061" y="1123026"/>
                    </a:lnTo>
                    <a:moveTo>
                      <a:pt x="400231" y="1172775"/>
                    </a:moveTo>
                    <a:lnTo>
                      <a:pt x="407689" y="1146296"/>
                    </a:lnTo>
                    <a:moveTo>
                      <a:pt x="407689" y="1146296"/>
                    </a:moveTo>
                    <a:lnTo>
                      <a:pt x="415061" y="1123026"/>
                    </a:lnTo>
                    <a:moveTo>
                      <a:pt x="447465" y="1043321"/>
                    </a:moveTo>
                    <a:lnTo>
                      <a:pt x="442903" y="1055818"/>
                    </a:lnTo>
                    <a:moveTo>
                      <a:pt x="394773" y="1186615"/>
                    </a:moveTo>
                    <a:lnTo>
                      <a:pt x="400231" y="1172775"/>
                    </a:lnTo>
                    <a:moveTo>
                      <a:pt x="384219" y="1222648"/>
                    </a:moveTo>
                    <a:lnTo>
                      <a:pt x="394773" y="1186615"/>
                    </a:lnTo>
                    <a:moveTo>
                      <a:pt x="384038" y="1223334"/>
                    </a:moveTo>
                    <a:lnTo>
                      <a:pt x="384219" y="1222648"/>
                    </a:lnTo>
                    <a:moveTo>
                      <a:pt x="225095" y="1400175"/>
                    </a:moveTo>
                    <a:lnTo>
                      <a:pt x="235963" y="1398299"/>
                    </a:lnTo>
                  </a:path>
                </a:pathLst>
              </a:custGeom>
              <a:noFill/>
              <a:ln w="19050">
                <a:solidFill>
                  <a:srgbClr val="7C8F9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43737" y="3332798"/>
                <a:ext cx="155248" cy="197463"/>
              </a:xfrm>
              <a:custGeom>
                <a:avLst/>
                <a:gdLst/>
                <a:ahLst/>
                <a:cxnLst/>
                <a:rect l="l" t="t" r="r" b="b"/>
                <a:pathLst>
                  <a:path w="155248" h="197463">
                    <a:moveTo>
                      <a:pt x="88944" y="9573"/>
                    </a:moveTo>
                    <a:lnTo>
                      <a:pt x="93640" y="11268"/>
                    </a:lnTo>
                    <a:moveTo>
                      <a:pt x="94440" y="11668"/>
                    </a:moveTo>
                    <a:lnTo>
                      <a:pt x="107699" y="18183"/>
                    </a:lnTo>
                    <a:moveTo>
                      <a:pt x="107699" y="18183"/>
                    </a:moveTo>
                    <a:lnTo>
                      <a:pt x="116691" y="24022"/>
                    </a:lnTo>
                    <a:moveTo>
                      <a:pt x="93640" y="11268"/>
                    </a:moveTo>
                    <a:lnTo>
                      <a:pt x="94440" y="11668"/>
                    </a:lnTo>
                    <a:moveTo>
                      <a:pt x="116691" y="24022"/>
                    </a:moveTo>
                    <a:lnTo>
                      <a:pt x="120253" y="26337"/>
                    </a:lnTo>
                    <a:moveTo>
                      <a:pt x="124130" y="29651"/>
                    </a:moveTo>
                    <a:lnTo>
                      <a:pt x="131112" y="35614"/>
                    </a:lnTo>
                    <a:moveTo>
                      <a:pt x="131112" y="35614"/>
                    </a:moveTo>
                    <a:lnTo>
                      <a:pt x="135884" y="41062"/>
                    </a:lnTo>
                    <a:moveTo>
                      <a:pt x="120253" y="26337"/>
                    </a:moveTo>
                    <a:lnTo>
                      <a:pt x="124130" y="29651"/>
                    </a:lnTo>
                    <a:moveTo>
                      <a:pt x="140113" y="45882"/>
                    </a:moveTo>
                    <a:lnTo>
                      <a:pt x="143361" y="51016"/>
                    </a:lnTo>
                    <a:moveTo>
                      <a:pt x="135884" y="41062"/>
                    </a:moveTo>
                    <a:lnTo>
                      <a:pt x="140113" y="45882"/>
                    </a:lnTo>
                    <a:moveTo>
                      <a:pt x="143361" y="51016"/>
                    </a:moveTo>
                    <a:lnTo>
                      <a:pt x="147114" y="56960"/>
                    </a:lnTo>
                    <a:moveTo>
                      <a:pt x="150009" y="63894"/>
                    </a:moveTo>
                    <a:lnTo>
                      <a:pt x="152019" y="68704"/>
                    </a:lnTo>
                    <a:moveTo>
                      <a:pt x="152019" y="68704"/>
                    </a:moveTo>
                    <a:lnTo>
                      <a:pt x="153076" y="73466"/>
                    </a:lnTo>
                    <a:moveTo>
                      <a:pt x="147114" y="56960"/>
                    </a:moveTo>
                    <a:lnTo>
                      <a:pt x="150009" y="63894"/>
                    </a:lnTo>
                    <a:moveTo>
                      <a:pt x="153076" y="73466"/>
                    </a:moveTo>
                    <a:lnTo>
                      <a:pt x="154743" y="80924"/>
                    </a:lnTo>
                    <a:moveTo>
                      <a:pt x="154743" y="80924"/>
                    </a:moveTo>
                    <a:lnTo>
                      <a:pt x="155048" y="88554"/>
                    </a:lnTo>
                    <a:moveTo>
                      <a:pt x="155048" y="88554"/>
                    </a:moveTo>
                    <a:lnTo>
                      <a:pt x="155248" y="93440"/>
                    </a:lnTo>
                    <a:moveTo>
                      <a:pt x="155248" y="93440"/>
                    </a:moveTo>
                    <a:lnTo>
                      <a:pt x="154543" y="98622"/>
                    </a:lnTo>
                    <a:moveTo>
                      <a:pt x="154543" y="98622"/>
                    </a:moveTo>
                    <a:lnTo>
                      <a:pt x="153524" y="106051"/>
                    </a:lnTo>
                    <a:moveTo>
                      <a:pt x="151428" y="112747"/>
                    </a:moveTo>
                    <a:lnTo>
                      <a:pt x="149609" y="118586"/>
                    </a:lnTo>
                    <a:moveTo>
                      <a:pt x="149609" y="118586"/>
                    </a:moveTo>
                    <a:lnTo>
                      <a:pt x="146333" y="125206"/>
                    </a:lnTo>
                    <a:moveTo>
                      <a:pt x="153524" y="106051"/>
                    </a:moveTo>
                    <a:lnTo>
                      <a:pt x="151428" y="112747"/>
                    </a:lnTo>
                    <a:moveTo>
                      <a:pt x="146333" y="125206"/>
                    </a:moveTo>
                    <a:lnTo>
                      <a:pt x="143542" y="130845"/>
                    </a:lnTo>
                    <a:moveTo>
                      <a:pt x="143542" y="130845"/>
                    </a:moveTo>
                    <a:lnTo>
                      <a:pt x="140456" y="135331"/>
                    </a:lnTo>
                    <a:moveTo>
                      <a:pt x="140456" y="135331"/>
                    </a:moveTo>
                    <a:lnTo>
                      <a:pt x="135436" y="142627"/>
                    </a:lnTo>
                    <a:moveTo>
                      <a:pt x="135436" y="142627"/>
                    </a:moveTo>
                    <a:lnTo>
                      <a:pt x="132636" y="145742"/>
                    </a:lnTo>
                    <a:moveTo>
                      <a:pt x="132636" y="145742"/>
                    </a:moveTo>
                    <a:lnTo>
                      <a:pt x="125406" y="153781"/>
                    </a:lnTo>
                    <a:moveTo>
                      <a:pt x="125406" y="153781"/>
                    </a:moveTo>
                    <a:lnTo>
                      <a:pt x="123463" y="155477"/>
                    </a:lnTo>
                    <a:moveTo>
                      <a:pt x="123463" y="155477"/>
                    </a:moveTo>
                    <a:lnTo>
                      <a:pt x="113595" y="164116"/>
                    </a:lnTo>
                    <a:moveTo>
                      <a:pt x="113595" y="164116"/>
                    </a:moveTo>
                    <a:lnTo>
                      <a:pt x="113100" y="164468"/>
                    </a:lnTo>
                    <a:moveTo>
                      <a:pt x="113100" y="164468"/>
                    </a:moveTo>
                    <a:lnTo>
                      <a:pt x="110014" y="166621"/>
                    </a:lnTo>
                    <a:moveTo>
                      <a:pt x="109661" y="163992"/>
                    </a:moveTo>
                    <a:lnTo>
                      <a:pt x="109709" y="164392"/>
                    </a:lnTo>
                    <a:moveTo>
                      <a:pt x="109709" y="164392"/>
                    </a:moveTo>
                    <a:lnTo>
                      <a:pt x="110014" y="166621"/>
                    </a:lnTo>
                    <a:moveTo>
                      <a:pt x="89040" y="10287"/>
                    </a:moveTo>
                    <a:lnTo>
                      <a:pt x="89297" y="12211"/>
                    </a:lnTo>
                    <a:moveTo>
                      <a:pt x="88944" y="9573"/>
                    </a:moveTo>
                    <a:lnTo>
                      <a:pt x="89040" y="10287"/>
                    </a:lnTo>
                    <a:moveTo>
                      <a:pt x="2896" y="1105"/>
                    </a:moveTo>
                    <a:lnTo>
                      <a:pt x="8820" y="448"/>
                    </a:lnTo>
                    <a:moveTo>
                      <a:pt x="10401" y="400"/>
                    </a:moveTo>
                    <a:lnTo>
                      <a:pt x="26499" y="0"/>
                    </a:lnTo>
                    <a:moveTo>
                      <a:pt x="26499" y="0"/>
                    </a:moveTo>
                    <a:lnTo>
                      <a:pt x="36909" y="638"/>
                    </a:lnTo>
                    <a:moveTo>
                      <a:pt x="8820" y="448"/>
                    </a:moveTo>
                    <a:lnTo>
                      <a:pt x="10401" y="400"/>
                    </a:lnTo>
                    <a:moveTo>
                      <a:pt x="36909" y="638"/>
                    </a:moveTo>
                    <a:lnTo>
                      <a:pt x="43891" y="1067"/>
                    </a:lnTo>
                    <a:moveTo>
                      <a:pt x="53997" y="2610"/>
                    </a:moveTo>
                    <a:lnTo>
                      <a:pt x="60750" y="3648"/>
                    </a:lnTo>
                    <a:moveTo>
                      <a:pt x="43891" y="1067"/>
                    </a:moveTo>
                    <a:lnTo>
                      <a:pt x="53997" y="2610"/>
                    </a:lnTo>
                    <a:moveTo>
                      <a:pt x="74076" y="7001"/>
                    </a:moveTo>
                    <a:lnTo>
                      <a:pt x="76819" y="7687"/>
                    </a:lnTo>
                    <a:moveTo>
                      <a:pt x="76819" y="7687"/>
                    </a:moveTo>
                    <a:lnTo>
                      <a:pt x="78619" y="8344"/>
                    </a:lnTo>
                    <a:moveTo>
                      <a:pt x="60750" y="3648"/>
                    </a:moveTo>
                    <a:lnTo>
                      <a:pt x="74076" y="7001"/>
                    </a:lnTo>
                    <a:moveTo>
                      <a:pt x="89297" y="12211"/>
                    </a:moveTo>
                    <a:lnTo>
                      <a:pt x="78619" y="8344"/>
                    </a:lnTo>
                    <a:moveTo>
                      <a:pt x="109661" y="163992"/>
                    </a:moveTo>
                    <a:lnTo>
                      <a:pt x="99917" y="170812"/>
                    </a:lnTo>
                    <a:moveTo>
                      <a:pt x="99917" y="170812"/>
                    </a:moveTo>
                    <a:lnTo>
                      <a:pt x="98269" y="171955"/>
                    </a:lnTo>
                    <a:moveTo>
                      <a:pt x="98269" y="171955"/>
                    </a:moveTo>
                    <a:lnTo>
                      <a:pt x="87830" y="177794"/>
                    </a:lnTo>
                    <a:moveTo>
                      <a:pt x="87830" y="177794"/>
                    </a:moveTo>
                    <a:lnTo>
                      <a:pt x="83782" y="180051"/>
                    </a:lnTo>
                    <a:moveTo>
                      <a:pt x="83782" y="180051"/>
                    </a:moveTo>
                    <a:lnTo>
                      <a:pt x="77381" y="182870"/>
                    </a:lnTo>
                    <a:moveTo>
                      <a:pt x="68161" y="186928"/>
                    </a:moveTo>
                    <a:lnTo>
                      <a:pt x="57264" y="190595"/>
                    </a:lnTo>
                    <a:moveTo>
                      <a:pt x="77381" y="182870"/>
                    </a:moveTo>
                    <a:lnTo>
                      <a:pt x="68161" y="186928"/>
                    </a:lnTo>
                    <a:moveTo>
                      <a:pt x="57264" y="190595"/>
                    </a:moveTo>
                    <a:lnTo>
                      <a:pt x="51626" y="192491"/>
                    </a:lnTo>
                    <a:moveTo>
                      <a:pt x="47768" y="193434"/>
                    </a:moveTo>
                    <a:lnTo>
                      <a:pt x="34442" y="196663"/>
                    </a:lnTo>
                    <a:moveTo>
                      <a:pt x="51626" y="192491"/>
                    </a:moveTo>
                    <a:lnTo>
                      <a:pt x="47768" y="193434"/>
                    </a:lnTo>
                    <a:moveTo>
                      <a:pt x="33528" y="196806"/>
                    </a:moveTo>
                    <a:lnTo>
                      <a:pt x="29232" y="197463"/>
                    </a:lnTo>
                    <a:moveTo>
                      <a:pt x="34442" y="196663"/>
                    </a:moveTo>
                    <a:lnTo>
                      <a:pt x="33528" y="196806"/>
                    </a:lnTo>
                    <a:moveTo>
                      <a:pt x="8725" y="22870"/>
                    </a:moveTo>
                    <a:lnTo>
                      <a:pt x="2219" y="23593"/>
                    </a:lnTo>
                    <a:moveTo>
                      <a:pt x="9277" y="22860"/>
                    </a:moveTo>
                    <a:lnTo>
                      <a:pt x="8725" y="22870"/>
                    </a:lnTo>
                    <a:moveTo>
                      <a:pt x="9277" y="22860"/>
                    </a:moveTo>
                    <a:lnTo>
                      <a:pt x="22431" y="22527"/>
                    </a:lnTo>
                    <a:moveTo>
                      <a:pt x="24089" y="22622"/>
                    </a:moveTo>
                    <a:lnTo>
                      <a:pt x="22431" y="22527"/>
                    </a:lnTo>
                    <a:moveTo>
                      <a:pt x="24089" y="22622"/>
                    </a:moveTo>
                    <a:lnTo>
                      <a:pt x="35928" y="23355"/>
                    </a:lnTo>
                    <a:moveTo>
                      <a:pt x="35928" y="23355"/>
                    </a:moveTo>
                    <a:lnTo>
                      <a:pt x="45834" y="24870"/>
                    </a:lnTo>
                    <a:moveTo>
                      <a:pt x="48997" y="25356"/>
                    </a:moveTo>
                    <a:lnTo>
                      <a:pt x="45834" y="24870"/>
                    </a:lnTo>
                    <a:moveTo>
                      <a:pt x="52454" y="26222"/>
                    </a:moveTo>
                    <a:lnTo>
                      <a:pt x="48997" y="25356"/>
                    </a:lnTo>
                    <a:moveTo>
                      <a:pt x="52454" y="26222"/>
                    </a:moveTo>
                    <a:lnTo>
                      <a:pt x="61455" y="28489"/>
                    </a:lnTo>
                    <a:moveTo>
                      <a:pt x="65503" y="29956"/>
                    </a:moveTo>
                    <a:lnTo>
                      <a:pt x="73114" y="32709"/>
                    </a:lnTo>
                    <a:moveTo>
                      <a:pt x="65503" y="29956"/>
                    </a:moveTo>
                    <a:lnTo>
                      <a:pt x="61455" y="28489"/>
                    </a:lnTo>
                    <a:moveTo>
                      <a:pt x="77495" y="34871"/>
                    </a:moveTo>
                    <a:lnTo>
                      <a:pt x="83782" y="37957"/>
                    </a:lnTo>
                    <a:moveTo>
                      <a:pt x="77495" y="34871"/>
                    </a:moveTo>
                    <a:lnTo>
                      <a:pt x="73114" y="32709"/>
                    </a:lnTo>
                    <a:moveTo>
                      <a:pt x="88230" y="40843"/>
                    </a:moveTo>
                    <a:lnTo>
                      <a:pt x="93316" y="44148"/>
                    </a:lnTo>
                    <a:moveTo>
                      <a:pt x="88230" y="40843"/>
                    </a:moveTo>
                    <a:lnTo>
                      <a:pt x="83782" y="37957"/>
                    </a:lnTo>
                    <a:moveTo>
                      <a:pt x="97546" y="47768"/>
                    </a:moveTo>
                    <a:lnTo>
                      <a:pt x="101565" y="51197"/>
                    </a:lnTo>
                    <a:moveTo>
                      <a:pt x="97546" y="47768"/>
                    </a:moveTo>
                    <a:lnTo>
                      <a:pt x="93316" y="44148"/>
                    </a:lnTo>
                    <a:moveTo>
                      <a:pt x="105318" y="55483"/>
                    </a:moveTo>
                    <a:lnTo>
                      <a:pt x="108394" y="58988"/>
                    </a:lnTo>
                    <a:moveTo>
                      <a:pt x="108394" y="58988"/>
                    </a:moveTo>
                    <a:lnTo>
                      <a:pt x="110652" y="62570"/>
                    </a:lnTo>
                    <a:moveTo>
                      <a:pt x="105318" y="55483"/>
                    </a:moveTo>
                    <a:lnTo>
                      <a:pt x="101565" y="51197"/>
                    </a:lnTo>
                    <a:moveTo>
                      <a:pt x="113709" y="67399"/>
                    </a:moveTo>
                    <a:lnTo>
                      <a:pt x="110652" y="62570"/>
                    </a:lnTo>
                    <a:moveTo>
                      <a:pt x="115929" y="72714"/>
                    </a:moveTo>
                    <a:lnTo>
                      <a:pt x="117434" y="76314"/>
                    </a:lnTo>
                    <a:moveTo>
                      <a:pt x="115929" y="72714"/>
                    </a:moveTo>
                    <a:lnTo>
                      <a:pt x="113709" y="67399"/>
                    </a:lnTo>
                    <a:moveTo>
                      <a:pt x="118682" y="81925"/>
                    </a:moveTo>
                    <a:lnTo>
                      <a:pt x="119501" y="85592"/>
                    </a:lnTo>
                    <a:moveTo>
                      <a:pt x="118682" y="81925"/>
                    </a:moveTo>
                    <a:lnTo>
                      <a:pt x="117434" y="76314"/>
                    </a:lnTo>
                    <a:moveTo>
                      <a:pt x="119729" y="91326"/>
                    </a:moveTo>
                    <a:lnTo>
                      <a:pt x="119882" y="95088"/>
                    </a:lnTo>
                    <a:moveTo>
                      <a:pt x="119729" y="91326"/>
                    </a:moveTo>
                    <a:lnTo>
                      <a:pt x="119501" y="85592"/>
                    </a:lnTo>
                    <a:moveTo>
                      <a:pt x="119110" y="100775"/>
                    </a:moveTo>
                    <a:lnTo>
                      <a:pt x="119882" y="95088"/>
                    </a:lnTo>
                    <a:moveTo>
                      <a:pt x="119110" y="100775"/>
                    </a:moveTo>
                    <a:lnTo>
                      <a:pt x="118577" y="104670"/>
                    </a:lnTo>
                    <a:moveTo>
                      <a:pt x="118577" y="104670"/>
                    </a:moveTo>
                    <a:lnTo>
                      <a:pt x="117319" y="108690"/>
                    </a:lnTo>
                    <a:moveTo>
                      <a:pt x="115605" y="114186"/>
                    </a:moveTo>
                    <a:lnTo>
                      <a:pt x="117319" y="108690"/>
                    </a:lnTo>
                    <a:moveTo>
                      <a:pt x="113090" y="119263"/>
                    </a:moveTo>
                    <a:lnTo>
                      <a:pt x="115605" y="114186"/>
                    </a:lnTo>
                    <a:moveTo>
                      <a:pt x="113090" y="119263"/>
                    </a:moveTo>
                    <a:lnTo>
                      <a:pt x="111004" y="123482"/>
                    </a:lnTo>
                    <a:moveTo>
                      <a:pt x="107861" y="128054"/>
                    </a:moveTo>
                    <a:lnTo>
                      <a:pt x="111004" y="123482"/>
                    </a:lnTo>
                    <a:moveTo>
                      <a:pt x="107861" y="128054"/>
                    </a:moveTo>
                    <a:lnTo>
                      <a:pt x="104842" y="132436"/>
                    </a:lnTo>
                    <a:moveTo>
                      <a:pt x="104842" y="132436"/>
                    </a:moveTo>
                    <a:lnTo>
                      <a:pt x="100755" y="136979"/>
                    </a:lnTo>
                    <a:moveTo>
                      <a:pt x="97222" y="140903"/>
                    </a:moveTo>
                    <a:lnTo>
                      <a:pt x="100755" y="136979"/>
                    </a:lnTo>
                    <a:moveTo>
                      <a:pt x="93478" y="144180"/>
                    </a:moveTo>
                    <a:lnTo>
                      <a:pt x="97222" y="140903"/>
                    </a:lnTo>
                    <a:moveTo>
                      <a:pt x="93478" y="144180"/>
                    </a:moveTo>
                    <a:lnTo>
                      <a:pt x="88259" y="148752"/>
                    </a:lnTo>
                    <a:moveTo>
                      <a:pt x="84572" y="151333"/>
                    </a:moveTo>
                    <a:lnTo>
                      <a:pt x="88259" y="148752"/>
                    </a:lnTo>
                    <a:moveTo>
                      <a:pt x="84572" y="151333"/>
                    </a:moveTo>
                    <a:lnTo>
                      <a:pt x="78086" y="155867"/>
                    </a:lnTo>
                    <a:moveTo>
                      <a:pt x="74686" y="157763"/>
                    </a:moveTo>
                    <a:lnTo>
                      <a:pt x="78086" y="155867"/>
                    </a:lnTo>
                    <a:moveTo>
                      <a:pt x="74686" y="157763"/>
                    </a:moveTo>
                    <a:lnTo>
                      <a:pt x="66856" y="162135"/>
                    </a:lnTo>
                    <a:moveTo>
                      <a:pt x="66856" y="162135"/>
                    </a:moveTo>
                    <a:lnTo>
                      <a:pt x="57150" y="166411"/>
                    </a:lnTo>
                    <a:moveTo>
                      <a:pt x="54740" y="167469"/>
                    </a:moveTo>
                    <a:lnTo>
                      <a:pt x="57150" y="166411"/>
                    </a:lnTo>
                    <a:moveTo>
                      <a:pt x="52530" y="168212"/>
                    </a:moveTo>
                    <a:lnTo>
                      <a:pt x="54740" y="167469"/>
                    </a:lnTo>
                    <a:moveTo>
                      <a:pt x="52530" y="168212"/>
                    </a:moveTo>
                    <a:lnTo>
                      <a:pt x="41920" y="171793"/>
                    </a:lnTo>
                    <a:moveTo>
                      <a:pt x="40557" y="172117"/>
                    </a:moveTo>
                    <a:lnTo>
                      <a:pt x="41920" y="171793"/>
                    </a:lnTo>
                    <a:moveTo>
                      <a:pt x="40557" y="172117"/>
                    </a:moveTo>
                    <a:lnTo>
                      <a:pt x="28594" y="175022"/>
                    </a:lnTo>
                    <a:moveTo>
                      <a:pt x="28165" y="175089"/>
                    </a:moveTo>
                    <a:lnTo>
                      <a:pt x="28594" y="175022"/>
                    </a:lnTo>
                    <a:moveTo>
                      <a:pt x="28165" y="175089"/>
                    </a:moveTo>
                    <a:lnTo>
                      <a:pt x="22660" y="175936"/>
                    </a:lnTo>
                    <a:moveTo>
                      <a:pt x="1657" y="3639"/>
                    </a:moveTo>
                    <a:lnTo>
                      <a:pt x="0" y="7029"/>
                    </a:lnTo>
                    <a:moveTo>
                      <a:pt x="2896" y="1105"/>
                    </a:moveTo>
                    <a:lnTo>
                      <a:pt x="1657" y="3639"/>
                    </a:lnTo>
                    <a:moveTo>
                      <a:pt x="26603" y="194462"/>
                    </a:moveTo>
                    <a:lnTo>
                      <a:pt x="24879" y="192500"/>
                    </a:lnTo>
                    <a:moveTo>
                      <a:pt x="29232" y="197463"/>
                    </a:moveTo>
                    <a:lnTo>
                      <a:pt x="26603" y="194462"/>
                    </a:lnTo>
                    <a:moveTo>
                      <a:pt x="22660" y="175936"/>
                    </a:moveTo>
                    <a:lnTo>
                      <a:pt x="23736" y="184004"/>
                    </a:lnTo>
                    <a:moveTo>
                      <a:pt x="23736" y="184004"/>
                    </a:moveTo>
                    <a:lnTo>
                      <a:pt x="24879" y="192500"/>
                    </a:lnTo>
                    <a:moveTo>
                      <a:pt x="1219" y="16107"/>
                    </a:moveTo>
                    <a:lnTo>
                      <a:pt x="2219" y="23593"/>
                    </a:lnTo>
                    <a:moveTo>
                      <a:pt x="0" y="7029"/>
                    </a:moveTo>
                    <a:lnTo>
                      <a:pt x="1219" y="16107"/>
                    </a:lnTo>
                  </a:path>
                </a:pathLst>
              </a:custGeom>
              <a:noFill/>
              <a:ln w="19050">
                <a:solidFill>
                  <a:srgbClr val="497D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9056" y="3227670"/>
                <a:ext cx="400564" cy="387344"/>
              </a:xfrm>
              <a:custGeom>
                <a:avLst/>
                <a:gdLst/>
                <a:ahLst/>
                <a:cxnLst/>
                <a:rect l="l" t="t" r="r" b="b"/>
                <a:pathLst>
                  <a:path w="400564" h="387344">
                    <a:moveTo>
                      <a:pt x="1076" y="173165"/>
                    </a:moveTo>
                    <a:lnTo>
                      <a:pt x="1076" y="172641"/>
                    </a:lnTo>
                    <a:moveTo>
                      <a:pt x="1229" y="174603"/>
                    </a:moveTo>
                    <a:lnTo>
                      <a:pt x="1076" y="173165"/>
                    </a:lnTo>
                    <a:moveTo>
                      <a:pt x="124" y="157153"/>
                    </a:moveTo>
                    <a:lnTo>
                      <a:pt x="610" y="165116"/>
                    </a:lnTo>
                    <a:moveTo>
                      <a:pt x="57" y="155800"/>
                    </a:moveTo>
                    <a:lnTo>
                      <a:pt x="124" y="157153"/>
                    </a:lnTo>
                    <a:moveTo>
                      <a:pt x="610" y="165116"/>
                    </a:moveTo>
                    <a:lnTo>
                      <a:pt x="1076" y="172641"/>
                    </a:lnTo>
                    <a:moveTo>
                      <a:pt x="3896" y="127444"/>
                    </a:moveTo>
                    <a:lnTo>
                      <a:pt x="5058" y="123330"/>
                    </a:lnTo>
                    <a:moveTo>
                      <a:pt x="2962" y="130759"/>
                    </a:moveTo>
                    <a:lnTo>
                      <a:pt x="3896" y="127444"/>
                    </a:lnTo>
                    <a:moveTo>
                      <a:pt x="108814" y="22679"/>
                    </a:moveTo>
                    <a:lnTo>
                      <a:pt x="123863" y="16583"/>
                    </a:lnTo>
                    <a:moveTo>
                      <a:pt x="86249" y="31823"/>
                    </a:moveTo>
                    <a:lnTo>
                      <a:pt x="108814" y="22679"/>
                    </a:lnTo>
                    <a:moveTo>
                      <a:pt x="12983" y="103575"/>
                    </a:moveTo>
                    <a:lnTo>
                      <a:pt x="24717" y="84306"/>
                    </a:lnTo>
                    <a:moveTo>
                      <a:pt x="196939" y="0"/>
                    </a:moveTo>
                    <a:lnTo>
                      <a:pt x="255365" y="6610"/>
                    </a:lnTo>
                    <a:moveTo>
                      <a:pt x="255365" y="6610"/>
                    </a:moveTo>
                    <a:lnTo>
                      <a:pt x="268300" y="8839"/>
                    </a:lnTo>
                    <a:moveTo>
                      <a:pt x="268300" y="8839"/>
                    </a:moveTo>
                    <a:lnTo>
                      <a:pt x="286788" y="13992"/>
                    </a:lnTo>
                    <a:moveTo>
                      <a:pt x="35309" y="71114"/>
                    </a:moveTo>
                    <a:lnTo>
                      <a:pt x="49863" y="58474"/>
                    </a:lnTo>
                    <a:moveTo>
                      <a:pt x="49863" y="58474"/>
                    </a:moveTo>
                    <a:lnTo>
                      <a:pt x="64465" y="45787"/>
                    </a:lnTo>
                    <a:moveTo>
                      <a:pt x="64465" y="45787"/>
                    </a:moveTo>
                    <a:lnTo>
                      <a:pt x="86249" y="31823"/>
                    </a:lnTo>
                    <a:moveTo>
                      <a:pt x="0" y="154334"/>
                    </a:moveTo>
                    <a:lnTo>
                      <a:pt x="57" y="155800"/>
                    </a:lnTo>
                    <a:moveTo>
                      <a:pt x="0" y="154334"/>
                    </a:moveTo>
                    <a:lnTo>
                      <a:pt x="1495" y="142475"/>
                    </a:lnTo>
                    <a:moveTo>
                      <a:pt x="1495" y="142475"/>
                    </a:moveTo>
                    <a:lnTo>
                      <a:pt x="2962" y="130759"/>
                    </a:lnTo>
                    <a:moveTo>
                      <a:pt x="9563" y="112100"/>
                    </a:moveTo>
                    <a:lnTo>
                      <a:pt x="5058" y="123330"/>
                    </a:lnTo>
                    <a:moveTo>
                      <a:pt x="9563" y="112100"/>
                    </a:moveTo>
                    <a:lnTo>
                      <a:pt x="12983" y="103575"/>
                    </a:lnTo>
                    <a:moveTo>
                      <a:pt x="150257" y="10573"/>
                    </a:moveTo>
                    <a:lnTo>
                      <a:pt x="196529" y="29"/>
                    </a:lnTo>
                    <a:moveTo>
                      <a:pt x="150257" y="10573"/>
                    </a:moveTo>
                    <a:lnTo>
                      <a:pt x="123863" y="16583"/>
                    </a:lnTo>
                    <a:moveTo>
                      <a:pt x="30566" y="77019"/>
                    </a:moveTo>
                    <a:lnTo>
                      <a:pt x="35309" y="71114"/>
                    </a:lnTo>
                    <a:moveTo>
                      <a:pt x="30566" y="77019"/>
                    </a:moveTo>
                    <a:lnTo>
                      <a:pt x="24717" y="84306"/>
                    </a:lnTo>
                    <a:moveTo>
                      <a:pt x="311915" y="22203"/>
                    </a:moveTo>
                    <a:lnTo>
                      <a:pt x="333918" y="31051"/>
                    </a:lnTo>
                    <a:moveTo>
                      <a:pt x="333918" y="31051"/>
                    </a:moveTo>
                    <a:lnTo>
                      <a:pt x="361693" y="46368"/>
                    </a:lnTo>
                    <a:moveTo>
                      <a:pt x="311915" y="22203"/>
                    </a:moveTo>
                    <a:lnTo>
                      <a:pt x="286788" y="13992"/>
                    </a:lnTo>
                    <a:moveTo>
                      <a:pt x="196682" y="19"/>
                    </a:moveTo>
                    <a:lnTo>
                      <a:pt x="196529" y="29"/>
                    </a:lnTo>
                    <a:moveTo>
                      <a:pt x="196682" y="19"/>
                    </a:moveTo>
                    <a:lnTo>
                      <a:pt x="196939" y="0"/>
                    </a:lnTo>
                    <a:moveTo>
                      <a:pt x="363417" y="47444"/>
                    </a:moveTo>
                    <a:lnTo>
                      <a:pt x="361693" y="46368"/>
                    </a:lnTo>
                    <a:moveTo>
                      <a:pt x="363417" y="47444"/>
                    </a:moveTo>
                    <a:lnTo>
                      <a:pt x="368646" y="51340"/>
                    </a:lnTo>
                    <a:moveTo>
                      <a:pt x="395802" y="295313"/>
                    </a:moveTo>
                    <a:lnTo>
                      <a:pt x="400564" y="289312"/>
                    </a:lnTo>
                    <a:moveTo>
                      <a:pt x="394164" y="297085"/>
                    </a:moveTo>
                    <a:lnTo>
                      <a:pt x="395802" y="295313"/>
                    </a:lnTo>
                    <a:moveTo>
                      <a:pt x="394164" y="297085"/>
                    </a:moveTo>
                    <a:lnTo>
                      <a:pt x="371418" y="318945"/>
                    </a:lnTo>
                    <a:moveTo>
                      <a:pt x="371418" y="318945"/>
                    </a:moveTo>
                    <a:lnTo>
                      <a:pt x="352606" y="333089"/>
                    </a:lnTo>
                    <a:moveTo>
                      <a:pt x="329984" y="347843"/>
                    </a:moveTo>
                    <a:lnTo>
                      <a:pt x="352606" y="333089"/>
                    </a:lnTo>
                    <a:moveTo>
                      <a:pt x="329984" y="347843"/>
                    </a:moveTo>
                    <a:lnTo>
                      <a:pt x="313744" y="357454"/>
                    </a:lnTo>
                    <a:moveTo>
                      <a:pt x="313744" y="357454"/>
                    </a:moveTo>
                    <a:lnTo>
                      <a:pt x="302047" y="362874"/>
                    </a:lnTo>
                    <a:moveTo>
                      <a:pt x="248450" y="384010"/>
                    </a:moveTo>
                    <a:lnTo>
                      <a:pt x="302047" y="362874"/>
                    </a:lnTo>
                    <a:moveTo>
                      <a:pt x="246545" y="384410"/>
                    </a:moveTo>
                    <a:lnTo>
                      <a:pt x="248450" y="384010"/>
                    </a:lnTo>
                    <a:moveTo>
                      <a:pt x="243383" y="384534"/>
                    </a:moveTo>
                    <a:lnTo>
                      <a:pt x="172231" y="387344"/>
                    </a:lnTo>
                    <a:moveTo>
                      <a:pt x="243383" y="384534"/>
                    </a:moveTo>
                    <a:lnTo>
                      <a:pt x="246545" y="384410"/>
                    </a:lnTo>
                    <a:moveTo>
                      <a:pt x="133302" y="382591"/>
                    </a:moveTo>
                    <a:lnTo>
                      <a:pt x="172231" y="387344"/>
                    </a:lnTo>
                    <a:moveTo>
                      <a:pt x="119663" y="378285"/>
                    </a:moveTo>
                    <a:lnTo>
                      <a:pt x="133302" y="382591"/>
                    </a:lnTo>
                    <a:moveTo>
                      <a:pt x="107480" y="374437"/>
                    </a:moveTo>
                    <a:lnTo>
                      <a:pt x="119663" y="378285"/>
                    </a:lnTo>
                    <a:moveTo>
                      <a:pt x="73800" y="358102"/>
                    </a:moveTo>
                    <a:lnTo>
                      <a:pt x="107480" y="374437"/>
                    </a:lnTo>
                    <a:moveTo>
                      <a:pt x="67323" y="353378"/>
                    </a:moveTo>
                    <a:lnTo>
                      <a:pt x="73800" y="358102"/>
                    </a:lnTo>
                    <a:moveTo>
                      <a:pt x="59369" y="347586"/>
                    </a:moveTo>
                    <a:lnTo>
                      <a:pt x="67323" y="353378"/>
                    </a:lnTo>
                    <a:moveTo>
                      <a:pt x="43720" y="332718"/>
                    </a:moveTo>
                    <a:lnTo>
                      <a:pt x="59369" y="347586"/>
                    </a:lnTo>
                    <a:moveTo>
                      <a:pt x="30451" y="315125"/>
                    </a:moveTo>
                    <a:lnTo>
                      <a:pt x="43720" y="332718"/>
                    </a:lnTo>
                    <a:moveTo>
                      <a:pt x="26899" y="309181"/>
                    </a:moveTo>
                    <a:lnTo>
                      <a:pt x="30451" y="315125"/>
                    </a:lnTo>
                    <a:moveTo>
                      <a:pt x="17069" y="283816"/>
                    </a:moveTo>
                    <a:lnTo>
                      <a:pt x="17412" y="285388"/>
                    </a:lnTo>
                    <a:moveTo>
                      <a:pt x="15183" y="274806"/>
                    </a:moveTo>
                    <a:lnTo>
                      <a:pt x="17069" y="283816"/>
                    </a:lnTo>
                    <a:moveTo>
                      <a:pt x="17412" y="285388"/>
                    </a:moveTo>
                    <a:lnTo>
                      <a:pt x="17812" y="287093"/>
                    </a:lnTo>
                    <a:moveTo>
                      <a:pt x="17812" y="287093"/>
                    </a:moveTo>
                    <a:lnTo>
                      <a:pt x="20898" y="294580"/>
                    </a:lnTo>
                    <a:moveTo>
                      <a:pt x="20898" y="294580"/>
                    </a:moveTo>
                    <a:lnTo>
                      <a:pt x="26899" y="309181"/>
                    </a:lnTo>
                    <a:moveTo>
                      <a:pt x="13973" y="268910"/>
                    </a:moveTo>
                    <a:lnTo>
                      <a:pt x="13659" y="267319"/>
                    </a:lnTo>
                    <a:moveTo>
                      <a:pt x="13973" y="268910"/>
                    </a:moveTo>
                    <a:lnTo>
                      <a:pt x="15183" y="274806"/>
                    </a:lnTo>
                    <a:moveTo>
                      <a:pt x="12630" y="259661"/>
                    </a:moveTo>
                    <a:lnTo>
                      <a:pt x="13659" y="267319"/>
                    </a:lnTo>
                    <a:moveTo>
                      <a:pt x="12316" y="257299"/>
                    </a:moveTo>
                    <a:lnTo>
                      <a:pt x="12630" y="259661"/>
                    </a:lnTo>
                    <a:moveTo>
                      <a:pt x="11401" y="250498"/>
                    </a:moveTo>
                    <a:lnTo>
                      <a:pt x="12316" y="257299"/>
                    </a:lnTo>
                    <a:moveTo>
                      <a:pt x="10801" y="246031"/>
                    </a:moveTo>
                    <a:lnTo>
                      <a:pt x="11401" y="250498"/>
                    </a:lnTo>
                    <a:moveTo>
                      <a:pt x="9944" y="239592"/>
                    </a:moveTo>
                    <a:lnTo>
                      <a:pt x="10801" y="246031"/>
                    </a:lnTo>
                    <a:moveTo>
                      <a:pt x="9411" y="235610"/>
                    </a:moveTo>
                    <a:lnTo>
                      <a:pt x="9944" y="239592"/>
                    </a:lnTo>
                    <a:moveTo>
                      <a:pt x="8420" y="228248"/>
                    </a:moveTo>
                    <a:lnTo>
                      <a:pt x="9411" y="235610"/>
                    </a:lnTo>
                    <a:moveTo>
                      <a:pt x="8077" y="225657"/>
                    </a:moveTo>
                    <a:lnTo>
                      <a:pt x="8420" y="228248"/>
                    </a:lnTo>
                    <a:moveTo>
                      <a:pt x="7753" y="223285"/>
                    </a:moveTo>
                    <a:lnTo>
                      <a:pt x="8077" y="225657"/>
                    </a:lnTo>
                    <a:moveTo>
                      <a:pt x="6753" y="215846"/>
                    </a:moveTo>
                    <a:lnTo>
                      <a:pt x="7753" y="223285"/>
                    </a:lnTo>
                    <a:moveTo>
                      <a:pt x="4629" y="199977"/>
                    </a:moveTo>
                    <a:lnTo>
                      <a:pt x="5420" y="205883"/>
                    </a:lnTo>
                    <a:moveTo>
                      <a:pt x="6410" y="213227"/>
                    </a:moveTo>
                    <a:lnTo>
                      <a:pt x="6753" y="215846"/>
                    </a:lnTo>
                    <a:moveTo>
                      <a:pt x="5420" y="205883"/>
                    </a:moveTo>
                    <a:lnTo>
                      <a:pt x="6410" y="213227"/>
                    </a:lnTo>
                    <a:moveTo>
                      <a:pt x="3429" y="191033"/>
                    </a:moveTo>
                    <a:lnTo>
                      <a:pt x="4020" y="195434"/>
                    </a:lnTo>
                    <a:moveTo>
                      <a:pt x="4020" y="195434"/>
                    </a:moveTo>
                    <a:lnTo>
                      <a:pt x="4629" y="199977"/>
                    </a:lnTo>
                    <a:moveTo>
                      <a:pt x="2505" y="184128"/>
                    </a:moveTo>
                    <a:lnTo>
                      <a:pt x="3429" y="191033"/>
                    </a:lnTo>
                    <a:moveTo>
                      <a:pt x="1229" y="174603"/>
                    </a:moveTo>
                    <a:lnTo>
                      <a:pt x="2505" y="184128"/>
                    </a:lnTo>
                    <a:moveTo>
                      <a:pt x="18793" y="185537"/>
                    </a:moveTo>
                    <a:lnTo>
                      <a:pt x="23393" y="177717"/>
                    </a:lnTo>
                    <a:moveTo>
                      <a:pt x="18793" y="185537"/>
                    </a:moveTo>
                    <a:lnTo>
                      <a:pt x="18002" y="186861"/>
                    </a:lnTo>
                    <a:moveTo>
                      <a:pt x="24860" y="175870"/>
                    </a:moveTo>
                    <a:lnTo>
                      <a:pt x="30289" y="168993"/>
                    </a:lnTo>
                    <a:moveTo>
                      <a:pt x="24860" y="175870"/>
                    </a:moveTo>
                    <a:lnTo>
                      <a:pt x="23393" y="177717"/>
                    </a:lnTo>
                    <a:moveTo>
                      <a:pt x="32737" y="166592"/>
                    </a:moveTo>
                    <a:lnTo>
                      <a:pt x="38605" y="160820"/>
                    </a:lnTo>
                    <a:moveTo>
                      <a:pt x="32737" y="166592"/>
                    </a:moveTo>
                    <a:lnTo>
                      <a:pt x="30289" y="168993"/>
                    </a:lnTo>
                    <a:moveTo>
                      <a:pt x="42358" y="157886"/>
                    </a:moveTo>
                    <a:lnTo>
                      <a:pt x="48187" y="153333"/>
                    </a:lnTo>
                    <a:moveTo>
                      <a:pt x="42358" y="157886"/>
                    </a:moveTo>
                    <a:lnTo>
                      <a:pt x="38605" y="160820"/>
                    </a:lnTo>
                    <a:moveTo>
                      <a:pt x="53578" y="149962"/>
                    </a:moveTo>
                    <a:lnTo>
                      <a:pt x="58912" y="146628"/>
                    </a:lnTo>
                    <a:moveTo>
                      <a:pt x="53578" y="149962"/>
                    </a:moveTo>
                    <a:lnTo>
                      <a:pt x="48187" y="153333"/>
                    </a:lnTo>
                    <a:moveTo>
                      <a:pt x="66218" y="142989"/>
                    </a:moveTo>
                    <a:lnTo>
                      <a:pt x="70609" y="140808"/>
                    </a:lnTo>
                    <a:moveTo>
                      <a:pt x="66218" y="142989"/>
                    </a:moveTo>
                    <a:lnTo>
                      <a:pt x="58912" y="146628"/>
                    </a:lnTo>
                    <a:moveTo>
                      <a:pt x="80067" y="137150"/>
                    </a:moveTo>
                    <a:lnTo>
                      <a:pt x="83096" y="135969"/>
                    </a:lnTo>
                    <a:moveTo>
                      <a:pt x="80067" y="137150"/>
                    </a:moveTo>
                    <a:lnTo>
                      <a:pt x="70609" y="140808"/>
                    </a:lnTo>
                    <a:moveTo>
                      <a:pt x="94831" y="132588"/>
                    </a:moveTo>
                    <a:lnTo>
                      <a:pt x="96193" y="132188"/>
                    </a:lnTo>
                    <a:moveTo>
                      <a:pt x="94831" y="132588"/>
                    </a:moveTo>
                    <a:lnTo>
                      <a:pt x="83096" y="135969"/>
                    </a:lnTo>
                    <a:moveTo>
                      <a:pt x="106032" y="130245"/>
                    </a:moveTo>
                    <a:lnTo>
                      <a:pt x="96193" y="132188"/>
                    </a:lnTo>
                    <a:moveTo>
                      <a:pt x="117081" y="283102"/>
                    </a:moveTo>
                    <a:lnTo>
                      <a:pt x="115910" y="283188"/>
                    </a:lnTo>
                    <a:moveTo>
                      <a:pt x="126454" y="282464"/>
                    </a:moveTo>
                    <a:lnTo>
                      <a:pt x="117081" y="283102"/>
                    </a:lnTo>
                    <a:moveTo>
                      <a:pt x="104937" y="282988"/>
                    </a:moveTo>
                    <a:lnTo>
                      <a:pt x="115910" y="283188"/>
                    </a:lnTo>
                    <a:moveTo>
                      <a:pt x="104937" y="282988"/>
                    </a:moveTo>
                    <a:lnTo>
                      <a:pt x="102289" y="282940"/>
                    </a:lnTo>
                    <a:moveTo>
                      <a:pt x="92993" y="281950"/>
                    </a:moveTo>
                    <a:lnTo>
                      <a:pt x="88983" y="281521"/>
                    </a:lnTo>
                    <a:moveTo>
                      <a:pt x="92993" y="281950"/>
                    </a:moveTo>
                    <a:lnTo>
                      <a:pt x="102289" y="282940"/>
                    </a:lnTo>
                    <a:moveTo>
                      <a:pt x="81363" y="279997"/>
                    </a:moveTo>
                    <a:lnTo>
                      <a:pt x="76190" y="278949"/>
                    </a:lnTo>
                    <a:moveTo>
                      <a:pt x="81363" y="279997"/>
                    </a:moveTo>
                    <a:lnTo>
                      <a:pt x="88983" y="281521"/>
                    </a:lnTo>
                    <a:moveTo>
                      <a:pt x="70171" y="277120"/>
                    </a:moveTo>
                    <a:lnTo>
                      <a:pt x="64113" y="275263"/>
                    </a:lnTo>
                    <a:moveTo>
                      <a:pt x="64113" y="275263"/>
                    </a:moveTo>
                    <a:lnTo>
                      <a:pt x="57255" y="272358"/>
                    </a:lnTo>
                    <a:moveTo>
                      <a:pt x="70171" y="277120"/>
                    </a:moveTo>
                    <a:lnTo>
                      <a:pt x="76190" y="278949"/>
                    </a:lnTo>
                    <a:moveTo>
                      <a:pt x="52921" y="270520"/>
                    </a:moveTo>
                    <a:lnTo>
                      <a:pt x="57255" y="272358"/>
                    </a:lnTo>
                    <a:moveTo>
                      <a:pt x="49654" y="268672"/>
                    </a:moveTo>
                    <a:lnTo>
                      <a:pt x="42805" y="264795"/>
                    </a:lnTo>
                    <a:moveTo>
                      <a:pt x="49654" y="268672"/>
                    </a:moveTo>
                    <a:lnTo>
                      <a:pt x="52921" y="270520"/>
                    </a:lnTo>
                    <a:moveTo>
                      <a:pt x="40596" y="263147"/>
                    </a:moveTo>
                    <a:lnTo>
                      <a:pt x="33899" y="258166"/>
                    </a:lnTo>
                    <a:moveTo>
                      <a:pt x="40596" y="263147"/>
                    </a:moveTo>
                    <a:lnTo>
                      <a:pt x="42805" y="264795"/>
                    </a:lnTo>
                    <a:moveTo>
                      <a:pt x="32518" y="256804"/>
                    </a:moveTo>
                    <a:lnTo>
                      <a:pt x="26346" y="250727"/>
                    </a:lnTo>
                    <a:moveTo>
                      <a:pt x="32518" y="256804"/>
                    </a:moveTo>
                    <a:lnTo>
                      <a:pt x="33899" y="258166"/>
                    </a:lnTo>
                    <a:moveTo>
                      <a:pt x="25565" y="249688"/>
                    </a:moveTo>
                    <a:lnTo>
                      <a:pt x="20260" y="242611"/>
                    </a:lnTo>
                    <a:moveTo>
                      <a:pt x="25565" y="249688"/>
                    </a:moveTo>
                    <a:lnTo>
                      <a:pt x="26346" y="250727"/>
                    </a:lnTo>
                    <a:moveTo>
                      <a:pt x="19869" y="241859"/>
                    </a:moveTo>
                    <a:lnTo>
                      <a:pt x="15735" y="233934"/>
                    </a:lnTo>
                    <a:moveTo>
                      <a:pt x="19869" y="241859"/>
                    </a:moveTo>
                    <a:lnTo>
                      <a:pt x="20260" y="242611"/>
                    </a:lnTo>
                    <a:moveTo>
                      <a:pt x="15564" y="233401"/>
                    </a:moveTo>
                    <a:lnTo>
                      <a:pt x="12830" y="224819"/>
                    </a:lnTo>
                    <a:moveTo>
                      <a:pt x="15564" y="233401"/>
                    </a:moveTo>
                    <a:lnTo>
                      <a:pt x="15735" y="233934"/>
                    </a:lnTo>
                    <a:moveTo>
                      <a:pt x="12773" y="224409"/>
                    </a:moveTo>
                    <a:lnTo>
                      <a:pt x="11601" y="215417"/>
                    </a:lnTo>
                    <a:moveTo>
                      <a:pt x="12773" y="224409"/>
                    </a:moveTo>
                    <a:lnTo>
                      <a:pt x="12830" y="224819"/>
                    </a:lnTo>
                    <a:moveTo>
                      <a:pt x="11620" y="214979"/>
                    </a:moveTo>
                    <a:lnTo>
                      <a:pt x="11601" y="215417"/>
                    </a:lnTo>
                    <a:moveTo>
                      <a:pt x="11620" y="214979"/>
                    </a:moveTo>
                    <a:lnTo>
                      <a:pt x="12068" y="205854"/>
                    </a:lnTo>
                    <a:moveTo>
                      <a:pt x="12202" y="205264"/>
                    </a:moveTo>
                    <a:lnTo>
                      <a:pt x="12068" y="205854"/>
                    </a:lnTo>
                    <a:moveTo>
                      <a:pt x="12202" y="205264"/>
                    </a:moveTo>
                    <a:lnTo>
                      <a:pt x="14211" y="196291"/>
                    </a:lnTo>
                    <a:moveTo>
                      <a:pt x="14573" y="195396"/>
                    </a:moveTo>
                    <a:lnTo>
                      <a:pt x="14211" y="196291"/>
                    </a:lnTo>
                    <a:moveTo>
                      <a:pt x="14573" y="195396"/>
                    </a:moveTo>
                    <a:lnTo>
                      <a:pt x="18002" y="186861"/>
                    </a:lnTo>
                    <a:moveTo>
                      <a:pt x="108766" y="124244"/>
                    </a:moveTo>
                    <a:lnTo>
                      <a:pt x="106032" y="130245"/>
                    </a:lnTo>
                    <a:moveTo>
                      <a:pt x="117577" y="106232"/>
                    </a:moveTo>
                    <a:lnTo>
                      <a:pt x="108766" y="124244"/>
                    </a:lnTo>
                    <a:moveTo>
                      <a:pt x="130026" y="286769"/>
                    </a:moveTo>
                    <a:lnTo>
                      <a:pt x="126454" y="282464"/>
                    </a:lnTo>
                    <a:moveTo>
                      <a:pt x="143913" y="302590"/>
                    </a:moveTo>
                    <a:lnTo>
                      <a:pt x="130026" y="286769"/>
                    </a:lnTo>
                    <a:moveTo>
                      <a:pt x="123501" y="105575"/>
                    </a:moveTo>
                    <a:lnTo>
                      <a:pt x="117577" y="106232"/>
                    </a:lnTo>
                    <a:moveTo>
                      <a:pt x="125082" y="105527"/>
                    </a:moveTo>
                    <a:lnTo>
                      <a:pt x="141180" y="105127"/>
                    </a:lnTo>
                    <a:moveTo>
                      <a:pt x="141180" y="105127"/>
                    </a:moveTo>
                    <a:lnTo>
                      <a:pt x="151590" y="105766"/>
                    </a:lnTo>
                    <a:moveTo>
                      <a:pt x="125082" y="105527"/>
                    </a:moveTo>
                    <a:lnTo>
                      <a:pt x="123501" y="105575"/>
                    </a:lnTo>
                    <a:moveTo>
                      <a:pt x="158572" y="106194"/>
                    </a:moveTo>
                    <a:lnTo>
                      <a:pt x="151590" y="105766"/>
                    </a:lnTo>
                    <a:moveTo>
                      <a:pt x="168678" y="107737"/>
                    </a:moveTo>
                    <a:lnTo>
                      <a:pt x="175431" y="108776"/>
                    </a:lnTo>
                    <a:moveTo>
                      <a:pt x="168678" y="107737"/>
                    </a:moveTo>
                    <a:lnTo>
                      <a:pt x="158572" y="106194"/>
                    </a:lnTo>
                    <a:moveTo>
                      <a:pt x="188757" y="112128"/>
                    </a:moveTo>
                    <a:lnTo>
                      <a:pt x="191500" y="112814"/>
                    </a:lnTo>
                    <a:moveTo>
                      <a:pt x="191500" y="112814"/>
                    </a:moveTo>
                    <a:lnTo>
                      <a:pt x="193300" y="113471"/>
                    </a:lnTo>
                    <a:moveTo>
                      <a:pt x="188757" y="112128"/>
                    </a:moveTo>
                    <a:lnTo>
                      <a:pt x="175431" y="108776"/>
                    </a:lnTo>
                    <a:moveTo>
                      <a:pt x="203978" y="117338"/>
                    </a:moveTo>
                    <a:lnTo>
                      <a:pt x="193300" y="113471"/>
                    </a:lnTo>
                    <a:moveTo>
                      <a:pt x="224342" y="269119"/>
                    </a:moveTo>
                    <a:lnTo>
                      <a:pt x="214598" y="275939"/>
                    </a:lnTo>
                    <a:moveTo>
                      <a:pt x="214598" y="275939"/>
                    </a:moveTo>
                    <a:lnTo>
                      <a:pt x="212950" y="277082"/>
                    </a:lnTo>
                    <a:moveTo>
                      <a:pt x="202511" y="282921"/>
                    </a:moveTo>
                    <a:lnTo>
                      <a:pt x="212950" y="277082"/>
                    </a:lnTo>
                    <a:moveTo>
                      <a:pt x="202511" y="282921"/>
                    </a:moveTo>
                    <a:lnTo>
                      <a:pt x="198463" y="285178"/>
                    </a:lnTo>
                    <a:moveTo>
                      <a:pt x="198463" y="285178"/>
                    </a:moveTo>
                    <a:lnTo>
                      <a:pt x="192062" y="287998"/>
                    </a:lnTo>
                    <a:moveTo>
                      <a:pt x="182842" y="292056"/>
                    </a:moveTo>
                    <a:lnTo>
                      <a:pt x="171945" y="295723"/>
                    </a:lnTo>
                    <a:moveTo>
                      <a:pt x="182842" y="292056"/>
                    </a:moveTo>
                    <a:lnTo>
                      <a:pt x="192062" y="287998"/>
                    </a:lnTo>
                    <a:moveTo>
                      <a:pt x="166306" y="297618"/>
                    </a:moveTo>
                    <a:lnTo>
                      <a:pt x="171945" y="295723"/>
                    </a:lnTo>
                    <a:moveTo>
                      <a:pt x="162449" y="298561"/>
                    </a:moveTo>
                    <a:lnTo>
                      <a:pt x="149123" y="301790"/>
                    </a:lnTo>
                    <a:moveTo>
                      <a:pt x="162449" y="298561"/>
                    </a:moveTo>
                    <a:lnTo>
                      <a:pt x="166306" y="297618"/>
                    </a:lnTo>
                    <a:moveTo>
                      <a:pt x="148209" y="301933"/>
                    </a:moveTo>
                    <a:lnTo>
                      <a:pt x="143913" y="302590"/>
                    </a:lnTo>
                    <a:moveTo>
                      <a:pt x="148209" y="301933"/>
                    </a:moveTo>
                    <a:lnTo>
                      <a:pt x="149123" y="301790"/>
                    </a:lnTo>
                    <a:moveTo>
                      <a:pt x="226905" y="288207"/>
                    </a:moveTo>
                    <a:lnTo>
                      <a:pt x="227714" y="294256"/>
                    </a:lnTo>
                    <a:moveTo>
                      <a:pt x="225600" y="278492"/>
                    </a:moveTo>
                    <a:lnTo>
                      <a:pt x="226905" y="288207"/>
                    </a:lnTo>
                    <a:moveTo>
                      <a:pt x="225600" y="278492"/>
                    </a:moveTo>
                    <a:lnTo>
                      <a:pt x="224342" y="269119"/>
                    </a:lnTo>
                    <a:moveTo>
                      <a:pt x="200606" y="92202"/>
                    </a:moveTo>
                    <a:lnTo>
                      <a:pt x="201549" y="99212"/>
                    </a:lnTo>
                    <a:moveTo>
                      <a:pt x="202778" y="108385"/>
                    </a:moveTo>
                    <a:lnTo>
                      <a:pt x="203978" y="117338"/>
                    </a:lnTo>
                    <a:moveTo>
                      <a:pt x="202778" y="108385"/>
                    </a:moveTo>
                    <a:lnTo>
                      <a:pt x="201549" y="99212"/>
                    </a:lnTo>
                    <a:moveTo>
                      <a:pt x="121148" y="85011"/>
                    </a:moveTo>
                    <a:lnTo>
                      <a:pt x="123587" y="84744"/>
                    </a:lnTo>
                    <a:moveTo>
                      <a:pt x="111185" y="86116"/>
                    </a:moveTo>
                    <a:lnTo>
                      <a:pt x="121148" y="85011"/>
                    </a:lnTo>
                    <a:moveTo>
                      <a:pt x="138341" y="84372"/>
                    </a:moveTo>
                    <a:lnTo>
                      <a:pt x="144942" y="84201"/>
                    </a:lnTo>
                    <a:moveTo>
                      <a:pt x="138341" y="84372"/>
                    </a:moveTo>
                    <a:lnTo>
                      <a:pt x="123587" y="84744"/>
                    </a:lnTo>
                    <a:moveTo>
                      <a:pt x="155429" y="84849"/>
                    </a:moveTo>
                    <a:lnTo>
                      <a:pt x="165973" y="85496"/>
                    </a:lnTo>
                    <a:moveTo>
                      <a:pt x="155429" y="84849"/>
                    </a:moveTo>
                    <a:lnTo>
                      <a:pt x="144942" y="84201"/>
                    </a:lnTo>
                    <a:moveTo>
                      <a:pt x="172307" y="86468"/>
                    </a:moveTo>
                    <a:lnTo>
                      <a:pt x="186347" y="88611"/>
                    </a:lnTo>
                    <a:moveTo>
                      <a:pt x="172307" y="86468"/>
                    </a:moveTo>
                    <a:lnTo>
                      <a:pt x="165973" y="85496"/>
                    </a:lnTo>
                    <a:moveTo>
                      <a:pt x="188843" y="89240"/>
                    </a:moveTo>
                    <a:lnTo>
                      <a:pt x="200606" y="92202"/>
                    </a:lnTo>
                    <a:moveTo>
                      <a:pt x="188843" y="89240"/>
                    </a:moveTo>
                    <a:lnTo>
                      <a:pt x="186347" y="88611"/>
                    </a:lnTo>
                    <a:moveTo>
                      <a:pt x="214189" y="301809"/>
                    </a:moveTo>
                    <a:lnTo>
                      <a:pt x="227714" y="294256"/>
                    </a:lnTo>
                    <a:moveTo>
                      <a:pt x="210188" y="303571"/>
                    </a:moveTo>
                    <a:lnTo>
                      <a:pt x="195301" y="310124"/>
                    </a:lnTo>
                    <a:moveTo>
                      <a:pt x="195301" y="310124"/>
                    </a:moveTo>
                    <a:lnTo>
                      <a:pt x="185433" y="313439"/>
                    </a:lnTo>
                    <a:moveTo>
                      <a:pt x="210188" y="303571"/>
                    </a:moveTo>
                    <a:lnTo>
                      <a:pt x="214189" y="301809"/>
                    </a:lnTo>
                    <a:moveTo>
                      <a:pt x="175317" y="316849"/>
                    </a:moveTo>
                    <a:lnTo>
                      <a:pt x="185433" y="313439"/>
                    </a:lnTo>
                    <a:moveTo>
                      <a:pt x="158182" y="321012"/>
                    </a:moveTo>
                    <a:lnTo>
                      <a:pt x="154553" y="321888"/>
                    </a:lnTo>
                    <a:moveTo>
                      <a:pt x="154553" y="321888"/>
                    </a:moveTo>
                    <a:lnTo>
                      <a:pt x="152286" y="322240"/>
                    </a:lnTo>
                    <a:moveTo>
                      <a:pt x="158182" y="321012"/>
                    </a:moveTo>
                    <a:lnTo>
                      <a:pt x="175317" y="316849"/>
                    </a:lnTo>
                    <a:moveTo>
                      <a:pt x="143046" y="323660"/>
                    </a:moveTo>
                    <a:lnTo>
                      <a:pt x="152286" y="322240"/>
                    </a:lnTo>
                    <a:moveTo>
                      <a:pt x="100841" y="79315"/>
                    </a:moveTo>
                    <a:lnTo>
                      <a:pt x="111185" y="86116"/>
                    </a:lnTo>
                    <a:moveTo>
                      <a:pt x="87030" y="71152"/>
                    </a:moveTo>
                    <a:lnTo>
                      <a:pt x="100841" y="79315"/>
                    </a:lnTo>
                    <a:moveTo>
                      <a:pt x="134045" y="333842"/>
                    </a:moveTo>
                    <a:lnTo>
                      <a:pt x="143046" y="323660"/>
                    </a:lnTo>
                    <a:moveTo>
                      <a:pt x="123692" y="344462"/>
                    </a:moveTo>
                    <a:lnTo>
                      <a:pt x="134045" y="333842"/>
                    </a:lnTo>
                    <a:moveTo>
                      <a:pt x="91859" y="66265"/>
                    </a:moveTo>
                    <a:lnTo>
                      <a:pt x="87030" y="71152"/>
                    </a:lnTo>
                    <a:moveTo>
                      <a:pt x="107594" y="52226"/>
                    </a:moveTo>
                    <a:lnTo>
                      <a:pt x="91859" y="66265"/>
                    </a:lnTo>
                    <a:moveTo>
                      <a:pt x="123758" y="41691"/>
                    </a:moveTo>
                    <a:lnTo>
                      <a:pt x="107594" y="52226"/>
                    </a:lnTo>
                    <a:moveTo>
                      <a:pt x="131997" y="37833"/>
                    </a:moveTo>
                    <a:lnTo>
                      <a:pt x="123758" y="41691"/>
                    </a:lnTo>
                    <a:moveTo>
                      <a:pt x="141027" y="35319"/>
                    </a:moveTo>
                    <a:lnTo>
                      <a:pt x="131997" y="37833"/>
                    </a:lnTo>
                    <a:moveTo>
                      <a:pt x="164649" y="28756"/>
                    </a:moveTo>
                    <a:lnTo>
                      <a:pt x="141027" y="35319"/>
                    </a:lnTo>
                    <a:moveTo>
                      <a:pt x="187223" y="26060"/>
                    </a:moveTo>
                    <a:lnTo>
                      <a:pt x="164649" y="28756"/>
                    </a:lnTo>
                    <a:moveTo>
                      <a:pt x="218437" y="27880"/>
                    </a:moveTo>
                    <a:lnTo>
                      <a:pt x="187223" y="26060"/>
                    </a:lnTo>
                    <a:moveTo>
                      <a:pt x="252765" y="29880"/>
                    </a:moveTo>
                    <a:lnTo>
                      <a:pt x="261852" y="32290"/>
                    </a:lnTo>
                    <a:moveTo>
                      <a:pt x="218437" y="27880"/>
                    </a:moveTo>
                    <a:lnTo>
                      <a:pt x="252765" y="29880"/>
                    </a:lnTo>
                    <a:moveTo>
                      <a:pt x="304762" y="45815"/>
                    </a:moveTo>
                    <a:lnTo>
                      <a:pt x="281226" y="37433"/>
                    </a:lnTo>
                    <a:moveTo>
                      <a:pt x="312134" y="49073"/>
                    </a:moveTo>
                    <a:lnTo>
                      <a:pt x="304762" y="45815"/>
                    </a:lnTo>
                    <a:moveTo>
                      <a:pt x="323936" y="56093"/>
                    </a:moveTo>
                    <a:lnTo>
                      <a:pt x="312134" y="49073"/>
                    </a:lnTo>
                    <a:moveTo>
                      <a:pt x="281226" y="37433"/>
                    </a:moveTo>
                    <a:lnTo>
                      <a:pt x="261852" y="32290"/>
                    </a:lnTo>
                    <a:moveTo>
                      <a:pt x="343881" y="69313"/>
                    </a:moveTo>
                    <a:lnTo>
                      <a:pt x="323936" y="56093"/>
                    </a:lnTo>
                    <a:moveTo>
                      <a:pt x="358816" y="81163"/>
                    </a:moveTo>
                    <a:lnTo>
                      <a:pt x="343881" y="69313"/>
                    </a:lnTo>
                    <a:moveTo>
                      <a:pt x="358816" y="81163"/>
                    </a:moveTo>
                    <a:lnTo>
                      <a:pt x="374961" y="98431"/>
                    </a:lnTo>
                    <a:moveTo>
                      <a:pt x="382657" y="264090"/>
                    </a:moveTo>
                    <a:lnTo>
                      <a:pt x="394268" y="242392"/>
                    </a:lnTo>
                    <a:moveTo>
                      <a:pt x="371389" y="279254"/>
                    </a:moveTo>
                    <a:lnTo>
                      <a:pt x="382657" y="264090"/>
                    </a:lnTo>
                    <a:moveTo>
                      <a:pt x="355102" y="297675"/>
                    </a:moveTo>
                    <a:lnTo>
                      <a:pt x="371389" y="279254"/>
                    </a:lnTo>
                    <a:moveTo>
                      <a:pt x="345796" y="307229"/>
                    </a:moveTo>
                    <a:lnTo>
                      <a:pt x="355102" y="297675"/>
                    </a:lnTo>
                    <a:moveTo>
                      <a:pt x="339719" y="312125"/>
                    </a:moveTo>
                    <a:lnTo>
                      <a:pt x="345796" y="307229"/>
                    </a:lnTo>
                    <a:moveTo>
                      <a:pt x="172650" y="364122"/>
                    </a:moveTo>
                    <a:lnTo>
                      <a:pt x="165630" y="362893"/>
                    </a:lnTo>
                    <a:moveTo>
                      <a:pt x="175841" y="364684"/>
                    </a:moveTo>
                    <a:lnTo>
                      <a:pt x="172650" y="364122"/>
                    </a:lnTo>
                    <a:moveTo>
                      <a:pt x="148523" y="357349"/>
                    </a:moveTo>
                    <a:lnTo>
                      <a:pt x="129159" y="347643"/>
                    </a:lnTo>
                    <a:moveTo>
                      <a:pt x="129159" y="347643"/>
                    </a:moveTo>
                    <a:lnTo>
                      <a:pt x="123692" y="344462"/>
                    </a:lnTo>
                    <a:moveTo>
                      <a:pt x="319907" y="325812"/>
                    </a:moveTo>
                    <a:lnTo>
                      <a:pt x="339719" y="312125"/>
                    </a:lnTo>
                    <a:moveTo>
                      <a:pt x="319907" y="325812"/>
                    </a:moveTo>
                    <a:lnTo>
                      <a:pt x="293265" y="341128"/>
                    </a:lnTo>
                    <a:moveTo>
                      <a:pt x="209740" y="364950"/>
                    </a:moveTo>
                    <a:lnTo>
                      <a:pt x="194177" y="364827"/>
                    </a:lnTo>
                    <a:moveTo>
                      <a:pt x="194177" y="364827"/>
                    </a:moveTo>
                    <a:lnTo>
                      <a:pt x="175841" y="364684"/>
                    </a:lnTo>
                    <a:moveTo>
                      <a:pt x="153505" y="358969"/>
                    </a:moveTo>
                    <a:lnTo>
                      <a:pt x="148523" y="357349"/>
                    </a:lnTo>
                    <a:moveTo>
                      <a:pt x="153505" y="358969"/>
                    </a:moveTo>
                    <a:lnTo>
                      <a:pt x="165630" y="362893"/>
                    </a:lnTo>
                    <a:moveTo>
                      <a:pt x="262033" y="351530"/>
                    </a:moveTo>
                    <a:lnTo>
                      <a:pt x="230991" y="361855"/>
                    </a:lnTo>
                    <a:moveTo>
                      <a:pt x="262033" y="351530"/>
                    </a:moveTo>
                    <a:lnTo>
                      <a:pt x="293265" y="341128"/>
                    </a:lnTo>
                    <a:moveTo>
                      <a:pt x="222799" y="363045"/>
                    </a:moveTo>
                    <a:lnTo>
                      <a:pt x="230991" y="361855"/>
                    </a:lnTo>
                    <a:moveTo>
                      <a:pt x="222799" y="363045"/>
                    </a:moveTo>
                    <a:lnTo>
                      <a:pt x="209740" y="364950"/>
                    </a:lnTo>
                    <a:moveTo>
                      <a:pt x="398793" y="276054"/>
                    </a:moveTo>
                    <a:lnTo>
                      <a:pt x="400564" y="289312"/>
                    </a:lnTo>
                    <a:moveTo>
                      <a:pt x="397640" y="267472"/>
                    </a:moveTo>
                    <a:lnTo>
                      <a:pt x="398793" y="276054"/>
                    </a:lnTo>
                    <a:moveTo>
                      <a:pt x="396411" y="258328"/>
                    </a:moveTo>
                    <a:lnTo>
                      <a:pt x="397640" y="267472"/>
                    </a:lnTo>
                    <a:moveTo>
                      <a:pt x="396411" y="258328"/>
                    </a:moveTo>
                    <a:lnTo>
                      <a:pt x="394268" y="242392"/>
                    </a:lnTo>
                    <a:moveTo>
                      <a:pt x="370522" y="65361"/>
                    </a:moveTo>
                    <a:lnTo>
                      <a:pt x="371732" y="74352"/>
                    </a:lnTo>
                    <a:moveTo>
                      <a:pt x="371732" y="74352"/>
                    </a:moveTo>
                    <a:lnTo>
                      <a:pt x="374961" y="98431"/>
                    </a:lnTo>
                    <a:moveTo>
                      <a:pt x="368646" y="51340"/>
                    </a:moveTo>
                    <a:lnTo>
                      <a:pt x="370522" y="65361"/>
                    </a:lnTo>
                  </a:path>
                </a:pathLst>
              </a:custGeom>
              <a:noFill/>
              <a:ln w="19050">
                <a:solidFill>
                  <a:srgbClr val="D9853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96378" y="2557282"/>
                <a:ext cx="66732" cy="90297"/>
              </a:xfrm>
              <a:custGeom>
                <a:avLst/>
                <a:gdLst/>
                <a:ahLst/>
                <a:cxnLst/>
                <a:rect l="l" t="t" r="r" b="b"/>
                <a:pathLst>
                  <a:path w="66732" h="90297">
                    <a:moveTo>
                      <a:pt x="16602" y="962"/>
                    </a:moveTo>
                    <a:lnTo>
                      <a:pt x="14888" y="1438"/>
                    </a:lnTo>
                    <a:moveTo>
                      <a:pt x="16602" y="962"/>
                    </a:moveTo>
                    <a:lnTo>
                      <a:pt x="22879" y="0"/>
                    </a:lnTo>
                    <a:moveTo>
                      <a:pt x="24536" y="19"/>
                    </a:moveTo>
                    <a:lnTo>
                      <a:pt x="22879" y="0"/>
                    </a:lnTo>
                    <a:moveTo>
                      <a:pt x="49901" y="16516"/>
                    </a:moveTo>
                    <a:lnTo>
                      <a:pt x="55540" y="24413"/>
                    </a:lnTo>
                    <a:moveTo>
                      <a:pt x="55540" y="24413"/>
                    </a:moveTo>
                    <a:lnTo>
                      <a:pt x="57112" y="26518"/>
                    </a:lnTo>
                    <a:moveTo>
                      <a:pt x="27880" y="1295"/>
                    </a:moveTo>
                    <a:lnTo>
                      <a:pt x="36128" y="3972"/>
                    </a:lnTo>
                    <a:moveTo>
                      <a:pt x="27880" y="1295"/>
                    </a:moveTo>
                    <a:lnTo>
                      <a:pt x="24536" y="19"/>
                    </a:lnTo>
                    <a:moveTo>
                      <a:pt x="61246" y="36595"/>
                    </a:moveTo>
                    <a:lnTo>
                      <a:pt x="57112" y="26518"/>
                    </a:lnTo>
                    <a:moveTo>
                      <a:pt x="61246" y="36595"/>
                    </a:moveTo>
                    <a:lnTo>
                      <a:pt x="63998" y="42910"/>
                    </a:lnTo>
                    <a:moveTo>
                      <a:pt x="38252" y="5848"/>
                    </a:moveTo>
                    <a:lnTo>
                      <a:pt x="47635" y="13345"/>
                    </a:lnTo>
                    <a:moveTo>
                      <a:pt x="38252" y="5848"/>
                    </a:moveTo>
                    <a:lnTo>
                      <a:pt x="36128" y="3972"/>
                    </a:lnTo>
                    <a:moveTo>
                      <a:pt x="60360" y="82706"/>
                    </a:moveTo>
                    <a:lnTo>
                      <a:pt x="58979" y="84630"/>
                    </a:lnTo>
                    <a:moveTo>
                      <a:pt x="54150" y="88201"/>
                    </a:moveTo>
                    <a:lnTo>
                      <a:pt x="53892" y="88382"/>
                    </a:lnTo>
                    <a:moveTo>
                      <a:pt x="54150" y="88201"/>
                    </a:moveTo>
                    <a:lnTo>
                      <a:pt x="58979" y="84630"/>
                    </a:lnTo>
                    <a:moveTo>
                      <a:pt x="66732" y="61998"/>
                    </a:moveTo>
                    <a:lnTo>
                      <a:pt x="63265" y="77962"/>
                    </a:lnTo>
                    <a:moveTo>
                      <a:pt x="64980" y="50378"/>
                    </a:moveTo>
                    <a:lnTo>
                      <a:pt x="63998" y="42910"/>
                    </a:lnTo>
                    <a:moveTo>
                      <a:pt x="64980" y="50378"/>
                    </a:moveTo>
                    <a:lnTo>
                      <a:pt x="66732" y="61998"/>
                    </a:lnTo>
                    <a:moveTo>
                      <a:pt x="48006" y="13916"/>
                    </a:moveTo>
                    <a:lnTo>
                      <a:pt x="47635" y="13345"/>
                    </a:lnTo>
                    <a:moveTo>
                      <a:pt x="48006" y="13916"/>
                    </a:moveTo>
                    <a:lnTo>
                      <a:pt x="49901" y="16516"/>
                    </a:lnTo>
                    <a:moveTo>
                      <a:pt x="48206" y="90192"/>
                    </a:moveTo>
                    <a:lnTo>
                      <a:pt x="53892" y="88382"/>
                    </a:lnTo>
                    <a:moveTo>
                      <a:pt x="48206" y="90192"/>
                    </a:moveTo>
                    <a:lnTo>
                      <a:pt x="47892" y="90297"/>
                    </a:lnTo>
                    <a:moveTo>
                      <a:pt x="47892" y="90297"/>
                    </a:moveTo>
                    <a:lnTo>
                      <a:pt x="47539" y="90287"/>
                    </a:lnTo>
                    <a:moveTo>
                      <a:pt x="40853" y="90202"/>
                    </a:moveTo>
                    <a:lnTo>
                      <a:pt x="47539" y="90287"/>
                    </a:lnTo>
                    <a:moveTo>
                      <a:pt x="63084" y="78781"/>
                    </a:moveTo>
                    <a:lnTo>
                      <a:pt x="63265" y="77962"/>
                    </a:lnTo>
                    <a:moveTo>
                      <a:pt x="62941" y="78981"/>
                    </a:moveTo>
                    <a:lnTo>
                      <a:pt x="60360" y="82706"/>
                    </a:lnTo>
                    <a:moveTo>
                      <a:pt x="62941" y="78981"/>
                    </a:moveTo>
                    <a:lnTo>
                      <a:pt x="63084" y="78781"/>
                    </a:lnTo>
                    <a:moveTo>
                      <a:pt x="39014" y="89383"/>
                    </a:moveTo>
                    <a:lnTo>
                      <a:pt x="40853" y="90202"/>
                    </a:lnTo>
                    <a:moveTo>
                      <a:pt x="25422" y="82934"/>
                    </a:moveTo>
                    <a:lnTo>
                      <a:pt x="15859" y="72542"/>
                    </a:lnTo>
                    <a:moveTo>
                      <a:pt x="25422" y="82934"/>
                    </a:moveTo>
                    <a:lnTo>
                      <a:pt x="39014" y="89383"/>
                    </a:lnTo>
                    <a:moveTo>
                      <a:pt x="12106" y="68409"/>
                    </a:moveTo>
                    <a:lnTo>
                      <a:pt x="15859" y="72542"/>
                    </a:lnTo>
                    <a:moveTo>
                      <a:pt x="8049" y="60274"/>
                    </a:moveTo>
                    <a:lnTo>
                      <a:pt x="12106" y="68409"/>
                    </a:lnTo>
                    <a:moveTo>
                      <a:pt x="8049" y="60274"/>
                    </a:moveTo>
                    <a:lnTo>
                      <a:pt x="3772" y="51806"/>
                    </a:lnTo>
                    <a:moveTo>
                      <a:pt x="629" y="37719"/>
                    </a:moveTo>
                    <a:lnTo>
                      <a:pt x="0" y="35014"/>
                    </a:lnTo>
                    <a:moveTo>
                      <a:pt x="0" y="35014"/>
                    </a:moveTo>
                    <a:lnTo>
                      <a:pt x="76" y="33395"/>
                    </a:lnTo>
                    <a:moveTo>
                      <a:pt x="629" y="37719"/>
                    </a:moveTo>
                    <a:lnTo>
                      <a:pt x="3772" y="51806"/>
                    </a:lnTo>
                    <a:moveTo>
                      <a:pt x="448" y="27165"/>
                    </a:moveTo>
                    <a:lnTo>
                      <a:pt x="76" y="33395"/>
                    </a:lnTo>
                    <a:moveTo>
                      <a:pt x="1105" y="19145"/>
                    </a:moveTo>
                    <a:lnTo>
                      <a:pt x="448" y="27165"/>
                    </a:lnTo>
                    <a:moveTo>
                      <a:pt x="1838" y="17717"/>
                    </a:moveTo>
                    <a:lnTo>
                      <a:pt x="6706" y="7515"/>
                    </a:lnTo>
                    <a:moveTo>
                      <a:pt x="1838" y="17717"/>
                    </a:moveTo>
                    <a:lnTo>
                      <a:pt x="1105" y="19145"/>
                    </a:lnTo>
                    <a:moveTo>
                      <a:pt x="13202" y="2257"/>
                    </a:moveTo>
                    <a:lnTo>
                      <a:pt x="14888" y="1438"/>
                    </a:lnTo>
                    <a:moveTo>
                      <a:pt x="10554" y="3772"/>
                    </a:moveTo>
                    <a:lnTo>
                      <a:pt x="13202" y="2257"/>
                    </a:lnTo>
                    <a:moveTo>
                      <a:pt x="7744" y="6553"/>
                    </a:moveTo>
                    <a:lnTo>
                      <a:pt x="10554" y="3772"/>
                    </a:lnTo>
                    <a:moveTo>
                      <a:pt x="7744" y="6553"/>
                    </a:moveTo>
                    <a:lnTo>
                      <a:pt x="6706" y="7515"/>
                    </a:lnTo>
                  </a:path>
                </a:pathLst>
              </a:custGeom>
              <a:noFill/>
              <a:ln w="19050">
                <a:solidFill>
                  <a:srgbClr val="A357B9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687830" y="20605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4364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软叶邻近</a:t>
                </a:r>
                <a:endParaRPr lang="zh-CN" sz="1500" b="1" dirty="0">
                  <a:solidFill>
                    <a:srgbClr val="24364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740075" y="2295525"/>
                <a:ext cx="2130076" cy="1400175"/>
              </a:xfrm>
              <a:custGeom>
                <a:avLst/>
                <a:gdLst/>
                <a:ahLst/>
                <a:cxnLst/>
                <a:rect l="l" t="t" r="r" b="b"/>
                <a:pathLst>
                  <a:path w="2130076" h="1400175">
                    <a:moveTo>
                      <a:pt x="1889122" y="1109462"/>
                    </a:moveTo>
                    <a:lnTo>
                      <a:pt x="1997602" y="1027119"/>
                    </a:lnTo>
                    <a:moveTo>
                      <a:pt x="990267" y="1354979"/>
                    </a:moveTo>
                    <a:lnTo>
                      <a:pt x="1054370" y="1343339"/>
                    </a:lnTo>
                    <a:moveTo>
                      <a:pt x="1880845" y="1114749"/>
                    </a:moveTo>
                    <a:lnTo>
                      <a:pt x="1886312" y="1111158"/>
                    </a:lnTo>
                    <a:moveTo>
                      <a:pt x="1886312" y="1111158"/>
                    </a:moveTo>
                    <a:lnTo>
                      <a:pt x="1887141" y="1110605"/>
                    </a:lnTo>
                    <a:moveTo>
                      <a:pt x="1880845" y="1114749"/>
                    </a:moveTo>
                    <a:lnTo>
                      <a:pt x="1771850" y="1181786"/>
                    </a:lnTo>
                    <a:moveTo>
                      <a:pt x="1771850" y="1181786"/>
                    </a:moveTo>
                    <a:lnTo>
                      <a:pt x="1748314" y="1193635"/>
                    </a:lnTo>
                    <a:moveTo>
                      <a:pt x="1671552" y="1232297"/>
                    </a:moveTo>
                    <a:lnTo>
                      <a:pt x="1748314" y="1193635"/>
                    </a:lnTo>
                    <a:moveTo>
                      <a:pt x="1346102" y="1312240"/>
                    </a:moveTo>
                    <a:lnTo>
                      <a:pt x="1346902" y="1312154"/>
                    </a:lnTo>
                    <a:moveTo>
                      <a:pt x="1346902" y="1312154"/>
                    </a:moveTo>
                    <a:lnTo>
                      <a:pt x="1349188" y="1311831"/>
                    </a:lnTo>
                    <a:moveTo>
                      <a:pt x="157505" y="1156468"/>
                    </a:moveTo>
                    <a:lnTo>
                      <a:pt x="206121" y="1202379"/>
                    </a:lnTo>
                    <a:moveTo>
                      <a:pt x="290189" y="1285789"/>
                    </a:moveTo>
                    <a:lnTo>
                      <a:pt x="255775" y="1258786"/>
                    </a:lnTo>
                    <a:moveTo>
                      <a:pt x="255775" y="1258786"/>
                    </a:moveTo>
                    <a:lnTo>
                      <a:pt x="206121" y="1202379"/>
                    </a:lnTo>
                    <a:moveTo>
                      <a:pt x="100155" y="1061933"/>
                    </a:moveTo>
                    <a:lnTo>
                      <a:pt x="150952" y="1143200"/>
                    </a:lnTo>
                    <a:moveTo>
                      <a:pt x="157505" y="1156468"/>
                    </a:moveTo>
                    <a:lnTo>
                      <a:pt x="150952" y="1143200"/>
                    </a:lnTo>
                    <a:moveTo>
                      <a:pt x="744274" y="1391879"/>
                    </a:moveTo>
                    <a:lnTo>
                      <a:pt x="776259" y="1387869"/>
                    </a:lnTo>
                    <a:moveTo>
                      <a:pt x="776259" y="1387869"/>
                    </a:moveTo>
                    <a:lnTo>
                      <a:pt x="835476" y="1378944"/>
                    </a:lnTo>
                    <a:moveTo>
                      <a:pt x="1746047" y="756323"/>
                    </a:moveTo>
                    <a:lnTo>
                      <a:pt x="1727730" y="739188"/>
                    </a:lnTo>
                    <a:moveTo>
                      <a:pt x="1746047" y="756323"/>
                    </a:moveTo>
                    <a:lnTo>
                      <a:pt x="1792167" y="765238"/>
                    </a:lnTo>
                    <a:moveTo>
                      <a:pt x="1847278" y="783536"/>
                    </a:moveTo>
                    <a:lnTo>
                      <a:pt x="1792167" y="765238"/>
                    </a:lnTo>
                    <a:moveTo>
                      <a:pt x="1694783" y="645681"/>
                    </a:moveTo>
                    <a:lnTo>
                      <a:pt x="1707794" y="677513"/>
                    </a:lnTo>
                    <a:moveTo>
                      <a:pt x="1707794" y="677513"/>
                    </a:moveTo>
                    <a:lnTo>
                      <a:pt x="1727730" y="739188"/>
                    </a:lnTo>
                    <a:moveTo>
                      <a:pt x="1847278" y="783536"/>
                    </a:moveTo>
                    <a:lnTo>
                      <a:pt x="1903714" y="778688"/>
                    </a:lnTo>
                    <a:moveTo>
                      <a:pt x="1903714" y="778688"/>
                    </a:moveTo>
                    <a:lnTo>
                      <a:pt x="1965779" y="774944"/>
                    </a:lnTo>
                    <a:moveTo>
                      <a:pt x="391716" y="1357303"/>
                    </a:moveTo>
                    <a:lnTo>
                      <a:pt x="391354" y="1357255"/>
                    </a:lnTo>
                    <a:moveTo>
                      <a:pt x="391354" y="1357255"/>
                    </a:moveTo>
                    <a:lnTo>
                      <a:pt x="389658" y="1356265"/>
                    </a:lnTo>
                    <a:moveTo>
                      <a:pt x="1216676" y="1321413"/>
                    </a:moveTo>
                    <a:lnTo>
                      <a:pt x="1346102" y="1312240"/>
                    </a:lnTo>
                    <a:moveTo>
                      <a:pt x="1179405" y="1330490"/>
                    </a:moveTo>
                    <a:lnTo>
                      <a:pt x="1216676" y="1321413"/>
                    </a:lnTo>
                    <a:moveTo>
                      <a:pt x="392821" y="1357608"/>
                    </a:moveTo>
                    <a:lnTo>
                      <a:pt x="525980" y="1393336"/>
                    </a:lnTo>
                    <a:moveTo>
                      <a:pt x="525980" y="1393336"/>
                    </a:moveTo>
                    <a:lnTo>
                      <a:pt x="623964" y="1397860"/>
                    </a:lnTo>
                    <a:moveTo>
                      <a:pt x="623964" y="1397860"/>
                    </a:moveTo>
                    <a:lnTo>
                      <a:pt x="655577" y="1399908"/>
                    </a:lnTo>
                    <a:moveTo>
                      <a:pt x="391716" y="1357303"/>
                    </a:moveTo>
                    <a:lnTo>
                      <a:pt x="392821" y="1357608"/>
                    </a:lnTo>
                    <a:moveTo>
                      <a:pt x="14135" y="769287"/>
                    </a:moveTo>
                    <a:lnTo>
                      <a:pt x="200" y="657215"/>
                    </a:lnTo>
                    <a:moveTo>
                      <a:pt x="1965779" y="774944"/>
                    </a:moveTo>
                    <a:lnTo>
                      <a:pt x="1993059" y="787584"/>
                    </a:lnTo>
                    <a:moveTo>
                      <a:pt x="25232" y="825713"/>
                    </a:moveTo>
                    <a:lnTo>
                      <a:pt x="20288" y="805853"/>
                    </a:lnTo>
                    <a:moveTo>
                      <a:pt x="14135" y="769287"/>
                    </a:moveTo>
                    <a:lnTo>
                      <a:pt x="20288" y="805853"/>
                    </a:lnTo>
                    <a:moveTo>
                      <a:pt x="1179405" y="1330490"/>
                    </a:moveTo>
                    <a:lnTo>
                      <a:pt x="1107262" y="1339806"/>
                    </a:lnTo>
                    <a:moveTo>
                      <a:pt x="25232" y="825713"/>
                    </a:moveTo>
                    <a:lnTo>
                      <a:pt x="53550" y="939184"/>
                    </a:lnTo>
                    <a:moveTo>
                      <a:pt x="96250" y="1047960"/>
                    </a:moveTo>
                    <a:lnTo>
                      <a:pt x="57426" y="955967"/>
                    </a:lnTo>
                    <a:moveTo>
                      <a:pt x="57426" y="955967"/>
                    </a:moveTo>
                    <a:lnTo>
                      <a:pt x="53550" y="939184"/>
                    </a:lnTo>
                    <a:moveTo>
                      <a:pt x="1458820" y="1287132"/>
                    </a:moveTo>
                    <a:lnTo>
                      <a:pt x="1349188" y="1311831"/>
                    </a:lnTo>
                    <a:moveTo>
                      <a:pt x="1054370" y="1343339"/>
                    </a:moveTo>
                    <a:lnTo>
                      <a:pt x="1107262" y="1339806"/>
                    </a:lnTo>
                    <a:moveTo>
                      <a:pt x="389658" y="1356265"/>
                    </a:moveTo>
                    <a:lnTo>
                      <a:pt x="290189" y="1285789"/>
                    </a:lnTo>
                    <a:moveTo>
                      <a:pt x="1889122" y="1109462"/>
                    </a:moveTo>
                    <a:lnTo>
                      <a:pt x="1887141" y="1110605"/>
                    </a:lnTo>
                    <a:moveTo>
                      <a:pt x="744274" y="1391879"/>
                    </a:moveTo>
                    <a:lnTo>
                      <a:pt x="690772" y="1400175"/>
                    </a:lnTo>
                    <a:moveTo>
                      <a:pt x="690772" y="1400175"/>
                    </a:moveTo>
                    <a:lnTo>
                      <a:pt x="655577" y="1399908"/>
                    </a:lnTo>
                    <a:moveTo>
                      <a:pt x="96250" y="1047960"/>
                    </a:moveTo>
                    <a:lnTo>
                      <a:pt x="100155" y="1061933"/>
                    </a:lnTo>
                    <a:moveTo>
                      <a:pt x="990267" y="1354979"/>
                    </a:moveTo>
                    <a:lnTo>
                      <a:pt x="942365" y="1361665"/>
                    </a:lnTo>
                    <a:moveTo>
                      <a:pt x="912400" y="1368285"/>
                    </a:moveTo>
                    <a:lnTo>
                      <a:pt x="942365" y="1361665"/>
                    </a:lnTo>
                    <a:moveTo>
                      <a:pt x="1694783" y="645681"/>
                    </a:moveTo>
                    <a:lnTo>
                      <a:pt x="1706328" y="570005"/>
                    </a:lnTo>
                    <a:moveTo>
                      <a:pt x="2069249" y="969855"/>
                    </a:moveTo>
                    <a:lnTo>
                      <a:pt x="2092928" y="931374"/>
                    </a:lnTo>
                    <a:moveTo>
                      <a:pt x="1997602" y="1027119"/>
                    </a:moveTo>
                    <a:lnTo>
                      <a:pt x="2069249" y="969855"/>
                    </a:lnTo>
                    <a:moveTo>
                      <a:pt x="2102329" y="882882"/>
                    </a:moveTo>
                    <a:lnTo>
                      <a:pt x="2092928" y="931374"/>
                    </a:lnTo>
                    <a:moveTo>
                      <a:pt x="1562662" y="1267606"/>
                    </a:moveTo>
                    <a:lnTo>
                      <a:pt x="1639967" y="1246442"/>
                    </a:lnTo>
                    <a:moveTo>
                      <a:pt x="1510474" y="1280208"/>
                    </a:moveTo>
                    <a:lnTo>
                      <a:pt x="1562662" y="1267606"/>
                    </a:lnTo>
                    <a:moveTo>
                      <a:pt x="2094395" y="769753"/>
                    </a:moveTo>
                    <a:lnTo>
                      <a:pt x="2025158" y="776154"/>
                    </a:lnTo>
                    <a:moveTo>
                      <a:pt x="1993059" y="787584"/>
                    </a:moveTo>
                    <a:lnTo>
                      <a:pt x="2025158" y="776154"/>
                    </a:lnTo>
                    <a:moveTo>
                      <a:pt x="835476" y="1378944"/>
                    </a:moveTo>
                    <a:lnTo>
                      <a:pt x="912400" y="1368285"/>
                    </a:lnTo>
                    <a:moveTo>
                      <a:pt x="1510474" y="1280208"/>
                    </a:moveTo>
                    <a:lnTo>
                      <a:pt x="1458820" y="1287132"/>
                    </a:lnTo>
                    <a:moveTo>
                      <a:pt x="2102329" y="882882"/>
                    </a:moveTo>
                    <a:lnTo>
                      <a:pt x="2130076" y="828161"/>
                    </a:lnTo>
                    <a:moveTo>
                      <a:pt x="2094395" y="769753"/>
                    </a:moveTo>
                    <a:lnTo>
                      <a:pt x="2130076" y="828161"/>
                    </a:lnTo>
                    <a:moveTo>
                      <a:pt x="1639967" y="1246442"/>
                    </a:moveTo>
                    <a:lnTo>
                      <a:pt x="1671552" y="1232297"/>
                    </a:lnTo>
                    <a:moveTo>
                      <a:pt x="1854756" y="322250"/>
                    </a:moveTo>
                    <a:lnTo>
                      <a:pt x="1826009" y="346796"/>
                    </a:lnTo>
                    <a:moveTo>
                      <a:pt x="1777536" y="408622"/>
                    </a:moveTo>
                    <a:lnTo>
                      <a:pt x="1826009" y="346796"/>
                    </a:lnTo>
                    <a:moveTo>
                      <a:pt x="0" y="569995"/>
                    </a:moveTo>
                    <a:lnTo>
                      <a:pt x="3362" y="520560"/>
                    </a:lnTo>
                    <a:moveTo>
                      <a:pt x="10135" y="478288"/>
                    </a:moveTo>
                    <a:lnTo>
                      <a:pt x="3362" y="520560"/>
                    </a:lnTo>
                    <a:moveTo>
                      <a:pt x="1854756" y="322250"/>
                    </a:moveTo>
                    <a:lnTo>
                      <a:pt x="1912591" y="258194"/>
                    </a:lnTo>
                    <a:moveTo>
                      <a:pt x="1939233" y="238430"/>
                    </a:moveTo>
                    <a:lnTo>
                      <a:pt x="1912591" y="258194"/>
                    </a:lnTo>
                    <a:moveTo>
                      <a:pt x="51216" y="99641"/>
                    </a:moveTo>
                    <a:lnTo>
                      <a:pt x="56226" y="164173"/>
                    </a:lnTo>
                    <a:moveTo>
                      <a:pt x="56140" y="197234"/>
                    </a:moveTo>
                    <a:lnTo>
                      <a:pt x="56226" y="164173"/>
                    </a:lnTo>
                    <a:moveTo>
                      <a:pt x="45568" y="281664"/>
                    </a:moveTo>
                    <a:lnTo>
                      <a:pt x="56140" y="197234"/>
                    </a:lnTo>
                    <a:moveTo>
                      <a:pt x="0" y="569995"/>
                    </a:moveTo>
                    <a:lnTo>
                      <a:pt x="200" y="657215"/>
                    </a:lnTo>
                    <a:moveTo>
                      <a:pt x="1756362" y="446132"/>
                    </a:moveTo>
                    <a:lnTo>
                      <a:pt x="1777536" y="408622"/>
                    </a:lnTo>
                    <a:moveTo>
                      <a:pt x="1718558" y="530047"/>
                    </a:moveTo>
                    <a:lnTo>
                      <a:pt x="1756362" y="446132"/>
                    </a:lnTo>
                    <a:moveTo>
                      <a:pt x="1718558" y="530047"/>
                    </a:moveTo>
                    <a:lnTo>
                      <a:pt x="1713643" y="541934"/>
                    </a:lnTo>
                    <a:moveTo>
                      <a:pt x="2061629" y="157924"/>
                    </a:moveTo>
                    <a:lnTo>
                      <a:pt x="2013109" y="183251"/>
                    </a:lnTo>
                    <a:moveTo>
                      <a:pt x="23041" y="400021"/>
                    </a:moveTo>
                    <a:lnTo>
                      <a:pt x="10135" y="478288"/>
                    </a:lnTo>
                    <a:moveTo>
                      <a:pt x="1983029" y="206454"/>
                    </a:moveTo>
                    <a:lnTo>
                      <a:pt x="1939233" y="238430"/>
                    </a:lnTo>
                    <a:moveTo>
                      <a:pt x="2013109" y="183251"/>
                    </a:moveTo>
                    <a:lnTo>
                      <a:pt x="1983029" y="206454"/>
                    </a:lnTo>
                    <a:moveTo>
                      <a:pt x="1711195" y="545363"/>
                    </a:moveTo>
                    <a:lnTo>
                      <a:pt x="1713643" y="541934"/>
                    </a:lnTo>
                    <a:moveTo>
                      <a:pt x="1711195" y="545363"/>
                    </a:moveTo>
                    <a:lnTo>
                      <a:pt x="1706328" y="570005"/>
                    </a:lnTo>
                    <a:moveTo>
                      <a:pt x="45568" y="281664"/>
                    </a:moveTo>
                    <a:lnTo>
                      <a:pt x="29832" y="343262"/>
                    </a:lnTo>
                    <a:moveTo>
                      <a:pt x="23041" y="400021"/>
                    </a:moveTo>
                    <a:lnTo>
                      <a:pt x="29832" y="343262"/>
                    </a:lnTo>
                    <a:moveTo>
                      <a:pt x="51216" y="99641"/>
                    </a:moveTo>
                    <a:lnTo>
                      <a:pt x="19069" y="0"/>
                    </a:lnTo>
                  </a:path>
                </a:pathLst>
              </a:custGeom>
              <a:noFill/>
              <a:ln w="19050">
                <a:solidFill>
                  <a:srgbClr val="7C8F99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946597" y="2770251"/>
                <a:ext cx="494014" cy="148219"/>
              </a:xfrm>
              <a:custGeom>
                <a:avLst/>
                <a:gdLst/>
                <a:ahLst/>
                <a:cxnLst/>
                <a:rect l="l" t="t" r="r" b="b"/>
                <a:pathLst>
                  <a:path w="494014" h="148219">
                    <a:moveTo>
                      <a:pt x="7191" y="81296"/>
                    </a:moveTo>
                    <a:lnTo>
                      <a:pt x="1419" y="77362"/>
                    </a:lnTo>
                    <a:moveTo>
                      <a:pt x="7191" y="81296"/>
                    </a:moveTo>
                    <a:lnTo>
                      <a:pt x="36376" y="100089"/>
                    </a:lnTo>
                    <a:moveTo>
                      <a:pt x="1419" y="77362"/>
                    </a:moveTo>
                    <a:lnTo>
                      <a:pt x="676" y="67570"/>
                    </a:lnTo>
                    <a:moveTo>
                      <a:pt x="0" y="56121"/>
                    </a:moveTo>
                    <a:lnTo>
                      <a:pt x="676" y="67570"/>
                    </a:lnTo>
                    <a:moveTo>
                      <a:pt x="0" y="56121"/>
                    </a:moveTo>
                    <a:lnTo>
                      <a:pt x="18517" y="44739"/>
                    </a:lnTo>
                    <a:moveTo>
                      <a:pt x="43729" y="29651"/>
                    </a:moveTo>
                    <a:lnTo>
                      <a:pt x="18517" y="44739"/>
                    </a:lnTo>
                    <a:moveTo>
                      <a:pt x="67542" y="16774"/>
                    </a:moveTo>
                    <a:lnTo>
                      <a:pt x="43729" y="29651"/>
                    </a:lnTo>
                    <a:moveTo>
                      <a:pt x="125349" y="8011"/>
                    </a:moveTo>
                    <a:lnTo>
                      <a:pt x="67542" y="16774"/>
                    </a:lnTo>
                    <a:moveTo>
                      <a:pt x="198892" y="124"/>
                    </a:moveTo>
                    <a:lnTo>
                      <a:pt x="176965" y="2410"/>
                    </a:lnTo>
                    <a:moveTo>
                      <a:pt x="176965" y="2410"/>
                    </a:moveTo>
                    <a:lnTo>
                      <a:pt x="125349" y="8011"/>
                    </a:lnTo>
                    <a:moveTo>
                      <a:pt x="233248" y="0"/>
                    </a:moveTo>
                    <a:lnTo>
                      <a:pt x="198892" y="124"/>
                    </a:lnTo>
                    <a:moveTo>
                      <a:pt x="264281" y="2657"/>
                    </a:moveTo>
                    <a:lnTo>
                      <a:pt x="233248" y="0"/>
                    </a:lnTo>
                    <a:moveTo>
                      <a:pt x="307638" y="9639"/>
                    </a:moveTo>
                    <a:lnTo>
                      <a:pt x="264281" y="2657"/>
                    </a:lnTo>
                    <a:moveTo>
                      <a:pt x="321164" y="11897"/>
                    </a:moveTo>
                    <a:lnTo>
                      <a:pt x="307638" y="9639"/>
                    </a:lnTo>
                    <a:moveTo>
                      <a:pt x="369170" y="22136"/>
                    </a:moveTo>
                    <a:lnTo>
                      <a:pt x="340690" y="16231"/>
                    </a:lnTo>
                    <a:moveTo>
                      <a:pt x="340690" y="16231"/>
                    </a:moveTo>
                    <a:lnTo>
                      <a:pt x="321164" y="11897"/>
                    </a:lnTo>
                    <a:moveTo>
                      <a:pt x="56036" y="113481"/>
                    </a:moveTo>
                    <a:lnTo>
                      <a:pt x="36376" y="100089"/>
                    </a:lnTo>
                    <a:moveTo>
                      <a:pt x="407422" y="30871"/>
                    </a:moveTo>
                    <a:lnTo>
                      <a:pt x="389601" y="27137"/>
                    </a:lnTo>
                    <a:moveTo>
                      <a:pt x="389601" y="27137"/>
                    </a:moveTo>
                    <a:lnTo>
                      <a:pt x="369170" y="22136"/>
                    </a:lnTo>
                    <a:moveTo>
                      <a:pt x="108937" y="131483"/>
                    </a:moveTo>
                    <a:lnTo>
                      <a:pt x="84268" y="123777"/>
                    </a:lnTo>
                    <a:moveTo>
                      <a:pt x="63122" y="117205"/>
                    </a:moveTo>
                    <a:lnTo>
                      <a:pt x="56036" y="113481"/>
                    </a:lnTo>
                    <a:moveTo>
                      <a:pt x="84268" y="123777"/>
                    </a:moveTo>
                    <a:lnTo>
                      <a:pt x="63122" y="117205"/>
                    </a:lnTo>
                    <a:moveTo>
                      <a:pt x="422205" y="33776"/>
                    </a:moveTo>
                    <a:lnTo>
                      <a:pt x="407422" y="30871"/>
                    </a:lnTo>
                    <a:moveTo>
                      <a:pt x="435569" y="37319"/>
                    </a:moveTo>
                    <a:lnTo>
                      <a:pt x="422205" y="33776"/>
                    </a:lnTo>
                    <a:moveTo>
                      <a:pt x="455590" y="42624"/>
                    </a:moveTo>
                    <a:lnTo>
                      <a:pt x="445980" y="40615"/>
                    </a:lnTo>
                    <a:moveTo>
                      <a:pt x="445980" y="40615"/>
                    </a:moveTo>
                    <a:lnTo>
                      <a:pt x="435569" y="37319"/>
                    </a:lnTo>
                    <a:moveTo>
                      <a:pt x="485156" y="50340"/>
                    </a:moveTo>
                    <a:lnTo>
                      <a:pt x="486175" y="50578"/>
                    </a:lnTo>
                    <a:moveTo>
                      <a:pt x="473593" y="47187"/>
                    </a:moveTo>
                    <a:lnTo>
                      <a:pt x="485156" y="50340"/>
                    </a:lnTo>
                    <a:moveTo>
                      <a:pt x="470926" y="46587"/>
                    </a:moveTo>
                    <a:lnTo>
                      <a:pt x="455590" y="42624"/>
                    </a:lnTo>
                    <a:moveTo>
                      <a:pt x="471992" y="46939"/>
                    </a:moveTo>
                    <a:lnTo>
                      <a:pt x="473593" y="47187"/>
                    </a:lnTo>
                    <a:moveTo>
                      <a:pt x="471992" y="46939"/>
                    </a:moveTo>
                    <a:lnTo>
                      <a:pt x="470926" y="46587"/>
                    </a:lnTo>
                    <a:moveTo>
                      <a:pt x="400774" y="124044"/>
                    </a:moveTo>
                    <a:lnTo>
                      <a:pt x="369227" y="132874"/>
                    </a:lnTo>
                    <a:moveTo>
                      <a:pt x="406375" y="122615"/>
                    </a:moveTo>
                    <a:lnTo>
                      <a:pt x="400774" y="124044"/>
                    </a:lnTo>
                    <a:moveTo>
                      <a:pt x="363188" y="134207"/>
                    </a:moveTo>
                    <a:lnTo>
                      <a:pt x="361483" y="134626"/>
                    </a:lnTo>
                    <a:moveTo>
                      <a:pt x="363188" y="134207"/>
                    </a:moveTo>
                    <a:lnTo>
                      <a:pt x="369227" y="132874"/>
                    </a:lnTo>
                    <a:moveTo>
                      <a:pt x="431625" y="113224"/>
                    </a:moveTo>
                    <a:lnTo>
                      <a:pt x="406375" y="122615"/>
                    </a:lnTo>
                    <a:moveTo>
                      <a:pt x="441731" y="109823"/>
                    </a:moveTo>
                    <a:lnTo>
                      <a:pt x="431625" y="113224"/>
                    </a:lnTo>
                    <a:moveTo>
                      <a:pt x="113167" y="132702"/>
                    </a:moveTo>
                    <a:lnTo>
                      <a:pt x="108937" y="131483"/>
                    </a:lnTo>
                    <a:moveTo>
                      <a:pt x="491747" y="53492"/>
                    </a:moveTo>
                    <a:lnTo>
                      <a:pt x="491366" y="53026"/>
                    </a:lnTo>
                    <a:moveTo>
                      <a:pt x="490490" y="52511"/>
                    </a:moveTo>
                    <a:lnTo>
                      <a:pt x="486175" y="50578"/>
                    </a:lnTo>
                    <a:moveTo>
                      <a:pt x="492033" y="53664"/>
                    </a:moveTo>
                    <a:lnTo>
                      <a:pt x="491747" y="53492"/>
                    </a:lnTo>
                    <a:moveTo>
                      <a:pt x="492033" y="53664"/>
                    </a:moveTo>
                    <a:lnTo>
                      <a:pt x="493319" y="55216"/>
                    </a:lnTo>
                    <a:moveTo>
                      <a:pt x="491366" y="53026"/>
                    </a:moveTo>
                    <a:lnTo>
                      <a:pt x="490490" y="52511"/>
                    </a:lnTo>
                    <a:moveTo>
                      <a:pt x="490128" y="71228"/>
                    </a:moveTo>
                    <a:lnTo>
                      <a:pt x="485404" y="78686"/>
                    </a:lnTo>
                    <a:moveTo>
                      <a:pt x="492700" y="65923"/>
                    </a:moveTo>
                    <a:lnTo>
                      <a:pt x="492404" y="66989"/>
                    </a:lnTo>
                    <a:moveTo>
                      <a:pt x="492404" y="66989"/>
                    </a:moveTo>
                    <a:lnTo>
                      <a:pt x="490128" y="71228"/>
                    </a:lnTo>
                    <a:moveTo>
                      <a:pt x="123282" y="134007"/>
                    </a:moveTo>
                    <a:lnTo>
                      <a:pt x="113167" y="132702"/>
                    </a:lnTo>
                    <a:moveTo>
                      <a:pt x="150057" y="140541"/>
                    </a:moveTo>
                    <a:lnTo>
                      <a:pt x="156096" y="141970"/>
                    </a:lnTo>
                    <a:moveTo>
                      <a:pt x="150057" y="140541"/>
                    </a:moveTo>
                    <a:lnTo>
                      <a:pt x="123282" y="134007"/>
                    </a:lnTo>
                    <a:moveTo>
                      <a:pt x="172260" y="145304"/>
                    </a:moveTo>
                    <a:lnTo>
                      <a:pt x="172250" y="145304"/>
                    </a:lnTo>
                    <a:moveTo>
                      <a:pt x="172250" y="145304"/>
                    </a:moveTo>
                    <a:lnTo>
                      <a:pt x="156096" y="141970"/>
                    </a:lnTo>
                    <a:moveTo>
                      <a:pt x="188805" y="146742"/>
                    </a:moveTo>
                    <a:lnTo>
                      <a:pt x="172260" y="145304"/>
                    </a:lnTo>
                    <a:moveTo>
                      <a:pt x="230819" y="148219"/>
                    </a:moveTo>
                    <a:lnTo>
                      <a:pt x="214341" y="147790"/>
                    </a:lnTo>
                    <a:moveTo>
                      <a:pt x="214341" y="147790"/>
                    </a:moveTo>
                    <a:lnTo>
                      <a:pt x="188805" y="146742"/>
                    </a:lnTo>
                    <a:moveTo>
                      <a:pt x="242459" y="148199"/>
                    </a:moveTo>
                    <a:lnTo>
                      <a:pt x="230819" y="148219"/>
                    </a:lnTo>
                    <a:moveTo>
                      <a:pt x="251679" y="147942"/>
                    </a:moveTo>
                    <a:lnTo>
                      <a:pt x="242459" y="148199"/>
                    </a:lnTo>
                    <a:moveTo>
                      <a:pt x="260385" y="147466"/>
                    </a:moveTo>
                    <a:lnTo>
                      <a:pt x="251679" y="147942"/>
                    </a:lnTo>
                    <a:moveTo>
                      <a:pt x="293627" y="144837"/>
                    </a:moveTo>
                    <a:lnTo>
                      <a:pt x="260385" y="147466"/>
                    </a:lnTo>
                    <a:moveTo>
                      <a:pt x="305419" y="143751"/>
                    </a:moveTo>
                    <a:lnTo>
                      <a:pt x="293627" y="144837"/>
                    </a:lnTo>
                    <a:moveTo>
                      <a:pt x="312020" y="142875"/>
                    </a:moveTo>
                    <a:lnTo>
                      <a:pt x="305419" y="143751"/>
                    </a:lnTo>
                    <a:moveTo>
                      <a:pt x="360759" y="134836"/>
                    </a:moveTo>
                    <a:lnTo>
                      <a:pt x="320126" y="141494"/>
                    </a:lnTo>
                    <a:moveTo>
                      <a:pt x="360759" y="134836"/>
                    </a:moveTo>
                    <a:lnTo>
                      <a:pt x="361483" y="134626"/>
                    </a:lnTo>
                    <a:moveTo>
                      <a:pt x="320126" y="141494"/>
                    </a:moveTo>
                    <a:lnTo>
                      <a:pt x="312020" y="142875"/>
                    </a:lnTo>
                    <a:moveTo>
                      <a:pt x="456695" y="102470"/>
                    </a:moveTo>
                    <a:lnTo>
                      <a:pt x="447113" y="107775"/>
                    </a:lnTo>
                    <a:moveTo>
                      <a:pt x="456695" y="102470"/>
                    </a:moveTo>
                    <a:lnTo>
                      <a:pt x="467592" y="95612"/>
                    </a:lnTo>
                    <a:moveTo>
                      <a:pt x="447113" y="107775"/>
                    </a:moveTo>
                    <a:lnTo>
                      <a:pt x="441731" y="109823"/>
                    </a:lnTo>
                    <a:moveTo>
                      <a:pt x="479012" y="85658"/>
                    </a:moveTo>
                    <a:lnTo>
                      <a:pt x="470525" y="93678"/>
                    </a:lnTo>
                    <a:moveTo>
                      <a:pt x="479012" y="85658"/>
                    </a:moveTo>
                    <a:lnTo>
                      <a:pt x="485404" y="78686"/>
                    </a:lnTo>
                    <a:moveTo>
                      <a:pt x="470525" y="93678"/>
                    </a:moveTo>
                    <a:lnTo>
                      <a:pt x="467592" y="95612"/>
                    </a:lnTo>
                    <a:moveTo>
                      <a:pt x="494014" y="58912"/>
                    </a:moveTo>
                    <a:lnTo>
                      <a:pt x="492700" y="65923"/>
                    </a:lnTo>
                    <a:moveTo>
                      <a:pt x="493614" y="56540"/>
                    </a:moveTo>
                    <a:lnTo>
                      <a:pt x="493319" y="55216"/>
                    </a:lnTo>
                    <a:moveTo>
                      <a:pt x="493614" y="56540"/>
                    </a:moveTo>
                    <a:lnTo>
                      <a:pt x="493919" y="58493"/>
                    </a:lnTo>
                    <a:moveTo>
                      <a:pt x="493919" y="58493"/>
                    </a:moveTo>
                    <a:lnTo>
                      <a:pt x="494014" y="58912"/>
                    </a:lnTo>
                  </a:path>
                </a:pathLst>
              </a:custGeom>
              <a:noFill/>
              <a:ln w="19050">
                <a:solidFill>
                  <a:srgbClr val="A357B9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628650" y="38100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7C8F99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0392" y="37020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6758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耳面</a:t>
                </a:r>
                <a:endPara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1466850" y="38100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D98536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688592" y="37020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6758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耳套</a:t>
                </a:r>
                <a:endPara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2305050" y="38100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497D89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526792" y="37020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6758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出音管</a:t>
                </a:r>
                <a:endPara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3143250" y="381000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A357B9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364992" y="3702050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6758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软叶</a:t>
                </a:r>
                <a:endPara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621792" y="38925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真实截线节选，各幅等比例展示。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1792" y="43211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4044" y="42449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4364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截线可查层次与距离</a:t>
              </a:r>
              <a:endParaRPr lang="zh-CN" sz="1950" dirty="0">
                <a:solidFill>
                  <a:srgbClr val="24364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792" y="47593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缺口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4044" y="46831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耳区名称缺少模型定位</a:t>
              </a:r>
              <a:endParaRPr lang="zh-CN" sz="19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1792" y="51974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5CF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介入</a:t>
              </a:r>
              <a:endParaRPr lang="zh-CN" sz="1350" b="1" dirty="0">
                <a:solidFill>
                  <a:srgbClr val="8B5C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4044" y="51212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8B5CF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图谱与中英名称绑定</a:t>
              </a:r>
              <a:endParaRPr lang="zh-CN" sz="1950" dirty="0">
                <a:solidFill>
                  <a:srgbClr val="8B5C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1792" y="56356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5CF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改进</a:t>
              </a:r>
              <a:endParaRPr lang="zh-CN" sz="1350" b="1" dirty="0">
                <a:solidFill>
                  <a:srgbClr val="8B5C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4044" y="555942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8B5CF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反馈对应实际耳区</a:t>
              </a:r>
              <a:endParaRPr lang="zh-CN" sz="1950" b="1" dirty="0">
                <a:solidFill>
                  <a:srgbClr val="8B5C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8" name="stage-five"/>
          <p:cNvGrpSpPr/>
          <p:nvPr/>
        </p:nvGrpSpPr>
        <p:grpSpPr>
          <a:xfrm>
            <a:off x="4324350" y="1711325"/>
            <a:ext cx="3263646" cy="4229481"/>
            <a:chOff x="4324350" y="1711325"/>
            <a:chExt cx="3263646" cy="4229481"/>
          </a:xfrm>
        </p:grpSpPr>
        <p:sp>
          <p:nvSpPr>
            <p:cNvPr id="40" name="Rectangle 40"/>
            <p:cNvSpPr/>
            <p:nvPr/>
          </p:nvSpPr>
          <p:spPr>
            <a:xfrm>
              <a:off x="4324350" y="1714500"/>
              <a:ext cx="57150" cy="295275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76369" y="1711325"/>
              <a:ext cx="20763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324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 耳区语义与定位</a:t>
              </a:r>
              <a:endParaRPr lang="zh-CN" sz="1950" b="1" dirty="0">
                <a:solidFill>
                  <a:srgbClr val="1324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1"/>
            <a:srcRect t="9000" r="39683"/>
            <a:stretch>
              <a:fillRect/>
            </a:stretch>
          </p:blipFill>
          <p:spPr>
            <a:xfrm>
              <a:off x="4429125" y="2238375"/>
              <a:ext cx="1600200" cy="1599867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6201918" y="22733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5CF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耳甲艇</a:t>
              </a:r>
              <a:endParaRPr lang="zh-CN" sz="1650" b="1" dirty="0">
                <a:solidFill>
                  <a:srgbClr val="8B5C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4204" y="2543175"/>
              <a:ext cx="1095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58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Cymba concha</a:t>
              </a:r>
              <a:endParaRPr lang="en-US" sz="1200" dirty="0">
                <a:solidFill>
                  <a:srgbClr val="66758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01918" y="28257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5CF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耳轮脚</a:t>
              </a:r>
              <a:endParaRPr lang="zh-CN" sz="1650" b="1" dirty="0">
                <a:solidFill>
                  <a:srgbClr val="8B5C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04204" y="3095625"/>
              <a:ext cx="914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58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Crus of helix</a:t>
              </a:r>
              <a:endParaRPr lang="en-US" sz="1200" dirty="0">
                <a:solidFill>
                  <a:srgbClr val="66758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01918" y="337820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5CF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耳甲腔</a:t>
              </a:r>
              <a:endParaRPr lang="zh-CN" sz="1650" b="1" dirty="0">
                <a:solidFill>
                  <a:srgbClr val="8B5CF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04204" y="3648075"/>
              <a:ext cx="1095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58A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Cavum concha</a:t>
              </a:r>
              <a:endParaRPr lang="en-US" sz="1200" dirty="0">
                <a:solidFill>
                  <a:srgbClr val="66758A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50842" y="38925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名称、图谱与实际源面对应。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50842" y="43211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943094" y="4244975"/>
              <a:ext cx="21493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4364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10区名称对应源面</a:t>
              </a:r>
              <a:endParaRPr lang="zh-CN" sz="1950" dirty="0">
                <a:solidFill>
                  <a:srgbClr val="24364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450842" y="47593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缺口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943094" y="46831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局部变形掩盖姿态问题</a:t>
              </a:r>
              <a:endParaRPr lang="zh-CN" sz="19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450842" y="51974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69B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介入</a:t>
              </a:r>
              <a:endParaRPr lang="zh-CN" sz="1350" b="1" dirty="0">
                <a:solidFill>
                  <a:srgbClr val="069B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943094" y="51212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69B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新旧耳对齐、整机联动</a:t>
              </a:r>
              <a:endParaRPr lang="zh-CN" sz="1950" dirty="0">
                <a:solidFill>
                  <a:srgbClr val="069B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50842" y="56356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69B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改进</a:t>
              </a:r>
              <a:endParaRPr lang="zh-CN" sz="1350" b="1" dirty="0">
                <a:solidFill>
                  <a:srgbClr val="069B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3094" y="555942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9B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贴合目标指导位姿</a:t>
              </a:r>
              <a:endParaRPr lang="zh-CN" sz="1950" b="1" dirty="0">
                <a:solidFill>
                  <a:srgbClr val="069B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4" name="stage-six"/>
          <p:cNvGrpSpPr/>
          <p:nvPr/>
        </p:nvGrpSpPr>
        <p:grpSpPr>
          <a:xfrm>
            <a:off x="8153400" y="1711325"/>
            <a:ext cx="3324225" cy="4229481"/>
            <a:chOff x="8153400" y="1711325"/>
            <a:chExt cx="3324225" cy="4229481"/>
          </a:xfrm>
        </p:grpSpPr>
        <p:sp>
          <p:nvSpPr>
            <p:cNvPr id="59" name="Rectangle 59"/>
            <p:cNvSpPr/>
            <p:nvPr/>
          </p:nvSpPr>
          <p:spPr>
            <a:xfrm>
              <a:off x="8153400" y="1714500"/>
              <a:ext cx="57150" cy="295275"/>
            </a:xfrm>
            <a:prstGeom prst="rect">
              <a:avLst/>
            </a:prstGeom>
            <a:solidFill>
              <a:srgbClr val="069B8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05419" y="1711325"/>
              <a:ext cx="20763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3243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 联合佩戴与复核</a:t>
              </a:r>
              <a:endParaRPr lang="zh-CN" sz="1950" b="1" dirty="0">
                <a:solidFill>
                  <a:srgbClr val="13243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13217" y="21685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调整前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46767" y="21685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整机调整后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63" name="Image 6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67700" y="2381250"/>
              <a:ext cx="1476375" cy="1476375"/>
            </a:xfrm>
            <a:prstGeom prst="rect">
              <a:avLst/>
            </a:prstGeom>
          </p:spPr>
        </p:pic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1250" y="2381250"/>
              <a:ext cx="1476375" cy="1476375"/>
            </a:xfrm>
            <a:prstGeom prst="rect">
              <a:avLst/>
            </a:prstGeom>
          </p:spPr>
        </p:pic>
        <p:sp>
          <p:nvSpPr>
            <p:cNvPr id="65" name="TextBox 65"/>
            <p:cNvSpPr txBox="1"/>
            <p:nvPr/>
          </p:nvSpPr>
          <p:spPr>
            <a:xfrm>
              <a:off x="8279892" y="3892550"/>
              <a:ext cx="2322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真实保存态，同一相机A/B。</a:t>
              </a:r>
              <a:endParaRPr lang="zh-CN" sz="13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79892" y="43211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72144" y="42449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4364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整机方向获局部确认</a:t>
              </a:r>
              <a:endParaRPr lang="zh-CN" sz="1950" dirty="0">
                <a:solidFill>
                  <a:srgbClr val="24364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79892" y="47593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缺口</a:t>
              </a:r>
              <a:endParaRPr lang="zh-CN" sz="1350" b="1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72144" y="46831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6675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接合、承托与实测待验</a:t>
              </a:r>
              <a:endParaRPr lang="zh-CN" sz="1950" dirty="0">
                <a:solidFill>
                  <a:srgbClr val="6675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79892" y="51974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69B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介入</a:t>
              </a:r>
              <a:endParaRPr lang="zh-CN" sz="1350" b="1" dirty="0">
                <a:solidFill>
                  <a:srgbClr val="069B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72144" y="5121275"/>
              <a:ext cx="2566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069B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保存复核、A/B与回写</a:t>
              </a:r>
              <a:endParaRPr lang="zh-CN" sz="1950" dirty="0">
                <a:solidFill>
                  <a:srgbClr val="069B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79892" y="56356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69B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改进</a:t>
              </a:r>
              <a:endParaRPr lang="zh-CN" sz="1350" b="1" dirty="0">
                <a:solidFill>
                  <a:srgbClr val="069B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772144" y="55594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69B8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可追溯候选，欠项留账</a:t>
              </a:r>
              <a:endParaRPr lang="zh-CN" sz="1950" b="1" dirty="0">
                <a:solidFill>
                  <a:srgbClr val="069B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7133082" cy="973582"/>
            <a:chOff x="478536" y="422275"/>
            <a:chExt cx="7133082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任务经验的记录与复用</a:t>
              </a:r>
              <a:endPara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71247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任务收束时更新工作流、记忆和执行入口，再用回归测试检查已知错误。</a:t>
              </a:r>
              <a:endParaRPr lang="zh-CN" sz="1650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experience-consumer-map"/>
          <p:cNvGrpSpPr/>
          <p:nvPr/>
        </p:nvGrpSpPr>
        <p:grpSpPr>
          <a:xfrm>
            <a:off x="485394" y="1806575"/>
            <a:ext cx="11211306" cy="2591181"/>
            <a:chOff x="485394" y="1806575"/>
            <a:chExt cx="11211306" cy="2591181"/>
          </a:xfrm>
        </p:grpSpPr>
        <p:sp>
          <p:nvSpPr>
            <p:cNvPr id="5" name="TextBox 5"/>
            <p:cNvSpPr txBox="1"/>
            <p:nvPr/>
          </p:nvSpPr>
          <p:spPr>
            <a:xfrm>
              <a:off x="486918" y="18065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问题记录</a:t>
              </a:r>
              <a:endParaRPr lang="zh-CN" sz="1650" b="1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96918" y="18065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形成规则</a:t>
              </a:r>
              <a:endParaRPr lang="zh-CN" sz="1650" b="1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02193" y="18065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6758A"/>
                  </a:solidFill>
                  <a:latin typeface="+mn-lt"/>
                  <a:ea typeface="+mn-ea"/>
                  <a:cs typeface="+mn-cs"/>
                </a:rPr>
                <a:t>读取规则的入口</a:t>
              </a:r>
              <a:endParaRPr lang="zh-CN" sz="1650" b="1" dirty="0">
                <a:solidFill>
                  <a:srgbClr val="6675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495300" y="22383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CE3E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85394" y="24542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侧别和视图反复变化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3238500" y="2628900"/>
              <a:ext cx="81915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96918" y="24923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固定侧别和展示版式</a:t>
              </a:r>
              <a:endParaRPr lang="zh-CN" sz="16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7058025" y="2628900"/>
              <a:ext cx="110490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02193" y="249237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模板、生成指令与身份核验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5394" y="323532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修完却无法客观复核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3238500" y="3409950"/>
              <a:ext cx="81915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96918" y="3273425"/>
              <a:ext cx="2180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69B8A"/>
                  </a:solidFill>
                  <a:latin typeface="+mn-lt"/>
                  <a:ea typeface="+mn-ea"/>
                  <a:cs typeface="+mn-cs"/>
                </a:rPr>
                <a:t>保存重开、同条件A/B</a:t>
              </a:r>
              <a:endParaRPr lang="zh-CN" sz="1650" dirty="0">
                <a:solidFill>
                  <a:srgbClr val="069B8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7058025" y="3409950"/>
              <a:ext cx="110490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02193" y="3273425"/>
              <a:ext cx="2625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执行规范、回执和RAG输出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5394" y="40163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一次性诊断脚本难复用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3238500" y="4191000"/>
              <a:ext cx="81915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296918" y="405447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截线、来源和参数分别保存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058025" y="4191000"/>
              <a:ext cx="1104900" cy="1"/>
            </a:xfrm>
            <a:prstGeom prst="line">
              <a:avLst/>
            </a:prstGeom>
            <a:noFill/>
            <a:ln w="19050">
              <a:solidFill>
                <a:srgbClr val="66758A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02193" y="4054475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诊断规范、显示工具与负例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closure-governance"/>
          <p:cNvGrpSpPr/>
          <p:nvPr/>
        </p:nvGrpSpPr>
        <p:grpSpPr>
          <a:xfrm>
            <a:off x="495300" y="4962525"/>
            <a:ext cx="11201400" cy="1190625"/>
            <a:chOff x="495300" y="4962525"/>
            <a:chExt cx="11201400" cy="1190625"/>
          </a:xfrm>
        </p:grpSpPr>
        <p:sp>
          <p:nvSpPr>
            <p:cNvPr id="25" name="Rectangle 25"/>
            <p:cNvSpPr/>
            <p:nvPr/>
          </p:nvSpPr>
          <p:spPr>
            <a:xfrm>
              <a:off x="495300" y="4962525"/>
              <a:ext cx="11201400" cy="1190625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3519" y="50736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任务结束后的回写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68168" y="5111750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更新工作流、项目记忆和工具入口，再检查下轮是否读取。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5043" y="5578475"/>
              <a:ext cx="80354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全时期审计28类经验，补齐已知入口缺口，工具实现、测试和迁移进度分别记录。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footer-label"/>
          <p:cNvSpPr txBox="1"/>
          <p:nvPr/>
        </p:nvSpPr>
        <p:spPr>
          <a:xfrm>
            <a:off x="488442" y="6407150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58A"/>
                </a:solidFill>
                <a:latin typeface="+mn-lt"/>
                <a:ea typeface="+mn-ea"/>
                <a:cs typeface="+mn-cs"/>
              </a:rPr>
              <a:t>项目记忆供后续任务读取，跨项目迁移与设计验收各自验证</a:t>
            </a:r>
            <a:endParaRPr lang="zh-CN" sz="1350" dirty="0">
              <a:solidFill>
                <a:srgbClr val="6675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page-number"/>
          <p:cNvSpPr/>
          <p:nvPr/>
        </p:nvSpPr>
        <p:spPr>
          <a:xfrm>
            <a:off x="11489912" y="64071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CN" sz="1350" dirty="0">
                <a:solidFill>
                  <a:srgbClr val="66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lang="zh-CN" sz="1350" dirty="0">
              <a:solidFill>
                <a:srgbClr val="66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478536" y="422275"/>
            <a:ext cx="6244590" cy="973582"/>
            <a:chOff x="478536" y="422275"/>
            <a:chExt cx="6244590" cy="973582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227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阶段进展与后续验证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86918" y="1073150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已有流程证据支持方法检查，跨任务复用与产品性能仍需验证。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status-layers"/>
          <p:cNvGrpSpPr/>
          <p:nvPr/>
        </p:nvGrpSpPr>
        <p:grpSpPr>
          <a:xfrm>
            <a:off x="495300" y="1743075"/>
            <a:ext cx="11201400" cy="1952625"/>
            <a:chOff x="495300" y="1743075"/>
            <a:chExt cx="11201400" cy="1952625"/>
          </a:xfrm>
        </p:grpSpPr>
        <p:sp>
          <p:nvSpPr>
            <p:cNvPr id="5" name="Rectangle 5"/>
            <p:cNvSpPr/>
            <p:nvPr/>
          </p:nvSpPr>
          <p:spPr>
            <a:xfrm>
              <a:off x="495300" y="1743075"/>
              <a:ext cx="3429000" cy="1952625"/>
            </a:xfrm>
            <a:prstGeom prst="roundRect">
              <a:avLst>
                <a:gd name="adj" fmla="val 4878"/>
              </a:avLst>
            </a:prstGeom>
            <a:solidFill>
              <a:srgbClr val="20344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3994" y="186372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7CBB8"/>
                  </a:solidFill>
                  <a:latin typeface="+mn-lt"/>
                  <a:ea typeface="+mn-ea"/>
                  <a:cs typeface="+mn-cs"/>
                </a:rPr>
                <a:t>主项目已用的方法</a:t>
              </a:r>
              <a:endParaRPr lang="zh-CN" sz="1950" b="1" dirty="0">
                <a:solidFill>
                  <a:srgbClr val="67CBB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5518" y="2368550"/>
              <a:ext cx="30694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RAG检索、概念前置、工具执行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5518" y="273050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保存重开、审核回执、规则回写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7042" y="32448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流程记录可核查，产品仍待验收</a:t>
              </a:r>
              <a:endPara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81500" y="1743075"/>
              <a:ext cx="3429000" cy="1952625"/>
            </a:xfrm>
            <a:prstGeom prst="roundRect">
              <a:avLst>
                <a:gd name="adj" fmla="val 4878"/>
              </a:avLst>
            </a:prstGeom>
            <a:solidFill>
              <a:srgbClr val="2034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00194" y="18637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82A0FF"/>
                  </a:solidFill>
                  <a:latin typeface="+mn-lt"/>
                  <a:ea typeface="+mn-ea"/>
                  <a:cs typeface="+mn-cs"/>
                </a:rPr>
                <a:t>独立试验结果</a:t>
              </a:r>
              <a:endParaRPr lang="zh-CN" sz="1950" b="1" dirty="0">
                <a:solidFill>
                  <a:srgbClr val="82A0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01718" y="2368550"/>
              <a:ext cx="30265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形态/场景拆分、需求覆盖选择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01718" y="27305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图文用途与尺寸归属审核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03242" y="32448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尚未全部迁入主项目自动路径</a:t>
              </a:r>
              <a:endPara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267700" y="1743075"/>
              <a:ext cx="3429000" cy="1952625"/>
            </a:xfrm>
            <a:prstGeom prst="roundRect">
              <a:avLst>
                <a:gd name="adj" fmla="val 4878"/>
              </a:avLst>
            </a:prstGeom>
            <a:solidFill>
              <a:srgbClr val="2034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86394" y="18637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1BD70"/>
                  </a:solidFill>
                  <a:latin typeface="+mn-lt"/>
                  <a:ea typeface="+mn-ea"/>
                  <a:cs typeface="+mn-cs"/>
                </a:rPr>
                <a:t>待验证的问题</a:t>
              </a:r>
              <a:endParaRPr lang="zh-CN" sz="1950" b="1" dirty="0">
                <a:solidFill>
                  <a:srgbClr val="F1BD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87918" y="2368550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效率/设计质量的因果提升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87918" y="273050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真实舒适、稳定、材料与制造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89442" y="32448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效率需对照，性能需实测</a:t>
              </a:r>
              <a:endPara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next-research"/>
          <p:cNvGrpSpPr/>
          <p:nvPr/>
        </p:nvGrpSpPr>
        <p:grpSpPr>
          <a:xfrm>
            <a:off x="483108" y="4213225"/>
            <a:ext cx="10912602" cy="1983232"/>
            <a:chOff x="483108" y="4213225"/>
            <a:chExt cx="10912602" cy="1983232"/>
          </a:xfrm>
        </p:grpSpPr>
        <p:sp>
          <p:nvSpPr>
            <p:cNvPr id="21" name="TextBox 21"/>
            <p:cNvSpPr txBox="1"/>
            <p:nvPr/>
          </p:nvSpPr>
          <p:spPr>
            <a:xfrm>
              <a:off x="483108" y="421322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下一轮的验证安排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5394" y="477837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换一组需求与产品任务</a:t>
              </a:r>
              <a:endParaRPr lang="zh-CN" sz="19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81144" y="4778375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记录错误、返工与资料缺口</a:t>
              </a:r>
              <a:endParaRPr lang="zh-CN" sz="19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34069" y="477837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统一标准开展对照</a:t>
              </a:r>
              <a:endParaRPr lang="zh-CN" sz="19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6918" y="52451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检查特征提取和规则复用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2668" y="52451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追踪规则读取与失效情况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35593" y="52451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AC9DE"/>
                  </a:solidFill>
                  <a:latin typeface="+mn-lt"/>
                  <a:ea typeface="+mn-ea"/>
                  <a:cs typeface="+mn-cs"/>
                </a:rPr>
                <a:t>试戴与工程测试分别开展</a:t>
              </a:r>
              <a:endParaRPr lang="zh-CN" sz="1650" dirty="0">
                <a:solidFill>
                  <a:srgbClr val="BAC9D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6918" y="5873750"/>
              <a:ext cx="8457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1BD70"/>
                  </a:solidFill>
                  <a:latin typeface="+mn-lt"/>
                  <a:ea typeface="+mn-ea"/>
                  <a:cs typeface="+mn-cs"/>
                </a:rPr>
                <a:t>产品进度：姿态精修暂缓，接合待复核，后续多视图与造型回归待开展，原欠项保留。</a:t>
              </a:r>
              <a:endParaRPr lang="zh-CN" sz="1650" dirty="0">
                <a:solidFill>
                  <a:srgbClr val="F1BD70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footer-label"/>
          <p:cNvSpPr txBox="1"/>
          <p:nvPr/>
        </p:nvSpPr>
        <p:spPr>
          <a:xfrm>
            <a:off x="488442" y="6407150"/>
            <a:ext cx="4375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AC9DE"/>
                </a:solidFill>
                <a:latin typeface="+mn-lt"/>
                <a:ea typeface="+mn-ea"/>
                <a:cs typeface="+mn-cs"/>
              </a:rPr>
              <a:t>方法应用、用户验收、产品性能与跨任务验证分别记录</a:t>
            </a:r>
            <a:endParaRPr lang="zh-CN" sz="1350" dirty="0">
              <a:solidFill>
                <a:srgbClr val="BAC9D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page-number"/>
          <p:cNvSpPr/>
          <p:nvPr/>
        </p:nvSpPr>
        <p:spPr>
          <a:xfrm>
            <a:off x="11489912" y="64071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CN" sz="1350" dirty="0">
                <a:solidFill>
                  <a:srgbClr val="BAC9D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lang="zh-CN" sz="1350" dirty="0">
              <a:solidFill>
                <a:srgbClr val="BAC9D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3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4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5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6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7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8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9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0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1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2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3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4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5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6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7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8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19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0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1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2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3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4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5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6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7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8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29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30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ags/tag31.xml><?xml version="1.0" encoding="utf-8"?>
<p:tagLst xmlns:p="http://schemas.openxmlformats.org/presentationml/2006/main">
  <p:tag name="KSO_WM_DIAGRAM_VIRTUALLY_FRAME" val="{&quot;height&quot;:324.75,&quot;left&quot;:39,&quot;top&quot;:129.75,&quot;width&quot;:882}"/>
</p:tagLst>
</file>

<file path=ppt/theme/theme1.xml><?xml version="1.0" encoding="utf-8"?>
<a:theme xmlns:a="http://schemas.openxmlformats.org/drawingml/2006/main" name="ai-workflow-report">
  <a:themeElements>
    <a:clrScheme name="ai-workflow-report">
      <a:dk1>
        <a:srgbClr val="24364C"/>
      </a:dk1>
      <a:lt1>
        <a:srgbClr val="FFFFFF"/>
      </a:lt1>
      <a:dk2>
        <a:srgbClr val="1F497D"/>
      </a:dk2>
      <a:lt2>
        <a:srgbClr val="FFFFFF"/>
      </a:lt2>
      <a:accent1>
        <a:srgbClr val="13243A"/>
      </a:accent1>
      <a:accent2>
        <a:srgbClr val="3662EA"/>
      </a:accent2>
      <a:accent3>
        <a:srgbClr val="3662EA"/>
      </a:accent3>
      <a:accent4>
        <a:srgbClr val="13243A"/>
      </a:accent4>
      <a:accent5>
        <a:srgbClr val="F7F8FC"/>
      </a:accent5>
      <a:accent6>
        <a:srgbClr val="8B5CF6"/>
      </a:accent6>
      <a:hlink>
        <a:srgbClr val="3662EA"/>
      </a:hlink>
      <a:folHlink>
        <a:srgbClr val="3662EA"/>
      </a:folHlink>
    </a:clrScheme>
    <a:fontScheme name="ai-workflow-repor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workflow-rep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i-workflow-report">
  <a:themeElements>
    <a:clrScheme name="ai-workflow-report">
      <a:dk1>
        <a:srgbClr val="24364C"/>
      </a:dk1>
      <a:lt1>
        <a:srgbClr val="FFFFFF"/>
      </a:lt1>
      <a:dk2>
        <a:srgbClr val="1F497D"/>
      </a:dk2>
      <a:lt2>
        <a:srgbClr val="FFFFFF"/>
      </a:lt2>
      <a:accent1>
        <a:srgbClr val="13243A"/>
      </a:accent1>
      <a:accent2>
        <a:srgbClr val="3662EA"/>
      </a:accent2>
      <a:accent3>
        <a:srgbClr val="3662EA"/>
      </a:accent3>
      <a:accent4>
        <a:srgbClr val="13243A"/>
      </a:accent4>
      <a:accent5>
        <a:srgbClr val="F7F8FC"/>
      </a:accent5>
      <a:accent6>
        <a:srgbClr val="8B5CF6"/>
      </a:accent6>
      <a:hlink>
        <a:srgbClr val="3662EA"/>
      </a:hlink>
      <a:folHlink>
        <a:srgbClr val="3662EA"/>
      </a:folHlink>
    </a:clrScheme>
    <a:fontScheme name="ai-workflow-repor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workflow-rep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3790</Words>
  <Application>WPS 演示</Application>
  <PresentationFormat>On-screen Show (16:9)</PresentationFormat>
  <Paragraphs>710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Arial Unicode MS</vt:lpstr>
      <vt:lpstr>ai-workflow-report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无羁.</cp:lastModifiedBy>
  <cp:revision>3</cp:revision>
  <dcterms:created xsi:type="dcterms:W3CDTF">2026-10-05T05:37:00Z</dcterms:created>
  <dcterms:modified xsi:type="dcterms:W3CDTF">2026-10-05T08:37:24Z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9789CAEDCF8240608A02AD6845FCDB37_12</vt:lpwstr>
  </property>
</Properties>
</file>